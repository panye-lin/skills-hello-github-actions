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08" r:id="rId1"/>
  </p:sldMasterIdLst>
  <p:notesMasterIdLst>
    <p:notesMasterId r:id="rId56"/>
  </p:notesMasterIdLst>
  <p:sldIdLst>
    <p:sldId id="260" r:id="rId2"/>
    <p:sldId id="274" r:id="rId3"/>
    <p:sldId id="275" r:id="rId4"/>
    <p:sldId id="276" r:id="rId5"/>
    <p:sldId id="277" r:id="rId6"/>
    <p:sldId id="278" r:id="rId7"/>
    <p:sldId id="279" r:id="rId8"/>
    <p:sldId id="280" r:id="rId9"/>
    <p:sldId id="281" r:id="rId10"/>
    <p:sldId id="282" r:id="rId11"/>
    <p:sldId id="283" r:id="rId12"/>
    <p:sldId id="284" r:id="rId13"/>
    <p:sldId id="285" r:id="rId14"/>
    <p:sldId id="286" r:id="rId15"/>
    <p:sldId id="287" r:id="rId16"/>
    <p:sldId id="288" r:id="rId17"/>
    <p:sldId id="289" r:id="rId18"/>
    <p:sldId id="290" r:id="rId19"/>
    <p:sldId id="291" r:id="rId20"/>
    <p:sldId id="292" r:id="rId21"/>
    <p:sldId id="293" r:id="rId22"/>
    <p:sldId id="294" r:id="rId23"/>
    <p:sldId id="295" r:id="rId24"/>
    <p:sldId id="296" r:id="rId25"/>
    <p:sldId id="297" r:id="rId26"/>
    <p:sldId id="298" r:id="rId27"/>
    <p:sldId id="299" r:id="rId28"/>
    <p:sldId id="300" r:id="rId29"/>
    <p:sldId id="301" r:id="rId30"/>
    <p:sldId id="302" r:id="rId31"/>
    <p:sldId id="303" r:id="rId32"/>
    <p:sldId id="304" r:id="rId33"/>
    <p:sldId id="305" r:id="rId34"/>
    <p:sldId id="306" r:id="rId35"/>
    <p:sldId id="307" r:id="rId36"/>
    <p:sldId id="308" r:id="rId37"/>
    <p:sldId id="309" r:id="rId38"/>
    <p:sldId id="310" r:id="rId39"/>
    <p:sldId id="311" r:id="rId40"/>
    <p:sldId id="312" r:id="rId41"/>
    <p:sldId id="313" r:id="rId42"/>
    <p:sldId id="314" r:id="rId43"/>
    <p:sldId id="315" r:id="rId44"/>
    <p:sldId id="316" r:id="rId45"/>
    <p:sldId id="317" r:id="rId46"/>
    <p:sldId id="318" r:id="rId47"/>
    <p:sldId id="319" r:id="rId48"/>
    <p:sldId id="320" r:id="rId49"/>
    <p:sldId id="321" r:id="rId50"/>
    <p:sldId id="322" r:id="rId51"/>
    <p:sldId id="323" r:id="rId52"/>
    <p:sldId id="324" r:id="rId53"/>
    <p:sldId id="325" r:id="rId54"/>
    <p:sldId id="326" r:id="rId55"/>
  </p:sldIdLst>
  <p:sldSz cx="12192000" cy="6858000"/>
  <p:notesSz cx="6858000" cy="9144000"/>
  <p:defaultTextStyle>
    <a:defPPr defTabSz="457200">
      <a:defRPr lang="en-US" dirty="0"/>
    </a:defPPr>
    <a:lvl1pPr marL="0" algn="l" defTabSz="457200" rtl="0">
      <a:defRPr sz="1800" kern="1200" dirty="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>
      <a:defRPr sz="1800" kern="1200" dirty="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>
      <a:defRPr sz="1800" kern="1200" dirty="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>
      <a:defRPr sz="1800" kern="1200" dirty="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>
      <a:defRPr sz="1800" kern="1200" dirty="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>
      <a:defRPr sz="1800" kern="1200" dirty="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>
      <a:defRPr sz="1800" kern="1200" dirty="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>
      <a:defRPr sz="1800" kern="1200" dirty="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>
      <a:defRPr sz="1800" kern="1200" dirty="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7A9E43A4-15C9-45BA-B46C-DA65B1EE508E}">
          <p14:sldIdLst>
            <p14:sldId id="260"/>
          </p14:sldIdLst>
        </p14:section>
        <p14:section name="Enabled Policies" id="{15CF8791-42F1-453E-87D1-C7BE29A7448F}">
          <p14:sldIdLst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  <p14:sldId id="300"/>
            <p14:sldId id="301"/>
            <p14:sldId id="302"/>
            <p14:sldId id="303"/>
            <p14:sldId id="304"/>
            <p14:sldId id="305"/>
            <p14:sldId id="306"/>
            <p14:sldId id="307"/>
            <p14:sldId id="308"/>
            <p14:sldId id="309"/>
            <p14:sldId id="310"/>
            <p14:sldId id="311"/>
            <p14:sldId id="312"/>
            <p14:sldId id="313"/>
          </p14:sldIdLst>
        </p14:section>
        <p14:section name="Report-only Policies" id="{1C6E03FF-1E9E-4E6F-BDF0-09A6FA88EC4E}">
          <p14:sldIdLst>
            <p14:sldId id="314"/>
            <p14:sldId id="315"/>
            <p14:sldId id="316"/>
            <p14:sldId id="317"/>
            <p14:sldId id="318"/>
            <p14:sldId id="319"/>
            <p14:sldId id="320"/>
            <p14:sldId id="321"/>
            <p14:sldId id="322"/>
          </p14:sldIdLst>
        </p14:section>
        <p14:section name="Disabled Policies" id="{32FA8EF0-44DE-4F19-B28A-C1466124D11C}">
          <p14:sldIdLst>
            <p14:sldId id="323"/>
            <p14:sldId id="324"/>
            <p14:sldId id="325"/>
            <p14:sldId id="32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FFFFFF"/>
    <a:srgbClr val="0078D4"/>
    <a:srgbClr val="54AE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529"/>
    <p:restoredTop sz="96966"/>
  </p:normalViewPr>
  <p:slideViewPr>
    <p:cSldViewPr snapToGrid="0" snapToObjects="1">
      <p:cViewPr varScale="1">
        <p:scale>
          <a:sx n="96" d="100"/>
          <a:sy n="96" d="100"/>
        </p:scale>
        <p:origin x="99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white">
          <a:xfrm>
            <a:off x="0" y="0"/>
            <a:ext cx="2971800" cy="458788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91440" tIns="45720" rIns="91440" bIns="45720"/>
          <a:lstStyle>
            <a:lvl1pPr algn="l">
              <a:defRPr sz="1200" dirty="0"/>
            </a:lvl1pPr>
          </a:lstStyle>
          <a:p>
            <a:pPr algn="l"/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 bwMode="white">
          <a:xfrm>
            <a:off x="3884613" y="0"/>
            <a:ext cx="2971800" cy="458788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91440" tIns="45720" rIns="91440" bIns="45720"/>
          <a:lstStyle>
            <a:lvl1pPr algn="r">
              <a:defRPr sz="1200" dirty="0"/>
            </a:lvl1pPr>
          </a:lstStyle>
          <a:p>
            <a:pPr algn="r"/>
            <a:fld id="{EAB0D7AA-D556-4126-A74E-D44F046DB470}" type="datetimeFigureOut">
              <a:rPr lang="en-US"/>
              <a:t>10/28/2025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 bwMode="white">
          <a:xfrm>
            <a:off x="685800" y="1143000"/>
            <a:ext cx="5486400" cy="3086100"/>
          </a:xfrm>
          <a:prstGeom prst="rect">
            <a:avLst/>
          </a:prstGeom>
          <a:ln w="12700">
            <a:solidFill>
              <a:srgbClr val="000000"/>
            </a:solidFill>
            <a:headEnd type="none"/>
            <a:tailEnd type="none"/>
          </a:ln>
        </p:spPr>
        <p:txBody>
          <a:bodyPr wrap="square" lIns="91440" tIns="45720" rIns="91440" bIns="4572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 bwMode="white">
          <a:xfrm>
            <a:off x="685800" y="4400550"/>
            <a:ext cx="5486400" cy="360045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91440" tIns="45720" rIns="91440" bIns="45720"/>
          <a:lstStyle/>
          <a:p>
            <a:r>
              <a:t>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white">
          <a:xfrm>
            <a:off x="0" y="8685213"/>
            <a:ext cx="2971800" cy="458787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91440" tIns="45720" rIns="91440" bIns="45720" anchor="b"/>
          <a:lstStyle>
            <a:lvl1pPr algn="l">
              <a:defRPr sz="1200" dirty="0"/>
            </a:lvl1pPr>
          </a:lstStyle>
          <a:p>
            <a:pPr algn="l"/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 bwMode="white">
          <a:xfrm>
            <a:off x="3884613" y="8685213"/>
            <a:ext cx="2971800" cy="458787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91440" tIns="45720" rIns="91440" bIns="45720" anchor="b"/>
          <a:lstStyle>
            <a:lvl1pPr algn="r">
              <a:defRPr sz="1200" dirty="0"/>
            </a:lvl1pPr>
          </a:lstStyle>
          <a:p>
            <a:pPr algn="r"/>
            <a:fld id="{56EF5666-3104-405B-9F86-48E8196040E4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>
      <a:defRPr sz="1200" dirty="0">
        <a:latin typeface="Calibri"/>
        <a:ea typeface="Calibri"/>
        <a:cs typeface="Calibri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"/>
          <p:cNvSpPr>
            <a:spLocks noGrp="1" noRot="1" noChangeAspect="1"/>
          </p:cNvSpPr>
          <p:nvPr>
            <p:ph type="sldImg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  <a:p>
            <a:r>
              <a:t> [All Apps] [SVo365 AADConnect] (Block) Service Accounts Login From Non-OCC Proxy IPs</a:t>
            </a:r>
          </a:p>
          <a:p>
            <a:r>
              <a:t>Portal link: https://entra.microsoft.com/#view/Microsoft_AAD_ConditionalAccess/PolicyBlade/policyId/51415f70-f2b3-4cfc-bc2e-95b45c012db8
</a:t>
            </a:r>
          </a:p>
          <a:p>
            <a:r>
              <a:t>{
  "id": "51415f70-f2b3-4cfc-bc2e-95b45c012db8",
  "templateId": null,
  "deletedDateTime": null,
  "partialEnablementStrategy": null,
  "conditions": {
    "applications": {
      "excludeApplications": [],
      "includeApplications": [
        "All"
      ],
      "includeAuthenticationContextClassReferences": [],
      "includeUserActions": []
    },
    "clientAppTypes": [
      "all"
    ],
    "locations": {
      "excludeLocations": [
        "074596ad-f784-464b-ae8d-cabea3ee4cdd"
      ],
      "includeLocations": [
        "All"
      ]
    },
    "signInRiskLevels": [],
    "userRiskLevels": [],
    "users": {
      "excludeGroups": [],
      "excludeRoles": [],
      "excludeUsers": [],
      "includeGroups": [],
      "includeRoles": [],
      "includeUsers": [
        "7825d4d6-3600-4afa-8247-f0d8641f3598"
      ]
    },
    "times": null
  },
  "createdDateTime": "2025-05-13T17:47:05.1308939\u002B00:00",
  "displayName": " [All Apps] [SVo365 AADConnect] (Block) Service Accounts Login From Non-OCC Proxy IPs",
  "grantControls": {
    "builtInControls": [
      "block"
    ],
    "customAuthenticationFactors": [],
    "operator": "OR",
    "termsOfUse": [],
    "authenticationStrength@odata.context": "https://graph.microsoft.com/beta/$metadata#policies/conditionalAccessPolicies(\u002751415f70-f2b3-4cfc-bc2e-95b45c012db8\u0027)/grantControls/authenticationStrength/$entity"
  },
  "state": "enabled"
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 algn="r"/>
            <a:fld id="{2AA352AB-FB1B-44DC-BC13-3BF1D2AB33A4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"/>
          <p:cNvSpPr>
            <a:spLocks noGrp="1" noRot="1" noChangeAspect="1"/>
          </p:cNvSpPr>
          <p:nvPr>
            <p:ph type="sldImg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  <a:p>
            <a:r>
              <a:t> [All Apps] [SVo365 AEM] (Block) Service Accounts Login From Non-OCC IPs </a:t>
            </a:r>
          </a:p>
          <a:p>
            <a:r>
              <a:t>Portal link: https://entra.microsoft.com/#view/Microsoft_AAD_ConditionalAccess/PolicyBlade/policyId/16f5d8a1-2a72-414f-823b-e5f313d1a4d5
</a:t>
            </a:r>
          </a:p>
          <a:p>
            <a:r>
              <a:t>{
  "id": "16f5d8a1-2a72-414f-823b-e5f313d1a4d5",
  "templateId": null,
  "deletedDateTime": null,
  "partialEnablementStrategy": null,
  "conditions": {
    "applications": {
      "excludeApplications": [],
      "includeApplications": [
        "All"
      ],
      "includeAuthenticationContextClassReferences": [],
      "includeUserActions": []
    },
    "clientAppTypes": [
      "all"
    ],
    "locations": {
      "excludeLocations": [
        "03ad9ccc-cba9-4f8e-902f-bb44da2df2a3",
        "074596ad-f784-464b-ae8d-cabea3ee4cdd"
      ],
      "includeLocations": [
        "All"
      ]
    },
    "signInRiskLevels": [],
    "userRiskLevels": [],
    "users": {
      "excludeGroups": [],
      "excludeRoles": [],
      "excludeUsers": [],
      "includeGroups": [],
      "includeRoles": [],
      "includeUsers": [
        "5a267434-3283-409e-a45f-db3dfa735ee1"
      ]
    },
    "times": null
  },
  "createdDateTime": "2025-05-08T16:37:22.4350491\u002B00:00",
  "displayName": " [All Apps] [SVo365 AEM] (Block) Service Accounts Login From Non-OCC IPs ",
  "grantControls": {
    "builtInControls": [
      "block"
    ],
    "customAuthenticationFactors": [],
    "operator": "OR",
    "termsOfUse": [],
    "authenticationStrength@odata.context": "https://graph.microsoft.com/beta/$metadata#policies/conditionalAccessPolicies(\u002716f5d8a1-2a72-414f-823b-e5f313d1a4d5\u0027)/grantControls/authenticationStrength/$entity"
  },
  "modifiedDateTime": "2025-05-20T20:15:10.8822975\u002B00:00",
  "state": "enabled"
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 algn="r"/>
            <a:fld id="{D3F58250-CCF9-4686-B5B1-FBFDC3417CBE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"/>
          <p:cNvSpPr>
            <a:spLocks noGrp="1" noRot="1" noChangeAspect="1"/>
          </p:cNvSpPr>
          <p:nvPr>
            <p:ph type="sldImg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  <a:p>
            <a:r>
              <a:t> [All Apps] [SVo365 BI/Tableau] (Block) Service Accounts Login From Non-OCC IPs</a:t>
            </a:r>
          </a:p>
          <a:p>
            <a:r>
              <a:t>Portal link: https://entra.microsoft.com/#view/Microsoft_AAD_ConditionalAccess/PolicyBlade/policyId/5da25044-6098-4669-9e94-a02e874d30cc
</a:t>
            </a:r>
          </a:p>
          <a:p>
            <a:r>
              <a:t>{
  "id": "5da25044-6098-4669-9e94-a02e874d30cc",
  "templateId": null,
  "deletedDateTime": null,
  "partialEnablementStrategy": null,
  "conditions": {
    "applications": {
      "excludeApplications": [],
      "includeApplications": [
        "All"
      ],
      "includeAuthenticationContextClassReferences": [],
      "includeUserActions": []
    },
    "clientAppTypes": [
      "all"
    ],
    "locations": {
      "excludeLocations": [
        "03ad9ccc-cba9-4f8e-902f-bb44da2df2a3",
        "074596ad-f784-464b-ae8d-cabea3ee4cdd"
      ],
      "includeLocations": [
        "All"
      ]
    },
    "signInRiskLevels": [],
    "userRiskLevels": [],
    "users": {
      "excludeGroups": [],
      "excludeRoles": [],
      "excludeUsers": [],
      "includeGroups": [],
      "includeRoles": [],
      "includeUsers": [
        "5739c12e-6001-41f5-b7ec-656d6f3dc0b0",
        "c7e072f2-8e6c-42d2-b557-cff1a6e0a12f",
        "c52a27b1-3704-49aa-ba10-b5249bfc39de"
      ]
    },
    "times": null
  },
  "createdDateTime": "2025-05-06T19:23:18.3523687\u002B00:00",
  "displayName": " [All Apps] [SVo365 BI/Tableau] (Block) Service Accounts Login From Non-OCC IPs",
  "grantControls": {
    "builtInControls": [
      "block"
    ],
    "customAuthenticationFactors": [],
    "operator": "OR",
    "termsOfUse": [],
    "authenticationStrength@odata.context": "https://graph.microsoft.com/beta/$metadata#policies/conditionalAccessPolicies(\u00275da25044-6098-4669-9e94-a02e874d30cc\u0027)/grantControls/authenticationStrength/$entity"
  },
  "modifiedDateTime": "2025-07-30T20:19:16.8567151\u002B00:00",
  "state": "enabled"
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 algn="r"/>
            <a:fld id="{752382DA-340A-4251-B71C-12B40ECA1959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"/>
          <p:cNvSpPr>
            <a:spLocks noGrp="1" noRot="1" noChangeAspect="1"/>
          </p:cNvSpPr>
          <p:nvPr>
            <p:ph type="sldImg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  <a:p>
            <a:r>
              <a:t> [All Apps] [SVo365 Collibra] (Block) Service Accounts Login From Non-OCC IPs </a:t>
            </a:r>
          </a:p>
          <a:p>
            <a:r>
              <a:t>Portal link: https://entra.microsoft.com/#view/Microsoft_AAD_ConditionalAccess/PolicyBlade/policyId/01eb0699-a498-4a68-bedc-08a032c63b5e
</a:t>
            </a:r>
          </a:p>
          <a:p>
            <a:r>
              <a:t>{
  "id": "01eb0699-a498-4a68-bedc-08a032c63b5e",
  "templateId": null,
  "deletedDateTime": null,
  "partialEnablementStrategy": null,
  "conditions": {
    "applications": {
      "excludeApplications": [],
      "includeApplications": [
        "All"
      ],
      "includeAuthenticationContextClassReferences": [],
      "includeUserActions": []
    },
    "clientAppTypes": [
      "all"
    ],
    "locations": {
      "excludeLocations": [
        "03ad9ccc-cba9-4f8e-902f-bb44da2df2a3",
        "003d9f5c-41a5-499c-b106-397d9f1332e9",
        "074596ad-f784-464b-ae8d-cabea3ee4cdd"
      ],
      "includeLocations": [
        "All"
      ]
    },
    "signInRiskLevels": [],
    "userRiskLevels": [],
    "users": {
      "excludeGroups": [],
      "excludeRoles": [],
      "excludeUsers": [],
      "includeGroups": [],
      "includeRoles": [],
      "includeUsers": [
        "d7da2c6e-755d-4b21-a34e-83a6bc240367"
      ]
    },
    "times": null
  },
  "createdDateTime": "2025-05-08T18:32:33.3118656\u002B00:00",
  "displayName": " [All Apps] [SVo365 Collibra] (Block) Service Accounts Login From Non-OCC IPs ",
  "grantControls": {
    "builtInControls": [
      "block"
    ],
    "customAuthenticationFactors": [],
    "operator": "OR",
    "termsOfUse": [],
    "authenticationStrength@odata.context": "https://graph.microsoft.com/beta/$metadata#policies/conditionalAccessPolicies(\u002701eb0699-a498-4a68-bedc-08a032c63b5e\u0027)/grantControls/authenticationStrength/$entity"
  },
  "modifiedDateTime": "2025-05-22T17:58:59.391394\u002B00:00",
  "state": "enabled"
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 algn="r"/>
            <a:fld id="{D48093FC-5C0B-4FDA-8CA5-33DCBDBBA55C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"/>
          <p:cNvSpPr>
            <a:spLocks noGrp="1" noRot="1" noChangeAspect="1"/>
          </p:cNvSpPr>
          <p:nvPr>
            <p:ph type="sldImg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  <a:p>
            <a:r>
              <a:t> [All Apps] [SVo365 GetHelp] (Block) Service Account Login From Non-Approved IPs </a:t>
            </a:r>
          </a:p>
          <a:p>
            <a:r>
              <a:t>Portal link: https://entra.microsoft.com/#view/Microsoft_AAD_ConditionalAccess/PolicyBlade/policyId/2a231849-821f-4f3b-96e7-7bbaa1a1b225
</a:t>
            </a:r>
          </a:p>
          <a:p>
            <a:r>
              <a:t>{
  "id": "2a231849-821f-4f3b-96e7-7bbaa1a1b225",
  "templateId": null,
  "deletedDateTime": null,
  "partialEnablementStrategy": null,
  "conditions": {
    "applications": {
      "excludeApplications": [],
      "includeApplications": [
        "All"
      ],
      "includeAuthenticationContextClassReferences": [],
      "includeUserActions": []
    },
    "clientAppTypes": [
      "all"
    ],
    "locations": {
      "excludeLocations": [
        "074596ad-f784-464b-ae8d-cabea3ee4cdd",
        "0872df00-8ee4-4437-a5e4-dcceb4499170"
      ],
      "includeLocations": [
        "All"
      ]
    },
    "signInRiskLevels": [],
    "userRiskLevels": [],
    "users": {
      "excludeGroups": [],
      "excludeRoles": [],
      "excludeUsers": [],
      "includeGroups": [],
      "includeRoles": [],
      "includeUsers": [
        "e3be3fae-660b-47ae-abfe-858d47fafe1f"
      ]
    },
    "times": null
  },
  "createdDateTime": "2025-05-09T19:35:53.3697813\u002B00:00",
  "displayName": " [All Apps] [SVo365 GetHelp] (Block) Service Account Login From Non-Approved IPs ",
  "grantControls": {
    "builtInControls": [
      "block"
    ],
    "customAuthenticationFactors": [],
    "operator": "OR",
    "termsOfUse": [],
    "authenticationStrength@odata.context": "https://graph.microsoft.com/beta/$metadata#policies/conditionalAccessPolicies(\u00272a231849-821f-4f3b-96e7-7bbaa1a1b225\u0027)/grantControls/authenticationStrength/$entity"
  },
  "modifiedDateTime": "2025-05-29T15:57:16.2518321\u002B00:00",
  "state": "enabled"
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 algn="r"/>
            <a:fld id="{70E00C53-38D1-4CCA-AAB8-E713309261AA}" type="slidenum">
              <a:rPr/>
              <a:t>6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"/>
          <p:cNvSpPr>
            <a:spLocks noGrp="1" noRot="1" noChangeAspect="1"/>
          </p:cNvSpPr>
          <p:nvPr>
            <p:ph type="sldImg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  <a:p>
            <a:r>
              <a:t> [All Apps] [SVo365 PowerRPA] (Block) Service Accounts Login From Non-OCC IPs</a:t>
            </a:r>
          </a:p>
          <a:p>
            <a:r>
              <a:t>Portal link: https://entra.microsoft.com/#view/Microsoft_AAD_ConditionalAccess/PolicyBlade/policyId/303b6f81-1e07-477d-86e1-c7a175f058a5
</a:t>
            </a:r>
          </a:p>
          <a:p>
            <a:r>
              <a:t>{
  "id": "303b6f81-1e07-477d-86e1-c7a175f058a5",
  "templateId": null,
  "deletedDateTime": null,
  "partialEnablementStrategy": null,
  "conditions": {
    "applications": {
      "excludeApplications": [],
      "includeApplications": [
        "All"
      ],
      "includeAuthenticationContextClassReferences": [],
      "includeUserActions": []
    },
    "clientAppTypes": [
      "all"
    ],
    "locations": {
      "excludeLocations": [
        "03ad9ccc-cba9-4f8e-902f-bb44da2df2a3",
        "074596ad-f784-464b-ae8d-cabea3ee4cdd"
      ],
      "includeLocations": [
        "All"
      ]
    },
    "signInRiskLevels": [],
    "userRiskLevels": [],
    "users": {
      "excludeGroups": [],
      "excludeRoles": [],
      "excludeUsers": [],
      "includeGroups": [],
      "includeRoles": [],
      "includeUsers": [
        "8beb8e0a-9a7d-43f4-a8bd-249ab428c63d",
        "728582f7-6286-4f72-87a5-94166991d55f",
        "85f49014-f067-400d-9562-e688eef405ed",
        "efb6ee45-5037-44cf-b7b6-cab7aa6b79ad",
        "02b168ac-d54e-459f-ab22-be85667ef1ea",
        "d6b9abc1-c729-427a-9958-e66fa30853a4",
        "4c8fa7fd-8a38-4236-a8f8-63442cf5bfa0",
        "4c9c116d-3f63-4199-bbde-0bc1d61f8ce4",
        "7712b9d5-1f4f-4615-ae07-ef9023684c19"
      ]
    },
    "times": null
  },
  "createdDateTime": "2025-04-28T14:28:37.8022999\u002B00:00",
  "displayName": " [All Apps] [SVo365 PowerRPA] (Block) Service Accounts Login From Non-OCC IPs",
  "grantControls": {
    "builtInControls": [
      "block"
    ],
    "customAuthenticationFactors": [],
    "operator": "OR",
    "termsOfUse": [],
    "authenticationStrength@odata.context": "https://graph.microsoft.com/beta/$metadata#policies/conditionalAccessPolicies(\u0027303b6f81-1e07-477d-86e1-c7a175f058a5\u0027)/grantControls/authenticationStrength/$entity"
  },
  "modifiedDateTime": "2025-05-29T18:46:10.2132117\u002B00:00",
  "state": "enabled"
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 algn="r"/>
            <a:fld id="{BB462540-5C3D-47D0-BD71-A4088BD9D1BD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"/>
          <p:cNvSpPr>
            <a:spLocks noGrp="1" noRot="1" noChangeAspect="1"/>
          </p:cNvSpPr>
          <p:nvPr>
            <p:ph type="sldImg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  <a:p>
            <a:r>
              <a:t> [All Apps] [SVo365 SharePoint] (Block) Service Accounts Login From Non-OCC IPs</a:t>
            </a:r>
          </a:p>
          <a:p>
            <a:r>
              <a:t>Portal link: https://entra.microsoft.com/#view/Microsoft_AAD_ConditionalAccess/PolicyBlade/policyId/8a74645a-1d2a-4586-8f9a-2c4a66f5f24f
</a:t>
            </a:r>
          </a:p>
          <a:p>
            <a:r>
              <a:t>{
  "id": "8a74645a-1d2a-4586-8f9a-2c4a66f5f24f",
  "templateId": null,
  "deletedDateTime": null,
  "partialEnablementStrategy": null,
  "conditions": {
    "applications": {
      "excludeApplications": [],
      "includeApplications": [
        "All"
      ],
      "includeAuthenticationContextClassReferences": [],
      "includeUserActions": []
    },
    "clientAppTypes": [
      "all"
    ],
    "locations": {
      "excludeLocations": [
        "03ad9ccc-cba9-4f8e-902f-bb44da2df2a3",
        "074596ad-f784-464b-ae8d-cabea3ee4cdd"
      ],
      "includeLocations": [
        "All"
      ]
    },
    "signInRiskLevels": [],
    "userRiskLevels": [],
    "users": {
      "excludeGroups": [],
      "excludeRoles": [],
      "excludeUsers": [],
      "includeGroups": [],
      "includeRoles": [],
      "includeUsers": [
        "23f15dd1-0027-4587-b103-45b37461b19d",
        "a1dcdde4-fd88-4e6d-9121-125ecf0fa9fa",
        "d85f326f-de54-45e2-b9de-37c8a4a0a1e9"
      ]
    },
    "times": null
  },
  "createdDateTime": "2025-05-06T18:07:21.1443827\u002B00:00",
  "displayName": " [All Apps] [SVo365 SharePoint] (Block) Service Accounts Login From Non-OCC IPs",
  "grantControls": {
    "builtInControls": [
      "block"
    ],
    "customAuthenticationFactors": [],
    "operator": "OR",
    "termsOfUse": [],
    "authenticationStrength@odata.context": "https://graph.microsoft.com/beta/$metadata#policies/conditionalAccessPolicies(\u00278a74645a-1d2a-4586-8f9a-2c4a66f5f24f\u0027)/grantControls/authenticationStrength/$entity"
  },
  "modifiedDateTime": "2025-06-12T15:08:36.8384764\u002B00:00",
  "state": "enabled"
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 algn="r"/>
            <a:fld id="{D33E64B0-95FC-4B3C-9492-04E6A708A3C1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"/>
          <p:cNvSpPr>
            <a:spLocks noGrp="1" noRot="1" noChangeAspect="1"/>
          </p:cNvSpPr>
          <p:nvPr>
            <p:ph type="sldImg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  <a:p>
            <a:r>
              <a:t>[All Apps] [All Admins] (Block) Access from non-OCC Devices or IP addresses</a:t>
            </a:r>
          </a:p>
          <a:p>
            <a:r>
              <a:t>Portal link: https://entra.microsoft.com/#view/Microsoft_AAD_ConditionalAccess/PolicyBlade/policyId/0b251fe5-6178-45a4-bbc1-610201853410
</a:t>
            </a:r>
          </a:p>
          <a:p>
            <a:r>
              <a:t>{
  "id": "0b251fe5-6178-45a4-bbc1-610201853410",
  "templateId": null,
  "deletedDateTime": null,
  "partialEnablementStrategy": null,
  "conditions": {
    "applications": {
      "excludeApplications": [],
      "includeApplications": [
        "All"
      ],
      "includeAuthenticationContextClassReferences": [],
      "includeUserActions": []
    },
    "clientAppTypes": [
      "all"
    ],
    "devices": {
      "deviceFilter": {
        "mode": "exclude",
        "rule": "device.trustType -eq \u0022AzureAD\u0022 -or device.trustType -eq \u0022ServerAD\u0022 -or device.trustType -eq \u0022Workplace\u0022"
      },
      "excludeDevices": [],
      "excludeDeviceStates": [],
      "includeDevices": [],
      "includeDeviceStates": []
    },
    "locations": {
      "excludeLocations": [
        "AllTrusted"
      ],
      "includeLocations": [
        "All"
      ]
    },
    "platforms": {
      "excludePlatforms": [],
      "includePlatforms": [
        "all"
      ]
    },
    "signInRiskLevels": [],
    "userRiskLevels": [],
    "users": {
      "excludeGroups": [],
      "excludeRoles": [],
      "excludeUsers": [
        "246296d3-20d1-4a54-bcbc-845ff2fe3512",
        "24770aef-6cda-46bb-9f5f-6333108d6a2e"
      ],
      "includeGroups": [
        "e62d47af-317b-4ef6-bd4b-9b94078f6f27"
      ],
      "includeRoles": [
        "9b895d92-2cd3-44c7-9d02-a6ac2d5ea5c3",
        "8424c6f0-a189-499e-bbd0-26c1753c96d4",
        "58a13ea3-c632-46ae-9ee0-9c0d43cd7f3d",
        "c4e39bd9-1100-46d3-8c65-fb160da0071f",
        "0526716b-113d-4c15-b2c8-68e3c22b9f80",
        "e3973bdf-4987-49ae-837a-ba8e231c7286",
        "b0f54661-2d74-4c50-afa3-1ec803f12efe",
        "892c5842-a9a6-463a-8041-72aa08ca3cf6",
        "158c047a-c907-4556-b7ef-446551a6b5f7",
        "7698a772-787b-4ac8-901f-60d6b08affd2",
        "17315797-102d-40b4-93e0-432062caca18",
        "e6d1a23a-da11-4be4-9570-befc86d067a7",
        "b1be1c3e-b65d-4f19-8427-f6fa0d97feb9",
        "38a96431-2bdf-4b4c-8b6e-5d3d8abac1a4",
        "8329153b-31d0-4727-b945-745eb3bc5f31",
        "44367163-eba1-44c3-98af-f5787879f96a",
        "3f1acade-1e04-4fbc-9b69-f0302cd84aef",
        "29232cdf-9323-42fd-ade2-1d097af3e4de",
        "31392ffb-586c-42d1-9346-e59415a2cc4e",
        "dd13091a-6207-4fc0-82ba-3641e056ab95",
        "6e591065-9bad-43ed-90f3-e9424366d2f0",
        "0f971eea-41eb-4569-a71e-57bb8a3eff1e",
        "be2f45a1-457d-42af-a067-6ec1fa63bc45",
        "a9ea8996-122f-4c74-9520-8edcd192826c",
        "62e90394-69f5-4237-9190-012177145e10",
        "ac434307-12b9-4fa1-a708-88bf58caabc1",
        "fdd7a751-b60b-444a-984c-02652fe8fa1c",
        "729827e3-9c14-49f7-bb1b-9608f156bbb8",
        "8ac3fc64-6eca-42ea-9e69-59f4c7b60eb2",
        "45d8d3c5-c802-45c6-b32a-1d70b5e1e86e",
        "eb1f4a8d-243a-41f0-9fbd-c7cdf6c5ef7c",
        "3a2c62db-5318-420d-8d74-23affee5d9d5",
        "74ef975b-6605-40af-a5d2-b9539d836353",
        "b5a8dcf3-09d5-43a9-a639-8e29ef291470",
        "4d6ac14f-3453-41d0-bef9-a3e0c569773a",
        "59d46f88-662b-457b-bceb-5c3809e5908f",
        "1707125e-0aa2-4d4d-8655-a7c786c76a25",
        "8c8b803f-96e1-4129-9349-20738d9f9652",
        "1501b917-7653-4ff9-a4b5-203eaf33784f",
        "281fe777-fb20-4fbb-b7a3-ccebce5b0d96",
        "9f06204d-73c1-4d4c-880a-6edb90606fd8",
        "d37c8bed-0711-4417-ba38-b4abe66ce4c2",
        "2b745bdf-0803-4d80-aa65-822c4493daac",
        "92ed04bf-c94a-4b82-9729-b799a7a4c178",
        "966707d0-3269-4727-9be2-8c3a10f19b9d",
        "af78dc32-cf4d-46f9-ba4e-4428526346b5",
        "11648597-926c-4cf3-9c36-bcebb0ba8dcc",
        "644ef478-e28f-4e28-b9dc-3fdde9aa0b1f",
        "7be44c8a-adaf-4e2a-84d6-ab2649e08a13",
        "e8611ab8-c189-46e8-94e1-60213ab1f814",
        "0964bb5e-9bdb-4d7b-ac29-58e794862a40",
        "194ae4cb-b126-40b2-bd5b-6091b380977d",
        "f023fd81-a637-4b56-95fd-791ac0226033",
        "f28a1f50-f6e7-4571-818b-6a12f2af6b6c",
        "1a7d78b6-429f-476b-b8eb-35fb715fffd4",
        "75941009-915a-4869-abe7-691bff18279e",
        "69091246-20e8-4a56-aa4d-066075b2a7a8",
        "fe930be7-5e62-47db-91af-98c3a49a38b1",
        "810a2642-a034-447f-a5e8-41beaa378541",
        "32696413-001a-46ae-978c-ce0f6b3620d2",
        "11451d60-acb2-45eb-a7d6-43d0f0125c13",
        "87761b17-1ed2-4af3-9acd-92a150038160",
        "92b086b3-e367-4ef2-b869-1de128fb986e",
        "e300d9e7-4a2b-4295-9eff-f1c78b36cc98",
        "3d762c5a-1b6c-493f-843e-55a3b42923d4",
        "aa38014f-0993-46e9-9b45-30501a20909d",
        "baf37b3a-610e-45da-9e62-d9d1e5e8914b",
        "963797fb-eb3b-4cde-8ce3-5878b3f32a3f",
        "7495fdc4-34c4-4d15-a289-98788ce399fd",
        "aaf43236-0c0d-4d5f-883a-6955382ac081",
        "3edaf663-341e-4475-9f94-5c398ef6c070",
        "25a516ed-2fa0-40ea-a2d0-12923a21473a",
        "ecb2c6bf-0ab6-418e-bd87-7986f8d63bbe",
        "5b784334-f94b-471a-a387-e7219fc49ca2",
        "c430b396-e693-46cc-96f3-db01bf8bb62a",
        "d2562ede-74db-457e-a7b6-544e236ebb61",
        "024906de-61e5-49c8-8572-40335f1e0e10"
      ],
      "includeUsers": []
    },
    "times": null
  },
  "createdDateTime": "2025-02-12T21:11:54.7489396\u002B00:00",
  "displayName": "[All Apps] [All Admins] (Block) Access from non-OCC Devices or IP addresses",
  "grantControls": {
    "builtInControls": [
      "block"
    ],
    "customAuthenticationFactors": [],
    "operator": "OR",
    "termsOfUse": [],
    "authenticationStrength@odata.context": "https://graph.microsoft.com/beta/$metadata#policies/conditionalAccessPolicies(\u00270b251fe5-6178-45a4-bbc1-610201853410\u0027)/grantControls/authenticationStrength/$entity"
  },
  "modifiedDateTime": "2025-05-23T18:14:01.9212345\u002B00:00",
  "state": "enabled"
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 algn="r"/>
            <a:fld id="{92BE2C76-A663-4516-805A-A3D376391A3E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"/>
          <p:cNvSpPr>
            <a:spLocks noGrp="1" noRot="1" noChangeAspect="1"/>
          </p:cNvSpPr>
          <p:nvPr>
            <p:ph type="sldImg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  <a:p>
            <a:r>
              <a:t>[All Apps] [All Admins] {MFA} All Admin Accounts (SiF=8)</a:t>
            </a:r>
          </a:p>
          <a:p>
            <a:r>
              <a:t>Portal link: https://entra.microsoft.com/#view/Microsoft_AAD_ConditionalAccess/PolicyBlade/policyId/0af48247-cf3d-464f-aa6d-253446541132
</a:t>
            </a:r>
          </a:p>
          <a:p>
            <a:r>
              <a:t>{
  "id": "0af48247-cf3d-464f-aa6d-253446541132",
  "templateId": null,
  "deletedDateTime": null,
  "partialEnablementStrategy": null,
  "conditions": {
    "applications": {
      "excludeApplications": [],
      "includeApplications": [
        "All"
      ],
      "includeAuthenticationContextClassReferences": [],
      "includeUserActions": []
    },
    "clientAppTypes": [
      "exchangeActiveSync",
      "browser",
      "mobileAppsAndDesktopClients",
      "other"
    ],
    "locations": {
      "excludeLocations": [],
      "includeLocations": [
        "All"
      ]
    },
    "platforms": {
      "excludePlatforms": [],
      "includePlatforms": [
        "all"
      ]
    },
    "signInRiskLevels": [],
    "userRiskLevels": [],
    "users": {
      "excludeGroups": [],
      "excludeRoles": [],
      "excludeUsers": [
        "23f15dd1-0027-4587-b103-45b37461b19d",
        "d85f326f-de54-45e2-b9de-37c8a4a0a1e9"
      ],
      "includeGroups": [
        "e62d47af-317b-4ef6-bd4b-9b94078f6f27"
      ],
      "includeRoles": [
        "9b895d92-2cd3-44c7-9d02-a6ac2d5ea5c3",
        "c430b396-e693-46cc-96f3-db01bf8bb62a",
        "58a13ea3-c632-46ae-9ee0-9c0d43cd7f3d",
        "8424c6f0-a189-499e-bbd0-26c1753c96d4",
        "5b784334-f94b-471a-a387-e7219fc49ca2",
        "c4e39bd9-1100-46d3-8c65-fb160da0071f",
        "25a516ed-2fa0-40ea-a2d0-12923a21473a",
        "0526716b-113d-4c15-b2c8-68e3c22b9f80",
        "e3973bdf-4987-49ae-837a-ba8e231c7286",
        "7495fdc4-34c4-4d15-a289-98788ce399fd",
        "aaf43236-0c0d-4d5f-883a-6955382ac081",
        "3edaf663-341e-4475-9f94-5c398ef6c070",
        "b0f54661-2d74-4c50-afa3-1ec803f12efe",
        "892c5842-a9a6-463a-8041-72aa08ca3cf6",
        "158c047a-c907-4556-b7ef-446551a6b5f7",
        "7698a772-787b-4ac8-901f-60d6b08affd2",
        "17315797-102d-40b4-93e0-432062caca18",
        "e6d1a23a-da11-4be4-9570-befc86d067a7",
        "b1be1c3e-b65d-4f19-8427-f6fa0d97feb9",
        "5c4f9dcd-47dc-4cf7-8c9a-9e4207cbfc91",
        "38a96431-2bdf-4b4c-8b6e-5d3d8abac1a4",
        "8329153b-31d0-4727-b945-745eb3bc5f31",
        "44367163-eba1-44c3-98af-f5787879f96a",
        "963797fb-eb3b-4cde-8ce3-5878b3f32a3f",
        "3f1acade-1e04-4fbc-9b69-f0302cd84aef",
        "29232cdf-9323-42fd-ade2-1d097af3e4de",
        "31392ffb-586c-42d1-9346-e59415a2cc4e",
        "dd13091a-6207-4fc0-82ba-3641e056ab95",
        "6e591065-9bad-43ed-90f3-e9424366d2f0",
        "0f971eea-41eb-4569-a71e-57bb8a3eff1e",
        "be2f45a1-457d-42af-a067-6ec1fa63bc45",
        "a9ea8996-122f-4c74-9520-8edcd192826c",
        "62e90394-69f5-4237-9190-012177145e10",
        "ac434307-12b9-4fa1-a708-88bf58caabc1",
        "fdd7a751-b60b-444a-984c-02652fe8fa1c",
        "729827e3-9c14-49f7-bb1b-9608f156bbb8",
        "8ac3fc64-6eca-42ea-9e69-59f4c7b60eb2",
        "45d8d3c5-c802-45c6-b32a-1d70b5e1e86e",
        "eb1f4a8d-243a-41f0-9fbd-c7cdf6c5ef7c",
        "3a2c62db-5318-420d-8d74-23affee5d9d5",
        "74ef975b-6605-40af-a5d2-b9539d836353",
        "b5a8dcf3-09d5-43a9-a639-8e29ef291470",
        "4d6ac14f-3453-41d0-bef9-a3e0c569773a",
        "59d46f88-662b-457b-bceb-5c3809e5908f",
        "8c8b803f-96e1-4129-9349-20738d9f9652",
        "9f06204d-73c1-4d4c-880a-6edb90606fd8",
        "1501b917-7653-4ff9-a4b5-203eaf33784f",
        "2b745bdf-0803-4d80-aa65-822c4493daac",
        "d37c8bed-0711-4417-ba38-b4abe66ce4c2",
        "92ed04bf-c94a-4b82-9729-b799a7a4c178",
        "966707d0-3269-4727-9be2-8c3a10f19b9d",
        "af78dc32-cf4d-46f9-ba4e-4428526346b5",
        "11648597-926c-4cf3-9c36-bcebb0ba8dcc",
        "644ef478-e28f-4e28-b9dc-3fdde9aa0b1f",
        "7be44c8a-adaf-4e2a-84d6-ab2649e08a13",
        "e8611ab8-c189-46e8-94e1-60213ab1f814",
        "0964bb5e-9bdb-4d7b-ac29-58e794862a40",
        "194ae4cb-b126-40b2-bd5b-6091b380977d",
        "f023fd81-a637-4b56-95fd-791ac0226033",
        "f28a1f50-f6e7-4571-818b-6a12f2af6b6c",
        "1a7d78b6-429f-476b-b8eb-35fb715fffd4",
        "75941009-915a-4869-abe7-691bff18279e",
        "69091246-20e8-4a56-aa4d-066075b2a7a8",
        "baf37b3a-610e-45da-9e62-d9d1e5e8914b",
        "3d762c5a-1b6c-493f-843e-55a3b42923d4",
        "aa38014f-0993-46e9-9b45-30501a20909d",
        "fe930be7-5e62-47db-91af-98c3a49a38b1",
        "e300d9e7-4a2b-4295-9eff-f1c78b36cc98",
        "92b086b3-e367-4ef2-b869-1de128fb986e",
        "87761b17-1ed2-4af3-9acd-92a150038160",
        "11451d60-acb2-45eb-a7d6-43d0f0125c13",
        "32696413-001a-46ae-978c-ce0f6b3620d2",
        "810a2642-a034-447f-a5e8-41beaa378541",
        "d2562ede-74db-457e-a7b6-544e236ebb61",
        "ecb2c6bf-0ab6-418e-bd87-7986f8d63bbe",
        "024906de-61e5-49c8-8572-40335f1e0e10",
        "2ea5ce4c-b2d8-4668-bd81-3680bd2d227a"
      ],
      "includeUsers": []
    },
    "times": null
  },
  "createdDateTime": "2024-07-18T15:53:34.11265\u002B00:00",
  "displayName": "[All Apps] [All Admins] {MFA} All Admin Accounts (SiF=8)",
  "grantControls": {
    "authenticationStrength": {
      "id": "00000000-0000-0000-0000-000000000004",
      "combinationConfigurations@odata.context": "https://graph.microsoft.com/beta/$metadata#policies/conditionalAccessPolicies(\u00270af48247-cf3d-464f-aa6d-253446541132\u0027)/grantControls/authenticationStrength/combinationConfigurations",
      "allowedCombinations": [
        "windowsHelloForBusiness",
        "fido2",
        "x509CertificateMultiFactor"
      ],
      "combinationConfigurations": [],
      "createdDateTime": "2021-12-01T08:00:00\u002B00:00",
      "description": "Phishing-resistant, Passwordless methods for the strongest authentication, such as a FIDO2 security key",
      "displayName": "Phishing-resistant MFA",
      "modifiedDateTime": "2021-12-01T08:00:00\u002B00:00",
      "policyType": "builtIn",
      "requirementsSatisfied": "mfa"
    },
    "builtInControls": [],
    "customAuthenticationFactors": [],
    "operator": "OR",
    "termsOfUse": [],
    "authenticationStrength@odata.context": "https://graph.microsoft.com/beta/$metadata#policies/conditionalAccessPolicies(\u00270af48247-cf3d-464f-aa6d-253446541132\u0027)/grantControls/authenticationStrength/$entity"
  },
  "modifiedDateTime": "2025-05-14T18:04:25.1616468\u002B00:00",
  "sessionControls": {
    "signInFrequency": {
      "isEnabled": true,
      "@odata.type": "#microsoft.graph.signInFrequencySessionControl",
      "authenticationType": "primaryAndSecondaryAuthentication",
      "frequencyInterval": "timeBased",
      "type": "hours",
      "value": 8
    }
  },
  "state": "enabled"
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 algn="r"/>
            <a:fld id="{53496A12-97FA-44CB-8097-42DDFA872E6F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"/>
          <p:cNvSpPr>
            <a:spLocks noGrp="1" noRot="1" noChangeAspect="1"/>
          </p:cNvSpPr>
          <p:nvPr>
            <p:ph type="sldImg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  <a:p>
            <a:r>
              <a:t>[All Apps] [All Users] (Block) Any untrusted OCC Network</a:t>
            </a:r>
          </a:p>
          <a:p>
            <a:r>
              <a:t>Portal link: https://entra.microsoft.com/#view/Microsoft_AAD_ConditionalAccess/PolicyBlade/policyId/c47ab4f7-4ff4-482a-9b43-d184ddeca0ed
</a:t>
            </a:r>
          </a:p>
          <a:p>
            <a:r>
              <a:t>{
  "id": "c47ab4f7-4ff4-482a-9b43-d184ddeca0ed",
  "templateId": null,
  "deletedDateTime": null,
  "partialEnablementStrategy": null,
  "conditions": {
    "applications": {
      "excludeApplications": [
        "0af06dc6-e4b5-4f28-818e-e78e62d137a5",
        "01cb2876-7ebd-4aa4-9cc9-d28bd4d359a9",
        "0000000a-0000-0000-c000-000000000000",
        "d4ebce55-015a-49b5-a083-c84d1797ae8c",
        "05550f4f-ea57-4145-a016-f188713ca126",
        "a4a365df-50f1-4397-bc59-1a1564b8bb9c",
        "270efc09-cd0d-444b-a71f-39af4910ec45",
        "9cdead84-a844-4324-93f2-b2e6bb768d07",
        "Office365"
      ],
      "includeApplications": [
        "All"
      ],
      "includeAuthenticationContextClassReferences": [],
      "includeUserActions": []
    },
    "clientAppTypes": [
      "all"
    ],
    "locations": {
      "excludeLocations": [
        "05566708-3886-4387-bfd7-754ce8eb3763",
        "03ad9ccc-cba9-4f8e-902f-bb44da2df2a3",
        "0f3717d5-746a-435f-a4e1-fbf128df481b",
        "074596ad-f784-464b-ae8d-cabea3ee4cdd"
      ],
      "includeLocations": [
        "All"
      ]
    },
    "platforms": {
      "excludePlatforms": [
        "android",
        "iOS"
      ],
      "includePlatforms": [
        "all"
      ]
    },
    "signInRiskLevels": [],
    "userRiskLevels": [],
    "users": {
      "excludeGroups": [
        "39aca1ba-f882-446a-aa64-ad8a2d4829ee"
      ],
      "excludeRoles": [],
      "excludeUsers": [
        "246296d3-20d1-4a54-bcbc-845ff2fe3512",
        "24770aef-6cda-46bb-9f5f-6333108d6a2e"
      ],
      "includeGroups": [],
      "includeRoles": [],
      "includeUsers": [
        "All"
      ]
    },
    "times": null
  },
  "createdDateTime": "2023-10-21T00:56:26.1220095\u002B00:00",
  "displayName": "[All Apps] [All Users] (Block) Any untrusted OCC Network",
  "grantControls": {
    "builtInControls": [
      "block"
    ],
    "customAuthenticationFactors": [],
    "operator": "OR",
    "termsOfUse": [],
    "authenticationStrength@odata.context": "https://graph.microsoft.com/beta/$metadata#policies/conditionalAccessPolicies(\u0027c47ab4f7-4ff4-482a-9b43-d184ddeca0ed\u0027)/grantControls/authenticationStrength/$entity"
  },
  "modifiedDateTime": "2025-06-06T15:45:01.5040906\u002B00:00",
  "state": "enabled"
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 algn="r"/>
            <a:fld id="{CF79A13C-0824-4F06-A3CD-8E2AE76A8365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"/>
          <p:cNvSpPr>
            <a:spLocks noGrp="1" noRot="1" noChangeAspect="1"/>
          </p:cNvSpPr>
          <p:nvPr>
            <p:ph type="sldImg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  <a:p>
            <a:r>
              <a:t>[All Apps] [All Users] (Block) Legacy Authentication</a:t>
            </a:r>
          </a:p>
          <a:p>
            <a:r>
              <a:t>Portal link: https://entra.microsoft.com/#view/Microsoft_AAD_ConditionalAccess/PolicyBlade/policyId/4639de90-07ca-4541-9f36-26b9af3ef913
</a:t>
            </a:r>
          </a:p>
          <a:p>
            <a:r>
              <a:t>{
  "id": "4639de90-07ca-4541-9f36-26b9af3ef913",
  "templateId": null,
  "deletedDateTime": null,
  "partialEnablementStrategy": null,
  "conditions": {
    "applications": {
      "excludeApplications": [],
      "includeApplications": [
        "All"
      ],
      "includeAuthenticationContextClassReferences": [],
      "includeUserActions": []
    },
    "clientAppTypes": [
      "exchangeActiveSync",
      "other"
    ],
    "signInRiskLevels": [],
    "userRiskLevels": [],
    "users": {
      "excludeGroups": [],
      "excludeRoles": [],
      "excludeUsers": [
        "246296d3-20d1-4a54-bcbc-845ff2fe3512",
        "24770aef-6cda-46bb-9f5f-6333108d6a2e"
      ],
      "includeGroups": [],
      "includeRoles": [],
      "includeUsers": [
        "All"
      ]
    },
    "times": null
  },
  "createdDateTime": "2023-01-09T15:58:29.6969637\u002B00:00",
  "displayName": "[All Apps] [All Users] (Block) Legacy Authentication",
  "grantControls": {
    "builtInControls": [
      "block"
    ],
    "customAuthenticationFactors": [],
    "operator": "OR",
    "termsOfUse": [],
    "authenticationStrength@odata.context": "https://graph.microsoft.com/beta/$metadata#policies/conditionalAccessPolicies(\u00274639de90-07ca-4541-9f36-26b9af3ef913\u0027)/grantControls/authenticationStrength/$entity"
  },
  "modifiedDateTime": "2025-04-24T17:04:36.3335981\u002B00:00",
  "state": "enabled"
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 algn="r"/>
            <a:fld id="{2949A57D-CDF5-48DB-B800-82AA282BFF4A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"/>
          <p:cNvSpPr>
            <a:spLocks noGrp="1" noRot="1" noChangeAspect="1"/>
          </p:cNvSpPr>
          <p:nvPr>
            <p:ph type="sldImg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  <a:p>
            <a:r>
              <a:t>[All Apps] [All Users] {MFA} Access through Admin Portal on trusted devices</a:t>
            </a:r>
          </a:p>
          <a:p>
            <a:r>
              <a:t>Portal link: https://entra.microsoft.com/#view/Microsoft_AAD_ConditionalAccess/PolicyBlade/policyId/ca495f29-c19f-46a5-9998-d9285ba3fb93
</a:t>
            </a:r>
          </a:p>
          <a:p>
            <a:r>
              <a:t>{
  "id": "ca495f29-c19f-46a5-9998-d9285ba3fb93",
  "templateId": null,
  "deletedDateTime": null,
  "partialEnablementStrategy": null,
  "conditions": {
    "applications": {
      "excludeApplications": [],
      "includeApplications": [
        "MicrosoftAdminPortals"
      ],
      "includeAuthenticationContextClassReferences": [],
      "includeUserActions": []
    },
    "clientAppTypes": [
      "all"
    ],
    "devices": {
      "deviceFilter": {
        "mode": "include",
        "rule": "device.trustType -eq \u0022AzureAD\u0022 -or device.trustType -eq \u0022ServerAD\u0022 -or device.trustType -eq \u0022Workplace\u0022"
      },
      "excludeDevices": [],
      "excludeDeviceStates": [],
      "includeDevices": [],
      "includeDeviceStates": []
    },
    "signInRiskLevels": [],
    "userRiskLevels": [],
    "users": {
      "excludeGroups": [],
      "excludeRoles": [],
      "excludeUsers": [
        "246296d3-20d1-4a54-bcbc-845ff2fe3512",
        "24770aef-6cda-46bb-9f5f-6333108d6a2e"
      ],
      "includeGroups": [],
      "includeRoles": [],
      "includeUsers": [
        "All"
      ]
    },
    "times": null
  },
  "createdDateTime": "2025-02-15T17:41:04.0038292\u002B00:00",
  "displayName": "[All Apps] [All Users] {MFA} Access through Admin Portal on trusted devices",
  "grantControls": {
    "builtInControls": [
      "mfa"
    ],
    "customAuthenticationFactors": [],
    "operator": "OR",
    "termsOfUse": [],
    "authenticationStrength@odata.context": "https://graph.microsoft.com/beta/$metadata#policies/conditionalAccessPolicies(\u0027ca495f29-c19f-46a5-9998-d9285ba3fb93\u0027)/grantControls/authenticationStrength/$entity"
  },
  "modifiedDateTime": "2025-04-16T18:40:07.4177078\u002B00:00",
  "state": "enabled"
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 algn="r"/>
            <a:fld id="{8B35C42E-20D2-478B-B34C-72E61BD96E89}" type="slidenum">
              <a:rPr/>
              <a:t>13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"/>
          <p:cNvSpPr>
            <a:spLocks noGrp="1" noRot="1" noChangeAspect="1"/>
          </p:cNvSpPr>
          <p:nvPr>
            <p:ph type="sldImg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  <a:p>
            <a:r>
              <a:t>[All Apps] [All Users] {MFA} All users and devices (Sif=90)</a:t>
            </a:r>
          </a:p>
          <a:p>
            <a:r>
              <a:t>Portal link: https://entra.microsoft.com/#view/Microsoft_AAD_ConditionalAccess/PolicyBlade/policyId/de7a19e1-1c6e-437f-95c6-45614dc5aa36
</a:t>
            </a:r>
          </a:p>
          <a:p>
            <a:r>
              <a:t>{
  "id": "de7a19e1-1c6e-437f-95c6-45614dc5aa36",
  "templateId": null,
  "deletedDateTime": null,
  "partialEnablementStrategy": null,
  "conditions": {
    "applications": {
      "excludeApplications": [],
      "includeApplications": [
        "All"
      ],
      "includeAuthenticationContextClassReferences": [],
      "includeUserActions": []
    },
    "clientAppTypes": [
      "all"
    ],
    "locations": {
      "excludeLocations": [],
      "includeLocations": [
        "All"
      ]
    },
    "platforms": {
      "excludePlatforms": [],
      "includePlatforms": [
        "all"
      ]
    },
    "signInRiskLevels": [],
    "userRiskLevels": [],
    "users": {
      "excludeGroups": [
        "fd9f5f7c-268e-43fe-9942-1274a35fd4d2",
        "176bea31-3003-419c-a3ad-e55a7a76dad8",
        "39aca1ba-f882-446a-aa64-ad8a2d4829ee"
      ],
      "excludeRoles": [
        "d29b2b05-8046-44ba-8758-1e26182fcf32"
      ],
      "excludeUsers": [],
      "includeGroups": [],
      "includeRoles": [],
      "includeUsers": [
        "All"
      ]
    },
    "times": null
  },
  "createdDateTime": "2024-07-22T16:27:59.2765979\u002B00:00",
  "displayName": "[All Apps] [All Users] {MFA} All users and devices (Sif=90)",
  "grantControls": {
    "authenticationStrength": {
      "id": "00000000-0000-0000-0000-000000000004",
      "combinationConfigurations@odata.context": "https://graph.microsoft.com/beta/$metadata#policies/conditionalAccessPolicies(\u0027de7a19e1-1c6e-437f-95c6-45614dc5aa36\u0027)/grantControls/authenticationStrength/combinationConfigurations",
      "allowedCombinations": [
        "windowsHelloForBusiness",
        "fido2",
        "x509CertificateMultiFactor"
      ],
      "combinationConfigurations": [],
      "createdDateTime": "2021-12-01T08:00:00\u002B00:00",
      "description": "Phishing-resistant, Passwordless methods for the strongest authentication, such as a FIDO2 security key",
      "displayName": "Phishing-resistant MFA",
      "modifiedDateTime": "2021-12-01T08:00:00\u002B00:00",
      "policyType": "builtIn",
      "requirementsSatisfied": "mfa"
    },
    "builtInControls": [],
    "customAuthenticationFactors": [],
    "operator": "OR",
    "termsOfUse": [],
    "authenticationStrength@odata.context": "https://graph.microsoft.com/beta/$metadata#policies/conditionalAccessPolicies(\u0027de7a19e1-1c6e-437f-95c6-45614dc5aa36\u0027)/grantControls/authenticationStrength/$entity"
  },
  "modifiedDateTime": "2025-06-11T13:42:17.6147563\u002B00:00",
  "sessionControls": {
    "signInFrequency": {
      "isEnabled": true,
      "@odata.type": "#microsoft.graph.signInFrequencySessionControl",
      "authenticationType": "primaryAndSecondaryAuthentication",
      "frequencyInterval": "timeBased",
      "type": "days",
      "value": 90
    }
  },
  "state": "enabled"
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 algn="r"/>
            <a:fld id="{8EA2F441-8FD0-436C-A559-E85E3AA55A0F}" type="slidenum">
              <a:rPr/>
              <a:t>14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"/>
          <p:cNvSpPr>
            <a:spLocks noGrp="1" noRot="1" noChangeAspect="1"/>
          </p:cNvSpPr>
          <p:nvPr>
            <p:ph type="sldImg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  <a:p>
            <a:r>
              <a:t>[All Apps] [All Users] {Mobile Devices} App Protection and Compliance</a:t>
            </a:r>
          </a:p>
          <a:p>
            <a:r>
              <a:t>Portal link: https://entra.microsoft.com/#view/Microsoft_AAD_ConditionalAccess/PolicyBlade/policyId/18d9ff07-2047-4710-a00e-e9a2da3bdbf3
</a:t>
            </a:r>
          </a:p>
          <a:p>
            <a:r>
              <a:t>{
  "id": "18d9ff07-2047-4710-a00e-e9a2da3bdbf3",
  "templateId": null,
  "deletedDateTime": null,
  "partialEnablementStrategy": null,
  "conditions": {
    "applications": {
      "excludeApplications": [
        "0000000a-0000-0000-c000-000000000000",
        "d4ebce55-015a-49b5-a083-c84d1797ae8c"
      ],
      "includeApplications": [
        "Office365"
      ],
      "includeAuthenticationContextClassReferences": [],
      "includeUserActions": []
    },
    "clientAppTypes": [
      "all"
    ],
    "platforms": {
      "excludePlatforms": [],
      "includePlatforms": [
        "android",
        "iOS"
      ]
    },
    "signInRiskLevels": [],
    "userRiskLevels": [],
    "users": {
      "excludeGroups": [],
      "excludeRoles": [],
      "excludeUsers": [
        "246296d3-20d1-4a54-bcbc-845ff2fe3512",
        "24770aef-6cda-46bb-9f5f-6333108d6a2e"
      ],
      "includeGroups": [],
      "includeRoles": [],
      "includeUsers": [
        "All"
      ]
    },
    "times": null
  },
  "createdDateTime": "2023-05-04T13:47:33.0386704\u002B00:00",
  "displayName": "[All Apps] [All Users] {Mobile Devices} App Protection and Compliance",
  "grantControls": {
    "builtInControls": [
      "compliantDevice",
      "compliantApplication"
    ],
    "customAuthenticationFactors": [],
    "operator": "AND",
    "termsOfUse": [],
    "authenticationStrength@odata.context": "https://graph.microsoft.com/beta/$metadata#policies/conditionalAccessPolicies(\u002718d9ff07-2047-4710-a00e-e9a2da3bdbf3\u0027)/grantControls/authenticationStrength/$entity"
  },
  "modifiedDateTime": "2025-05-23T18:09:19.6672527\u002B00:00",
  "state": "enabled"
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 algn="r"/>
            <a:fld id="{32882E2E-43D8-4C76-A5BC-4D91A265DFA2}" type="slidenum">
              <a:rPr/>
              <a:t>15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"/>
          <p:cNvSpPr>
            <a:spLocks noGrp="1" noRot="1" noChangeAspect="1"/>
          </p:cNvSpPr>
          <p:nvPr>
            <p:ph type="sldImg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  <a:p>
            <a:r>
              <a:t>[All Apps] [SVo365 AEM] Service Account Login Requires Phishing-Resistant MFA</a:t>
            </a:r>
          </a:p>
          <a:p>
            <a:r>
              <a:t>Portal link: https://entra.microsoft.com/#view/Microsoft_AAD_ConditionalAccess/PolicyBlade/policyId/928f3df3-52fe-4384-a194-821b78ef2aa5
</a:t>
            </a:r>
          </a:p>
          <a:p>
            <a:r>
              <a:t>{
  "id": "928f3df3-52fe-4384-a194-821b78ef2aa5",
  "templateId": null,
  "deletedDateTime": null,
  "partialEnablementStrategy": null,
  "conditions": {
    "applications": {
      "excludeApplications": [],
      "includeApplications": [
        "All"
      ],
      "includeAuthenticationContextClassReferences": [],
      "includeUserActions": []
    },
    "clientAppTypes": [
      "all"
    ],
    "locations": {
      "excludeLocations": [
        "074596ad-f784-464b-ae8d-cabea3ee4cdd"
      ],
      "includeLocations": [
        "All"
      ]
    },
    "signInRiskLevels": [],
    "userRiskLevels": [],
    "users": {
      "excludeGroups": [],
      "excludeRoles": [],
      "excludeUsers": [],
      "includeGroups": [],
      "includeRoles": [],
      "includeUsers": [
        "5a267434-3283-409e-a45f-db3dfa735ee1"
      ]
    },
    "times": null
  },
  "createdDateTime": "2025-05-13T13:48:54.5749848\u002B00:00",
  "displayName": "[All Apps] [SVo365 AEM] Service Account Login Requires Phishing-Resistant MFA",
  "grantControls": {
    "authenticationStrength": {
      "id": "00000000-0000-0000-0000-000000000004",
      "combinationConfigurations@odata.context": "https://graph.microsoft.com/beta/$metadata#policies/conditionalAccessPolicies(\u0027928f3df3-52fe-4384-a194-821b78ef2aa5\u0027)/grantControls/authenticationStrength/combinationConfigurations",
      "allowedCombinations": [
        "windowsHelloForBusiness",
        "fido2",
        "x509CertificateMultiFactor"
      ],
      "combinationConfigurations": [],
      "createdDateTime": "2021-12-01T08:00:00\u002B00:00",
      "description": "Phishing-resistant, Passwordless methods for the strongest authentication, such as a FIDO2 security key",
      "displayName": "Phishing-resistant MFA",
      "modifiedDateTime": "2021-12-01T08:00:00\u002B00:00",
      "policyType": "builtIn",
      "requirementsSatisfied": "mfa"
    },
    "builtInControls": [],
    "customAuthenticationFactors": [],
    "operator": "OR",
    "termsOfUse": [],
    "authenticationStrength@odata.context": "https://graph.microsoft.com/beta/$metadata#policies/conditionalAccessPolicies(\u0027928f3df3-52fe-4384-a194-821b78ef2aa5\u0027)/grantControls/authenticationStrength/$entity"
  },
  "modifiedDateTime": "2025-06-03T14:09:29.4882571\u002B00:00",
  "state": "enabled"
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 algn="r"/>
            <a:fld id="{63CF8B14-3525-4EE5-B8CC-2EBE37167B17}" type="slidenum">
              <a:rPr/>
              <a:t>16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"/>
          <p:cNvSpPr>
            <a:spLocks noGrp="1" noRot="1" noChangeAspect="1"/>
          </p:cNvSpPr>
          <p:nvPr>
            <p:ph type="sldImg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  <a:p>
            <a:r>
              <a:t>[All Apps] [SVo365 BI/Tableau] Service Account Login Requires Phishing-Resistant MFA</a:t>
            </a:r>
          </a:p>
          <a:p>
            <a:r>
              <a:t>Portal link: https://entra.microsoft.com/#view/Microsoft_AAD_ConditionalAccess/PolicyBlade/policyId/686d740e-ec5c-4084-b8c5-ef1f5a57e1fb
</a:t>
            </a:r>
          </a:p>
          <a:p>
            <a:r>
              <a:t>{
  "id": "686d740e-ec5c-4084-b8c5-ef1f5a57e1fb",
  "templateId": null,
  "deletedDateTime": null,
  "partialEnablementStrategy": null,
  "conditions": {
    "applications": {
      "excludeApplications": [],
      "includeApplications": [
        "All"
      ],
      "includeAuthenticationContextClassReferences": [],
      "includeUserActions": []
    },
    "clientAppTypes": [
      "all"
    ],
    "locations": {
      "excludeLocations": [
        "074596ad-f784-464b-ae8d-cabea3ee4cdd"
      ],
      "includeLocations": [
        "All"
      ]
    },
    "signInRiskLevels": [],
    "userRiskLevels": [],
    "users": {
      "excludeGroups": [],
      "excludeRoles": [],
      "excludeUsers": [],
      "includeGroups": [],
      "includeRoles": [],
      "includeUsers": [
        "5739c12e-6001-41f5-b7ec-656d6f3dc0b0",
        "c7e072f2-8e6c-42d2-b557-cff1a6e0a12f",
        "c52a27b1-3704-49aa-ba10-b5249bfc39de"
      ]
    },
    "times": null
  },
  "createdDateTime": "2025-05-12T19:48:55.6761904\u002B00:00",
  "displayName": "[All Apps] [SVo365 BI/Tableau] Service Account Login Requires Phishing-Resistant MFA",
  "grantControls": {
    "authenticationStrength": {
      "id": "00000000-0000-0000-0000-000000000004",
      "combinationConfigurations@odata.context": "https://graph.microsoft.com/beta/$metadata#policies/conditionalAccessPolicies(\u0027686d740e-ec5c-4084-b8c5-ef1f5a57e1fb\u0027)/grantControls/authenticationStrength/combinationConfigurations",
      "allowedCombinations": [
        "windowsHelloForBusiness",
        "fido2",
        "x509CertificateMultiFactor"
      ],
      "combinationConfigurations": [],
      "createdDateTime": "2021-12-01T08:00:00\u002B00:00",
      "description": "Phishing-resistant, Passwordless methods for the strongest authentication, such as a FIDO2 security key",
      "displayName": "Phishing-resistant MFA",
      "modifiedDateTime": "2021-12-01T08:00:00\u002B00:00",
      "policyType": "builtIn",
      "requirementsSatisfied": "mfa"
    },
    "builtInControls": [],
    "customAuthenticationFactors": [],
    "operator": "OR",
    "termsOfUse": [],
    "authenticationStrength@odata.context": "https://graph.microsoft.com/beta/$metadata#policies/conditionalAccessPolicies(\u0027686d740e-ec5c-4084-b8c5-ef1f5a57e1fb\u0027)/grantControls/authenticationStrength/$entity"
  },
  "modifiedDateTime": "2025-07-30T20:19:21.4726136\u002B00:00",
  "state": "enabled"
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 algn="r"/>
            <a:fld id="{043817DD-4997-4A64-8CEA-1D8B79C16577}" type="slidenum">
              <a:rPr/>
              <a:t>17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"/>
          <p:cNvSpPr>
            <a:spLocks noGrp="1" noRot="1" noChangeAspect="1"/>
          </p:cNvSpPr>
          <p:nvPr>
            <p:ph type="sldImg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  <a:p>
            <a:r>
              <a:t>[All Apps] [SVo365 BizTalk] (Block) Service Accounts From Non Approved IPs</a:t>
            </a:r>
          </a:p>
          <a:p>
            <a:r>
              <a:t>Portal link: https://entra.microsoft.com/#view/Microsoft_AAD_ConditionalAccess/PolicyBlade/policyId/c2937d80-d069-4e0e-aaa1-7f03e89d774b
</a:t>
            </a:r>
          </a:p>
          <a:p>
            <a:r>
              <a:t>{
  "id": "c2937d80-d069-4e0e-aaa1-7f03e89d774b",
  "templateId": null,
  "deletedDateTime": null,
  "partialEnablementStrategy": null,
  "conditions": {
    "applications": {
      "excludeApplications": [],
      "includeApplications": [
        "All"
      ],
      "includeAuthenticationContextClassReferences": [],
      "includeUserActions": []
    },
    "clientAppTypes": [
      "all"
    ],
    "locations": {
      "excludeLocations": [
        "03ad9ccc-cba9-4f8e-902f-bb44da2df2a3",
        "074596ad-f784-464b-ae8d-cabea3ee4cdd"
      ],
      "includeLocations": [
        "All"
      ]
    },
    "signInRiskLevels": [],
    "userRiskLevels": [],
    "users": {
      "excludeGroups": [],
      "excludeRoles": [],
      "excludeUsers": [],
      "includeGroups": [],
      "includeRoles": [],
      "includeUsers": [
        "5c6138d6-c07b-4abd-95b7-33b062ef4971",
        "627b915e-82e6-47aa-8746-e56e5a43ba43",
        "82568de2-69b4-43f9-9494-1119099b1c1d"
      ]
    },
    "times": null
  },
  "createdDateTime": "2025-04-22T20:04:53.8583581\u002B00:00",
  "displayName": "[All Apps] [SVo365 BizTalk] (Block) Service Accounts From Non Approved IPs",
  "grantControls": {
    "builtInControls": [
      "block"
    ],
    "customAuthenticationFactors": [],
    "operator": "OR",
    "termsOfUse": [],
    "authenticationStrength@odata.context": "https://graph.microsoft.com/beta/$metadata#policies/conditionalAccessPolicies(\u0027c2937d80-d069-4e0e-aaa1-7f03e89d774b\u0027)/grantControls/authenticationStrength/$entity"
  },
  "modifiedDateTime": "2025-05-13T18:11:49.5108655\u002B00:00",
  "state": "enabled"
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 algn="r"/>
            <a:fld id="{2B9D176A-AB79-4FEA-8CD8-C04B78E6860E}" type="slidenum">
              <a:rPr/>
              <a:t>18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"/>
          <p:cNvSpPr>
            <a:spLocks noGrp="1" noRot="1" noChangeAspect="1"/>
          </p:cNvSpPr>
          <p:nvPr>
            <p:ph type="sldImg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  <a:p>
            <a:r>
              <a:t>[All Apps] [SVo365 BizTalk] Service Account Login Requires Phishing-Resistant MFA</a:t>
            </a:r>
          </a:p>
          <a:p>
            <a:r>
              <a:t>Portal link: https://entra.microsoft.com/#view/Microsoft_AAD_ConditionalAccess/PolicyBlade/policyId/b560661e-f4ce-4a68-8447-dcba2bea965a
</a:t>
            </a:r>
          </a:p>
          <a:p>
            <a:r>
              <a:t>{
  "id": "b560661e-f4ce-4a68-8447-dcba2bea965a",
  "templateId": null,
  "deletedDateTime": null,
  "partialEnablementStrategy": null,
  "conditions": {
    "applications": {
      "excludeApplications": [],
      "includeApplications": [
        "All"
      ],
      "includeAuthenticationContextClassReferences": [],
      "includeUserActions": []
    },
    "clientAppTypes": [
      "all"
    ],
    "locations": {
      "excludeLocations": [
        "074596ad-f784-464b-ae8d-cabea3ee4cdd"
      ],
      "includeLocations": [
        "All"
      ]
    },
    "signInRiskLevels": [],
    "userRiskLevels": [],
    "users": {
      "excludeGroups": [],
      "excludeRoles": [],
      "excludeUsers": [],
      "includeGroups": [],
      "includeRoles": [],
      "includeUsers": [
        "5c6138d6-c07b-4abd-95b7-33b062ef4971",
        "627b915e-82e6-47aa-8746-e56e5a43ba43",
        "82568de2-69b4-43f9-9494-1119099b1c1d"
      ]
    },
    "times": null
  },
  "createdDateTime": "2025-05-13T18:17:53.164197\u002B00:00",
  "displayName": "[All Apps] [SVo365 BizTalk] Service Account Login Requires Phishing-Resistant MFA",
  "grantControls": {
    "authenticationStrength": {
      "id": "00000000-0000-0000-0000-000000000004",
      "combinationConfigurations@odata.context": "https://graph.microsoft.com/beta/$metadata#policies/conditionalAccessPolicies(\u0027b560661e-f4ce-4a68-8447-dcba2bea965a\u0027)/grantControls/authenticationStrength/combinationConfigurations",
      "allowedCombinations": [
        "windowsHelloForBusiness",
        "fido2",
        "x509CertificateMultiFactor"
      ],
      "combinationConfigurations": [],
      "createdDateTime": "2021-12-01T08:00:00\u002B00:00",
      "description": "Phishing-resistant, Passwordless methods for the strongest authentication, such as a FIDO2 security key",
      "displayName": "Phishing-resistant MFA",
      "modifiedDateTime": "2021-12-01T08:00:00\u002B00:00",
      "policyType": "builtIn",
      "requirementsSatisfied": "mfa"
    },
    "builtInControls": [],
    "customAuthenticationFactors": [],
    "operator": "OR",
    "termsOfUse": [],
    "authenticationStrength@odata.context": "https://graph.microsoft.com/beta/$metadata#policies/conditionalAccessPolicies(\u0027b560661e-f4ce-4a68-8447-dcba2bea965a\u0027)/grantControls/authenticationStrength/$entity"
  },
  "modifiedDateTime": "2025-06-03T15:53:28.9843853\u002B00:00",
  "state": "enabled"
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 algn="r"/>
            <a:fld id="{EF7F1AC0-FEA4-406D-AD57-86895E019943}" type="slidenum">
              <a:rPr/>
              <a:t>19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"/>
          <p:cNvSpPr>
            <a:spLocks noGrp="1" noRot="1" noChangeAspect="1"/>
          </p:cNvSpPr>
          <p:nvPr>
            <p:ph type="sldImg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  <a:p>
            <a:r>
              <a:t>[All Apps] [SVo365 Cofense] (Block) Service Accounts From Non Approved IPs</a:t>
            </a:r>
          </a:p>
          <a:p>
            <a:r>
              <a:t>Portal link: https://entra.microsoft.com/#view/Microsoft_AAD_ConditionalAccess/PolicyBlade/policyId/98a832a4-469f-46d1-b80a-84691102ae61
</a:t>
            </a:r>
          </a:p>
          <a:p>
            <a:r>
              <a:t>{
  "id": "98a832a4-469f-46d1-b80a-84691102ae61",
  "templateId": null,
  "deletedDateTime": null,
  "partialEnablementStrategy": null,
  "conditions": {
    "applications": {
      "excludeApplications": [],
      "includeApplications": [
        "All"
      ],
      "includeAuthenticationContextClassReferences": [],
      "includeUserActions": []
    },
    "clientAppTypes": [
      "all"
    ],
    "locations": {
      "excludeLocations": [
        "03ad9ccc-cba9-4f8e-902f-bb44da2df2a3",
        "074596ad-f784-464b-ae8d-cabea3ee4cdd"
      ],
      "includeLocations": [
        "All"
      ]
    },
    "signInRiskLevels": [],
    "userRiskLevels": [],
    "users": {
      "excludeGroups": [],
      "excludeRoles": [],
      "excludeUsers": [],
      "includeGroups": [],
      "includeRoles": [],
      "includeUsers": [
        "8777c023-e99d-44fc-96fb-861d3955436b"
      ]
    },
    "times": null
  },
  "createdDateTime": "2025-05-05T18:28:28.1398576\u002B00:00",
  "displayName": "[All Apps] [SVo365 Cofense] (Block) Service Accounts From Non Approved IPs",
  "grantControls": {
    "builtInControls": [
      "block"
    ],
    "customAuthenticationFactors": [],
    "operator": "OR",
    "termsOfUse": [],
    "authenticationStrength@odata.context": "https://graph.microsoft.com/beta/$metadata#policies/conditionalAccessPolicies(\u002798a832a4-469f-46d1-b80a-84691102ae61\u0027)/grantControls/authenticationStrength/$entity"
  },
  "modifiedDateTime": "2025-05-14T14:48:26.4956395\u002B00:00",
  "state": "enabled"
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 algn="r"/>
            <a:fld id="{3A0BC72E-F6AA-4E81-90EC-2FC703A0E81C}" type="slidenum">
              <a:rPr/>
              <a:t>20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"/>
          <p:cNvSpPr>
            <a:spLocks noGrp="1" noRot="1" noChangeAspect="1"/>
          </p:cNvSpPr>
          <p:nvPr>
            <p:ph type="sldImg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  <a:p>
            <a:r>
              <a:t>[All Apps] [SVo365 Cofense] Service Account Login Requires Phishing-Resistant MFA </a:t>
            </a:r>
          </a:p>
          <a:p>
            <a:r>
              <a:t>Portal link: https://entra.microsoft.com/#view/Microsoft_AAD_ConditionalAccess/PolicyBlade/policyId/9e3f6903-970a-492e-8a64-071ec23ae822
</a:t>
            </a:r>
          </a:p>
          <a:p>
            <a:r>
              <a:t>{
  "id": "9e3f6903-970a-492e-8a64-071ec23ae822",
  "templateId": null,
  "deletedDateTime": null,
  "partialEnablementStrategy": null,
  "conditions": {
    "applications": {
      "excludeApplications": [],
      "includeApplications": [
        "All"
      ],
      "includeAuthenticationContextClassReferences": [],
      "includeUserActions": []
    },
    "clientAppTypes": [
      "all"
    ],
    "locations": {
      "excludeLocations": [
        "03ad9ccc-cba9-4f8e-902f-bb44da2df2a3",
        "074596ad-f784-464b-ae8d-cabea3ee4cdd"
      ],
      "includeLocations": [
        "All"
      ]
    },
    "signInRiskLevels": [],
    "userRiskLevels": [],
    "users": {
      "excludeGroups": [],
      "excludeRoles": [],
      "excludeUsers": [],
      "includeGroups": [],
      "includeRoles": [],
      "includeUsers": [
        "8777c023-e99d-44fc-96fb-861d3955436b"
      ]
    },
    "times": null
  },
  "createdDateTime": "2025-05-06T18:21:47.3070295\u002B00:00",
  "displayName": "[All Apps] [SVo365 Cofense] Service Account Login Requires Phishing-Resistant MFA ",
  "grantControls": {
    "authenticationStrength": {
      "id": "00000000-0000-0000-0000-000000000004",
      "combinationConfigurations@odata.context": "https://graph.microsoft.com/beta/$metadata#policies/conditionalAccessPolicies(\u00279e3f6903-970a-492e-8a64-071ec23ae822\u0027)/grantControls/authenticationStrength/combinationConfigurations",
      "allowedCombinations": [
        "windowsHelloForBusiness",
        "fido2",
        "x509CertificateMultiFactor"
      ],
      "combinationConfigurations": [],
      "createdDateTime": "2021-12-01T08:00:00\u002B00:00",
      "description": "Phishing-resistant, Passwordless methods for the strongest authentication, such as a FIDO2 security key",
      "displayName": "Phishing-resistant MFA",
      "modifiedDateTime": "2021-12-01T08:00:00\u002B00:00",
      "policyType": "builtIn",
      "requirementsSatisfied": "mfa"
    },
    "builtInControls": [],
    "customAuthenticationFactors": [],
    "operator": "OR",
    "termsOfUse": [],
    "authenticationStrength@odata.context": "https://graph.microsoft.com/beta/$metadata#policies/conditionalAccessPolicies(\u00279e3f6903-970a-492e-8a64-071ec23ae822\u0027)/grantControls/authenticationStrength/$entity"
  },
  "modifiedDateTime": "2025-06-03T17:42:40.5282983\u002B00:00",
  "state": "enabled"
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 algn="r"/>
            <a:fld id="{1DD1F163-AF6E-4752-A64B-EE5B82017570}" type="slidenum">
              <a:rPr/>
              <a:t>21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"/>
          <p:cNvSpPr>
            <a:spLocks noGrp="1" noRot="1" noChangeAspect="1"/>
          </p:cNvSpPr>
          <p:nvPr>
            <p:ph type="sldImg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  <a:p>
            <a:r>
              <a:t>[All Apps] [SVo365 Collibra] Service Account Login Requires Phishing-Resistant MFA </a:t>
            </a:r>
          </a:p>
          <a:p>
            <a:r>
              <a:t>Portal link: https://entra.microsoft.com/#view/Microsoft_AAD_ConditionalAccess/PolicyBlade/policyId/aac86c5e-6e83-4d34-8737-ea12752d1721
</a:t>
            </a:r>
          </a:p>
          <a:p>
            <a:r>
              <a:t>{
  "id": "aac86c5e-6e83-4d34-8737-ea12752d1721",
  "templateId": null,
  "deletedDateTime": null,
  "partialEnablementStrategy": null,
  "conditions": {
    "applications": {
      "excludeApplications": [],
      "includeApplications": [
        "All"
      ],
      "includeAuthenticationContextClassReferences": [],
      "includeUserActions": []
    },
    "clientAppTypes": [
      "all"
    ],
    "locations": {
      "excludeLocations": [
        "074596ad-f784-464b-ae8d-cabea3ee4cdd"
      ],
      "includeLocations": [
        "All"
      ]
    },
    "signInRiskLevels": [],
    "userRiskLevels": [],
    "users": {
      "excludeGroups": [],
      "excludeRoles": [],
      "excludeUsers": [],
      "includeGroups": [],
      "includeRoles": [],
      "includeUsers": [
        "d7da2c6e-755d-4b21-a34e-83a6bc240367"
      ]
    },
    "times": null
  },
  "createdDateTime": "2025-05-13T13:29:27.9242541\u002B00:00",
  "displayName": "[All Apps] [SVo365 Collibra] Service Account Login Requires Phishing-Resistant MFA ",
  "grantControls": {
    "authenticationStrength": {
      "id": "00000000-0000-0000-0000-000000000004",
      "combinationConfigurations@odata.context": "https://graph.microsoft.com/beta/$metadata#policies/conditionalAccessPolicies(\u0027aac86c5e-6e83-4d34-8737-ea12752d1721\u0027)/grantControls/authenticationStrength/combinationConfigurations",
      "allowedCombinations": [
        "windowsHelloForBusiness",
        "fido2",
        "x509CertificateMultiFactor"
      ],
      "combinationConfigurations": [],
      "createdDateTime": "2021-12-01T08:00:00\u002B00:00",
      "description": "Phishing-resistant, Passwordless methods for the strongest authentication, such as a FIDO2 security key",
      "displayName": "Phishing-resistant MFA",
      "modifiedDateTime": "2021-12-01T08:00:00\u002B00:00",
      "policyType": "builtIn",
      "requirementsSatisfied": "mfa"
    },
    "builtInControls": [],
    "customAuthenticationFactors": [],
    "operator": "OR",
    "termsOfUse": [],
    "authenticationStrength@odata.context": "https://graph.microsoft.com/beta/$metadata#policies/conditionalAccessPolicies(\u0027aac86c5e-6e83-4d34-8737-ea12752d1721\u0027)/grantControls/authenticationStrength/$entity"
  },
  "modifiedDateTime": "2025-06-03T17:39:34.3474734\u002B00:00",
  "state": "enabled"
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 algn="r"/>
            <a:fld id="{E919BE0B-CE21-4F17-B630-E9EF38267527}" type="slidenum">
              <a:rPr/>
              <a:t>22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"/>
          <p:cNvSpPr>
            <a:spLocks noGrp="1" noRot="1" noChangeAspect="1"/>
          </p:cNvSpPr>
          <p:nvPr>
            <p:ph type="sldImg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  <a:p>
            <a:r>
              <a:t>[All Apps] [SVo365 PowerRPA] Service Account Login Requires Phishing-Resistant MFA</a:t>
            </a:r>
          </a:p>
          <a:p>
            <a:r>
              <a:t>Portal link: https://entra.microsoft.com/#view/Microsoft_AAD_ConditionalAccess/PolicyBlade/policyId/8dc7790b-617d-42e3-a59c-5eb59ec1d855
</a:t>
            </a:r>
          </a:p>
          <a:p>
            <a:r>
              <a:t>{
  "id": "8dc7790b-617d-42e3-a59c-5eb59ec1d855",
  "templateId": null,
  "deletedDateTime": null,
  "partialEnablementStrategy": null,
  "conditions": {
    "applications": {
      "excludeApplications": [],
      "includeApplications": [
        "All"
      ],
      "includeAuthenticationContextClassReferences": [],
      "includeUserActions": []
    },
    "clientAppTypes": [
      "all"
    ],
    "locations": {
      "excludeLocations": [
        "0bdc9516-00e3-419c-a5e3-382e3d3abbbf"
      ],
      "includeLocations": [
        "All"
      ]
    },
    "signInRiskLevels": [],
    "userRiskLevels": [],
    "users": {
      "excludeGroups": [],
      "excludeRoles": [],
      "excludeUsers": [],
      "includeGroups": [],
      "includeRoles": [],
      "includeUsers": [
        "8beb8e0a-9a7d-43f4-a8bd-249ab428c63d",
        "d6b9abc1-c729-427a-9958-e66fa30853a4",
        "02b168ac-d54e-459f-ab22-be85667ef1ea",
        "728582f7-6286-4f72-87a5-94166991d55f",
        "85f49014-f067-400d-9562-e688eef405ed",
        "4c9c116d-3f63-4199-bbde-0bc1d61f8ce4",
        "4c8fa7fd-8a38-4236-a8f8-63442cf5bfa0",
        "efb6ee45-5037-44cf-b7b6-cab7aa6b79ad",
        "7712b9d5-1f4f-4615-ae07-ef9023684c19"
      ]
    },
    "times": null
  },
  "createdDateTime": "2023-05-22T20:05:41.5752828\u002B00:00",
  "displayName": "[All Apps] [SVo365 PowerRPA] Service Account Login Requires Phishing-Resistant MFA",
  "grantControls": {
    "authenticationStrength": {
      "id": "00000000-0000-0000-0000-000000000004",
      "combinationConfigurations@odata.context": "https://graph.microsoft.com/beta/$metadata#policies/conditionalAccessPolicies(\u00278dc7790b-617d-42e3-a59c-5eb59ec1d855\u0027)/grantControls/authenticationStrength/combinationConfigurations",
      "allowedCombinations": [
        "windowsHelloForBusiness",
        "fido2",
        "x509CertificateMultiFactor"
      ],
      "combinationConfigurations": [],
      "createdDateTime": "2021-12-01T08:00:00\u002B00:00",
      "description": "Phishing-resistant, Passwordless methods for the strongest authentication, such as a FIDO2 security key",
      "displayName": "Phishing-resistant MFA",
      "modifiedDateTime": "2021-12-01T08:00:00\u002B00:00",
      "policyType": "builtIn",
      "requirementsSatisfied": "mfa"
    },
    "builtInControls": [],
    "customAuthenticationFactors": [],
    "operator": "OR",
    "termsOfUse": [],
    "authenticationStrength@odata.context": "https://graph.microsoft.com/beta/$metadata#policies/conditionalAccessPolicies(\u00278dc7790b-617d-42e3-a59c-5eb59ec1d855\u0027)/grantControls/authenticationStrength/$entity"
  },
  "modifiedDateTime": "2025-06-03T14:50:56.2017229\u002B00:00",
  "state": "enabled"
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 algn="r"/>
            <a:fld id="{2409507A-A528-49DC-9381-21A7CF687DF0}" type="slidenum">
              <a:rPr/>
              <a:t>23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"/>
          <p:cNvSpPr>
            <a:spLocks noGrp="1" noRot="1" noChangeAspect="1"/>
          </p:cNvSpPr>
          <p:nvPr>
            <p:ph type="sldImg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  <a:p>
            <a:r>
              <a:t>[All Apps] [SVo365 SharePoint] Service Account Login Requires Phishing-Resistant MFA </a:t>
            </a:r>
          </a:p>
          <a:p>
            <a:r>
              <a:t>Portal link: https://entra.microsoft.com/#view/Microsoft_AAD_ConditionalAccess/PolicyBlade/policyId/731d234d-1a9d-456e-868b-7fe083086fa8
</a:t>
            </a:r>
          </a:p>
          <a:p>
            <a:r>
              <a:t>{
  "id": "731d234d-1a9d-456e-868b-7fe083086fa8",
  "templateId": null,
  "deletedDateTime": null,
  "partialEnablementStrategy": null,
  "conditions": {
    "applications": {
      "excludeApplications": [],
      "includeApplications": [
        "All"
      ],
      "includeAuthenticationContextClassReferences": [],
      "includeUserActions": []
    },
    "clientAppTypes": [
      "all"
    ],
    "locations": {
      "excludeLocations": [
        "074596ad-f784-464b-ae8d-cabea3ee4cdd"
      ],
      "includeLocations": [
        "All"
      ]
    },
    "signInRiskLevels": [],
    "userRiskLevels": [],
    "users": {
      "excludeGroups": [],
      "excludeRoles": [],
      "excludeUsers": [],
      "includeGroups": [],
      "includeRoles": [],
      "includeUsers": [
        "23f15dd1-0027-4587-b103-45b37461b19d",
        "a1dcdde4-fd88-4e6d-9121-125ecf0fa9fa",
        "d85f326f-de54-45e2-b9de-37c8a4a0a1e9"
      ]
    },
    "times": null
  },
  "createdDateTime": "2025-05-08T11:19:46.7191783\u002B00:00",
  "displayName": "[All Apps] [SVo365 SharePoint] Service Account Login Requires Phishing-Resistant MFA ",
  "grantControls": {
    "authenticationStrength": {
      "id": "00000000-0000-0000-0000-000000000004",
      "combinationConfigurations@odata.context": "https://graph.microsoft.com/beta/$metadata#policies/conditionalAccessPolicies(\u0027731d234d-1a9d-456e-868b-7fe083086fa8\u0027)/grantControls/authenticationStrength/combinationConfigurations",
      "allowedCombinations": [
        "windowsHelloForBusiness",
        "fido2",
        "x509CertificateMultiFactor"
      ],
      "combinationConfigurations": [],
      "createdDateTime": "2021-12-01T08:00:00\u002B00:00",
      "description": "Phishing-resistant, Passwordless methods for the strongest authentication, such as a FIDO2 security key",
      "displayName": "Phishing-resistant MFA",
      "modifiedDateTime": "2021-12-01T08:00:00\u002B00:00",
      "policyType": "builtIn",
      "requirementsSatisfied": "mfa"
    },
    "builtInControls": [],
    "customAuthenticationFactors": [],
    "operator": "OR",
    "termsOfUse": [],
    "authenticationStrength@odata.context": "https://graph.microsoft.com/beta/$metadata#policies/conditionalAccessPolicies(\u0027731d234d-1a9d-456e-868b-7fe083086fa8\u0027)/grantControls/authenticationStrength/$entity"
  },
  "modifiedDateTime": "2025-06-12T15:08:40.9346039\u002B00:00",
  "state": "enabled"
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 algn="r"/>
            <a:fld id="{D1C77AD1-4162-44EC-A01F-2E3A9E404323}" type="slidenum">
              <a:rPr/>
              <a:t>24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"/>
          <p:cNvSpPr>
            <a:spLocks noGrp="1" noRot="1" noChangeAspect="1"/>
          </p:cNvSpPr>
          <p:nvPr>
            <p:ph type="sldImg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  <a:p>
            <a:r>
              <a:t>[All Apps] BLOCK Mac Users from Non-OCC IPs </a:t>
            </a:r>
          </a:p>
          <a:p>
            <a:r>
              <a:t>Portal link: https://entra.microsoft.com/#view/Microsoft_AAD_ConditionalAccess/PolicyBlade/policyId/8d5e72c2-9f60-48d8-a6dc-f1af631aea45
</a:t>
            </a:r>
          </a:p>
          <a:p>
            <a:r>
              <a:t>{
  "id": "8d5e72c2-9f60-48d8-a6dc-f1af631aea45",
  "templateId": null,
  "deletedDateTime": null,
  "partialEnablementStrategy": null,
  "conditions": {
    "applications": {
      "excludeApplications": [
        "01cb2876-7ebd-4aa4-9cc9-d28bd4d359a9",
        "0000000a-0000-0000-c000-000000000000",
        "d4ebce55-015a-49b5-a083-c84d1797ae8c"
      ],
      "includeApplications": [
        "All"
      ],
      "includeAuthenticationContextClassReferences": [],
      "includeUserActions": []
    },
    "clientAppTypes": [
      "all"
    ],
    "locations": {
      "excludeLocations": [
        "0af166b9-6a50-4c20-a7e9-44cb9ed5f902"
      ],
      "includeLocations": [
        "All"
      ]
    },
    "platforms": {
      "excludePlatforms": [],
      "includePlatforms": [
        "macOS"
      ]
    },
    "signInRiskLevels": [],
    "userRiskLevels": [],
    "users": {
      "excludeGroups": [],
      "excludeRoles": [],
      "excludeUsers": [],
      "includeGroups": [
        "f82864f7-694d-49d1-a84d-722fb6039e1a"
      ],
      "includeRoles": [],
      "includeUsers": []
    },
    "times": null
  },
  "createdDateTime": "2025-03-28T19:21:04.0052961\u002B00:00",
  "displayName": "[All Apps] BLOCK Mac Users from Non-OCC IPs ",
  "grantControls": {
    "builtInControls": [
      "block"
    ],
    "customAuthenticationFactors": [],
    "operator": "OR",
    "termsOfUse": [],
    "authenticationStrength@odata.context": "https://graph.microsoft.com/beta/$metadata#policies/conditionalAccessPolicies(\u00278d5e72c2-9f60-48d8-a6dc-f1af631aea45\u0027)/grantControls/authenticationStrength/$entity"
  },
  "modifiedDateTime": "2025-06-24T14:39:07.1708801\u002B00:00",
  "state": "enabled"
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 algn="r"/>
            <a:fld id="{48AFF4CA-22CA-4980-B1AB-156A3F9B7C3C}" type="slidenum">
              <a:rPr/>
              <a:t>25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"/>
          <p:cNvSpPr>
            <a:spLocks noGrp="1" noRot="1" noChangeAspect="1"/>
          </p:cNvSpPr>
          <p:nvPr>
            <p:ph type="sldImg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  <a:p>
            <a:r>
              <a:t>[All Apps] CrowdStrike Users MFA</a:t>
            </a:r>
          </a:p>
          <a:p>
            <a:r>
              <a:t>Portal link: https://entra.microsoft.com/#view/Microsoft_AAD_ConditionalAccess/PolicyBlade/policyId/0e488af4-293e-41fe-8329-8046f11818c8
</a:t>
            </a:r>
          </a:p>
          <a:p>
            <a:r>
              <a:t>{
  "id": "0e488af4-293e-41fe-8329-8046f11818c8",
  "templateId": null,
  "deletedDateTime": null,
  "partialEnablementStrategy": null,
  "conditions": {
    "applications": {
      "excludeApplications": [],
      "includeApplications": [
        "All"
      ],
      "includeAuthenticationContextClassReferences": [],
      "includeUserActions": []
    },
    "clientAppTypes": [
      "all"
    ],
    "locations": {
      "excludeLocations": [],
      "includeLocations": [
        "All"
      ]
    },
    "signInRiskLevels": [],
    "userRiskLevels": [],
    "users": {
      "excludeGroups": [],
      "excludeRoles": [],
      "excludeUsers": [],
      "includeGroups": [
        "a0d38f46-1ec2-4173-b198-93ebd29a427b"
      ],
      "includeRoles": [],
      "includeUsers": []
    },
    "times": null
  },
  "createdDateTime": "2025-06-09T18:37:40.5418571\u002B00:00",
  "displayName": "[All Apps] CrowdStrike Users MFA",
  "grantControls": {
    "builtInControls": [
      "mfa"
    ],
    "customAuthenticationFactors": [],
    "operator": "OR",
    "termsOfUse": [],
    "authenticationStrength@odata.context": "https://graph.microsoft.com/beta/$metadata#policies/conditionalAccessPolicies(\u00270e488af4-293e-41fe-8329-8046f11818c8\u0027)/grantControls/authenticationStrength/$entity"
  },
  "modifiedDateTime": "2025-06-11T20:22:15.9610448\u002B00:00",
  "state": "enabled"
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 algn="r"/>
            <a:fld id="{819CB8D3-5CEB-4201-882B-202CBD51C1BE}" type="slidenum">
              <a:rPr/>
              <a:t>26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"/>
          <p:cNvSpPr>
            <a:spLocks noGrp="1" noRot="1" noChangeAspect="1"/>
          </p:cNvSpPr>
          <p:nvPr>
            <p:ph type="sldImg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  <a:p>
            <a:r>
              <a:t>[All Apps][All Users](Block) All Untrusted Devices</a:t>
            </a:r>
          </a:p>
          <a:p>
            <a:r>
              <a:t>Portal link: https://entra.microsoft.com/#view/Microsoft_AAD_ConditionalAccess/PolicyBlade/policyId/08557331-a594-4c4f-8e9f-34a631ee4573
</a:t>
            </a:r>
          </a:p>
          <a:p>
            <a:r>
              <a:t>{
  "id": "08557331-a594-4c4f-8e9f-34a631ee4573",
  "templateId": null,
  "deletedDateTime": null,
  "partialEnablementStrategy": null,
  "conditions": {
    "applications": {
      "excludeApplications": [
        "0af06dc6-e4b5-4f28-818e-e78e62d137a5",
        "a4a365df-50f1-4397-bc59-1a1564b8bb9c",
        "270efc09-cd0d-444b-a71f-39af4910ec45",
        "01cb2876-7ebd-4aa4-9cc9-d28bd4d359a9",
        "0000000a-0000-0000-c000-000000000000",
        "d4ebce55-015a-49b5-a083-c84d1797ae8c",
        "9cdead84-a844-4324-93f2-b2e6bb768d07",
        "05550f4f-ea57-4145-a016-f188713ca126"
      ],
      "includeApplications": [
        "All"
      ],
      "includeAuthenticationContextClassReferences": [],
      "includeUserActions": []
    },
    "clientAppTypes": [
      "all"
    ],
    "devices": {
      "deviceFilter": {
        "mode": "exclude",
        "rule": "device.trustType -eq \u0022ServerAD\u0022 -or device.trustType -eq \u0022AzureAD\u0022 -or device.trustType -eq \u0022Workplace\u0022"
      },
      "excludeDevices": [],
      "excludeDeviceStates": [],
      "includeDevices": [],
      "includeDeviceStates": []
    },
    "locations": {
      "excludeLocations": [],
      "includeLocations": [
        "All"
      ]
    },
    "platforms": {
      "excludePlatforms": [],
      "includePlatforms": [
        "all"
      ]
    },
    "signInRiskLevels": [],
    "userRiskLevels": [],
    "users": {
      "excludeGroups": [
        "39aca1ba-f882-446a-aa64-ad8a2d4829ee",
        "f82864f7-694d-49d1-a84d-722fb6039e1a",
        "a0d38f46-1ec2-4173-b198-93ebd29a427b",
        "68c3c483-10bb-4b3c-804e-ca26d4f48c56"
      ],
      "excludeRoles": [
        "d29b2b05-8046-44ba-8758-1e26182fcf32"
      ],
      "excludeUsers": [
        "246296d3-20d1-4a54-bcbc-845ff2fe3512",
        "24770aef-6cda-46bb-9f5f-6333108d6a2e"
      ],
      "includeGroups": [],
      "includeRoles": [],
      "includeUsers": [
        "All"
      ]
    },
    "times": null
  },
  "createdDateTime": "2025-04-15T14:29:27.7031848\u002B00:00",
  "displayName": "[All Apps][All Users](Block) All Untrusted Devices",
  "grantControls": {
    "builtInControls": [
      "block"
    ],
    "customAuthenticationFactors": [],
    "operator": "OR",
    "termsOfUse": [],
    "authenticationStrength@odata.context": "https://graph.microsoft.com/beta/$metadata#policies/conditionalAccessPolicies(\u002708557331-a594-4c4f-8e9f-34a631ee4573\u0027)/grantControls/authenticationStrength/$entity"
  },
  "modifiedDateTime": "2025-08-29T15:59:23.3245161\u002B00:00",
  "state": "enabled"
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 algn="r"/>
            <a:fld id="{36D5A332-8F89-436C-824D-A526742B2AA8}" type="slidenum">
              <a:rPr/>
              <a:t>27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"/>
          <p:cNvSpPr>
            <a:spLocks noGrp="1" noRot="1" noChangeAspect="1"/>
          </p:cNvSpPr>
          <p:nvPr>
            <p:ph type="sldImg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  <a:p>
            <a:r>
              <a:t>[All Apps][Priv Admins] Highly Privileged Roles Require Phishing-Resistant MFA</a:t>
            </a:r>
          </a:p>
          <a:p>
            <a:r>
              <a:t>Portal link: https://entra.microsoft.com/#view/Microsoft_AAD_ConditionalAccess/PolicyBlade/policyId/c90f2053-459d-478a-8bfc-6c38189fc717
</a:t>
            </a:r>
          </a:p>
          <a:p>
            <a:r>
              <a:t>{
  "id": "c90f2053-459d-478a-8bfc-6c38189fc717",
  "templateId": null,
  "deletedDateTime": null,
  "partialEnablementStrategy": null,
  "conditions": {
    "applications": {
      "excludeApplications": [],
      "includeApplications": [
        "All"
      ],
      "includeAuthenticationContextClassReferences": [],
      "includeUserActions": []
    },
    "clientAppTypes": [
      "all"
    ],
    "signInRiskLevels": [],
    "userRiskLevels": [],
    "users": {
      "excludeGroups": [],
      "excludeRoles": [],
      "excludeUsers": [
        "d85f326f-de54-45e2-b9de-37c8a4a0a1e9",
        "23f15dd1-0027-4587-b103-45b37461b19d",
        "246296d3-20d1-4a54-bcbc-845ff2fe3512",
        "24770aef-6cda-46bb-9f5f-6333108d6a2e"
      ],
      "includeGroups": [],
      "includeRoles": [
        "9b895d92-2cd3-44c7-9d02-a6ac2d5ea5c3",
        "158c047a-c907-4556-b7ef-446551a6b5f7",
        "29232cdf-9323-42fd-ade2-1d097af3e4de",
        "62e90394-69f5-4237-9190-012177145e10",
        "8ac3fc64-6eca-42ea-9e69-59f4c7b60eb2",
        "f28a1f50-f6e7-4571-818b-6a12f2af6b6c",
        "fe930be7-5e62-47db-91af-98c3a49a38b1",
        "e8611ab8-c189-46e8-94e1-60213ab1f814"
      ],
      "includeUsers": []
    },
    "times": null
  },
  "createdDateTime": "2025-04-28T20:33:22.5235261\u002B00:00",
  "displayName": "[All Apps][Priv Admins] Highly Privileged Roles Require Phishing-Resistant MFA",
  "grantControls": {
    "authenticationStrength": {
      "id": "00000000-0000-0000-0000-000000000004",
      "combinationConfigurations@odata.context": "https://graph.microsoft.com/beta/$metadata#policies/conditionalAccessPolicies(\u0027c90f2053-459d-478a-8bfc-6c38189fc717\u0027)/grantControls/authenticationStrength/combinationConfigurations",
      "allowedCombinations": [
        "windowsHelloForBusiness",
        "fido2",
        "x509CertificateMultiFactor"
      ],
      "combinationConfigurations": [],
      "createdDateTime": "2021-12-01T08:00:00\u002B00:00",
      "description": "Phishing-resistant, Passwordless methods for the strongest authentication, such as a FIDO2 security key",
      "displayName": "Phishing-resistant MFA",
      "modifiedDateTime": "2021-12-01T08:00:00\u002B00:00",
      "policyType": "builtIn",
      "requirementsSatisfied": "mfa"
    },
    "builtInControls": [],
    "customAuthenticationFactors": [],
    "operator": "OR",
    "termsOfUse": [],
    "authenticationStrength@odata.context": "https://graph.microsoft.com/beta/$metadata#policies/conditionalAccessPolicies(\u0027c90f2053-459d-478a-8bfc-6c38189fc717\u0027)/grantControls/authenticationStrength/$entity"
  },
  "modifiedDateTime": "2025-07-14T16:38:13.9848342\u002B00:00",
  "state": "enabled"
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 algn="r"/>
            <a:fld id="{59CA0EDD-72DE-4AC7-AFA4-B653D680CE7E}" type="slidenum">
              <a:rPr/>
              <a:t>28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"/>
          <p:cNvSpPr>
            <a:spLocks noGrp="1" noRot="1" noChangeAspect="1"/>
          </p:cNvSpPr>
          <p:nvPr>
            <p:ph type="sldImg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  <a:p>
            <a:r>
              <a:t>[All Devices] [All Users] {MFA} Register or Device Join</a:t>
            </a:r>
          </a:p>
          <a:p>
            <a:r>
              <a:t>Portal link: https://entra.microsoft.com/#view/Microsoft_AAD_ConditionalAccess/PolicyBlade/policyId/13cbff31-1e07-4c6d-8420-99ad2b8660f4
</a:t>
            </a:r>
          </a:p>
          <a:p>
            <a:r>
              <a:t>{
  "id": "13cbff31-1e07-4c6d-8420-99ad2b8660f4",
  "templateId": null,
  "deletedDateTime": null,
  "partialEnablementStrategy": null,
  "conditions": {
    "applications": {
      "excludeApplications": [],
      "includeApplications": [],
      "includeAuthenticationContextClassReferences": [],
      "includeUserActions": [
        "urn:user:registerdevice"
      ]
    },
    "clientAppTypes": [
      "all"
    ],
    "signInRiskLevels": [],
    "userRiskLevels": [],
    "users": {
      "excludeGroups": [
        "fd9f5f7c-268e-43fe-9942-1274a35fd4d2",
        "176bea31-3003-419c-a3ad-e55a7a76dad8"
      ],
      "excludeRoles": [],
      "excludeUsers": [
        "246296d3-20d1-4a54-bcbc-845ff2fe3512",
        "24770aef-6cda-46bb-9f5f-6333108d6a2e"
      ],
      "includeGroups": [],
      "includeRoles": [],
      "includeUsers": [
        "All"
      ]
    },
    "times": null
  },
  "createdDateTime": "2025-04-10T19:41:33.3964352\u002B00:00",
  "displayName": "[All Devices] [All Users] {MFA} Register or Device Join",
  "grantControls": {
    "authenticationStrength": {
      "id": "00000000-0000-0000-0000-000000000002",
      "combinationConfigurations@odata.context": "https://graph.microsoft.com/beta/$metadata#policies/conditionalAccessPolicies(\u002713cbff31-1e07-4c6d-8420-99ad2b8660f4\u0027)/grantControls/authenticationStrength/combinationConfigurations",
      "allowedCombinations": [
        "windowsHelloForBusiness",
        "fido2",
        "x509CertificateMultiFactor",
        "deviceBasedPush",
        "temporaryAccessPassOneTime",
        "temporaryAccessPassMultiUse",
        "microsoftAuthenticatorPush",
        "softwareOath",
        "hardwareOath",
        "sms",
        "voice",
        "federatedMultiFactor",
        "federatedMultiFactor",
        "federatedMultiFactor",
        "federatedSingleFactor",
        "federatedSingleFactor",
        "federatedMultiFactor"
      ],
      "combinationConfigurations": [],
      "createdDateTime": "2021-12-01T08:00:00\u002B00:00",
      "description": "Combinations of methods that satisfy strong authentication, such as a password \u002B SMS",
      "displayName": "Multifactor authentication",
      "modifiedDateTime": "2021-12-01T08:00:00\u002B00:00",
      "policyType": "builtIn",
      "requirementsSatisfied": "mfa"
    },
    "builtInControls": [],
    "customAuthenticationFactors": [],
    "operator": "OR",
    "termsOfUse": [],
    "authenticationStrength@odata.context": "https://graph.microsoft.com/beta/$metadata#policies/conditionalAccessPolicies(\u002713cbff31-1e07-4c6d-8420-99ad2b8660f4\u0027)/grantControls/authenticationStrength/$entity"
  },
  "modifiedDateTime": "2025-06-02T14:50:10.3359632\u002B00:00",
  "state": "enabled"
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 algn="r"/>
            <a:fld id="{5DDB7EBA-E9A8-46F6-91E0-DF62F1D3233B}" type="slidenum">
              <a:rPr/>
              <a:t>29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"/>
          <p:cNvSpPr>
            <a:spLocks noGrp="1" noRot="1" noChangeAspect="1"/>
          </p:cNvSpPr>
          <p:nvPr>
            <p:ph type="sldImg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  <a:p>
            <a:r>
              <a:t>[AVD/Citrix] [All Users] User Sign In Frequency</a:t>
            </a:r>
          </a:p>
          <a:p>
            <a:r>
              <a:t>Portal link: https://entra.microsoft.com/#view/Microsoft_AAD_ConditionalAccess/PolicyBlade/policyId/d8fe34b4-2f6b-4857-9ef0-5bcf5e6ce77f
</a:t>
            </a:r>
          </a:p>
          <a:p>
            <a:r>
              <a:t>{
  "id": "d8fe34b4-2f6b-4857-9ef0-5bcf5e6ce77f",
  "templateId": null,
  "deletedDateTime": null,
  "partialEnablementStrategy": null,
  "conditions": {
    "applications": {
      "excludeApplications": [],
      "includeApplications": [
        "9cdead84-a844-4324-93f2-b2e6bb768d07",
        "a4a365df-50f1-4397-bc59-1a1564b8bb9c",
        "0af06dc6-e4b5-4f28-818e-e78e62d137a5",
        "270efc09-cd0d-444b-a71f-39af4910ec45"
      ],
      "includeAuthenticationContextClassReferences": [],
      "includeUserActions": []
    },
    "clientAppTypes": [
      "exchangeActiveSync",
      "browser",
      "mobileAppsAndDesktopClients",
      "other"
    ],
    "locations": {
      "excludeLocations": [],
      "includeLocations": [
        "All"
      ]
    },
    "platforms": {
      "excludePlatforms": [],
      "includePlatforms": [
        "all"
      ]
    },
    "signInRiskLevels": [],
    "userRiskLevels": [],
    "users": {
      "excludeGroups": [],
      "excludeRoles": [],
      "excludeUsers": [],
      "includeGroups": [],
      "includeRoles": [],
      "includeUsers": [
        "All"
      ]
    },
    "times": null
  },
  "createdDateTime": "2025-09-17T18:15:23.656231\u002B00:00",
  "displayName": "[AVD/Citrix] [All Users] User Sign In Frequency",
  "modifiedDateTime": "2025-09-24T15:47:47.6209394\u002B00:00",
  "sessionControls": {
    "signInFrequency": {
      "isEnabled": true,
      "@odata.type": "#microsoft.graph.signInFrequencySessionControl",
      "authenticationType": "primaryAndSecondaryAuthentication",
      "frequencyInterval": "everyTime"
    }
  },
  "state": "enabled"
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 algn="r"/>
            <a:fld id="{B04DC19F-709D-4CF3-BB4E-9B7BD100D773}" type="slidenum">
              <a:rPr/>
              <a:t>30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"/>
          <p:cNvSpPr>
            <a:spLocks noGrp="1" noRot="1" noChangeAspect="1"/>
          </p:cNvSpPr>
          <p:nvPr>
            <p:ph type="sldImg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  <a:p>
            <a:r>
              <a:t>[BI/Tableau][SVo365 BI/Tableau] Service Accouns Have Only Access To SharePoint Online</a:t>
            </a:r>
          </a:p>
          <a:p>
            <a:r>
              <a:t>Portal link: https://entra.microsoft.com/#view/Microsoft_AAD_ConditionalAccess/PolicyBlade/policyId/d406c5fe-bf66-4676-aebe-0cc72fa5a9e7
</a:t>
            </a:r>
          </a:p>
          <a:p>
            <a:r>
              <a:t>{
  "id": "d406c5fe-bf66-4676-aebe-0cc72fa5a9e7",
  "templateId": null,
  "deletedDateTime": null,
  "partialEnablementStrategy": null,
  "conditions": {
    "applications": {
      "excludeApplications": [
        "00000003-0000-0ff1-ce00-000000000000"
      ],
      "includeApplications": [
        "All"
      ],
      "includeAuthenticationContextClassReferences": [],
      "includeUserActions": []
    },
    "clientAppTypes": [
      "all"
    ],
    "signInRiskLevels": [],
    "userRiskLevels": [],
    "users": {
      "excludeGroups": [],
      "excludeRoles": [],
      "excludeUsers": [],
      "includeGroups": [],
      "includeRoles": [],
      "includeUsers": [
        "5739c12e-6001-41f5-b7ec-656d6f3dc0b0",
        "c7e072f2-8e6c-42d2-b557-cff1a6e0a12f",
        "c52a27b1-3704-49aa-ba10-b5249bfc39de"
      ]
    },
    "times": null
  },
  "createdDateTime": "2025-06-03T17:52:51.3800897\u002B00:00",
  "displayName": "[BI/Tableau][SVo365 BI/Tableau] Service Accouns Have Only Access To SharePoint Online",
  "grantControls": {
    "builtInControls": [
      "block"
    ],
    "customAuthenticationFactors": [],
    "operator": "OR",
    "termsOfUse": [],
    "authenticationStrength@odata.context": "https://graph.microsoft.com/beta/$metadata#policies/conditionalAccessPolicies(\u0027d406c5fe-bf66-4676-aebe-0cc72fa5a9e7\u0027)/grantControls/authenticationStrength/$entity"
  },
  "modifiedDateTime": "2025-07-30T20:19:27.1664477\u002B00:00",
  "state": "enabled"
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 algn="r"/>
            <a:fld id="{CF3A015B-5DBB-44A9-BC1C-D1F1F93EF3D6}" type="slidenum">
              <a:rPr/>
              <a:t>31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"/>
          <p:cNvSpPr>
            <a:spLocks noGrp="1" noRot="1" noChangeAspect="1"/>
          </p:cNvSpPr>
          <p:nvPr>
            <p:ph type="sldImg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  <a:p>
            <a:r>
              <a:t>[Cofense][SVo365 Cofense] Service Account Only Has Limited Access To Specific Resources</a:t>
            </a:r>
          </a:p>
          <a:p>
            <a:r>
              <a:t>Portal link: https://entra.microsoft.com/#view/Microsoft_AAD_ConditionalAccess/PolicyBlade/policyId/834d6d04-5070-4082-abb4-7ecfca912ae1
</a:t>
            </a:r>
          </a:p>
          <a:p>
            <a:r>
              <a:t>{
  "id": "834d6d04-5070-4082-abb4-7ecfca912ae1",
  "templateId": null,
  "deletedDateTime": null,
  "partialEnablementStrategy": null,
  "conditions": {
    "applications": {
      "excludeApplications": [
        "00000002-0000-0ff1-ce00-000000000000",
        "a84cbbd6-b629-4279-901e-f29c3979f81f"
      ],
      "includeApplications": [
        "All"
      ],
      "includeAuthenticationContextClassReferences": [],
      "includeUserActions": []
    },
    "clientAppTypes": [
      "all"
    ],
    "signInRiskLevels": [],
    "userRiskLevels": [],
    "users": {
      "excludeGroups": [],
      "excludeRoles": [],
      "excludeUsers": [],
      "includeGroups": [],
      "includeRoles": [],
      "includeUsers": [
        "8777c023-e99d-44fc-96fb-861d3955436b"
      ]
    },
    "times": null
  },
  "createdDateTime": "2025-06-03T17:41:35.9555967\u002B00:00",
  "displayName": "[Cofense][SVo365 Cofense] Service Account Only Has Limited Access To Specific Resources",
  "grantControls": {
    "builtInControls": [
      "block"
    ],
    "customAuthenticationFactors": [],
    "operator": "OR",
    "termsOfUse": [],
    "authenticationStrength@odata.context": "https://graph.microsoft.com/beta/$metadata#policies/conditionalAccessPolicies(\u0027834d6d04-5070-4082-abb4-7ecfca912ae1\u0027)/grantControls/authenticationStrength/$entity"
  },
  "modifiedDateTime": "2025-06-05T17:36:39.5161128\u002B00:00",
  "state": "enabled"
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 algn="r"/>
            <a:fld id="{4806FD39-CE8D-4628-8F52-FA73EE3811BB}" type="slidenum">
              <a:rPr/>
              <a:t>32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"/>
          <p:cNvSpPr>
            <a:spLocks noGrp="1" noRot="1" noChangeAspect="1"/>
          </p:cNvSpPr>
          <p:nvPr>
            <p:ph type="sldImg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  <a:p>
            <a:r>
              <a:t>[Collibra][SVo365 Collibra] Service Account Only Has Access To SharePoint Online</a:t>
            </a:r>
          </a:p>
          <a:p>
            <a:r>
              <a:t>Portal link: https://entra.microsoft.com/#view/Microsoft_AAD_ConditionalAccess/PolicyBlade/policyId/2edcd64e-1d38-4d99-bbb1-6ed1a097786f
</a:t>
            </a:r>
          </a:p>
          <a:p>
            <a:r>
              <a:t>{
  "id": "2edcd64e-1d38-4d99-bbb1-6ed1a097786f",
  "templateId": null,
  "deletedDateTime": null,
  "partialEnablementStrategy": null,
  "conditions": {
    "applications": {
      "excludeApplications": [
        "00000003-0000-0ff1-ce00-000000000000"
      ],
      "includeApplications": [
        "All"
      ],
      "includeAuthenticationContextClassReferences": [],
      "includeUserActions": []
    },
    "clientAppTypes": [
      "all"
    ],
    "signInRiskLevels": [],
    "userRiskLevels": [],
    "users": {
      "excludeGroups": [],
      "excludeRoles": [],
      "excludeUsers": [],
      "includeGroups": [],
      "includeRoles": [],
      "includeUsers": [
        "d7da2c6e-755d-4b21-a34e-83a6bc240367"
      ]
    },
    "times": null
  },
  "createdDateTime": "2025-06-03T17:38:01.870099\u002B00:00",
  "displayName": "[Collibra][SVo365 Collibra] Service Account Only Has Access To SharePoint Online",
  "grantControls": {
    "builtInControls": [
      "block"
    ],
    "customAuthenticationFactors": [],
    "operator": "OR",
    "termsOfUse": [],
    "authenticationStrength@odata.context": "https://graph.microsoft.com/beta/$metadata#policies/conditionalAccessPolicies(\u00272edcd64e-1d38-4d99-bbb1-6ed1a097786f\u0027)/grantControls/authenticationStrength/$entity"
  },
  "modifiedDateTime": "2025-06-05T12:28:35.6800926\u002B00:00",
  "state": "enabled"
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 algn="r"/>
            <a:fld id="{7EA55616-2B69-4BCF-9771-326BB5AA6210}" type="slidenum">
              <a:rPr/>
              <a:t>33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"/>
          <p:cNvSpPr>
            <a:spLocks noGrp="1" noRot="1" noChangeAspect="1"/>
          </p:cNvSpPr>
          <p:nvPr>
            <p:ph type="sldImg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  <a:p>
            <a:r>
              <a:t>[Geo Fencing] [All Admins] (Block) All Admins</a:t>
            </a:r>
          </a:p>
          <a:p>
            <a:r>
              <a:t>Portal link: https://entra.microsoft.com/#view/Microsoft_AAD_ConditionalAccess/PolicyBlade/policyId/2245ad92-c752-4877-87d1-dee3a417a485
</a:t>
            </a:r>
          </a:p>
          <a:p>
            <a:r>
              <a:t>{
  "id": "2245ad92-c752-4877-87d1-dee3a417a485",
  "templateId": null,
  "deletedDateTime": null,
  "partialEnablementStrategy": null,
  "conditions": {
    "applications": {
      "excludeApplications": [],
      "includeApplications": [
        "All"
      ],
      "includeAuthenticationContextClassReferences": [],
      "includeUserActions": []
    },
    "clientAppTypes": [
      "all"
    ],
    "locations": {
      "excludeLocations": [],
      "includeLocations": [
        "19468863-8d86-4e06-9ba3-f081b6117259"
      ]
    },
    "signInRiskLevels": [],
    "userRiskLevels": [],
    "users": {
      "excludeGroups": [],
      "excludeRoles": [],
      "excludeUsers": [
        "24770aef-6cda-46bb-9f5f-6333108d6a2e",
        "246296d3-20d1-4a54-bcbc-845ff2fe3512"
      ],
      "includeGroups": [
        "e62d47af-317b-4ef6-bd4b-9b94078f6f27"
      ],
      "includeRoles": [
        "d2562ede-74db-457e-a7b6-544e236ebb61",
        "9b895d92-2cd3-44c7-9d02-a6ac2d5ea5c3",
        "c430b396-e693-46cc-96f3-db01bf8bb62a",
        "58a13ea3-c632-46ae-9ee0-9c0d43cd7f3d",
        "8424c6f0-a189-499e-bbd0-26c1753c96d4",
        "5b784334-f94b-471a-a387-e7219fc49ca2",
        "ecb2c6bf-0ab6-418e-bd87-7986f8d63bbe",
        "25a516ed-2fa0-40ea-a2d0-12923a21473a",
        "0526716b-113d-4c15-b2c8-68e3c22b9f80",
        "e3973bdf-4987-49ae-837a-ba8e231c7286",
        "7495fdc4-34c4-4d15-a289-98788ce399fd",
        "aaf43236-0c0d-4d5f-883a-6955382ac081",
        "3edaf663-341e-4475-9f94-5c398ef6c070",
        "b0f54661-2d74-4c50-afa3-1ec803f12efe",
        "892c5842-a9a6-463a-8041-72aa08ca3cf6",
        "158c047a-c907-4556-b7ef-446551a6b5f7",
        "7698a772-787b-4ac8-901f-60d6b08affd2",
        "17315797-102d-40b4-93e0-432062caca18",
        "e6d1a23a-da11-4be4-9570-befc86d067a7",
        "b1be1c3e-b65d-4f19-8427-f6fa0d97feb9",
        "5c4f9dcd-47dc-4cf7-8c9a-9e4207cbfc91",
        "38a96431-2bdf-4b4c-8b6e-5d3d8abac1a4",
        "8329153b-31d0-4727-b945-745eb3bc5f31",
        "44367163-eba1-44c3-98af-f5787879f96a",
        "963797fb-eb3b-4cde-8ce3-5878b3f32a3f",
        "3f1acade-1e04-4fbc-9b69-f0302cd84aef",
        "29232cdf-9323-42fd-ade2-1d097af3e4de",
        "31392ffb-586c-42d1-9346-e59415a2cc4e",
        "dd13091a-6207-4fc0-82ba-3641e056ab95",
        "6e591065-9bad-43ed-90f3-e9424366d2f0",
        "0f971eea-41eb-4569-a71e-57bb8a3eff1e",
        "be2f45a1-457d-42af-a067-6ec1fa63bc45",
        "a9ea8996-122f-4c74-9520-8edcd192826c",
        "62e90394-69f5-4237-9190-012177145e10",
        "ac434307-12b9-4fa1-a708-88bf58caabc1",
        "fdd7a751-b60b-444a-984c-02652fe8fa1c",
        "729827e3-9c14-49f7-bb1b-9608f156bbb8",
        "8ac3fc64-6eca-42ea-9e69-59f4c7b60eb2",
        "45d8d3c5-c802-45c6-b32a-1d70b5e1e86e",
        "eb1f4a8d-243a-41f0-9fbd-c7cdf6c5ef7c",
        "3a2c62db-5318-420d-8d74-23affee5d9d5",
        "2ea5ce4c-b2d8-4668-bd81-3680bd2d227a",
        "74ef975b-6605-40af-a5d2-b9539d836353",
        "b5a8dcf3-09d5-43a9-a639-8e29ef291470",
        "4d6ac14f-3453-41d0-bef9-a3e0c569773a",
        "59d46f88-662b-457b-bceb-5c3809e5908f",
        "1707125e-0aa2-4d4d-8655-a7c786c76a25",
        "8c8b803f-96e1-4129-9349-20738d9f9652",
        "9f06204d-73c1-4d4c-880a-6edb90606fd8",
        "1501b917-7653-4ff9-a4b5-203eaf33784f",
        "d37c8bed-0711-4417-ba38-b4abe66ce4c2",
        "92ed04bf-c94a-4b82-9729-b799a7a4c178",
        "966707d0-3269-4727-9be2-8c3a10f19b9d",
        "024906de-61e5-49c8-8572-40335f1e0e10",
        "af78dc32-cf4d-46f9-ba4e-4428526346b5",
        "11648597-926c-4cf3-9c36-bcebb0ba8dcc",
        "644ef478-e28f-4e28-b9dc-3fdde9aa0b1f",
        "7be44c8a-adaf-4e2a-84d6-ab2649e08a13",
        "e8611ab8-c189-46e8-94e1-60213ab1f814",
        "0964bb5e-9bdb-4d7b-ac29-58e794862a40",
        "194ae4cb-b126-40b2-bd5b-6091b380977d",
        "f023fd81-a637-4b56-95fd-791ac0226033",
        "f28a1f50-f6e7-4571-818b-6a12f2af6b6c",
        "1a7d78b6-429f-476b-b8eb-35fb715fffd4",
        "75941009-915a-4869-abe7-691bff18279e",
        "69091246-20e8-4a56-aa4d-066075b2a7a8",
        "baf37b3a-610e-45da-9e62-d9d1e5e8914b",
        "3d762c5a-1b6c-493f-843e-55a3b42923d4",
        "aa38014f-0993-46e9-9b45-30501a20909d",
        "fe930be7-5e62-47db-91af-98c3a49a38b1",
        "e300d9e7-4a2b-4295-9eff-f1c78b36cc98",
        "0ec3f692-38d6-4d14-9e69-0377ca7797ad",
        "92b086b3-e367-4ef2-b869-1de128fb986e",
        "87761b17-1ed2-4af3-9acd-92a150038160",
        "11451d60-acb2-45eb-a7d6-43d0f0125c13",
        "32696413-001a-46ae-978c-ce0f6b3620d2",
        "2b745bdf-0803-4d80-aa65-822c4493daac"
      ],
      "includeUsers": []
    },
    "times": null
  },
  "createdDateTime": "2025-03-28T15:40:07.0674835\u002B00:00",
  "displayName": "[Geo Fencing] [All Admins] (Block) All Admins",
  "grantControls": {
    "builtInControls": [
      "block"
    ],
    "customAuthenticationFactors": [],
    "operator": "OR",
    "termsOfUse": [],
    "authenticationStrength@odata.context": "https://graph.microsoft.com/beta/$metadata#policies/conditionalAccessPolicies(\u00272245ad92-c752-4877-87d1-dee3a417a485\u0027)/grantControls/authenticationStrength/$entity"
  },
  "modifiedDateTime": "2025-04-16T19:07:18.927641\u002B00:00",
  "state": "enabled"
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 algn="r"/>
            <a:fld id="{9D05CB95-5006-4486-BF7D-8ADB5D1C77FB}" type="slidenum">
              <a:rPr/>
              <a:t>34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"/>
          <p:cNvSpPr>
            <a:spLocks noGrp="1" noRot="1" noChangeAspect="1"/>
          </p:cNvSpPr>
          <p:nvPr>
            <p:ph type="sldImg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  <a:p>
            <a:r>
              <a:t>[Geo Fencing] [All Users] (Block) All Users</a:t>
            </a:r>
          </a:p>
          <a:p>
            <a:r>
              <a:t>Portal link: https://entra.microsoft.com/#view/Microsoft_AAD_ConditionalAccess/PolicyBlade/policyId/7e2198c6-2324-4be2-b7ba-2688dab7e391
</a:t>
            </a:r>
          </a:p>
          <a:p>
            <a:r>
              <a:t>{
  "id": "7e2198c6-2324-4be2-b7ba-2688dab7e391",
  "templateId": null,
  "deletedDateTime": null,
  "partialEnablementStrategy": null,
  "conditions": {
    "applications": {
      "excludeApplications": [],
      "includeApplications": [
        "All"
      ],
      "includeAuthenticationContextClassReferences": [],
      "includeUserActions": []
    },
    "clientAppTypes": [
      "all"
    ],
    "locations": {
      "excludeLocations": [],
      "includeLocations": [
        "19468863-8d86-4e06-9ba3-f081b6117259"
      ]
    },
    "platforms": {
      "excludePlatforms": [],
      "includePlatforms": [
        "all"
      ]
    },
    "signInRiskLevels": [],
    "userRiskLevels": [],
    "users": {
      "excludeGroups": [
        "42287fb0-742e-4d98-b727-669a4bc14042",
        "92326d0c-e28f-4fd1-b090-156aa7d0c591"
      ],
      "excludeRoles": [],
      "excludeUsers": [
        "246296d3-20d1-4a54-bcbc-845ff2fe3512",
        "24770aef-6cda-46bb-9f5f-6333108d6a2e"
      ],
      "includeGroups": [],
      "includeRoles": [],
      "includeUsers": [
        "All"
      ]
    },
    "times": null
  },
  "createdDateTime": "2025-03-31T15:09:14.7587805\u002B00:00",
  "displayName": "[Geo Fencing] [All Users] (Block) All Users",
  "grantControls": {
    "builtInControls": [
      "block"
    ],
    "customAuthenticationFactors": [],
    "operator": "OR",
    "termsOfUse": [],
    "authenticationStrength@odata.context": "https://graph.microsoft.com/beta/$metadata#policies/conditionalAccessPolicies(\u00277e2198c6-2324-4be2-b7ba-2688dab7e391\u0027)/grantControls/authenticationStrength/$entity"
  },
  "modifiedDateTime": "2025-05-05T15:47:05.1671485\u002B00:00",
  "state": "enabled"
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 algn="r"/>
            <a:fld id="{A285C39E-AAA7-45C3-A9C3-F32EE3E7AC18}" type="slidenum">
              <a:rPr/>
              <a:t>35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"/>
          <p:cNvSpPr>
            <a:spLocks noGrp="1" noRot="1" noChangeAspect="1"/>
          </p:cNvSpPr>
          <p:nvPr>
            <p:ph type="sldImg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  <a:p>
            <a:r>
              <a:t>[Risky Sign in] [All Users] {HIGH} (Block)</a:t>
            </a:r>
          </a:p>
          <a:p>
            <a:r>
              <a:t>Portal link: https://entra.microsoft.com/#view/Microsoft_AAD_ConditionalAccess/PolicyBlade/policyId/81ca4f96-6412-468a-916b-86b0b63f6493
</a:t>
            </a:r>
          </a:p>
          <a:p>
            <a:r>
              <a:t>{
  "id": "81ca4f96-6412-468a-916b-86b0b63f6493",
  "templateId": null,
  "deletedDateTime": null,
  "partialEnablementStrategy": null,
  "conditions": {
    "applications": {
      "excludeApplications": [],
      "includeApplications": [
        "All"
      ],
      "includeAuthenticationContextClassReferences": [],
      "includeUserActions": []
    },
    "clientAppTypes": [
      "all"
    ],
    "signInRiskLevels": [
      "high"
    ],
    "userRiskLevels": [],
    "users": {
      "excludeGroups": [],
      "excludeRoles": [],
      "excludeUsers": [
        "246296d3-20d1-4a54-bcbc-845ff2fe3512",
        "24770aef-6cda-46bb-9f5f-6333108d6a2e"
      ],
      "includeGroups": [],
      "includeRoles": [],
      "includeUsers": [
        "All"
      ]
    },
    "times": null
  },
  "createdDateTime": "2025-03-27T14:54:58.9150098\u002B00:00",
  "displayName": "[Risky Sign in] [All Users] {HIGH} (Block)",
  "grantControls": {
    "builtInControls": [
      "block"
    ],
    "customAuthenticationFactors": [],
    "operator": "OR",
    "termsOfUse": [],
    "authenticationStrength@odata.context": "https://graph.microsoft.com/beta/$metadata#policies/conditionalAccessPolicies(\u002781ca4f96-6412-468a-916b-86b0b63f6493\u0027)/grantControls/authenticationStrength/$entity"
  },
  "modifiedDateTime": "2025-04-16T19:11:25.3041358\u002B00:00",
  "state": "enabled"
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 algn="r"/>
            <a:fld id="{F0823045-37A5-4289-B327-6F1B93AC2EF6}" type="slidenum">
              <a:rPr/>
              <a:t>36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"/>
          <p:cNvSpPr>
            <a:spLocks noGrp="1" noRot="1" noChangeAspect="1"/>
          </p:cNvSpPr>
          <p:nvPr>
            <p:ph type="sldImg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  <a:p>
            <a:r>
              <a:t>[Risky Sign in] [All Users] {Medium} {MFA}</a:t>
            </a:r>
          </a:p>
          <a:p>
            <a:r>
              <a:t>Portal link: https://entra.microsoft.com/#view/Microsoft_AAD_ConditionalAccess/PolicyBlade/policyId/2d0f69f4-10f2-4e8a-ae3e-45bb22c70e24
</a:t>
            </a:r>
          </a:p>
          <a:p>
            <a:r>
              <a:t>{
  "id": "2d0f69f4-10f2-4e8a-ae3e-45bb22c70e24",
  "templateId": null,
  "deletedDateTime": null,
  "partialEnablementStrategy": null,
  "conditions": {
    "applications": {
      "excludeApplications": [],
      "includeApplications": [
        "None"
      ],
      "includeAuthenticationContextClassReferences": [],
      "includeUserActions": []
    },
    "clientAppTypes": [
      "all"
    ],
    "signInRiskLevels": [
      "medium"
    ],
    "userRiskLevels": [],
    "users": {
      "excludeGroups": [
        "fd9f5f7c-268e-43fe-9942-1274a35fd4d2",
        "39aca1ba-f882-446a-aa64-ad8a2d4829ee",
        "6066a579-5ab3-4a02-84b3-b7a0b059a1cc"
      ],
      "excludeRoles": [],
      "excludeUsers": [],
      "includeGroups": [],
      "includeRoles": [],
      "includeUsers": [
        "All"
      ]
    },
    "times": null
  },
  "createdDateTime": "2025-03-27T14:54:07.9592937\u002B00:00",
  "displayName": "[Risky Sign in] [All Users] {Medium} {MFA}",
  "grantControls": {
    "authenticationStrength": {
      "id": "00000000-0000-0000-0000-000000000004",
      "combinationConfigurations@odata.context": "https://graph.microsoft.com/beta/$metadata#policies/conditionalAccessPolicies(\u00272d0f69f4-10f2-4e8a-ae3e-45bb22c70e24\u0027)/grantControls/authenticationStrength/combinationConfigurations",
      "allowedCombinations": [
        "windowsHelloForBusiness",
        "fido2",
        "x509CertificateMultiFactor"
      ],
      "combinationConfigurations": [],
      "createdDateTime": "2021-12-01T08:00:00\u002B00:00",
      "description": "Phishing-resistant, Passwordless methods for the strongest authentication, such as a FIDO2 security key",
      "displayName": "Phishing-resistant MFA",
      "modifiedDateTime": "2021-12-01T08:00:00\u002B00:00",
      "policyType": "builtIn",
      "requirementsSatisfied": "mfa"
    },
    "builtInControls": [],
    "customAuthenticationFactors": [],
    "operator": "OR",
    "termsOfUse": [],
    "authenticationStrength@odata.context": "https://graph.microsoft.com/beta/$metadata#policies/conditionalAccessPolicies(\u00272d0f69f4-10f2-4e8a-ae3e-45bb22c70e24\u0027)/grantControls/authenticationStrength/$entity"
  },
  "modifiedDateTime": "2025-05-23T15:32:28.9436931\u002B00:00",
  "state": "enabled"
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 algn="r"/>
            <a:fld id="{85B706B5-C87E-45A2-84AF-F37F527847EE}" type="slidenum">
              <a:rPr/>
              <a:t>37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"/>
          <p:cNvSpPr>
            <a:spLocks noGrp="1" noRot="1" noChangeAspect="1"/>
          </p:cNvSpPr>
          <p:nvPr>
            <p:ph type="sldImg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  <a:p>
            <a:r>
              <a:t>[Risky User] [All users] {HIGH} (Block)</a:t>
            </a:r>
          </a:p>
          <a:p>
            <a:r>
              <a:t>Portal link: https://entra.microsoft.com/#view/Microsoft_AAD_ConditionalAccess/PolicyBlade/policyId/60f4c7f2-9733-4b3b-8e77-60d4c138e13d
</a:t>
            </a:r>
          </a:p>
          <a:p>
            <a:r>
              <a:t>{
  "id": "60f4c7f2-9733-4b3b-8e77-60d4c138e13d",
  "templateId": null,
  "deletedDateTime": null,
  "partialEnablementStrategy": null,
  "conditions": {
    "applications": {
      "excludeApplications": [],
      "includeApplications": [
        "All"
      ],
      "includeAuthenticationContextClassReferences": [],
      "includeUserActions": []
    },
    "clientAppTypes": [
      "all"
    ],
    "signInRiskLevels": [],
    "userRiskLevels": [
      "high"
    ],
    "users": {
      "excludeGroups": [],
      "excludeRoles": [],
      "excludeUsers": [
        "246296d3-20d1-4a54-bcbc-845ff2fe3512",
        "24770aef-6cda-46bb-9f5f-6333108d6a2e"
      ],
      "includeGroups": [],
      "includeRoles": [],
      "includeUsers": [
        "All"
      ]
    },
    "times": null
  },
  "createdDateTime": "2025-03-27T14:53:17.6331462\u002B00:00",
  "displayName": "[Risky User] [All users] {HIGH} (Block)",
  "grantControls": {
    "builtInControls": [
      "block"
    ],
    "customAuthenticationFactors": [],
    "operator": "OR",
    "termsOfUse": [],
    "authenticationStrength@odata.context": "https://graph.microsoft.com/beta/$metadata#policies/conditionalAccessPolicies(\u002760f4c7f2-9733-4b3b-8e77-60d4c138e13d\u0027)/grantControls/authenticationStrength/$entity"
  },
  "modifiedDateTime": "2025-04-16T19:13:01.8980805\u002B00:00",
  "state": "enabled"
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 algn="r"/>
            <a:fld id="{C1848C61-6E12-4526-88CA-524DB87470CC}" type="slidenum">
              <a:rPr/>
              <a:t>38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"/>
          <p:cNvSpPr>
            <a:spLocks noGrp="1" noRot="1" noChangeAspect="1"/>
          </p:cNvSpPr>
          <p:nvPr>
            <p:ph type="sldImg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  <a:p>
            <a:r>
              <a:t>[Risky User] [All Users] {Medium} {MFA}</a:t>
            </a:r>
          </a:p>
          <a:p>
            <a:r>
              <a:t>Portal link: https://entra.microsoft.com/#view/Microsoft_AAD_ConditionalAccess/PolicyBlade/policyId/7cc02f15-15fc-486a-b82b-2fa5fef38475
</a:t>
            </a:r>
          </a:p>
          <a:p>
            <a:r>
              <a:t>{
  "id": "7cc02f15-15fc-486a-b82b-2fa5fef38475",
  "templateId": null,
  "deletedDateTime": null,
  "partialEnablementStrategy": null,
  "conditions": {
    "applications": {
      "excludeApplications": [],
      "includeApplications": [
        "None"
      ],
      "includeAuthenticationContextClassReferences": [],
      "includeUserActions": []
    },
    "clientAppTypes": [
      "all"
    ],
    "signInRiskLevels": [],
    "userRiskLevels": [
      "medium"
    ],
    "users": {
      "excludeGroups": [
        "fd9f5f7c-268e-43fe-9942-1274a35fd4d2",
        "39aca1ba-f882-446a-aa64-ad8a2d4829ee",
        "6066a579-5ab3-4a02-84b3-b7a0b059a1cc"
      ],
      "excludeRoles": [],
      "excludeUsers": [],
      "includeGroups": [],
      "includeRoles": [],
      "includeUsers": [
        "All"
      ]
    },
    "times": null
  },
  "createdDateTime": "2025-03-27T14:51:25.9981826\u002B00:00",
  "displayName": "[Risky User] [All Users] {Medium} {MFA}",
  "grantControls": {
    "authenticationStrength": {
      "id": "00000000-0000-0000-0000-000000000004",
      "combinationConfigurations@odata.context": "https://graph.microsoft.com/beta/$metadata#policies/conditionalAccessPolicies(\u00277cc02f15-15fc-486a-b82b-2fa5fef38475\u0027)/grantControls/authenticationStrength/combinationConfigurations",
      "allowedCombinations": [
        "windowsHelloForBusiness",
        "fido2",
        "x509CertificateMultiFactor"
      ],
      "combinationConfigurations": [],
      "createdDateTime": "2021-12-01T08:00:00\u002B00:00",
      "description": "Phishing-resistant, Passwordless methods for the strongest authentication, such as a FIDO2 security key",
      "displayName": "Phishing-resistant MFA",
      "modifiedDateTime": "2021-12-01T08:00:00\u002B00:00",
      "policyType": "builtIn",
      "requirementsSatisfied": "mfa"
    },
    "builtInControls": [],
    "customAuthenticationFactors": [],
    "operator": "OR",
    "termsOfUse": [],
    "authenticationStrength@odata.context": "https://graph.microsoft.com/beta/$metadata#policies/conditionalAccessPolicies(\u00277cc02f15-15fc-486a-b82b-2fa5fef38475\u0027)/grantControls/authenticationStrength/$entity"
  },
  "modifiedDateTime": "2025-05-23T15:32:42.7421522\u002B00:00",
  "state": "enabled"
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 algn="r"/>
            <a:fld id="{BDB64149-64FA-432F-B9E0-D70553EB7BDB}" type="slidenum">
              <a:rPr/>
              <a:t>39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"/>
          <p:cNvSpPr>
            <a:spLocks noGrp="1" noRot="1" noChangeAspect="1"/>
          </p:cNvSpPr>
          <p:nvPr>
            <p:ph type="sldImg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  <a:p>
            <a:r>
              <a:t>[ServiceNow][SVo365 GetHelp] Service Account Has Limited Access To Specific OCC Resources</a:t>
            </a:r>
          </a:p>
          <a:p>
            <a:r>
              <a:t>Portal link: https://entra.microsoft.com/#view/Microsoft_AAD_ConditionalAccess/PolicyBlade/policyId/910c309a-2249-4017-8837-264fd4473231
</a:t>
            </a:r>
          </a:p>
          <a:p>
            <a:r>
              <a:t>{
  "id": "910c309a-2249-4017-8837-264fd4473231",
  "templateId": null,
  "deletedDateTime": null,
  "partialEnablementStrategy": null,
  "conditions": {
    "applications": {
      "excludeApplications": [
        "00000002-0000-0ff1-ce00-000000000000",
        "78c3954c-cb4f-4c04-a3d7-738a4e20c086"
      ],
      "includeApplications": [
        "All"
      ],
      "includeAuthenticationContextClassReferences": [],
      "includeUserActions": []
    },
    "clientAppTypes": [
      "all"
    ],
    "signInRiskLevels": [],
    "userRiskLevels": [],
    "users": {
      "excludeGroups": [],
      "excludeRoles": [],
      "excludeUsers": [],
      "includeGroups": [],
      "includeRoles": [],
      "includeUsers": [
        "e3be3fae-660b-47ae-abfe-858d47fafe1f"
      ]
    },
    "times": null
  },
  "createdDateTime": "2025-06-03T16:52:54.9948193\u002B00:00",
  "displayName": "[ServiceNow][SVo365 GetHelp] Service Account Has Limited Access To Specific OCC Resources",
  "grantControls": {
    "builtInControls": [
      "block"
    ],
    "customAuthenticationFactors": [],
    "operator": "OR",
    "termsOfUse": [],
    "authenticationStrength@odata.context": "https://graph.microsoft.com/beta/$metadata#policies/conditionalAccessPolicies(\u0027910c309a-2249-4017-8837-264fd4473231\u0027)/grantControls/authenticationStrength/$entity"
  },
  "modifiedDateTime": "2025-06-05T17:20:27.0294349\u002B00:00",
  "state": "enabled"
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 algn="r"/>
            <a:fld id="{E3458A1D-3260-4213-B8EF-1FF31357CC25}" type="slidenum">
              <a:rPr/>
              <a:t>40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"/>
          <p:cNvSpPr>
            <a:spLocks noGrp="1" noRot="1" noChangeAspect="1"/>
          </p:cNvSpPr>
          <p:nvPr>
            <p:ph type="sldImg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  <a:p>
            <a:r>
              <a:t>Microsoft-managed: Multifactor authentication and reauthentication for risky sign-ins</a:t>
            </a:r>
          </a:p>
          <a:p>
            <a:r>
              <a:t>Portal link: https://entra.microsoft.com/#view/Microsoft_AAD_ConditionalAccess/PolicyBlade/policyId/616b59c6-7b4a-43be-87e9-fdbac22e71f1
</a:t>
            </a:r>
          </a:p>
          <a:p>
            <a:r>
              <a:t>{
  "id": "616b59c6-7b4a-43be-87e9-fdbac22e71f1",
  "templateId": "4200930c-0da2-4e33-ca01-000000000007",
  "deletedDateTime": null,
  "partialEnablementStrategy": null,
  "conditions": {
    "applications": {
      "excludeApplications": [],
      "includeApplications": [
        "All"
      ],
      "includeAuthenticationContextClassReferences": [],
      "includeUserActions": []
    },
    "clientAppTypes": [
      "all"
    ],
    "signInRiskLevels": [
      "high"
    ],
    "userRiskLevels": [],
    "users": {
      "excludeGroups": [],
      "excludeRoles": [],
      "excludeUsers": [],
      "includeGroups": [
        "39b869ef-1ab8-4892-b45e-7fba6bee9407"
      ],
      "includeRoles": [],
      "includeUsers": []
    },
    "times": null
  },
  "createdDateTime": "2025-02-12T19:24:52.0836791\u002B00:00",
  "displayName": "Microsoft-managed: Multifactor authentication and reauthentication for risky sign-ins",
  "grantControls": {
    "builtInControls": [
      "mfa"
    ],
    "customAuthenticationFactors": [],
    "operator": "OR",
    "termsOfUse": [],
    "authenticationStrength@odata.context": "https://graph.microsoft.com/beta/$metadata#policies/conditionalAccessPolicies(\u0027616b59c6-7b4a-43be-87e9-fdbac22e71f1\u0027)/grantControls/authenticationStrength/$entity"
  },
  "modifiedDateTime": "2025-05-14T17:55:11.9782311\u002B00:00",
  "sessionControls": {
    "signInFrequency": {
      "isEnabled": true,
      "@odata.type": "#microsoft.graph.signInFrequencySessionControl",
      "authenticationType": "primaryAndSecondaryAuthentication",
      "frequencyInterval": "everyTime"
    }
  },
  "state": "enabled"
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 algn="r"/>
            <a:fld id="{57A93007-945B-42C5-B760-37E1F94CFCCE}" type="slidenum">
              <a:rPr/>
              <a:t>41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"/>
          <p:cNvSpPr>
            <a:spLocks noGrp="1" noRot="1" noChangeAspect="1"/>
          </p:cNvSpPr>
          <p:nvPr>
            <p:ph type="sldImg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  <a:p>
            <a:r>
              <a:t>[All Apps] [All Admins] Admin Accounts Sign In Frequency=8 hours</a:t>
            </a:r>
          </a:p>
          <a:p>
            <a:r>
              <a:t>Portal link: https://entra.microsoft.com/#view/Microsoft_AAD_ConditionalAccess/PolicyBlade/policyId/7d1a37e4-eee9-450a-ad43-3330c0192790
</a:t>
            </a:r>
          </a:p>
          <a:p>
            <a:r>
              <a:t>{
  "id": "7d1a37e4-eee9-450a-ad43-3330c0192790",
  "templateId": null,
  "deletedDateTime": null,
  "partialEnablementStrategy": null,
  "conditions": {
    "applications": {
      "excludeApplications": [],
      "includeApplications": [
        "All"
      ],
      "includeAuthenticationContextClassReferences": [],
      "includeUserActions": []
    },
    "clientAppTypes": [
      "all"
    ],
    "signInRiskLevels": [],
    "userRiskLevels": [],
    "users": {
      "excludeGroups": [],
      "excludeRoles": [],
      "excludeUsers": [],
      "includeGroups": [
        "e62d47af-317b-4ef6-bd4b-9b94078f6f27"
      ],
      "includeRoles": [
        "9b895d92-2cd3-44c7-9d02-a6ac2d5ea5c3",
        "c430b396-e693-46cc-96f3-db01bf8bb62a",
        "58a13ea3-c632-46ae-9ee0-9c0d43cd7f3d",
        "8424c6f0-a189-499e-bbd0-26c1753c96d4",
        "5b784334-f94b-471a-a387-e7219fc49ca2",
        "c4e39bd9-1100-46d3-8c65-fb160da0071f",
        "25a516ed-2fa0-40ea-a2d0-12923a21473a",
        "0526716b-113d-4c15-b2c8-68e3c22b9f80",
        "e3973bdf-4987-49ae-837a-ba8e231c7286",
        "7495fdc4-34c4-4d15-a289-98788ce399fd",
        "aaf43236-0c0d-4d5f-883a-6955382ac081",
        "3edaf663-341e-4475-9f94-5c398ef6c070",
        "b0f54661-2d74-4c50-afa3-1ec803f12efe",
        "892c5842-a9a6-463a-8041-72aa08ca3cf6",
        "158c047a-c907-4556-b7ef-446551a6b5f7",
        "7698a772-787b-4ac8-901f-60d6b08affd2",
        "17315797-102d-40b4-93e0-432062caca18",
        "e6d1a23a-da11-4be4-9570-befc86d067a7",
        "b1be1c3e-b65d-4f19-8427-f6fa0d97feb9",
        "5c4f9dcd-47dc-4cf7-8c9a-9e4207cbfc91",
        "38a96431-2bdf-4b4c-8b6e-5d3d8abac1a4",
        "8329153b-31d0-4727-b945-745eb3bc5f31",
        "44367163-eba1-44c3-98af-f5787879f96a",
        "963797fb-eb3b-4cde-8ce3-5878b3f32a3f",
        "3f1acade-1e04-4fbc-9b69-f0302cd84aef",
        "29232cdf-9323-42fd-ade2-1d097af3e4de",
        "31392ffb-586c-42d1-9346-e59415a2cc4e",
        "dd13091a-6207-4fc0-82ba-3641e056ab95",
        "6e591065-9bad-43ed-90f3-e9424366d2f0",
        "0f971eea-41eb-4569-a71e-57bb8a3eff1e",
        "be2f45a1-457d-42af-a067-6ec1fa63bc45",
        "a9ea8996-122f-4c74-9520-8edcd192826c",
        "62e90394-69f5-4237-9190-012177145e10",
        "ac434307-12b9-4fa1-a708-88bf58caabc1",
        "fdd7a751-b60b-444a-984c-02652fe8fa1c",
        "729827e3-9c14-49f7-bb1b-9608f156bbb8",
        "8ac3fc64-6eca-42ea-9e69-59f4c7b60eb2",
        "45d8d3c5-c802-45c6-b32a-1d70b5e1e86e",
        "eb1f4a8d-243a-41f0-9fbd-c7cdf6c5ef7c",
        "3a2c62db-5318-420d-8d74-23affee5d9d5",
        "74ef975b-6605-40af-a5d2-b9539d836353",
        "b5a8dcf3-09d5-43a9-a639-8e29ef291470",
        "4d6ac14f-3453-41d0-bef9-a3e0c569773a",
        "59d46f88-662b-457b-bceb-5c3809e5908f",
        "8c8b803f-96e1-4129-9349-20738d9f9652",
        "9f06204d-73c1-4d4c-880a-6edb90606fd8",
        "1501b917-7653-4ff9-a4b5-203eaf33784f",
        "2b745bdf-0803-4d80-aa65-822c4493daac",
        "d37c8bed-0711-4417-ba38-b4abe66ce4c2",
        "92ed04bf-c94a-4b82-9729-b799a7a4c178",
        "966707d0-3269-4727-9be2-8c3a10f19b9d",
        "af78dc32-cf4d-46f9-ba4e-4428526346b5",
        "11648597-926c-4cf3-9c36-bcebb0ba8dcc",
        "644ef478-e28f-4e28-b9dc-3fdde9aa0b1f",
        "7be44c8a-adaf-4e2a-84d6-ab2649e08a13",
        "e8611ab8-c189-46e8-94e1-60213ab1f814",
        "0964bb5e-9bdb-4d7b-ac29-58e794862a40",
        "194ae4cb-b126-40b2-bd5b-6091b380977d",
        "f023fd81-a637-4b56-95fd-791ac0226033",
        "1a7d78b6-429f-476b-b8eb-35fb715fffd4",
        "75941009-915a-4869-abe7-691bff18279e",
        "69091246-20e8-4a56-aa4d-066075b2a7a8",
        "baf37b3a-610e-45da-9e62-d9d1e5e8914b",
        "3d762c5a-1b6c-493f-843e-55a3b42923d4",
        "aa38014f-0993-46e9-9b45-30501a20909d",
        "fe930be7-5e62-47db-91af-98c3a49a38b1",
        "e300d9e7-4a2b-4295-9eff-f1c78b36cc98",
        "92b086b3-e367-4ef2-b869-1de128fb986e",
        "87761b17-1ed2-4af3-9acd-92a150038160",
        "11451d60-acb2-45eb-a7d6-43d0f0125c13",
        "32696413-001a-46ae-978c-ce0f6b3620d2",
        "810a2642-a034-447f-a5e8-41beaa378541",
        "d2562ede-74db-457e-a7b6-544e236ebb61",
        "ecb2c6bf-0ab6-418e-bd87-7986f8d63bbe",
        "024906de-61e5-49c8-8572-40335f1e0e10",
        "2ea5ce4c-b2d8-4668-bd81-3680bd2d227a"
      ],
      "includeUsers": []
    },
    "times": null
  },
  "createdDateTime": "2025-06-05T16:15:16.9497585\u002B00:00",
  "displayName": "[All Apps] [All Admins] Admin Accounts Sign In Frequency=8 hours",
  "modifiedDateTime": "2025-06-05T16:16:13.3203814\u002B00:00",
  "sessionControls": {
    "signInFrequency": {
      "isEnabled": true,
      "@odata.type": "#microsoft.graph.signInFrequencySessionControl",
      "authenticationType": "primaryAndSecondaryAuthentication",
      "frequencyInterval": "timeBased",
      "type": "hours",
      "value": 8
    }
  },
  "state": "enabledForReportingButNotEnforced"
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 algn="r"/>
            <a:fld id="{A2A65170-4884-4454-B827-BA43BF2D2268}" type="slidenum">
              <a:rPr/>
              <a:t>42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"/>
          <p:cNvSpPr>
            <a:spLocks noGrp="1" noRot="1" noChangeAspect="1"/>
          </p:cNvSpPr>
          <p:nvPr>
            <p:ph type="sldImg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  <a:p>
            <a:r>
              <a:t>[All Apps] [All Users] (Block) Device Code Flow - MICROSOFT TO REPLACE</a:t>
            </a:r>
          </a:p>
          <a:p>
            <a:r>
              <a:t>Portal link: https://entra.microsoft.com/#view/Microsoft_AAD_ConditionalAccess/PolicyBlade/policyId/74e31a16-c2be-4a47-8e82-b6966838cd14
</a:t>
            </a:r>
          </a:p>
          <a:p>
            <a:r>
              <a:t>{
  "id": "74e31a16-c2be-4a47-8e82-b6966838cd14",
  "templateId": null,
  "deletedDateTime": null,
  "partialEnablementStrategy": null,
  "conditions": {
    "applications": {
      "excludeApplications": [
        "0000000a-0000-0000-c000-000000000000",
        "d4ebce55-015a-49b5-a083-c84d1797ae8c"
      ],
      "includeApplications": [
        "All"
      ],
      "includeAuthenticationContextClassReferences": [],
      "includeUserActions": []
    },
    "clientAppTypes": [
      "all"
    ],
    "platforms": {
      "excludePlatforms": [],
      "includePlatforms": [
        "all"
      ]
    },
    "signInRiskLevels": [],
    "userRiskLevels": [],
    "users": {
      "excludeGroups": [],
      "excludeRoles": [],
      "excludeUsers": [
        "246296d3-20d1-4a54-bcbc-845ff2fe3512",
        "24770aef-6cda-46bb-9f5f-6333108d6a2e"
      ],
      "includeGroups": [],
      "includeRoles": [],
      "includeUsers": [
        "All"
      ]
    },
    "times": null,
    "authenticationFlows": {
      "transferMethods": "deviceCodeFlow"
    }
  },
  "createdDateTime": "2025-04-18T15:32:51.3436547\u002B00:00",
  "displayName": "[All Apps] [All Users] (Block) Device Code Flow - MICROSOFT TO REPLACE",
  "grantControls": {
    "builtInControls": [
      "block"
    ],
    "customAuthenticationFactors": [],
    "operator": "OR",
    "termsOfUse": [],
    "authenticationStrength@odata.context": "https://graph.microsoft.com/beta/$metadata#policies/conditionalAccessPolicies(\u002774e31a16-c2be-4a47-8e82-b6966838cd14\u0027)/grantControls/authenticationStrength/$entity"
  },
  "modifiedDateTime": "2025-05-14T19:11:29.5177439\u002B00:00",
  "state": "enabledForReportingButNotEnforced"
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 algn="r"/>
            <a:fld id="{4113D91F-CACC-4060-967E-FDED110A11B5}" type="slidenum">
              <a:rPr/>
              <a:t>43</a:t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"/>
          <p:cNvSpPr>
            <a:spLocks noGrp="1" noRot="1" noChangeAspect="1"/>
          </p:cNvSpPr>
          <p:nvPr>
            <p:ph type="sldImg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  <a:p>
            <a:r>
              <a:t>[All Apps] [All Users] {Trusted Device} Device Signal - Test</a:t>
            </a:r>
          </a:p>
          <a:p>
            <a:r>
              <a:t>Portal link: https://entra.microsoft.com/#view/Microsoft_AAD_ConditionalAccess/PolicyBlade/policyId/e22d8739-58fb-4285-b900-87a4251ef8e8
</a:t>
            </a:r>
          </a:p>
          <a:p>
            <a:r>
              <a:t>{
  "id": "e22d8739-58fb-4285-b900-87a4251ef8e8",
  "templateId": null,
  "deletedDateTime": null,
  "partialEnablementStrategy": null,
  "conditions": {
    "applications": {
      "excludeApplications": [],
      "includeApplications": [
        "All"
      ],
      "includeAuthenticationContextClassReferences": [],
      "includeUserActions": []
    },
    "clientAppTypes": [
      "all"
    ],
    "signInRiskLevels": [],
    "userRiskLevels": [],
    "users": {
      "excludeGroups": [],
      "excludeRoles": [],
      "excludeUsers": [
        "246296d3-20d1-4a54-bcbc-845ff2fe3512",
        "24770aef-6cda-46bb-9f5f-6333108d6a2e"
      ],
      "includeGroups": [],
      "includeRoles": [],
      "includeUsers": [
        "All"
      ]
    },
    "times": null
  },
  "createdDateTime": "2025-05-23T19:11:36.8787581\u002B00:00",
  "displayName": "[All Apps] [All Users] {Trusted Device} Device Signal - Test",
  "grantControls": {
    "builtInControls": [
      "compliantDevice",
      "domainJoinedDevice"
    ],
    "customAuthenticationFactors": [],
    "operator": "OR",
    "termsOfUse": [],
    "authenticationStrength@odata.context": "https://graph.microsoft.com/beta/$metadata#policies/conditionalAccessPolicies(\u0027e22d8739-58fb-4285-b900-87a4251ef8e8\u0027)/grantControls/authenticationStrength/$entity"
  },
  "state": "enabledForReportingButNotEnforced"
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 algn="r"/>
            <a:fld id="{801EB8AA-C5AD-4686-98E4-B22B63D35A48}" type="slidenum">
              <a:rPr/>
              <a:t>44</a:t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"/>
          <p:cNvSpPr>
            <a:spLocks noGrp="1" noRot="1" noChangeAspect="1"/>
          </p:cNvSpPr>
          <p:nvPr>
            <p:ph type="sldImg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  <a:p>
            <a:r>
              <a:t>[BizTalk][SVo365 BizTalk] Service Account Access To Exchange Online Only</a:t>
            </a:r>
          </a:p>
          <a:p>
            <a:r>
              <a:t>Portal link: https://entra.microsoft.com/#view/Microsoft_AAD_ConditionalAccess/PolicyBlade/policyId/3ce9ab0f-3eb5-4693-b3e2-01ca91b90c54
</a:t>
            </a:r>
          </a:p>
          <a:p>
            <a:r>
              <a:t>{
  "id": "3ce9ab0f-3eb5-4693-b3e2-01ca91b90c54",
  "templateId": null,
  "deletedDateTime": null,
  "partialEnablementStrategy": null,
  "conditions": {
    "applications": {
      "excludeApplications": [
        "00000002-0000-0ff1-ce00-000000000000"
      ],
      "includeApplications": [
        "All"
      ],
      "includeAuthenticationContextClassReferences": [],
      "includeUserActions": []
    },
    "clientAppTypes": [
      "all"
    ],
    "signInRiskLevels": [],
    "userRiskLevels": [],
    "users": {
      "excludeGroups": [],
      "excludeRoles": [],
      "excludeUsers": [],
      "includeGroups": [],
      "includeRoles": [],
      "includeUsers": [
        "5c6138d6-c07b-4abd-95b7-33b062ef4971",
        "627b915e-82e6-47aa-8746-e56e5a43ba43",
        "82568de2-69b4-43f9-9494-1119099b1c1d"
      ]
    },
    "times": null
  },
  "createdDateTime": "2025-06-04T19:31:30.0304686\u002B00:00",
  "displayName": "[BizTalk][SVo365 BizTalk] Service Account Access To Exchange Online Only",
  "grantControls": {
    "builtInControls": [
      "block"
    ],
    "customAuthenticationFactors": [],
    "operator": "OR",
    "termsOfUse": [],
    "authenticationStrength@odata.context": "https://graph.microsoft.com/beta/$metadata#policies/conditionalAccessPolicies(\u00273ce9ab0f-3eb5-4693-b3e2-01ca91b90c54\u0027)/grantControls/authenticationStrength/$entity"
  },
  "modifiedDateTime": "2025-09-29T18:07:13.615155\u002B00:00",
  "state": "enabledForReportingButNotEnforced"
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 algn="r"/>
            <a:fld id="{23DE8979-18AF-4623-B954-D9DDC6B75A30}" type="slidenum">
              <a:rPr/>
              <a:t>45</a:t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"/>
          <p:cNvSpPr>
            <a:spLocks noGrp="1" noRot="1" noChangeAspect="1"/>
          </p:cNvSpPr>
          <p:nvPr>
            <p:ph type="sldImg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  <a:p>
            <a:r>
              <a:t>[TEST][BLOCK] PowerRPA Service Accounts Only Have Limited Access To Resources </a:t>
            </a:r>
          </a:p>
          <a:p>
            <a:r>
              <a:t>Portal link: https://entra.microsoft.com/#view/Microsoft_AAD_ConditionalAccess/PolicyBlade/policyId/2817ca05-db0e-4ae5-9549-b61c36dcbc5a
</a:t>
            </a:r>
          </a:p>
          <a:p>
            <a:r>
              <a:t>{
  "id": "2817ca05-db0e-4ae5-9549-b61c36dcbc5a",
  "templateId": null,
  "deletedDateTime": null,
  "partialEnablementStrategy": null,
  "conditions": {
    "applications": {
      "excludeApplications": [
        "14d82eec-204b-4c2f-b7e8-296a70dab67e",
        "53a4b8a5-7004-4fc0-bfae-73a52a4e9c5f",
        "7df0a125-d3be-4c96-aa54-591f83ff541c",
        "fc4979e5-0aa5-429f-b13a-5d1365be5566",
        "475226c6-020e-4fb2-8a90-7a972cbfc1d4",
        "a16afde6-431b-4662-b2b2-e5ee8c05b1f2",
        "00000003-0000-0ff1-ce00-000000000000",
        "Office365"
      ],
      "includeApplications": [
        "All"
      ],
      "includeAuthenticationContextClassReferences": [],
      "includeUserActions": []
    },
    "clientAppTypes": [
      "all"
    ],
    "signInRiskLevels": [],
    "userRiskLevels": [],
    "users": {
      "excludeGroups": [],
      "excludeRoles": [],
      "excludeUsers": [],
      "includeGroups": [],
      "includeRoles": [],
      "includeUsers": [
        "8beb8e0a-9a7d-43f4-a8bd-249ab428c63d",
        "728582f7-6286-4f72-87a5-94166991d55f",
        "85f49014-f067-400d-9562-e688eef405ed",
        "efb6ee45-5037-44cf-b7b6-cab7aa6b79ad",
        "02b168ac-d54e-459f-ab22-be85667ef1ea",
        "d6b9abc1-c729-427a-9958-e66fa30853a4",
        "4c8fa7fd-8a38-4236-a8f8-63442cf5bfa0",
        "7712b9d5-1f4f-4615-ae07-ef9023684c19",
        "4c9c116d-3f63-4199-bbde-0bc1d61f8ce4"
      ]
    },
    "times": null
  },
  "createdDateTime": "2025-06-04T19:36:52.9045498\u002B00:00",
  "displayName": "[TEST][BLOCK] PowerRPA Service Accounts Only Have Limited Access To Resources ",
  "grantControls": {
    "builtInControls": [
      "block"
    ],
    "customAuthenticationFactors": [],
    "operator": "OR",
    "termsOfUse": [],
    "authenticationStrength@odata.context": "https://graph.microsoft.com/beta/$metadata#policies/conditionalAccessPolicies(\u00272817ca05-db0e-4ae5-9549-b61c36dcbc5a\u0027)/grantControls/authenticationStrength/$entity"
  },
  "modifiedDateTime": "2025-06-05T19:52:45.019476\u002B00:00",
  "state": "enabledForReportingButNotEnforced"
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 algn="r"/>
            <a:fld id="{A08442BA-8862-4684-875B-846FF5C67349}" type="slidenum">
              <a:rPr/>
              <a:t>46</a:t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"/>
          <p:cNvSpPr>
            <a:spLocks noGrp="1" noRot="1" noChangeAspect="1"/>
          </p:cNvSpPr>
          <p:nvPr>
            <p:ph type="sldImg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  <a:p>
            <a:r>
              <a:t>[TEST][BLOCK] SharePoint Service Accounts Only Have Limited Access To Resources</a:t>
            </a:r>
          </a:p>
          <a:p>
            <a:r>
              <a:t>Portal link: https://entra.microsoft.com/#view/Microsoft_AAD_ConditionalAccess/PolicyBlade/policyId/b20705ce-ce5f-4a5a-9bb0-38f8d9d06326
</a:t>
            </a:r>
          </a:p>
          <a:p>
            <a:r>
              <a:t>{
  "id": "b20705ce-ce5f-4a5a-9bb0-38f8d9d06326",
  "templateId": null,
  "deletedDateTime": null,
  "partialEnablementStrategy": null,
  "conditions": {
    "applications": {
      "excludeApplications": [
        "7df0a125-d3be-4c96-aa54-591f83ff541c",
        "53a4b8a5-7004-4fc0-bfae-73a52a4e9c5f",
        "475226c6-020e-4fb2-8a90-7a972cbfc1d4",
        "a16afde6-431b-4662-b2b2-e5ee8c05b1f2",
        "00000003-0000-0ff1-ce00-000000000000",
        "Office365"
      ],
      "includeApplications": [
        "All"
      ],
      "includeAuthenticationContextClassReferences": [],
      "includeUserActions": []
    },
    "clientAppTypes": [
      "all"
    ],
    "signInRiskLevels": [],
    "userRiskLevels": [],
    "users": {
      "excludeGroups": [],
      "excludeRoles": [],
      "excludeUsers": [],
      "includeGroups": [],
      "includeRoles": [],
      "includeUsers": [
        "d85f326f-de54-45e2-b9de-37c8a4a0a1e9",
        "23f15dd1-0027-4587-b103-45b37461b19d",
        "a1dcdde4-fd88-4e6d-9121-125ecf0fa9fa"
      ]
    },
    "times": null
  },
  "createdDateTime": "2025-06-04T19:21:53.8907359\u002B00:00",
  "displayName": "[TEST][BLOCK] SharePoint Service Accounts Only Have Limited Access To Resources",
  "grantControls": {
    "builtInControls": [
      "block"
    ],
    "customAuthenticationFactors": [],
    "operator": "OR",
    "termsOfUse": [],
    "authenticationStrength@odata.context": "https://graph.microsoft.com/beta/$metadata#policies/conditionalAccessPolicies(\u0027b20705ce-ce5f-4a5a-9bb0-38f8d9d06326\u0027)/grantControls/authenticationStrength/$entity"
  },
  "modifiedDateTime": "2025-06-05T19:59:26.4495154\u002B00:00",
  "state": "enabledForReportingButNotEnforced"
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 algn="r"/>
            <a:fld id="{1EF4B351-E7A5-4F76-A672-307D43A02BF2}" type="slidenum">
              <a:rPr/>
              <a:t>47</a:t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"/>
          <p:cNvSpPr>
            <a:spLocks noGrp="1" noRot="1" noChangeAspect="1"/>
          </p:cNvSpPr>
          <p:nvPr>
            <p:ph type="sldImg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  <a:p>
            <a:r>
              <a:t>[TEST][SCuBA] Managed Devices For Authentication</a:t>
            </a:r>
          </a:p>
          <a:p>
            <a:r>
              <a:t>Portal link: https://entra.microsoft.com/#view/Microsoft_AAD_ConditionalAccess/PolicyBlade/policyId/98926e08-db9e-4281-bb7d-e41997864ebe
</a:t>
            </a:r>
          </a:p>
          <a:p>
            <a:r>
              <a:t>{
  "id": "98926e08-db9e-4281-bb7d-e41997864ebe",
  "templateId": null,
  "deletedDateTime": null,
  "partialEnablementStrategy": null,
  "conditions": {
    "applications": {
      "excludeApplications": [
        "01cb2876-7ebd-4aa4-9cc9-d28bd4d359a9",
        "0000000a-0000-0000-c000-000000000000",
        "05550f4f-ea57-4145-a016-f188713ca126",
        "9cdead84-a844-4324-93f2-b2e6bb768d07",
        "d4ebce55-015a-49b5-a083-c84d1797ae8c"
      ],
      "includeApplications": [
        "All"
      ],
      "includeAuthenticationContextClassReferences": [],
      "includeUserActions": []
    },
    "clientAppTypes": [
      "all"
    ],
    "platforms": {
      "excludePlatforms": [],
      "includePlatforms": [
        "all"
      ]
    },
    "signInRiskLevels": [],
    "userRiskLevels": [],
    "users": {
      "excludeGroups": [
        "39aca1ba-f882-446a-aa64-ad8a2d4829ee",
        "6066a579-5ab3-4a02-84b3-b7a0b059a1cc"
      ],
      "excludeRoles": [],
      "excludeUsers": [
        "246296d3-20d1-4a54-bcbc-845ff2fe3512",
        "24770aef-6cda-46bb-9f5f-6333108d6a2e"
      ],
      "includeGroups": [],
      "includeRoles": [],
      "includeUsers": [
        "All"
      ]
    },
    "times": null
  },
  "createdDateTime": "2025-04-22T19:25:27.5057415\u002B00:00",
  "displayName": "[TEST][SCuBA] Managed Devices For Authentication",
  "grantControls": {
    "builtInControls": [
      "compliantDevice",
      "domainJoinedDevice"
    ],
    "customAuthenticationFactors": [],
    "operator": "OR",
    "termsOfUse": [],
    "authenticationStrength@odata.context": "https://graph.microsoft.com/beta/$metadata#policies/conditionalAccessPolicies(\u002798926e08-db9e-4281-bb7d-e41997864ebe\u0027)/grantControls/authenticationStrength/$entity"
  },
  "modifiedDateTime": "2025-05-06T22:07:07.4969191\u002B00:00",
  "state": "enabledForReportingButNotEnforced"
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 algn="r"/>
            <a:fld id="{2F28454E-33F8-46AB-B2E2-176C645EF827}" type="slidenum">
              <a:rPr/>
              <a:t>48</a:t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"/>
          <p:cNvSpPr>
            <a:spLocks noGrp="1" noRot="1" noChangeAspect="1"/>
          </p:cNvSpPr>
          <p:nvPr>
            <p:ph type="sldImg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  <a:p>
            <a:r>
              <a:t>[TEST][SCuBA] Managed Devices For Registering MFA</a:t>
            </a:r>
          </a:p>
          <a:p>
            <a:r>
              <a:t>Portal link: https://entra.microsoft.com/#view/Microsoft_AAD_ConditionalAccess/PolicyBlade/policyId/a0dc4b82-2995-42a9-85be-e2ede0a104b1
</a:t>
            </a:r>
          </a:p>
          <a:p>
            <a:r>
              <a:t>{
  "id": "a0dc4b82-2995-42a9-85be-e2ede0a104b1",
  "templateId": null,
  "deletedDateTime": null,
  "partialEnablementStrategy": null,
  "conditions": {
    "applications": {
      "excludeApplications": [],
      "includeApplications": [],
      "includeAuthenticationContextClassReferences": [],
      "includeUserActions": [
        "urn:user:registersecurityinfo"
      ]
    },
    "clientAppTypes": [
      "all"
    ],
    "platforms": {
      "excludePlatforms": [],
      "includePlatforms": [
        "all"
      ]
    },
    "signInRiskLevels": [],
    "userRiskLevels": [],
    "users": {
      "excludeGroups": [],
      "excludeRoles": [],
      "excludeUsers": [
        "246296d3-20d1-4a54-bcbc-845ff2fe3512",
        "24770aef-6cda-46bb-9f5f-6333108d6a2e"
      ],
      "includeGroups": [],
      "includeRoles": [],
      "includeUsers": [
        "All"
      ]
    },
    "times": null
  },
  "createdDateTime": "2025-04-22T19:29:26.8254672\u002B00:00",
  "displayName": "[TEST][SCuBA] Managed Devices For Registering MFA",
  "grantControls": {
    "builtInControls": [
      "compliantDevice",
      "domainJoinedDevice"
    ],
    "customAuthenticationFactors": [],
    "operator": "OR",
    "termsOfUse": [],
    "authenticationStrength@odata.context": "https://graph.microsoft.com/beta/$metadata#policies/conditionalAccessPolicies(\u0027a0dc4b82-2995-42a9-85be-e2ede0a104b1\u0027)/grantControls/authenticationStrength/$entity"
  },
  "modifiedDateTime": "2025-04-29T19:10:24.4250955\u002B00:00",
  "state": "enabledForReportingButNotEnforced"
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 algn="r"/>
            <a:fld id="{E1C6783B-531C-41F8-8BED-C8EBE271B3F2}" type="slidenum">
              <a:rPr/>
              <a:t>49</a:t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"/>
          <p:cNvSpPr>
            <a:spLocks noGrp="1" noRot="1" noChangeAspect="1"/>
          </p:cNvSpPr>
          <p:nvPr>
            <p:ph type="sldImg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  <a:p>
            <a:r>
              <a:t>Microsoft-managed: Multifactor authentication for admins accessing Microsoft Admin Portals</a:t>
            </a:r>
          </a:p>
          <a:p>
            <a:r>
              <a:t>Portal link: https://entra.microsoft.com/#view/Microsoft_AAD_ConditionalAccess/PolicyBlade/policyId/e612ce4d-cece-40b3-9868-a81b39bc8e43
</a:t>
            </a:r>
          </a:p>
          <a:p>
            <a:r>
              <a:t>{
  "id": "e612ce4d-cece-40b3-9868-a81b39bc8e43",
  "templateId": "4200930c-0da2-4e33-ca01-000000000000",
  "deletedDateTime": null,
  "partialEnablementStrategy": null,
  "conditions": {
    "applications": {
      "excludeApplications": [],
      "includeApplications": [
        "MicrosoftAdminPortals"
      ],
      "includeAuthenticationContextClassReferences": [],
      "includeUserActions": []
    },
    "clientAppTypes": [
      "all"
    ],
    "signInRiskLevels": [],
    "userRiskLevels": [],
    "users": {
      "excludeGroups": [],
      "excludeRoles": [],
      "excludeUsers": [],
      "includeGroups": [],
      "includeRoles": [
        "62e90394-69f5-4237-9190-012177145e10",
        "194ae4cb-b126-40b2-bd5b-6091b380977d",
        "f28a1f50-f6e7-4571-818b-6a12f2af6b6c",
        "29232cdf-9323-42fd-ade2-1d097af3e4de",
        "b1be1c3e-b65d-4f19-8427-f6fa0d97feb9",
        "729827e3-9c14-49f7-bb1b-9608f156bbb8",
        "b0f54661-2d74-4c50-afa3-1ec803f12efe",
        "fe930be7-5e62-47db-91af-98c3a49a38b1",
        "c4e39bd9-1100-46d3-8c65-fb160da0071f",
        "9b895d92-2cd3-44c7-9d02-a6ac2d5ea5c3",
        "158c047a-c907-4556-b7ef-446551a6b5f7",
        "966707d0-3269-4727-9be2-8c3a10f19b9d",
        "7be44c8a-adaf-4e2a-84d6-ab2649e08a13",
        "e8611ab8-c189-46e8-94e1-60213ab1f814"
      ],
      "includeUsers": []
    },
    "times": null
  },
  "createdDateTime": "2023-12-11T18:31:47.4687474\u002B00:00",
  "displayName": "Microsoft-managed: Multifactor authentication for admins accessing Microsoft Admin Portals",
  "grantControls": {
    "builtInControls": [
      "mfa"
    ],
    "customAuthenticationFactors": [],
    "operator": "OR",
    "termsOfUse": [],
    "authenticationStrength@odata.context": "https://graph.microsoft.com/beta/$metadata#policies/conditionalAccessPolicies(\u0027e612ce4d-cece-40b3-9868-a81b39bc8e43\u0027)/grantControls/authenticationStrength/$entity"
  },
  "modifiedDateTime": "2025-03-28T13:40:44.0785102\u002B00:00",
  "state": "enabledForReportingButNotEnforced"
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 algn="r"/>
            <a:fld id="{584CE662-26EC-4E2C-9F35-96B57FF83B0E}" type="slidenum">
              <a:rPr/>
              <a:t>50</a:t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"/>
          <p:cNvSpPr>
            <a:spLocks noGrp="1" noRot="1" noChangeAspect="1"/>
          </p:cNvSpPr>
          <p:nvPr>
            <p:ph type="sldImg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  <a:p>
            <a:r>
              <a:t>[All Apps] [EXT Vendors] (Block) unless from selected network</a:t>
            </a:r>
          </a:p>
          <a:p>
            <a:r>
              <a:t>Portal link: https://entra.microsoft.com/#view/Microsoft_AAD_ConditionalAccess/PolicyBlade/policyId/ad3fb29a-5ed7-4482-8ce2-c0b71fb4fc0a
</a:t>
            </a:r>
          </a:p>
          <a:p>
            <a:r>
              <a:t>{
  "id": "ad3fb29a-5ed7-4482-8ce2-c0b71fb4fc0a",
  "templateId": null,
  "deletedDateTime": null,
  "partialEnablementStrategy": null,
  "conditions": {
    "applications": {
      "excludeApplications": [],
      "includeApplications": [
        "All"
      ],
      "includeAuthenticationContextClassReferences": [],
      "includeUserActions": []
    },
    "clientAppTypes": [
      "all"
    ],
    "locations": {
      "excludeLocations": [
        "067b0776-cb80-4f81-ab69-49209d85f9fb"
      ],
      "includeLocations": [
        "All"
      ]
    },
    "signInRiskLevels": [],
    "userRiskLevels": [],
    "users": {
      "excludeGroups": [],
      "excludeRoles": [],
      "excludeUsers": [],
      "includeGroups": [],
      "includeRoles": [],
      "includeUsers": [
        "c5f25f3a-4053-48bf-b0f2-11248bda44fd"
      ]
    },
    "times": null
  },
  "createdDateTime": "2025-02-15T20:51:24.4903439\u002B00:00",
  "displayName": "[All Apps] [EXT Vendors] (Block) unless from selected network",
  "grantControls": {
    "builtInControls": [
      "block"
    ],
    "customAuthenticationFactors": [],
    "operator": "OR",
    "termsOfUse": [],
    "authenticationStrength@odata.context": "https://graph.microsoft.com/beta/$metadata#policies/conditionalAccessPolicies(\u0027ad3fb29a-5ed7-4482-8ce2-c0b71fb4fc0a\u0027)/grantControls/authenticationStrength/$entity"
  },
  "modifiedDateTime": "2025-05-06T22:48:36.944584\u002B00:00",
  "state": "disabled"
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 algn="r"/>
            <a:fld id="{3CCFB006-E334-4574-9610-10F4D81609B3}" type="slidenum">
              <a:rPr/>
              <a:t>51</a:t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"/>
          <p:cNvSpPr>
            <a:spLocks noGrp="1" noRot="1" noChangeAspect="1"/>
          </p:cNvSpPr>
          <p:nvPr>
            <p:ph type="sldImg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  <a:p>
            <a:r>
              <a:t>[TEST] [All Apps] [All Users] {Mobile Devices} App Protection and Compliance</a:t>
            </a:r>
          </a:p>
          <a:p>
            <a:r>
              <a:t>Portal link: https://entra.microsoft.com/#view/Microsoft_AAD_ConditionalAccess/PolicyBlade/policyId/6dbb4504-278c-4813-8a93-457401bfc659
</a:t>
            </a:r>
          </a:p>
          <a:p>
            <a:r>
              <a:t>{
  "id": "6dbb4504-278c-4813-8a93-457401bfc659",
  "templateId": null,
  "deletedDateTime": null,
  "partialEnablementStrategy": null,
  "conditions": {
    "applications": {
      "excludeApplications": [
        "0000000a-0000-0000-c000-000000000000",
        "d4ebce55-015a-49b5-a083-c84d1797ae8c"
      ],
      "includeApplications": [
        "All"
      ],
      "includeAuthenticationContextClassReferences": [],
      "includeUserActions": []
    },
    "clientAppTypes": [
      "exchangeActiveSync",
      "browser",
      "mobileAppsAndDesktopClients",
      "other"
    ],
    "platforms": {
      "excludePlatforms": [
        "android",
        "iOS",
        "macOS",
        "linux"
      ],
      "includePlatforms": [
        "android",
        "iOS"
      ]
    },
    "signInRiskLevels": [],
    "userRiskLevels": [],
    "users": {
      "excludeGroups": [],
      "excludeRoles": [],
      "excludeUsers": [
        "246296d3-20d1-4a54-bcbc-845ff2fe3512",
        "24770aef-6cda-46bb-9f5f-6333108d6a2e",
        "27b67cae-078f-414c-ae47-8d5e9d472f20"
      ],
      "includeGroups": [],
      "includeRoles": [],
      "includeUsers": [
        "All"
      ]
    },
    "times": null
  },
  "createdDateTime": "2025-04-24T19:54:22.3920982\u002B00:00",
  "displayName": "[TEST] [All Apps] [All Users] {Mobile Devices} App Protection and Compliance",
  "grantControls": {
    "builtInControls": [
      "compliantDevice",
      "compliantApplication"
    ],
    "customAuthenticationFactors": [],
    "operator": "AND",
    "termsOfUse": [],
    "authenticationStrength@odata.context": "https://graph.microsoft.com/beta/$metadata#policies/conditionalAccessPolicies(\u00276dbb4504-278c-4813-8a93-457401bfc659\u0027)/grantControls/authenticationStrength/$entity"
  },
  "modifiedDateTime": "2025-05-14T19:09:33.2599233\u002B00:00",
  "state": "disabled"
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 algn="r"/>
            <a:fld id="{4EF36D3A-5E5E-4BFD-A29A-07D34946FAC3}" type="slidenum">
              <a:rPr/>
              <a:t>52</a:t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"/>
          <p:cNvSpPr>
            <a:spLocks noGrp="1" noRot="1" noChangeAspect="1"/>
          </p:cNvSpPr>
          <p:nvPr>
            <p:ph type="sldImg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  <a:p>
            <a:r>
              <a:t>Microsoft-managed: Block device code flow</a:t>
            </a:r>
          </a:p>
          <a:p>
            <a:r>
              <a:t>Portal link: https://entra.microsoft.com/#view/Microsoft_AAD_ConditionalAccess/PolicyBlade/policyId/e72ac6f4-7448-43d8-86d0-50c5acf350fb
</a:t>
            </a:r>
          </a:p>
          <a:p>
            <a:r>
              <a:t>{
  "id": "e72ac6f4-7448-43d8-86d0-50c5acf350fb",
  "templateId": "4200930c-0da2-4e33-ca01-000000000008",
  "deletedDateTime": null,
  "partialEnablementStrategy": null,
  "conditions": {
    "applications": {
      "excludeApplications": [],
      "includeApplications": [
        "All"
      ],
      "includeAuthenticationContextClassReferences": [],
      "includeUserActions": []
    },
    "clientAppTypes": [
      "all"
    ],
    "signInRiskLevels": [],
    "userRiskLevels": [],
    "users": {
      "excludeGroups": [],
      "excludeRoles": [],
      "excludeUsers": [
        "4f1bdae5-c410-4815-a1c5-bf50eef231fd"
      ],
      "includeGroups": [],
      "includeRoles": [],
      "includeUsers": [
        "All"
      ]
    },
    "times": null,
    "authenticationFlows": {
      "transferMethods": "deviceCodeFlow"
    }
  },
  "createdDateTime": "2025-05-14T18:50:13.4378059\u002B00:00",
  "displayName": "Microsoft-managed: Block device code flow",
  "grantControls": {
    "builtInControls": [
      "block"
    ],
    "customAuthenticationFactors": [],
    "operator": "OR",
    "termsOfUse": [],
    "authenticationStrength@odata.context": "https://graph.microsoft.com/beta/$metadata#policies/conditionalAccessPolicies(\u0027e72ac6f4-7448-43d8-86d0-50c5acf350fb\u0027)/grantControls/authenticationStrength/$entity"
  },
  "modifiedDateTime": "2025-06-23T14:01:11.8647629\u002B00:00",
  "state": "disabled"
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 algn="r"/>
            <a:fld id="{186550EE-1143-4593-8CC6-C3481E792BED}" type="slidenum">
              <a:rPr/>
              <a:t>53</a:t>
            </a:fld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"/>
          <p:cNvSpPr>
            <a:spLocks noGrp="1" noRot="1" noChangeAspect="1"/>
          </p:cNvSpPr>
          <p:nvPr>
            <p:ph type="sldImg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  <a:p>
            <a:r>
              <a:t>Microsoft-managed: Multifactor authentication for per-user multifactor authentication users</a:t>
            </a:r>
          </a:p>
          <a:p>
            <a:r>
              <a:t>Portal link: https://entra.microsoft.com/#view/Microsoft_AAD_ConditionalAccess/PolicyBlade/policyId/1f4e610b-8951-448b-8e16-c47a25b08a4e
</a:t>
            </a:r>
          </a:p>
          <a:p>
            <a:r>
              <a:t>{
  "id": "1f4e610b-8951-448b-8e16-c47a25b08a4e",
  "templateId": "4200930c-0da2-4e33-ca01-000000000001",
  "deletedDateTime": null,
  "partialEnablementStrategy": null,
  "conditions": {
    "applications": {
      "excludeApplications": [],
      "includeApplications": [
        "All"
      ],
      "includeAuthenticationContextClassReferences": [],
      "includeUserActions": []
    },
    "clientAppTypes": [
      "all"
    ],
    "locations": {
      "excludeLocations": [
        "AllTrusted"
      ],
      "includeLocations": [
        "All"
      ]
    },
    "signInRiskLevels": [],
    "userRiskLevels": [],
    "users": {
      "excludeGroups": [],
      "excludeRoles": [],
      "excludeUsers": [],
      "includeGroups": [],
      "includeRoles": [],
      "includeUsers": [
        "86f09c89-d766-4fb6-86ca-e7c3b1df662d",
        "a5dfee7b-fee6-4df1-99a2-57dc9d8da7ec",
        "730a6280-1842-4619-9036-784d1c56ccaf",
        "6a1a8d4a-7de2-4004-a975-87266111a33d",
        "27b67cae-078f-414c-ae47-8d5e9d472f20",
        "888cb4af-920a-4aea-b9d2-663b0cc29280",
        "d37ac81b-8abb-4da7-810e-0c93ec57dcb7",
        "10b79ef8-9dff-4905-b093-30e1dcc4e12f",
        "d3a9e6d4-7a68-4089-b83d-6f4ced95a27b",
        "f7bb7cda-a0a4-45a6-a049-27441a164fc8",
        "7241ba2f-610d-4b42-90c5-a79dc6df321d",
        "16367e3a-1047-406c-b379-6c4333dc174d",
        "2fa7c30b-0a45-4e70-9672-572bb4463e61",
        "e2e06e8c-c60d-4f8e-8279-9f9681170dd3",
        "c4e13df6-998d-4a9b-bdbc-a4e68c002057",
        "72401513-e6bd-489a-93db-2ee6881dcd0e",
        "c987dd9b-9a86-450c-86bd-d8641a8a3f56",
        "33500886-58be-4e8d-a556-3a35e1fcbfa7",
        "9d7f4010-6cf0-4e94-bf89-82d75d5ea198",
        "6fdfcb42-aae3-4e16-a86f-2bfefb5a87cd",
        "28b29d5e-9a11-4a10-9648-2111236d98ab",
        "340830db-c645-4e85-a403-0c83938e4347",
        "6c4cdc58-77e6-4efa-8a14-52cb64ae0a9e",
        "f4f056e8-c647-4789-9e95-5a402766a9b6",
        "880e9b1a-2dd7-4900-b113-5c8c39d6b175",
        "b3ae1db7-c68c-4553-8cb0-a993b4902c04",
        "0fcc53d2-8303-403f-8737-bc309537b951",
        "9a29206f-05a2-4a61-b236-cd6009deb055",
        "b9b1d499-d867-4b1b-a2a5-4a6af3de26b7",
        "a8b846a7-10d3-43c8-96de-38f757e683b3",
        "f33f8da6-5812-4d27-acaa-5bc4eb71772e",
        "bfcb3d1a-1ba1-41d8-9d40-0e91209b676b",
        "5a267434-3283-409e-a45f-db3dfa735ee1",
        "17b28fc9-334a-4386-80f8-fcbfe96a7d3c",
        "065b9909-4631-4527-ab45-fda5db75938f",
        "93d2c619-c445-4cb0-860d-c17458920323",
        "757bfc33-cb4b-41b6-8835-9c5e6f046688",
        "2ba384ac-0b5e-443e-bac3-ead014e69e82",
        "7b12be3d-06a6-4576-8e40-e945fd95fc70",
        "d35df513-2f72-4fcf-86ea-4aa9100f0050",
        "23f15dd1-0027-4587-b103-45b37461b19d",
        "c1fd3cc7-43a5-4956-a7d5-c9eeff85d4fa",
        "4f1bdae5-c410-4815-a1c5-bf50eef231fd",
        "a1dcdde4-fd88-4e6d-9121-125ecf0fa9fa",
        "d7da2c6e-755d-4b21-a34e-83a6bc240367",
        "7525532b-e6df-4392-bcdd-aa1f5013457c",
        "1976561e-64e2-45cc-8793-e59d8a5de147"
      ]
    },
    "times": null
  },
  "createdDateTime": "2023-12-11T19:58:48.2395557\u002B00:00",
  "displayName": "Microsoft-managed: Multifactor authentication for per-user multifactor authentication users",
  "grantControls": {
    "authenticationStrength": {
      "id": "00000000-0000-0000-0000-000000000002",
      "combinationConfigurations@odata.context": "https://graph.microsoft.com/beta/$metadata#policies/conditionalAccessPolicies(\u00271f4e610b-8951-448b-8e16-c47a25b08a4e\u0027)/grantControls/authenticationStrength/combinationConfigurations",
      "allowedCombinations": [
        "windowsHelloForBusiness",
        "fido2",
        "x509CertificateMultiFactor",
        "deviceBasedPush",
        "temporaryAccessPassOneTime",
        "temporaryAccessPassMultiUse",
        "microsoftAuthenticatorPush",
        "softwareOath",
        "hardwareOath",
        "sms",
        "voice",
        "federatedMultiFactor",
        "federatedMultiFactor",
        "federatedMultiFactor",
        "federatedSingleFactor",
        "federatedSingleFactor",
        "federatedMultiFactor"
      ],
      "combinationConfigurations": [],
      "createdDateTime": "2021-12-01T08:00:00\u002B00:00",
      "description": "Combinations of methods that satisfy strong authentication, such as a password \u002B SMS",
      "displayName": "Multifactor authentication",
      "modifiedDateTime": "2021-12-01T08:00:00\u002B00:00",
      "policyType": "builtIn",
      "requirementsSatisfied": "mfa"
    },
    "builtInControls": [],
    "customAuthenticationFactors": [],
    "operator": "OR",
    "termsOfUse": [],
    "authenticationStrength@odata.context": "https://graph.microsoft.com/beta/$metadata#policies/conditionalAccessPolicies(\u00271f4e610b-8951-448b-8e16-c47a25b08a4e\u0027)/grantControls/authenticationStrength/$entity"
  },
  "modifiedDateTime": "2025-04-16T20:35:02.6260376\u002B00:00",
  "state": "disabled"
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 algn="r"/>
            <a:fld id="{68CDC79E-4096-461D-84C1-A210EE152B48}" type="slidenum">
              <a:rPr/>
              <a:t>54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white">
          <a:xfrm>
            <a:off x="1524000" y="1122363"/>
            <a:ext cx="9144000" cy="2387600"/>
          </a:xfrm>
          <a:ln>
            <a:headEnd type="none"/>
            <a:tailEnd type="none"/>
          </a:ln>
        </p:spPr>
        <p:txBody>
          <a:bodyPr wrap="square" anchor="b"/>
          <a:lstStyle>
            <a:lvl1pPr algn="ctr">
              <a:defRPr sz="6000" dirty="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white">
          <a:xfrm>
            <a:off x="1524000" y="3602038"/>
            <a:ext cx="9144000" cy="1655762"/>
          </a:xfrm>
          <a:ln>
            <a:headEnd type="none"/>
            <a:tailEnd type="none"/>
          </a:ln>
        </p:spPr>
        <p:txBody>
          <a:bodyPr wrap="square"/>
          <a:lstStyle>
            <a:lvl1pPr marL="0" indent="0" algn="ctr">
              <a:buNone/>
              <a:defRPr sz="2400" dirty="0"/>
            </a:lvl1pPr>
            <a:lvl2pPr marL="457200" indent="0" algn="ctr">
              <a:buNone/>
              <a:defRPr sz="2000" dirty="0"/>
            </a:lvl2pPr>
            <a:lvl3pPr marL="914400" indent="0" algn="ctr">
              <a:buNone/>
              <a:defRPr sz="1800" dirty="0"/>
            </a:lvl3pPr>
            <a:lvl4pPr marL="1371600" indent="0" algn="ctr">
              <a:buNone/>
              <a:defRPr sz="1600" dirty="0"/>
            </a:lvl4pPr>
            <a:lvl5pPr marL="1828800" indent="0" algn="ctr">
              <a:buNone/>
              <a:defRPr sz="1600" dirty="0"/>
            </a:lvl5pPr>
            <a:lvl6pPr marL="2286000" indent="0" algn="ctr">
              <a:buNone/>
              <a:defRPr sz="1600" dirty="0"/>
            </a:lvl6pPr>
            <a:lvl7pPr marL="2743200" indent="0" algn="ctr">
              <a:buNone/>
              <a:defRPr sz="1600" dirty="0"/>
            </a:lvl7pPr>
            <a:lvl8pPr marL="3200400" indent="0" algn="ctr">
              <a:buNone/>
              <a:defRPr sz="1600" dirty="0"/>
            </a:lvl8pPr>
            <a:lvl9pPr marL="3657600" indent="0" algn="ctr">
              <a:buNone/>
              <a:defRPr sz="1600" dirty="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CF5C660C-50E5-B242-B3EF-2B7C8DA67512}" type="datetimeFigureOut">
              <a:rPr lang="en-US" dirty="0"/>
              <a:t>10/28/2025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5D2F179-5036-4446-AD0F-8A2B0CE1BCDE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CF5C660C-50E5-B242-B3EF-2B7C8DA67512}" type="datetimeFigureOut">
              <a:rPr lang="en-US" dirty="0"/>
              <a:t>10/28/2025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5D2F179-5036-4446-AD0F-8A2B0CE1BCDE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xfrm>
            <a:off x="831850" y="1709738"/>
            <a:ext cx="10515600" cy="2852737"/>
          </a:xfrm>
          <a:ln>
            <a:headEnd type="none"/>
            <a:tailEnd type="none"/>
          </a:ln>
        </p:spPr>
        <p:txBody>
          <a:bodyPr wrap="square" anchor="b"/>
          <a:lstStyle>
            <a:lvl1pPr>
              <a:defRPr sz="6000" dirty="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xfrm>
            <a:off x="831850" y="4589463"/>
            <a:ext cx="10515600" cy="1500187"/>
          </a:xfrm>
          <a:ln>
            <a:headEnd type="none"/>
            <a:tailEnd type="none"/>
          </a:ln>
        </p:spPr>
        <p:txBody>
          <a:bodyPr wrap="square"/>
          <a:lstStyle>
            <a:lvl1pPr marL="0" indent="0">
              <a:buNone/>
              <a:defRPr sz="2400" dirty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 dirty="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 dirty="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 dirty="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 dirty="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 dirty="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 dirty="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 dirty="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 dirty="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CF5C660C-50E5-B242-B3EF-2B7C8DA67512}" type="datetimeFigureOut">
              <a:rPr lang="en-US" dirty="0"/>
              <a:t>10/28/2025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5D2F179-5036-4446-AD0F-8A2B0CE1BCDE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 bwMode="white">
          <a:xfrm>
            <a:off x="838200" y="1825625"/>
            <a:ext cx="5181600" cy="4351338"/>
          </a:xfrm>
          <a:ln>
            <a:headEnd type="none"/>
            <a:tailEnd type="none"/>
          </a:ln>
        </p:spPr>
        <p:txBody>
          <a:bodyPr wrap="square"/>
          <a:lstStyle/>
          <a:p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white">
          <a:xfrm>
            <a:off x="6172200" y="1825625"/>
            <a:ext cx="5181600" cy="4351338"/>
          </a:xfrm>
          <a:ln>
            <a:headEnd type="none"/>
            <a:tailEnd type="none"/>
          </a:ln>
        </p:spPr>
        <p:txBody>
          <a:bodyPr wrap="square"/>
          <a:lstStyle/>
          <a:p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CF5C660C-50E5-B242-B3EF-2B7C8DA67512}" type="datetimeFigureOut">
              <a:rPr lang="en-US" dirty="0"/>
              <a:t>10/28/2025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5D2F179-5036-4446-AD0F-8A2B0CE1BCDE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xfrm>
            <a:off x="839788" y="365125"/>
            <a:ext cx="10515600" cy="1325563"/>
          </a:xfrm>
          <a:ln>
            <a:headEnd type="none"/>
            <a:tailEnd type="none"/>
          </a:ln>
        </p:spPr>
        <p:txBody>
          <a:bodyPr wrap="square"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xfrm>
            <a:off x="839788" y="1681163"/>
            <a:ext cx="5157787" cy="823912"/>
          </a:xfrm>
          <a:ln>
            <a:headEnd type="none"/>
            <a:tailEnd type="none"/>
          </a:ln>
        </p:spPr>
        <p:txBody>
          <a:bodyPr wrap="square" anchor="b"/>
          <a:lstStyle>
            <a:lvl1pPr marL="0" indent="0">
              <a:buNone/>
              <a:defRPr sz="2400" b="1" dirty="0"/>
            </a:lvl1pPr>
            <a:lvl2pPr marL="457200" indent="0">
              <a:buNone/>
              <a:defRPr sz="2000" b="1" dirty="0"/>
            </a:lvl2pPr>
            <a:lvl3pPr marL="914400" indent="0">
              <a:buNone/>
              <a:defRPr sz="1800" b="1" dirty="0"/>
            </a:lvl3pPr>
            <a:lvl4pPr marL="1371600" indent="0">
              <a:buNone/>
              <a:defRPr sz="1600" b="1" dirty="0"/>
            </a:lvl4pPr>
            <a:lvl5pPr marL="1828800" indent="0">
              <a:buNone/>
              <a:defRPr sz="1600" b="1" dirty="0"/>
            </a:lvl5pPr>
            <a:lvl6pPr marL="2286000" indent="0">
              <a:buNone/>
              <a:defRPr sz="1600" b="1" dirty="0"/>
            </a:lvl6pPr>
            <a:lvl7pPr marL="2743200" indent="0">
              <a:buNone/>
              <a:defRPr sz="1600" b="1" dirty="0"/>
            </a:lvl7pPr>
            <a:lvl8pPr marL="3200400" indent="0">
              <a:buNone/>
              <a:defRPr sz="1600" b="1" dirty="0"/>
            </a:lvl8pPr>
            <a:lvl9pPr marL="3657600" indent="0">
              <a:buNone/>
              <a:defRPr sz="1600" b="1" dirty="0"/>
            </a:lvl9pPr>
          </a:lstStyle>
          <a:p>
            <a:r>
              <a:rPr lang="en-GB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white">
          <a:xfrm>
            <a:off x="839788" y="2505075"/>
            <a:ext cx="5157787" cy="3684588"/>
          </a:xfrm>
          <a:ln>
            <a:headEnd type="none"/>
            <a:tailEnd type="none"/>
          </a:ln>
        </p:spPr>
        <p:txBody>
          <a:bodyPr wrap="square"/>
          <a:lstStyle/>
          <a:p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 bwMode="white">
          <a:xfrm>
            <a:off x="6172200" y="1681163"/>
            <a:ext cx="5183188" cy="823912"/>
          </a:xfrm>
          <a:ln>
            <a:headEnd type="none"/>
            <a:tailEnd type="none"/>
          </a:ln>
        </p:spPr>
        <p:txBody>
          <a:bodyPr wrap="square" anchor="b"/>
          <a:lstStyle>
            <a:lvl1pPr marL="0" indent="0">
              <a:buNone/>
              <a:defRPr sz="2400" b="1" dirty="0"/>
            </a:lvl1pPr>
            <a:lvl2pPr marL="457200" indent="0">
              <a:buNone/>
              <a:defRPr sz="2000" b="1" dirty="0"/>
            </a:lvl2pPr>
            <a:lvl3pPr marL="914400" indent="0">
              <a:buNone/>
              <a:defRPr sz="1800" b="1" dirty="0"/>
            </a:lvl3pPr>
            <a:lvl4pPr marL="1371600" indent="0">
              <a:buNone/>
              <a:defRPr sz="1600" b="1" dirty="0"/>
            </a:lvl4pPr>
            <a:lvl5pPr marL="1828800" indent="0">
              <a:buNone/>
              <a:defRPr sz="1600" b="1" dirty="0"/>
            </a:lvl5pPr>
            <a:lvl6pPr marL="2286000" indent="0">
              <a:buNone/>
              <a:defRPr sz="1600" b="1" dirty="0"/>
            </a:lvl6pPr>
            <a:lvl7pPr marL="2743200" indent="0">
              <a:buNone/>
              <a:defRPr sz="1600" b="1" dirty="0"/>
            </a:lvl7pPr>
            <a:lvl8pPr marL="3200400" indent="0">
              <a:buNone/>
              <a:defRPr sz="1600" b="1" dirty="0"/>
            </a:lvl8pPr>
            <a:lvl9pPr marL="3657600" indent="0">
              <a:buNone/>
              <a:defRPr sz="1600" b="1" dirty="0"/>
            </a:lvl9pPr>
          </a:lstStyle>
          <a:p>
            <a:r>
              <a:rPr lang="en-GB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 bwMode="white">
          <a:xfrm>
            <a:off x="6172200" y="2505075"/>
            <a:ext cx="5183188" cy="3684588"/>
          </a:xfrm>
          <a:ln>
            <a:headEnd type="none"/>
            <a:tailEnd type="none"/>
          </a:ln>
        </p:spPr>
        <p:txBody>
          <a:bodyPr wrap="square"/>
          <a:lstStyle/>
          <a:p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CF5C660C-50E5-B242-B3EF-2B7C8DA67512}" type="datetimeFigureOut">
              <a:rPr lang="en-US" dirty="0"/>
              <a:t>10/28/2025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5D2F179-5036-4446-AD0F-8A2B0CE1BCDE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CF5C660C-50E5-B242-B3EF-2B7C8DA67512}" type="datetimeFigureOut">
              <a:rPr lang="en-US" dirty="0"/>
              <a:t>10/28/2025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5D2F179-5036-4446-AD0F-8A2B0CE1BCDE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CF5C660C-50E5-B242-B3EF-2B7C8DA67512}" type="datetimeFigureOut">
              <a:rPr lang="en-US" dirty="0"/>
              <a:t>10/28/2025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5D2F179-5036-4446-AD0F-8A2B0CE1BCDE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xfrm>
            <a:off x="839788" y="457200"/>
            <a:ext cx="3932237" cy="1600200"/>
          </a:xfrm>
          <a:ln>
            <a:headEnd type="none"/>
            <a:tailEnd type="none"/>
          </a:ln>
        </p:spPr>
        <p:txBody>
          <a:bodyPr wrap="square" anchor="b"/>
          <a:lstStyle>
            <a:lvl1pPr>
              <a:defRPr sz="3200" dirty="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white">
          <a:xfrm>
            <a:off x="5183188" y="987425"/>
            <a:ext cx="6172200" cy="4873625"/>
          </a:xfrm>
          <a:ln>
            <a:headEnd type="none"/>
            <a:tailEnd type="none"/>
          </a:ln>
        </p:spPr>
        <p:txBody>
          <a:bodyPr wrap="square"/>
          <a:lstStyle>
            <a:lvl1pPr>
              <a:defRPr sz="3200" dirty="0"/>
            </a:lvl1pPr>
            <a:lvl2pPr>
              <a:defRPr sz="2800" dirty="0"/>
            </a:lvl2pPr>
            <a:lvl3pPr>
              <a:defRPr sz="2400" dirty="0"/>
            </a:lvl3pPr>
            <a:lvl4pPr>
              <a:defRPr sz="2000" dirty="0"/>
            </a:lvl4pPr>
            <a:lvl5pPr>
              <a:defRPr sz="2000" dirty="0"/>
            </a:lvl5pPr>
            <a:lvl6pPr>
              <a:defRPr sz="2000" dirty="0"/>
            </a:lvl6pPr>
            <a:lvl7pPr>
              <a:defRPr sz="2000" dirty="0"/>
            </a:lvl7pPr>
            <a:lvl8pPr>
              <a:defRPr sz="2000" dirty="0"/>
            </a:lvl8pPr>
            <a:lvl9pPr>
              <a:defRPr sz="2000" dirty="0"/>
            </a:lvl9pPr>
          </a:lstStyle>
          <a:p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white">
          <a:xfrm>
            <a:off x="839788" y="2057400"/>
            <a:ext cx="3932237" cy="3811588"/>
          </a:xfrm>
          <a:ln>
            <a:headEnd type="none"/>
            <a:tailEnd type="none"/>
          </a:ln>
        </p:spPr>
        <p:txBody>
          <a:bodyPr wrap="square"/>
          <a:lstStyle>
            <a:lvl1pPr marL="0" indent="0">
              <a:buNone/>
              <a:defRPr sz="1600" dirty="0"/>
            </a:lvl1pPr>
            <a:lvl2pPr marL="457200" indent="0">
              <a:buNone/>
              <a:defRPr sz="1400" dirty="0"/>
            </a:lvl2pPr>
            <a:lvl3pPr marL="914400" indent="0">
              <a:buNone/>
              <a:defRPr sz="1200" dirty="0"/>
            </a:lvl3pPr>
            <a:lvl4pPr marL="1371600" indent="0">
              <a:buNone/>
              <a:defRPr sz="1000" dirty="0"/>
            </a:lvl4pPr>
            <a:lvl5pPr marL="1828800" indent="0">
              <a:buNone/>
              <a:defRPr sz="1000" dirty="0"/>
            </a:lvl5pPr>
            <a:lvl6pPr marL="2286000" indent="0">
              <a:buNone/>
              <a:defRPr sz="1000" dirty="0"/>
            </a:lvl6pPr>
            <a:lvl7pPr marL="2743200" indent="0">
              <a:buNone/>
              <a:defRPr sz="1000" dirty="0"/>
            </a:lvl7pPr>
            <a:lvl8pPr marL="3200400" indent="0">
              <a:buNone/>
              <a:defRPr sz="1000" dirty="0"/>
            </a:lvl8pPr>
            <a:lvl9pPr marL="3657600" indent="0">
              <a:buNone/>
              <a:defRPr sz="1000" dirty="0"/>
            </a:lvl9pPr>
          </a:lstStyle>
          <a:p>
            <a:r>
              <a:rPr lang="en-GB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CF5C660C-50E5-B242-B3EF-2B7C8DA67512}" type="datetimeFigureOut">
              <a:rPr lang="en-US" dirty="0"/>
              <a:t>10/28/2025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5D2F179-5036-4446-AD0F-8A2B0CE1BCDE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xfrm>
            <a:off x="839788" y="457200"/>
            <a:ext cx="3932237" cy="1600200"/>
          </a:xfrm>
          <a:ln>
            <a:headEnd type="none"/>
            <a:tailEnd type="none"/>
          </a:ln>
        </p:spPr>
        <p:txBody>
          <a:bodyPr wrap="square" anchor="b"/>
          <a:lstStyle>
            <a:lvl1pPr>
              <a:defRPr sz="3200" dirty="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 bwMode="white">
          <a:xfrm>
            <a:off x="5183188" y="987425"/>
            <a:ext cx="6172200" cy="4873625"/>
          </a:xfrm>
          <a:ln>
            <a:headEnd type="none"/>
            <a:tailEnd type="none"/>
          </a:ln>
        </p:spPr>
        <p:txBody>
          <a:bodyPr wrap="square" anchor="t"/>
          <a:lstStyle>
            <a:lvl1pPr marL="0" indent="0">
              <a:buNone/>
              <a:defRPr sz="3200" dirty="0"/>
            </a:lvl1pPr>
            <a:lvl2pPr marL="457200" indent="0">
              <a:buNone/>
              <a:defRPr sz="2800" dirty="0"/>
            </a:lvl2pPr>
            <a:lvl3pPr marL="914400" indent="0">
              <a:buNone/>
              <a:defRPr sz="2400" dirty="0"/>
            </a:lvl3pPr>
            <a:lvl4pPr marL="1371600" indent="0">
              <a:buNone/>
              <a:defRPr sz="2000" dirty="0"/>
            </a:lvl4pPr>
            <a:lvl5pPr marL="1828800" indent="0">
              <a:buNone/>
              <a:defRPr sz="2000" dirty="0"/>
            </a:lvl5pPr>
            <a:lvl6pPr marL="2286000" indent="0">
              <a:buNone/>
              <a:defRPr sz="2000" dirty="0"/>
            </a:lvl6pPr>
            <a:lvl7pPr marL="2743200" indent="0">
              <a:buNone/>
              <a:defRPr sz="2000" dirty="0"/>
            </a:lvl7pPr>
            <a:lvl8pPr marL="3200400" indent="0">
              <a:buNone/>
              <a:defRPr sz="2000" dirty="0"/>
            </a:lvl8pPr>
            <a:lvl9pPr marL="3657600" indent="0">
              <a:buNone/>
              <a:defRPr sz="2000" dirty="0"/>
            </a:lvl9pPr>
          </a:lstStyle>
          <a:p>
            <a:r>
              <a:rPr lang="en-GB" dirty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white">
          <a:xfrm>
            <a:off x="839788" y="2057400"/>
            <a:ext cx="3932237" cy="3811588"/>
          </a:xfrm>
          <a:ln>
            <a:headEnd type="none"/>
            <a:tailEnd type="none"/>
          </a:ln>
        </p:spPr>
        <p:txBody>
          <a:bodyPr wrap="square"/>
          <a:lstStyle>
            <a:lvl1pPr marL="0" indent="0">
              <a:buNone/>
              <a:defRPr sz="1600" dirty="0"/>
            </a:lvl1pPr>
            <a:lvl2pPr marL="457200" indent="0">
              <a:buNone/>
              <a:defRPr sz="1400" dirty="0"/>
            </a:lvl2pPr>
            <a:lvl3pPr marL="914400" indent="0">
              <a:buNone/>
              <a:defRPr sz="1200" dirty="0"/>
            </a:lvl3pPr>
            <a:lvl4pPr marL="1371600" indent="0">
              <a:buNone/>
              <a:defRPr sz="1000" dirty="0"/>
            </a:lvl4pPr>
            <a:lvl5pPr marL="1828800" indent="0">
              <a:buNone/>
              <a:defRPr sz="1000" dirty="0"/>
            </a:lvl5pPr>
            <a:lvl6pPr marL="2286000" indent="0">
              <a:buNone/>
              <a:defRPr sz="1000" dirty="0"/>
            </a:lvl6pPr>
            <a:lvl7pPr marL="2743200" indent="0">
              <a:buNone/>
              <a:defRPr sz="1000" dirty="0"/>
            </a:lvl7pPr>
            <a:lvl8pPr marL="3200400" indent="0">
              <a:buNone/>
              <a:defRPr sz="1000" dirty="0"/>
            </a:lvl8pPr>
            <a:lvl9pPr marL="3657600" indent="0">
              <a:buNone/>
              <a:defRPr sz="1000" dirty="0"/>
            </a:lvl9pPr>
          </a:lstStyle>
          <a:p>
            <a:r>
              <a:rPr lang="en-GB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CF5C660C-50E5-B242-B3EF-2B7C8DA67512}" type="datetimeFigureOut">
              <a:rPr lang="en-US" dirty="0"/>
              <a:t>10/28/2025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5D2F179-5036-4446-AD0F-8A2B0CE1BCDE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white">
          <a:ln>
            <a:headEnd type="none"/>
            <a:tailEnd type="none"/>
          </a:ln>
        </p:spPr>
        <p:txBody>
          <a:bodyPr vert="eaVert" wrap="square"/>
          <a:lstStyle/>
          <a:p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CF5C660C-50E5-B242-B3EF-2B7C8DA67512}" type="datetimeFigureOut">
              <a:rPr lang="en-US" dirty="0"/>
              <a:t>10/28/2025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5D2F179-5036-4446-AD0F-8A2B0CE1BCDE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 bwMode="white">
          <a:xfrm>
            <a:off x="8724900" y="365125"/>
            <a:ext cx="2628900" cy="5811838"/>
          </a:xfrm>
          <a:ln>
            <a:headEnd type="none"/>
            <a:tailEnd type="none"/>
          </a:ln>
        </p:spPr>
        <p:txBody>
          <a:bodyPr vert="eaVert" wrap="square"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white">
          <a:xfrm>
            <a:off x="838200" y="365125"/>
            <a:ext cx="7734300" cy="5811838"/>
          </a:xfrm>
          <a:ln>
            <a:headEnd type="none"/>
            <a:tailEnd type="none"/>
          </a:ln>
        </p:spPr>
        <p:txBody>
          <a:bodyPr vert="eaVert" wrap="square"/>
          <a:lstStyle/>
          <a:p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CF5C660C-50E5-B242-B3EF-2B7C8DA67512}" type="datetimeFigureOut">
              <a:rPr lang="en-US" dirty="0"/>
              <a:t>10/28/2025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5D2F179-5036-4446-AD0F-8A2B0CE1BCDE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white">
          <a:xfrm>
            <a:off x="838200" y="365125"/>
            <a:ext cx="10515600" cy="1325563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91440" tIns="45720" rIns="91440" bIns="4572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xfrm>
            <a:off x="838200" y="1825625"/>
            <a:ext cx="10515600" cy="4351338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91440" tIns="45720" rIns="91440" bIns="45720">
            <a:normAutofit/>
          </a:bodyPr>
          <a:lstStyle/>
          <a:p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 bwMode="white">
          <a:xfrm>
            <a:off x="838200" y="6356350"/>
            <a:ext cx="2743200" cy="365125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91440" tIns="45720" rIns="91440" bIns="45720" anchor="ctr"/>
          <a:lstStyle>
            <a:lvl1pPr algn="l">
              <a:defRPr sz="1200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5C660C-50E5-B242-B3EF-2B7C8DA67512}" type="datetimeFigureOut">
              <a:rPr lang="en-US" dirty="0"/>
              <a:t>10/28/2025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 bwMode="white">
          <a:xfrm>
            <a:off x="4038600" y="6356350"/>
            <a:ext cx="4114800" cy="365125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91440" tIns="45720" rIns="91440" bIns="45720" anchor="ctr"/>
          <a:lstStyle>
            <a:lvl1pPr algn="ctr">
              <a:defRPr sz="1200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white">
          <a:xfrm>
            <a:off x="8610600" y="6356350"/>
            <a:ext cx="2743200" cy="365125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91440" tIns="45720" rIns="91440" bIns="45720" anchor="ctr"/>
          <a:lstStyle>
            <a:lvl1pPr algn="r">
              <a:defRPr sz="1200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D2F179-5036-4446-AD0F-8A2B0CE1BCDE}" type="slidenum">
              <a:rPr lang="en-US" dirty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>
        <a:lnSpc>
          <a:spcPct val="90000"/>
        </a:lnSpc>
        <a:spcBef>
          <a:spcPct val="0"/>
        </a:spcBef>
        <a:buNone/>
        <a:defRPr sz="4400" kern="1200" dirty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 defTabSz="914400">
        <a:defRPr lang="en-US" dirty="0"/>
      </a:defPPr>
      <a:lvl1pPr marL="0" algn="l" defTabSz="914400" rtl="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hyperlink" Target="https://idpowertoys.com/" TargetMode="Externa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svg"/><Relationship Id="rId26" Type="http://schemas.openxmlformats.org/officeDocument/2006/relationships/image" Target="../media/image25.svg"/><Relationship Id="rId39" Type="http://schemas.openxmlformats.org/officeDocument/2006/relationships/image" Target="../media/image38.png"/><Relationship Id="rId21" Type="http://schemas.openxmlformats.org/officeDocument/2006/relationships/image" Target="../media/image20.png"/><Relationship Id="rId34" Type="http://schemas.openxmlformats.org/officeDocument/2006/relationships/image" Target="../media/image33.svg"/><Relationship Id="rId42" Type="http://schemas.openxmlformats.org/officeDocument/2006/relationships/image" Target="../media/image41.svg"/><Relationship Id="rId47" Type="http://schemas.openxmlformats.org/officeDocument/2006/relationships/image" Target="../media/image46.svg"/><Relationship Id="rId50" Type="http://schemas.openxmlformats.org/officeDocument/2006/relationships/image" Target="../media/image49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5.svg"/><Relationship Id="rId29" Type="http://schemas.openxmlformats.org/officeDocument/2006/relationships/image" Target="../media/image28.png"/><Relationship Id="rId11" Type="http://schemas.openxmlformats.org/officeDocument/2006/relationships/image" Target="../media/image10.png"/><Relationship Id="rId24" Type="http://schemas.openxmlformats.org/officeDocument/2006/relationships/image" Target="../media/image23.svg"/><Relationship Id="rId32" Type="http://schemas.openxmlformats.org/officeDocument/2006/relationships/image" Target="../media/image31.svg"/><Relationship Id="rId37" Type="http://schemas.openxmlformats.org/officeDocument/2006/relationships/image" Target="../media/image36.png"/><Relationship Id="rId40" Type="http://schemas.openxmlformats.org/officeDocument/2006/relationships/image" Target="../media/image39.svg"/><Relationship Id="rId45" Type="http://schemas.openxmlformats.org/officeDocument/2006/relationships/image" Target="../media/image44.png"/><Relationship Id="rId53" Type="http://schemas.openxmlformats.org/officeDocument/2006/relationships/image" Target="../media/image52.svg"/><Relationship Id="rId5" Type="http://schemas.openxmlformats.org/officeDocument/2006/relationships/image" Target="../media/image6.png"/><Relationship Id="rId10" Type="http://schemas.openxmlformats.org/officeDocument/2006/relationships/image" Target="../media/image9.sv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4" Type="http://schemas.openxmlformats.org/officeDocument/2006/relationships/image" Target="../media/image43.svg"/><Relationship Id="rId52" Type="http://schemas.openxmlformats.org/officeDocument/2006/relationships/image" Target="../media/image51.png"/><Relationship Id="rId4" Type="http://schemas.openxmlformats.org/officeDocument/2006/relationships/image" Target="../media/image5.svg"/><Relationship Id="rId9" Type="http://schemas.openxmlformats.org/officeDocument/2006/relationships/image" Target="../media/image8.png"/><Relationship Id="rId14" Type="http://schemas.openxmlformats.org/officeDocument/2006/relationships/image" Target="../media/image13.svg"/><Relationship Id="rId22" Type="http://schemas.openxmlformats.org/officeDocument/2006/relationships/image" Target="../media/image21.svg"/><Relationship Id="rId27" Type="http://schemas.openxmlformats.org/officeDocument/2006/relationships/image" Target="../media/image26.png"/><Relationship Id="rId30" Type="http://schemas.openxmlformats.org/officeDocument/2006/relationships/image" Target="../media/image29.svg"/><Relationship Id="rId35" Type="http://schemas.openxmlformats.org/officeDocument/2006/relationships/image" Target="../media/image34.png"/><Relationship Id="rId43" Type="http://schemas.openxmlformats.org/officeDocument/2006/relationships/image" Target="../media/image42.png"/><Relationship Id="rId48" Type="http://schemas.openxmlformats.org/officeDocument/2006/relationships/image" Target="../media/image47.png"/><Relationship Id="rId8" Type="http://schemas.openxmlformats.org/officeDocument/2006/relationships/image" Target="../media/image2.svg"/><Relationship Id="rId51" Type="http://schemas.openxmlformats.org/officeDocument/2006/relationships/image" Target="../media/image50.svg"/><Relationship Id="rId3" Type="http://schemas.openxmlformats.org/officeDocument/2006/relationships/image" Target="../media/image4.png"/><Relationship Id="rId12" Type="http://schemas.openxmlformats.org/officeDocument/2006/relationships/image" Target="../media/image11.sv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38" Type="http://schemas.openxmlformats.org/officeDocument/2006/relationships/image" Target="../media/image37.svg"/><Relationship Id="rId46" Type="http://schemas.openxmlformats.org/officeDocument/2006/relationships/image" Target="../media/image45.svg"/><Relationship Id="rId20" Type="http://schemas.openxmlformats.org/officeDocument/2006/relationships/image" Target="../media/image19.svg"/><Relationship Id="rId41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svg"/><Relationship Id="rId36" Type="http://schemas.openxmlformats.org/officeDocument/2006/relationships/image" Target="../media/image35.svg"/><Relationship Id="rId49" Type="http://schemas.openxmlformats.org/officeDocument/2006/relationships/image" Target="../media/image48.svg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svg"/><Relationship Id="rId26" Type="http://schemas.openxmlformats.org/officeDocument/2006/relationships/image" Target="../media/image25.svg"/><Relationship Id="rId39" Type="http://schemas.openxmlformats.org/officeDocument/2006/relationships/image" Target="../media/image38.png"/><Relationship Id="rId21" Type="http://schemas.openxmlformats.org/officeDocument/2006/relationships/image" Target="../media/image20.png"/><Relationship Id="rId34" Type="http://schemas.openxmlformats.org/officeDocument/2006/relationships/image" Target="../media/image33.svg"/><Relationship Id="rId42" Type="http://schemas.openxmlformats.org/officeDocument/2006/relationships/image" Target="../media/image41.svg"/><Relationship Id="rId47" Type="http://schemas.openxmlformats.org/officeDocument/2006/relationships/image" Target="../media/image46.svg"/><Relationship Id="rId50" Type="http://schemas.openxmlformats.org/officeDocument/2006/relationships/image" Target="../media/image49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5.svg"/><Relationship Id="rId29" Type="http://schemas.openxmlformats.org/officeDocument/2006/relationships/image" Target="../media/image28.png"/><Relationship Id="rId11" Type="http://schemas.openxmlformats.org/officeDocument/2006/relationships/image" Target="../media/image10.png"/><Relationship Id="rId24" Type="http://schemas.openxmlformats.org/officeDocument/2006/relationships/image" Target="../media/image23.svg"/><Relationship Id="rId32" Type="http://schemas.openxmlformats.org/officeDocument/2006/relationships/image" Target="../media/image31.svg"/><Relationship Id="rId37" Type="http://schemas.openxmlformats.org/officeDocument/2006/relationships/image" Target="../media/image36.png"/><Relationship Id="rId40" Type="http://schemas.openxmlformats.org/officeDocument/2006/relationships/image" Target="../media/image39.svg"/><Relationship Id="rId45" Type="http://schemas.openxmlformats.org/officeDocument/2006/relationships/image" Target="../media/image44.png"/><Relationship Id="rId53" Type="http://schemas.openxmlformats.org/officeDocument/2006/relationships/image" Target="../media/image52.svg"/><Relationship Id="rId5" Type="http://schemas.openxmlformats.org/officeDocument/2006/relationships/image" Target="../media/image6.png"/><Relationship Id="rId10" Type="http://schemas.openxmlformats.org/officeDocument/2006/relationships/image" Target="../media/image9.sv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4" Type="http://schemas.openxmlformats.org/officeDocument/2006/relationships/image" Target="../media/image43.svg"/><Relationship Id="rId52" Type="http://schemas.openxmlformats.org/officeDocument/2006/relationships/image" Target="../media/image51.png"/><Relationship Id="rId4" Type="http://schemas.openxmlformats.org/officeDocument/2006/relationships/image" Target="../media/image5.svg"/><Relationship Id="rId9" Type="http://schemas.openxmlformats.org/officeDocument/2006/relationships/image" Target="../media/image8.png"/><Relationship Id="rId14" Type="http://schemas.openxmlformats.org/officeDocument/2006/relationships/image" Target="../media/image13.svg"/><Relationship Id="rId22" Type="http://schemas.openxmlformats.org/officeDocument/2006/relationships/image" Target="../media/image21.svg"/><Relationship Id="rId27" Type="http://schemas.openxmlformats.org/officeDocument/2006/relationships/image" Target="../media/image26.png"/><Relationship Id="rId30" Type="http://schemas.openxmlformats.org/officeDocument/2006/relationships/image" Target="../media/image29.svg"/><Relationship Id="rId35" Type="http://schemas.openxmlformats.org/officeDocument/2006/relationships/image" Target="../media/image34.png"/><Relationship Id="rId43" Type="http://schemas.openxmlformats.org/officeDocument/2006/relationships/image" Target="../media/image42.png"/><Relationship Id="rId48" Type="http://schemas.openxmlformats.org/officeDocument/2006/relationships/image" Target="../media/image47.png"/><Relationship Id="rId8" Type="http://schemas.openxmlformats.org/officeDocument/2006/relationships/image" Target="../media/image2.svg"/><Relationship Id="rId51" Type="http://schemas.openxmlformats.org/officeDocument/2006/relationships/image" Target="../media/image50.svg"/><Relationship Id="rId3" Type="http://schemas.openxmlformats.org/officeDocument/2006/relationships/image" Target="../media/image4.png"/><Relationship Id="rId12" Type="http://schemas.openxmlformats.org/officeDocument/2006/relationships/image" Target="../media/image11.sv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38" Type="http://schemas.openxmlformats.org/officeDocument/2006/relationships/image" Target="../media/image37.svg"/><Relationship Id="rId46" Type="http://schemas.openxmlformats.org/officeDocument/2006/relationships/image" Target="../media/image45.svg"/><Relationship Id="rId20" Type="http://schemas.openxmlformats.org/officeDocument/2006/relationships/image" Target="../media/image19.svg"/><Relationship Id="rId41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svg"/><Relationship Id="rId36" Type="http://schemas.openxmlformats.org/officeDocument/2006/relationships/image" Target="../media/image35.svg"/><Relationship Id="rId49" Type="http://schemas.openxmlformats.org/officeDocument/2006/relationships/image" Target="../media/image48.svg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svg"/><Relationship Id="rId26" Type="http://schemas.openxmlformats.org/officeDocument/2006/relationships/image" Target="../media/image25.svg"/><Relationship Id="rId39" Type="http://schemas.openxmlformats.org/officeDocument/2006/relationships/image" Target="../media/image38.png"/><Relationship Id="rId21" Type="http://schemas.openxmlformats.org/officeDocument/2006/relationships/image" Target="../media/image20.png"/><Relationship Id="rId34" Type="http://schemas.openxmlformats.org/officeDocument/2006/relationships/image" Target="../media/image33.svg"/><Relationship Id="rId42" Type="http://schemas.openxmlformats.org/officeDocument/2006/relationships/image" Target="../media/image41.svg"/><Relationship Id="rId47" Type="http://schemas.openxmlformats.org/officeDocument/2006/relationships/image" Target="../media/image46.svg"/><Relationship Id="rId50" Type="http://schemas.openxmlformats.org/officeDocument/2006/relationships/image" Target="../media/image49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5.svg"/><Relationship Id="rId29" Type="http://schemas.openxmlformats.org/officeDocument/2006/relationships/image" Target="../media/image28.png"/><Relationship Id="rId11" Type="http://schemas.openxmlformats.org/officeDocument/2006/relationships/image" Target="../media/image10.png"/><Relationship Id="rId24" Type="http://schemas.openxmlformats.org/officeDocument/2006/relationships/image" Target="../media/image23.svg"/><Relationship Id="rId32" Type="http://schemas.openxmlformats.org/officeDocument/2006/relationships/image" Target="../media/image31.svg"/><Relationship Id="rId37" Type="http://schemas.openxmlformats.org/officeDocument/2006/relationships/image" Target="../media/image36.png"/><Relationship Id="rId40" Type="http://schemas.openxmlformats.org/officeDocument/2006/relationships/image" Target="../media/image39.svg"/><Relationship Id="rId45" Type="http://schemas.openxmlformats.org/officeDocument/2006/relationships/image" Target="../media/image44.png"/><Relationship Id="rId53" Type="http://schemas.openxmlformats.org/officeDocument/2006/relationships/image" Target="../media/image52.svg"/><Relationship Id="rId5" Type="http://schemas.openxmlformats.org/officeDocument/2006/relationships/image" Target="../media/image6.png"/><Relationship Id="rId10" Type="http://schemas.openxmlformats.org/officeDocument/2006/relationships/image" Target="../media/image9.sv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4" Type="http://schemas.openxmlformats.org/officeDocument/2006/relationships/image" Target="../media/image43.svg"/><Relationship Id="rId52" Type="http://schemas.openxmlformats.org/officeDocument/2006/relationships/image" Target="../media/image51.png"/><Relationship Id="rId4" Type="http://schemas.openxmlformats.org/officeDocument/2006/relationships/image" Target="../media/image5.svg"/><Relationship Id="rId9" Type="http://schemas.openxmlformats.org/officeDocument/2006/relationships/image" Target="../media/image8.png"/><Relationship Id="rId14" Type="http://schemas.openxmlformats.org/officeDocument/2006/relationships/image" Target="../media/image13.svg"/><Relationship Id="rId22" Type="http://schemas.openxmlformats.org/officeDocument/2006/relationships/image" Target="../media/image21.svg"/><Relationship Id="rId27" Type="http://schemas.openxmlformats.org/officeDocument/2006/relationships/image" Target="../media/image26.png"/><Relationship Id="rId30" Type="http://schemas.openxmlformats.org/officeDocument/2006/relationships/image" Target="../media/image29.svg"/><Relationship Id="rId35" Type="http://schemas.openxmlformats.org/officeDocument/2006/relationships/image" Target="../media/image34.png"/><Relationship Id="rId43" Type="http://schemas.openxmlformats.org/officeDocument/2006/relationships/image" Target="../media/image42.png"/><Relationship Id="rId48" Type="http://schemas.openxmlformats.org/officeDocument/2006/relationships/image" Target="../media/image47.png"/><Relationship Id="rId8" Type="http://schemas.openxmlformats.org/officeDocument/2006/relationships/image" Target="../media/image2.svg"/><Relationship Id="rId51" Type="http://schemas.openxmlformats.org/officeDocument/2006/relationships/image" Target="../media/image50.svg"/><Relationship Id="rId3" Type="http://schemas.openxmlformats.org/officeDocument/2006/relationships/image" Target="../media/image4.png"/><Relationship Id="rId12" Type="http://schemas.openxmlformats.org/officeDocument/2006/relationships/image" Target="../media/image11.sv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38" Type="http://schemas.openxmlformats.org/officeDocument/2006/relationships/image" Target="../media/image37.svg"/><Relationship Id="rId46" Type="http://schemas.openxmlformats.org/officeDocument/2006/relationships/image" Target="../media/image45.svg"/><Relationship Id="rId20" Type="http://schemas.openxmlformats.org/officeDocument/2006/relationships/image" Target="../media/image19.svg"/><Relationship Id="rId41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svg"/><Relationship Id="rId36" Type="http://schemas.openxmlformats.org/officeDocument/2006/relationships/image" Target="../media/image35.svg"/><Relationship Id="rId49" Type="http://schemas.openxmlformats.org/officeDocument/2006/relationships/image" Target="../media/image48.svg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svg"/><Relationship Id="rId26" Type="http://schemas.openxmlformats.org/officeDocument/2006/relationships/image" Target="../media/image25.svg"/><Relationship Id="rId39" Type="http://schemas.openxmlformats.org/officeDocument/2006/relationships/image" Target="../media/image38.png"/><Relationship Id="rId21" Type="http://schemas.openxmlformats.org/officeDocument/2006/relationships/image" Target="../media/image20.png"/><Relationship Id="rId34" Type="http://schemas.openxmlformats.org/officeDocument/2006/relationships/image" Target="../media/image33.svg"/><Relationship Id="rId42" Type="http://schemas.openxmlformats.org/officeDocument/2006/relationships/image" Target="../media/image41.svg"/><Relationship Id="rId47" Type="http://schemas.openxmlformats.org/officeDocument/2006/relationships/image" Target="../media/image46.svg"/><Relationship Id="rId50" Type="http://schemas.openxmlformats.org/officeDocument/2006/relationships/image" Target="../media/image49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15.svg"/><Relationship Id="rId29" Type="http://schemas.openxmlformats.org/officeDocument/2006/relationships/image" Target="../media/image28.png"/><Relationship Id="rId11" Type="http://schemas.openxmlformats.org/officeDocument/2006/relationships/image" Target="../media/image10.png"/><Relationship Id="rId24" Type="http://schemas.openxmlformats.org/officeDocument/2006/relationships/image" Target="../media/image23.svg"/><Relationship Id="rId32" Type="http://schemas.openxmlformats.org/officeDocument/2006/relationships/image" Target="../media/image31.svg"/><Relationship Id="rId37" Type="http://schemas.openxmlformats.org/officeDocument/2006/relationships/image" Target="../media/image36.png"/><Relationship Id="rId40" Type="http://schemas.openxmlformats.org/officeDocument/2006/relationships/image" Target="../media/image39.svg"/><Relationship Id="rId45" Type="http://schemas.openxmlformats.org/officeDocument/2006/relationships/image" Target="../media/image44.png"/><Relationship Id="rId53" Type="http://schemas.openxmlformats.org/officeDocument/2006/relationships/image" Target="../media/image52.svg"/><Relationship Id="rId5" Type="http://schemas.openxmlformats.org/officeDocument/2006/relationships/image" Target="../media/image6.png"/><Relationship Id="rId10" Type="http://schemas.openxmlformats.org/officeDocument/2006/relationships/image" Target="../media/image9.sv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4" Type="http://schemas.openxmlformats.org/officeDocument/2006/relationships/image" Target="../media/image43.svg"/><Relationship Id="rId52" Type="http://schemas.openxmlformats.org/officeDocument/2006/relationships/image" Target="../media/image51.png"/><Relationship Id="rId4" Type="http://schemas.openxmlformats.org/officeDocument/2006/relationships/image" Target="../media/image5.svg"/><Relationship Id="rId9" Type="http://schemas.openxmlformats.org/officeDocument/2006/relationships/image" Target="../media/image8.png"/><Relationship Id="rId14" Type="http://schemas.openxmlformats.org/officeDocument/2006/relationships/image" Target="../media/image13.svg"/><Relationship Id="rId22" Type="http://schemas.openxmlformats.org/officeDocument/2006/relationships/image" Target="../media/image21.svg"/><Relationship Id="rId27" Type="http://schemas.openxmlformats.org/officeDocument/2006/relationships/image" Target="../media/image26.png"/><Relationship Id="rId30" Type="http://schemas.openxmlformats.org/officeDocument/2006/relationships/image" Target="../media/image29.svg"/><Relationship Id="rId35" Type="http://schemas.openxmlformats.org/officeDocument/2006/relationships/image" Target="../media/image34.png"/><Relationship Id="rId43" Type="http://schemas.openxmlformats.org/officeDocument/2006/relationships/image" Target="../media/image42.png"/><Relationship Id="rId48" Type="http://schemas.openxmlformats.org/officeDocument/2006/relationships/image" Target="../media/image47.png"/><Relationship Id="rId8" Type="http://schemas.openxmlformats.org/officeDocument/2006/relationships/image" Target="../media/image2.svg"/><Relationship Id="rId51" Type="http://schemas.openxmlformats.org/officeDocument/2006/relationships/image" Target="../media/image50.svg"/><Relationship Id="rId3" Type="http://schemas.openxmlformats.org/officeDocument/2006/relationships/image" Target="../media/image4.png"/><Relationship Id="rId12" Type="http://schemas.openxmlformats.org/officeDocument/2006/relationships/image" Target="../media/image11.sv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38" Type="http://schemas.openxmlformats.org/officeDocument/2006/relationships/image" Target="../media/image37.svg"/><Relationship Id="rId46" Type="http://schemas.openxmlformats.org/officeDocument/2006/relationships/image" Target="../media/image45.svg"/><Relationship Id="rId20" Type="http://schemas.openxmlformats.org/officeDocument/2006/relationships/image" Target="../media/image19.svg"/><Relationship Id="rId41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svg"/><Relationship Id="rId36" Type="http://schemas.openxmlformats.org/officeDocument/2006/relationships/image" Target="../media/image35.svg"/><Relationship Id="rId49" Type="http://schemas.openxmlformats.org/officeDocument/2006/relationships/image" Target="../media/image48.svg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svg"/><Relationship Id="rId26" Type="http://schemas.openxmlformats.org/officeDocument/2006/relationships/image" Target="../media/image25.svg"/><Relationship Id="rId39" Type="http://schemas.openxmlformats.org/officeDocument/2006/relationships/image" Target="../media/image38.png"/><Relationship Id="rId21" Type="http://schemas.openxmlformats.org/officeDocument/2006/relationships/image" Target="../media/image20.png"/><Relationship Id="rId34" Type="http://schemas.openxmlformats.org/officeDocument/2006/relationships/image" Target="../media/image33.svg"/><Relationship Id="rId42" Type="http://schemas.openxmlformats.org/officeDocument/2006/relationships/image" Target="../media/image41.svg"/><Relationship Id="rId47" Type="http://schemas.openxmlformats.org/officeDocument/2006/relationships/image" Target="../media/image46.svg"/><Relationship Id="rId50" Type="http://schemas.openxmlformats.org/officeDocument/2006/relationships/image" Target="../media/image49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15.svg"/><Relationship Id="rId29" Type="http://schemas.openxmlformats.org/officeDocument/2006/relationships/image" Target="../media/image28.png"/><Relationship Id="rId11" Type="http://schemas.openxmlformats.org/officeDocument/2006/relationships/image" Target="../media/image10.png"/><Relationship Id="rId24" Type="http://schemas.openxmlformats.org/officeDocument/2006/relationships/image" Target="../media/image23.svg"/><Relationship Id="rId32" Type="http://schemas.openxmlformats.org/officeDocument/2006/relationships/image" Target="../media/image31.svg"/><Relationship Id="rId37" Type="http://schemas.openxmlformats.org/officeDocument/2006/relationships/image" Target="../media/image36.png"/><Relationship Id="rId40" Type="http://schemas.openxmlformats.org/officeDocument/2006/relationships/image" Target="../media/image39.svg"/><Relationship Id="rId45" Type="http://schemas.openxmlformats.org/officeDocument/2006/relationships/image" Target="../media/image44.png"/><Relationship Id="rId53" Type="http://schemas.openxmlformats.org/officeDocument/2006/relationships/image" Target="../media/image52.svg"/><Relationship Id="rId5" Type="http://schemas.openxmlformats.org/officeDocument/2006/relationships/image" Target="../media/image6.png"/><Relationship Id="rId10" Type="http://schemas.openxmlformats.org/officeDocument/2006/relationships/image" Target="../media/image9.sv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4" Type="http://schemas.openxmlformats.org/officeDocument/2006/relationships/image" Target="../media/image43.svg"/><Relationship Id="rId52" Type="http://schemas.openxmlformats.org/officeDocument/2006/relationships/image" Target="../media/image51.png"/><Relationship Id="rId4" Type="http://schemas.openxmlformats.org/officeDocument/2006/relationships/image" Target="../media/image5.svg"/><Relationship Id="rId9" Type="http://schemas.openxmlformats.org/officeDocument/2006/relationships/image" Target="../media/image8.png"/><Relationship Id="rId14" Type="http://schemas.openxmlformats.org/officeDocument/2006/relationships/image" Target="../media/image13.svg"/><Relationship Id="rId22" Type="http://schemas.openxmlformats.org/officeDocument/2006/relationships/image" Target="../media/image21.svg"/><Relationship Id="rId27" Type="http://schemas.openxmlformats.org/officeDocument/2006/relationships/image" Target="../media/image26.png"/><Relationship Id="rId30" Type="http://schemas.openxmlformats.org/officeDocument/2006/relationships/image" Target="../media/image29.svg"/><Relationship Id="rId35" Type="http://schemas.openxmlformats.org/officeDocument/2006/relationships/image" Target="../media/image34.png"/><Relationship Id="rId43" Type="http://schemas.openxmlformats.org/officeDocument/2006/relationships/image" Target="../media/image42.png"/><Relationship Id="rId48" Type="http://schemas.openxmlformats.org/officeDocument/2006/relationships/image" Target="../media/image47.png"/><Relationship Id="rId8" Type="http://schemas.openxmlformats.org/officeDocument/2006/relationships/image" Target="../media/image2.svg"/><Relationship Id="rId51" Type="http://schemas.openxmlformats.org/officeDocument/2006/relationships/image" Target="../media/image50.svg"/><Relationship Id="rId3" Type="http://schemas.openxmlformats.org/officeDocument/2006/relationships/image" Target="../media/image4.png"/><Relationship Id="rId12" Type="http://schemas.openxmlformats.org/officeDocument/2006/relationships/image" Target="../media/image11.sv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38" Type="http://schemas.openxmlformats.org/officeDocument/2006/relationships/image" Target="../media/image37.svg"/><Relationship Id="rId46" Type="http://schemas.openxmlformats.org/officeDocument/2006/relationships/image" Target="../media/image45.svg"/><Relationship Id="rId20" Type="http://schemas.openxmlformats.org/officeDocument/2006/relationships/image" Target="../media/image19.svg"/><Relationship Id="rId41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svg"/><Relationship Id="rId36" Type="http://schemas.openxmlformats.org/officeDocument/2006/relationships/image" Target="../media/image35.svg"/><Relationship Id="rId49" Type="http://schemas.openxmlformats.org/officeDocument/2006/relationships/image" Target="../media/image48.svg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svg"/><Relationship Id="rId26" Type="http://schemas.openxmlformats.org/officeDocument/2006/relationships/image" Target="../media/image25.svg"/><Relationship Id="rId39" Type="http://schemas.openxmlformats.org/officeDocument/2006/relationships/image" Target="../media/image38.png"/><Relationship Id="rId21" Type="http://schemas.openxmlformats.org/officeDocument/2006/relationships/image" Target="../media/image20.png"/><Relationship Id="rId34" Type="http://schemas.openxmlformats.org/officeDocument/2006/relationships/image" Target="../media/image33.svg"/><Relationship Id="rId42" Type="http://schemas.openxmlformats.org/officeDocument/2006/relationships/image" Target="../media/image41.svg"/><Relationship Id="rId47" Type="http://schemas.openxmlformats.org/officeDocument/2006/relationships/image" Target="../media/image46.svg"/><Relationship Id="rId50" Type="http://schemas.openxmlformats.org/officeDocument/2006/relationships/image" Target="../media/image49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15.svg"/><Relationship Id="rId29" Type="http://schemas.openxmlformats.org/officeDocument/2006/relationships/image" Target="../media/image28.png"/><Relationship Id="rId11" Type="http://schemas.openxmlformats.org/officeDocument/2006/relationships/image" Target="../media/image10.png"/><Relationship Id="rId24" Type="http://schemas.openxmlformats.org/officeDocument/2006/relationships/image" Target="../media/image23.svg"/><Relationship Id="rId32" Type="http://schemas.openxmlformats.org/officeDocument/2006/relationships/image" Target="../media/image31.svg"/><Relationship Id="rId37" Type="http://schemas.openxmlformats.org/officeDocument/2006/relationships/image" Target="../media/image36.png"/><Relationship Id="rId40" Type="http://schemas.openxmlformats.org/officeDocument/2006/relationships/image" Target="../media/image39.svg"/><Relationship Id="rId45" Type="http://schemas.openxmlformats.org/officeDocument/2006/relationships/image" Target="../media/image44.png"/><Relationship Id="rId53" Type="http://schemas.openxmlformats.org/officeDocument/2006/relationships/image" Target="../media/image52.svg"/><Relationship Id="rId5" Type="http://schemas.openxmlformats.org/officeDocument/2006/relationships/image" Target="../media/image6.png"/><Relationship Id="rId10" Type="http://schemas.openxmlformats.org/officeDocument/2006/relationships/image" Target="../media/image9.sv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4" Type="http://schemas.openxmlformats.org/officeDocument/2006/relationships/image" Target="../media/image43.svg"/><Relationship Id="rId52" Type="http://schemas.openxmlformats.org/officeDocument/2006/relationships/image" Target="../media/image51.png"/><Relationship Id="rId4" Type="http://schemas.openxmlformats.org/officeDocument/2006/relationships/image" Target="../media/image5.svg"/><Relationship Id="rId9" Type="http://schemas.openxmlformats.org/officeDocument/2006/relationships/image" Target="../media/image8.png"/><Relationship Id="rId14" Type="http://schemas.openxmlformats.org/officeDocument/2006/relationships/image" Target="../media/image13.svg"/><Relationship Id="rId22" Type="http://schemas.openxmlformats.org/officeDocument/2006/relationships/image" Target="../media/image21.svg"/><Relationship Id="rId27" Type="http://schemas.openxmlformats.org/officeDocument/2006/relationships/image" Target="../media/image26.png"/><Relationship Id="rId30" Type="http://schemas.openxmlformats.org/officeDocument/2006/relationships/image" Target="../media/image29.svg"/><Relationship Id="rId35" Type="http://schemas.openxmlformats.org/officeDocument/2006/relationships/image" Target="../media/image34.png"/><Relationship Id="rId43" Type="http://schemas.openxmlformats.org/officeDocument/2006/relationships/image" Target="../media/image42.png"/><Relationship Id="rId48" Type="http://schemas.openxmlformats.org/officeDocument/2006/relationships/image" Target="../media/image47.png"/><Relationship Id="rId8" Type="http://schemas.openxmlformats.org/officeDocument/2006/relationships/image" Target="../media/image2.svg"/><Relationship Id="rId51" Type="http://schemas.openxmlformats.org/officeDocument/2006/relationships/image" Target="../media/image50.svg"/><Relationship Id="rId3" Type="http://schemas.openxmlformats.org/officeDocument/2006/relationships/image" Target="../media/image4.png"/><Relationship Id="rId12" Type="http://schemas.openxmlformats.org/officeDocument/2006/relationships/image" Target="../media/image11.sv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38" Type="http://schemas.openxmlformats.org/officeDocument/2006/relationships/image" Target="../media/image37.svg"/><Relationship Id="rId46" Type="http://schemas.openxmlformats.org/officeDocument/2006/relationships/image" Target="../media/image45.svg"/><Relationship Id="rId20" Type="http://schemas.openxmlformats.org/officeDocument/2006/relationships/image" Target="../media/image19.svg"/><Relationship Id="rId41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svg"/><Relationship Id="rId36" Type="http://schemas.openxmlformats.org/officeDocument/2006/relationships/image" Target="../media/image35.svg"/><Relationship Id="rId49" Type="http://schemas.openxmlformats.org/officeDocument/2006/relationships/image" Target="../media/image48.svg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svg"/><Relationship Id="rId26" Type="http://schemas.openxmlformats.org/officeDocument/2006/relationships/image" Target="../media/image25.svg"/><Relationship Id="rId39" Type="http://schemas.openxmlformats.org/officeDocument/2006/relationships/image" Target="../media/image38.png"/><Relationship Id="rId21" Type="http://schemas.openxmlformats.org/officeDocument/2006/relationships/image" Target="../media/image20.png"/><Relationship Id="rId34" Type="http://schemas.openxmlformats.org/officeDocument/2006/relationships/image" Target="../media/image33.svg"/><Relationship Id="rId42" Type="http://schemas.openxmlformats.org/officeDocument/2006/relationships/image" Target="../media/image41.svg"/><Relationship Id="rId47" Type="http://schemas.openxmlformats.org/officeDocument/2006/relationships/image" Target="../media/image46.svg"/><Relationship Id="rId50" Type="http://schemas.openxmlformats.org/officeDocument/2006/relationships/image" Target="../media/image49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15.svg"/><Relationship Id="rId29" Type="http://schemas.openxmlformats.org/officeDocument/2006/relationships/image" Target="../media/image28.png"/><Relationship Id="rId11" Type="http://schemas.openxmlformats.org/officeDocument/2006/relationships/image" Target="../media/image10.png"/><Relationship Id="rId24" Type="http://schemas.openxmlformats.org/officeDocument/2006/relationships/image" Target="../media/image23.svg"/><Relationship Id="rId32" Type="http://schemas.openxmlformats.org/officeDocument/2006/relationships/image" Target="../media/image31.svg"/><Relationship Id="rId37" Type="http://schemas.openxmlformats.org/officeDocument/2006/relationships/image" Target="../media/image36.png"/><Relationship Id="rId40" Type="http://schemas.openxmlformats.org/officeDocument/2006/relationships/image" Target="../media/image39.svg"/><Relationship Id="rId45" Type="http://schemas.openxmlformats.org/officeDocument/2006/relationships/image" Target="../media/image44.png"/><Relationship Id="rId53" Type="http://schemas.openxmlformats.org/officeDocument/2006/relationships/image" Target="../media/image52.svg"/><Relationship Id="rId5" Type="http://schemas.openxmlformats.org/officeDocument/2006/relationships/image" Target="../media/image6.png"/><Relationship Id="rId10" Type="http://schemas.openxmlformats.org/officeDocument/2006/relationships/image" Target="../media/image9.sv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4" Type="http://schemas.openxmlformats.org/officeDocument/2006/relationships/image" Target="../media/image43.svg"/><Relationship Id="rId52" Type="http://schemas.openxmlformats.org/officeDocument/2006/relationships/image" Target="../media/image51.png"/><Relationship Id="rId4" Type="http://schemas.openxmlformats.org/officeDocument/2006/relationships/image" Target="../media/image5.svg"/><Relationship Id="rId9" Type="http://schemas.openxmlformats.org/officeDocument/2006/relationships/image" Target="../media/image8.png"/><Relationship Id="rId14" Type="http://schemas.openxmlformats.org/officeDocument/2006/relationships/image" Target="../media/image13.svg"/><Relationship Id="rId22" Type="http://schemas.openxmlformats.org/officeDocument/2006/relationships/image" Target="../media/image21.svg"/><Relationship Id="rId27" Type="http://schemas.openxmlformats.org/officeDocument/2006/relationships/image" Target="../media/image26.png"/><Relationship Id="rId30" Type="http://schemas.openxmlformats.org/officeDocument/2006/relationships/image" Target="../media/image29.svg"/><Relationship Id="rId35" Type="http://schemas.openxmlformats.org/officeDocument/2006/relationships/image" Target="../media/image34.png"/><Relationship Id="rId43" Type="http://schemas.openxmlformats.org/officeDocument/2006/relationships/image" Target="../media/image42.png"/><Relationship Id="rId48" Type="http://schemas.openxmlformats.org/officeDocument/2006/relationships/image" Target="../media/image47.png"/><Relationship Id="rId8" Type="http://schemas.openxmlformats.org/officeDocument/2006/relationships/image" Target="../media/image2.svg"/><Relationship Id="rId51" Type="http://schemas.openxmlformats.org/officeDocument/2006/relationships/image" Target="../media/image50.svg"/><Relationship Id="rId3" Type="http://schemas.openxmlformats.org/officeDocument/2006/relationships/image" Target="../media/image4.png"/><Relationship Id="rId12" Type="http://schemas.openxmlformats.org/officeDocument/2006/relationships/image" Target="../media/image11.sv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38" Type="http://schemas.openxmlformats.org/officeDocument/2006/relationships/image" Target="../media/image37.svg"/><Relationship Id="rId46" Type="http://schemas.openxmlformats.org/officeDocument/2006/relationships/image" Target="../media/image45.svg"/><Relationship Id="rId20" Type="http://schemas.openxmlformats.org/officeDocument/2006/relationships/image" Target="../media/image19.svg"/><Relationship Id="rId41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svg"/><Relationship Id="rId36" Type="http://schemas.openxmlformats.org/officeDocument/2006/relationships/image" Target="../media/image35.svg"/><Relationship Id="rId49" Type="http://schemas.openxmlformats.org/officeDocument/2006/relationships/image" Target="../media/image48.svg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svg"/><Relationship Id="rId26" Type="http://schemas.openxmlformats.org/officeDocument/2006/relationships/image" Target="../media/image25.svg"/><Relationship Id="rId39" Type="http://schemas.openxmlformats.org/officeDocument/2006/relationships/image" Target="../media/image38.png"/><Relationship Id="rId21" Type="http://schemas.openxmlformats.org/officeDocument/2006/relationships/image" Target="../media/image20.png"/><Relationship Id="rId34" Type="http://schemas.openxmlformats.org/officeDocument/2006/relationships/image" Target="../media/image33.svg"/><Relationship Id="rId42" Type="http://schemas.openxmlformats.org/officeDocument/2006/relationships/image" Target="../media/image41.svg"/><Relationship Id="rId47" Type="http://schemas.openxmlformats.org/officeDocument/2006/relationships/image" Target="../media/image46.svg"/><Relationship Id="rId50" Type="http://schemas.openxmlformats.org/officeDocument/2006/relationships/image" Target="../media/image47.png"/><Relationship Id="rId55" Type="http://schemas.openxmlformats.org/officeDocument/2006/relationships/image" Target="../media/image52.sv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15.svg"/><Relationship Id="rId29" Type="http://schemas.openxmlformats.org/officeDocument/2006/relationships/image" Target="../media/image28.png"/><Relationship Id="rId11" Type="http://schemas.openxmlformats.org/officeDocument/2006/relationships/image" Target="../media/image10.png"/><Relationship Id="rId24" Type="http://schemas.openxmlformats.org/officeDocument/2006/relationships/image" Target="../media/image23.svg"/><Relationship Id="rId32" Type="http://schemas.openxmlformats.org/officeDocument/2006/relationships/image" Target="../media/image31.svg"/><Relationship Id="rId37" Type="http://schemas.openxmlformats.org/officeDocument/2006/relationships/image" Target="../media/image36.png"/><Relationship Id="rId40" Type="http://schemas.openxmlformats.org/officeDocument/2006/relationships/image" Target="../media/image39.svg"/><Relationship Id="rId45" Type="http://schemas.openxmlformats.org/officeDocument/2006/relationships/image" Target="../media/image44.png"/><Relationship Id="rId53" Type="http://schemas.openxmlformats.org/officeDocument/2006/relationships/image" Target="../media/image50.svg"/><Relationship Id="rId5" Type="http://schemas.openxmlformats.org/officeDocument/2006/relationships/image" Target="../media/image6.png"/><Relationship Id="rId10" Type="http://schemas.openxmlformats.org/officeDocument/2006/relationships/image" Target="../media/image9.sv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4" Type="http://schemas.openxmlformats.org/officeDocument/2006/relationships/image" Target="../media/image43.svg"/><Relationship Id="rId52" Type="http://schemas.openxmlformats.org/officeDocument/2006/relationships/image" Target="../media/image49.png"/><Relationship Id="rId4" Type="http://schemas.openxmlformats.org/officeDocument/2006/relationships/image" Target="../media/image5.svg"/><Relationship Id="rId9" Type="http://schemas.openxmlformats.org/officeDocument/2006/relationships/image" Target="../media/image8.png"/><Relationship Id="rId14" Type="http://schemas.openxmlformats.org/officeDocument/2006/relationships/image" Target="../media/image13.svg"/><Relationship Id="rId22" Type="http://schemas.openxmlformats.org/officeDocument/2006/relationships/image" Target="../media/image21.svg"/><Relationship Id="rId27" Type="http://schemas.openxmlformats.org/officeDocument/2006/relationships/image" Target="../media/image26.png"/><Relationship Id="rId30" Type="http://schemas.openxmlformats.org/officeDocument/2006/relationships/image" Target="../media/image29.svg"/><Relationship Id="rId35" Type="http://schemas.openxmlformats.org/officeDocument/2006/relationships/image" Target="../media/image34.png"/><Relationship Id="rId43" Type="http://schemas.openxmlformats.org/officeDocument/2006/relationships/image" Target="../media/image42.png"/><Relationship Id="rId48" Type="http://schemas.openxmlformats.org/officeDocument/2006/relationships/image" Target="../media/image53.png"/><Relationship Id="rId8" Type="http://schemas.openxmlformats.org/officeDocument/2006/relationships/image" Target="../media/image2.svg"/><Relationship Id="rId51" Type="http://schemas.openxmlformats.org/officeDocument/2006/relationships/image" Target="../media/image48.svg"/><Relationship Id="rId3" Type="http://schemas.openxmlformats.org/officeDocument/2006/relationships/image" Target="../media/image4.png"/><Relationship Id="rId12" Type="http://schemas.openxmlformats.org/officeDocument/2006/relationships/image" Target="../media/image11.sv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38" Type="http://schemas.openxmlformats.org/officeDocument/2006/relationships/image" Target="../media/image37.svg"/><Relationship Id="rId46" Type="http://schemas.openxmlformats.org/officeDocument/2006/relationships/image" Target="../media/image45.svg"/><Relationship Id="rId20" Type="http://schemas.openxmlformats.org/officeDocument/2006/relationships/image" Target="../media/image19.svg"/><Relationship Id="rId41" Type="http://schemas.openxmlformats.org/officeDocument/2006/relationships/image" Target="../media/image40.png"/><Relationship Id="rId54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svg"/><Relationship Id="rId36" Type="http://schemas.openxmlformats.org/officeDocument/2006/relationships/image" Target="../media/image35.svg"/><Relationship Id="rId49" Type="http://schemas.openxmlformats.org/officeDocument/2006/relationships/image" Target="../media/image54.svg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svg"/><Relationship Id="rId26" Type="http://schemas.openxmlformats.org/officeDocument/2006/relationships/image" Target="../media/image25.svg"/><Relationship Id="rId39" Type="http://schemas.openxmlformats.org/officeDocument/2006/relationships/image" Target="../media/image38.png"/><Relationship Id="rId21" Type="http://schemas.openxmlformats.org/officeDocument/2006/relationships/image" Target="../media/image20.png"/><Relationship Id="rId34" Type="http://schemas.openxmlformats.org/officeDocument/2006/relationships/image" Target="../media/image33.svg"/><Relationship Id="rId42" Type="http://schemas.openxmlformats.org/officeDocument/2006/relationships/image" Target="../media/image41.svg"/><Relationship Id="rId47" Type="http://schemas.openxmlformats.org/officeDocument/2006/relationships/image" Target="../media/image46.svg"/><Relationship Id="rId50" Type="http://schemas.openxmlformats.org/officeDocument/2006/relationships/image" Target="../media/image47.png"/><Relationship Id="rId55" Type="http://schemas.openxmlformats.org/officeDocument/2006/relationships/image" Target="../media/image52.sv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15.svg"/><Relationship Id="rId29" Type="http://schemas.openxmlformats.org/officeDocument/2006/relationships/image" Target="../media/image28.png"/><Relationship Id="rId11" Type="http://schemas.openxmlformats.org/officeDocument/2006/relationships/image" Target="../media/image10.png"/><Relationship Id="rId24" Type="http://schemas.openxmlformats.org/officeDocument/2006/relationships/image" Target="../media/image23.svg"/><Relationship Id="rId32" Type="http://schemas.openxmlformats.org/officeDocument/2006/relationships/image" Target="../media/image31.svg"/><Relationship Id="rId37" Type="http://schemas.openxmlformats.org/officeDocument/2006/relationships/image" Target="../media/image36.png"/><Relationship Id="rId40" Type="http://schemas.openxmlformats.org/officeDocument/2006/relationships/image" Target="../media/image39.svg"/><Relationship Id="rId45" Type="http://schemas.openxmlformats.org/officeDocument/2006/relationships/image" Target="../media/image44.png"/><Relationship Id="rId53" Type="http://schemas.openxmlformats.org/officeDocument/2006/relationships/image" Target="../media/image50.svg"/><Relationship Id="rId5" Type="http://schemas.openxmlformats.org/officeDocument/2006/relationships/image" Target="../media/image6.png"/><Relationship Id="rId10" Type="http://schemas.openxmlformats.org/officeDocument/2006/relationships/image" Target="../media/image9.sv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4" Type="http://schemas.openxmlformats.org/officeDocument/2006/relationships/image" Target="../media/image43.svg"/><Relationship Id="rId52" Type="http://schemas.openxmlformats.org/officeDocument/2006/relationships/image" Target="../media/image49.png"/><Relationship Id="rId4" Type="http://schemas.openxmlformats.org/officeDocument/2006/relationships/image" Target="../media/image56.svg"/><Relationship Id="rId9" Type="http://schemas.openxmlformats.org/officeDocument/2006/relationships/image" Target="../media/image8.png"/><Relationship Id="rId14" Type="http://schemas.openxmlformats.org/officeDocument/2006/relationships/image" Target="../media/image13.svg"/><Relationship Id="rId22" Type="http://schemas.openxmlformats.org/officeDocument/2006/relationships/image" Target="../media/image21.svg"/><Relationship Id="rId27" Type="http://schemas.openxmlformats.org/officeDocument/2006/relationships/image" Target="../media/image26.png"/><Relationship Id="rId30" Type="http://schemas.openxmlformats.org/officeDocument/2006/relationships/image" Target="../media/image29.svg"/><Relationship Id="rId35" Type="http://schemas.openxmlformats.org/officeDocument/2006/relationships/image" Target="../media/image34.png"/><Relationship Id="rId43" Type="http://schemas.openxmlformats.org/officeDocument/2006/relationships/image" Target="../media/image42.png"/><Relationship Id="rId48" Type="http://schemas.openxmlformats.org/officeDocument/2006/relationships/image" Target="../media/image53.png"/><Relationship Id="rId8" Type="http://schemas.openxmlformats.org/officeDocument/2006/relationships/image" Target="../media/image2.svg"/><Relationship Id="rId51" Type="http://schemas.openxmlformats.org/officeDocument/2006/relationships/image" Target="../media/image48.svg"/><Relationship Id="rId3" Type="http://schemas.openxmlformats.org/officeDocument/2006/relationships/image" Target="../media/image55.png"/><Relationship Id="rId12" Type="http://schemas.openxmlformats.org/officeDocument/2006/relationships/image" Target="../media/image11.sv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38" Type="http://schemas.openxmlformats.org/officeDocument/2006/relationships/image" Target="../media/image37.svg"/><Relationship Id="rId46" Type="http://schemas.openxmlformats.org/officeDocument/2006/relationships/image" Target="../media/image45.svg"/><Relationship Id="rId20" Type="http://schemas.openxmlformats.org/officeDocument/2006/relationships/image" Target="../media/image19.svg"/><Relationship Id="rId41" Type="http://schemas.openxmlformats.org/officeDocument/2006/relationships/image" Target="../media/image40.png"/><Relationship Id="rId54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svg"/><Relationship Id="rId36" Type="http://schemas.openxmlformats.org/officeDocument/2006/relationships/image" Target="../media/image35.svg"/><Relationship Id="rId49" Type="http://schemas.openxmlformats.org/officeDocument/2006/relationships/image" Target="../media/image54.svg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svg"/><Relationship Id="rId26" Type="http://schemas.openxmlformats.org/officeDocument/2006/relationships/image" Target="../media/image25.svg"/><Relationship Id="rId39" Type="http://schemas.openxmlformats.org/officeDocument/2006/relationships/image" Target="../media/image38.png"/><Relationship Id="rId21" Type="http://schemas.openxmlformats.org/officeDocument/2006/relationships/image" Target="../media/image20.png"/><Relationship Id="rId34" Type="http://schemas.openxmlformats.org/officeDocument/2006/relationships/image" Target="../media/image33.svg"/><Relationship Id="rId42" Type="http://schemas.openxmlformats.org/officeDocument/2006/relationships/image" Target="../media/image41.svg"/><Relationship Id="rId47" Type="http://schemas.openxmlformats.org/officeDocument/2006/relationships/image" Target="../media/image46.svg"/><Relationship Id="rId50" Type="http://schemas.openxmlformats.org/officeDocument/2006/relationships/image" Target="../media/image49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15.svg"/><Relationship Id="rId29" Type="http://schemas.openxmlformats.org/officeDocument/2006/relationships/image" Target="../media/image28.png"/><Relationship Id="rId11" Type="http://schemas.openxmlformats.org/officeDocument/2006/relationships/image" Target="../media/image10.png"/><Relationship Id="rId24" Type="http://schemas.openxmlformats.org/officeDocument/2006/relationships/image" Target="../media/image23.svg"/><Relationship Id="rId32" Type="http://schemas.openxmlformats.org/officeDocument/2006/relationships/image" Target="../media/image31.svg"/><Relationship Id="rId37" Type="http://schemas.openxmlformats.org/officeDocument/2006/relationships/image" Target="../media/image36.png"/><Relationship Id="rId40" Type="http://schemas.openxmlformats.org/officeDocument/2006/relationships/image" Target="../media/image39.svg"/><Relationship Id="rId45" Type="http://schemas.openxmlformats.org/officeDocument/2006/relationships/image" Target="../media/image44.png"/><Relationship Id="rId53" Type="http://schemas.openxmlformats.org/officeDocument/2006/relationships/image" Target="../media/image52.svg"/><Relationship Id="rId5" Type="http://schemas.openxmlformats.org/officeDocument/2006/relationships/image" Target="../media/image6.png"/><Relationship Id="rId10" Type="http://schemas.openxmlformats.org/officeDocument/2006/relationships/image" Target="../media/image9.sv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4" Type="http://schemas.openxmlformats.org/officeDocument/2006/relationships/image" Target="../media/image43.svg"/><Relationship Id="rId52" Type="http://schemas.openxmlformats.org/officeDocument/2006/relationships/image" Target="../media/image51.png"/><Relationship Id="rId4" Type="http://schemas.openxmlformats.org/officeDocument/2006/relationships/image" Target="../media/image5.svg"/><Relationship Id="rId9" Type="http://schemas.openxmlformats.org/officeDocument/2006/relationships/image" Target="../media/image8.png"/><Relationship Id="rId14" Type="http://schemas.openxmlformats.org/officeDocument/2006/relationships/image" Target="../media/image13.svg"/><Relationship Id="rId22" Type="http://schemas.openxmlformats.org/officeDocument/2006/relationships/image" Target="../media/image21.svg"/><Relationship Id="rId27" Type="http://schemas.openxmlformats.org/officeDocument/2006/relationships/image" Target="../media/image26.png"/><Relationship Id="rId30" Type="http://schemas.openxmlformats.org/officeDocument/2006/relationships/image" Target="../media/image29.svg"/><Relationship Id="rId35" Type="http://schemas.openxmlformats.org/officeDocument/2006/relationships/image" Target="../media/image34.png"/><Relationship Id="rId43" Type="http://schemas.openxmlformats.org/officeDocument/2006/relationships/image" Target="../media/image42.png"/><Relationship Id="rId48" Type="http://schemas.openxmlformats.org/officeDocument/2006/relationships/image" Target="../media/image47.png"/><Relationship Id="rId8" Type="http://schemas.openxmlformats.org/officeDocument/2006/relationships/image" Target="../media/image2.svg"/><Relationship Id="rId51" Type="http://schemas.openxmlformats.org/officeDocument/2006/relationships/image" Target="../media/image50.svg"/><Relationship Id="rId3" Type="http://schemas.openxmlformats.org/officeDocument/2006/relationships/image" Target="../media/image4.png"/><Relationship Id="rId12" Type="http://schemas.openxmlformats.org/officeDocument/2006/relationships/image" Target="../media/image11.sv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38" Type="http://schemas.openxmlformats.org/officeDocument/2006/relationships/image" Target="../media/image37.svg"/><Relationship Id="rId46" Type="http://schemas.openxmlformats.org/officeDocument/2006/relationships/image" Target="../media/image45.svg"/><Relationship Id="rId20" Type="http://schemas.openxmlformats.org/officeDocument/2006/relationships/image" Target="../media/image19.svg"/><Relationship Id="rId41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svg"/><Relationship Id="rId36" Type="http://schemas.openxmlformats.org/officeDocument/2006/relationships/image" Target="../media/image35.svg"/><Relationship Id="rId49" Type="http://schemas.openxmlformats.org/officeDocument/2006/relationships/image" Target="../media/image48.svg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svg"/><Relationship Id="rId26" Type="http://schemas.openxmlformats.org/officeDocument/2006/relationships/image" Target="../media/image25.svg"/><Relationship Id="rId39" Type="http://schemas.openxmlformats.org/officeDocument/2006/relationships/image" Target="../media/image38.png"/><Relationship Id="rId21" Type="http://schemas.openxmlformats.org/officeDocument/2006/relationships/image" Target="../media/image20.png"/><Relationship Id="rId34" Type="http://schemas.openxmlformats.org/officeDocument/2006/relationships/image" Target="../media/image33.svg"/><Relationship Id="rId42" Type="http://schemas.openxmlformats.org/officeDocument/2006/relationships/image" Target="../media/image41.svg"/><Relationship Id="rId47" Type="http://schemas.openxmlformats.org/officeDocument/2006/relationships/image" Target="../media/image46.svg"/><Relationship Id="rId50" Type="http://schemas.openxmlformats.org/officeDocument/2006/relationships/image" Target="../media/image49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15.svg"/><Relationship Id="rId29" Type="http://schemas.openxmlformats.org/officeDocument/2006/relationships/image" Target="../media/image28.png"/><Relationship Id="rId11" Type="http://schemas.openxmlformats.org/officeDocument/2006/relationships/image" Target="../media/image10.png"/><Relationship Id="rId24" Type="http://schemas.openxmlformats.org/officeDocument/2006/relationships/image" Target="../media/image23.svg"/><Relationship Id="rId32" Type="http://schemas.openxmlformats.org/officeDocument/2006/relationships/image" Target="../media/image31.svg"/><Relationship Id="rId37" Type="http://schemas.openxmlformats.org/officeDocument/2006/relationships/image" Target="../media/image36.png"/><Relationship Id="rId40" Type="http://schemas.openxmlformats.org/officeDocument/2006/relationships/image" Target="../media/image39.svg"/><Relationship Id="rId45" Type="http://schemas.openxmlformats.org/officeDocument/2006/relationships/image" Target="../media/image44.png"/><Relationship Id="rId53" Type="http://schemas.openxmlformats.org/officeDocument/2006/relationships/image" Target="../media/image52.svg"/><Relationship Id="rId5" Type="http://schemas.openxmlformats.org/officeDocument/2006/relationships/image" Target="../media/image6.png"/><Relationship Id="rId10" Type="http://schemas.openxmlformats.org/officeDocument/2006/relationships/image" Target="../media/image9.sv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4" Type="http://schemas.openxmlformats.org/officeDocument/2006/relationships/image" Target="../media/image43.svg"/><Relationship Id="rId52" Type="http://schemas.openxmlformats.org/officeDocument/2006/relationships/image" Target="../media/image51.png"/><Relationship Id="rId4" Type="http://schemas.openxmlformats.org/officeDocument/2006/relationships/image" Target="../media/image5.svg"/><Relationship Id="rId9" Type="http://schemas.openxmlformats.org/officeDocument/2006/relationships/image" Target="../media/image8.png"/><Relationship Id="rId14" Type="http://schemas.openxmlformats.org/officeDocument/2006/relationships/image" Target="../media/image13.svg"/><Relationship Id="rId22" Type="http://schemas.openxmlformats.org/officeDocument/2006/relationships/image" Target="../media/image21.svg"/><Relationship Id="rId27" Type="http://schemas.openxmlformats.org/officeDocument/2006/relationships/image" Target="../media/image26.png"/><Relationship Id="rId30" Type="http://schemas.openxmlformats.org/officeDocument/2006/relationships/image" Target="../media/image29.svg"/><Relationship Id="rId35" Type="http://schemas.openxmlformats.org/officeDocument/2006/relationships/image" Target="../media/image34.png"/><Relationship Id="rId43" Type="http://schemas.openxmlformats.org/officeDocument/2006/relationships/image" Target="../media/image42.png"/><Relationship Id="rId48" Type="http://schemas.openxmlformats.org/officeDocument/2006/relationships/image" Target="../media/image47.png"/><Relationship Id="rId8" Type="http://schemas.openxmlformats.org/officeDocument/2006/relationships/image" Target="../media/image2.svg"/><Relationship Id="rId51" Type="http://schemas.openxmlformats.org/officeDocument/2006/relationships/image" Target="../media/image50.svg"/><Relationship Id="rId3" Type="http://schemas.openxmlformats.org/officeDocument/2006/relationships/image" Target="../media/image4.png"/><Relationship Id="rId12" Type="http://schemas.openxmlformats.org/officeDocument/2006/relationships/image" Target="../media/image11.sv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38" Type="http://schemas.openxmlformats.org/officeDocument/2006/relationships/image" Target="../media/image37.svg"/><Relationship Id="rId46" Type="http://schemas.openxmlformats.org/officeDocument/2006/relationships/image" Target="../media/image45.svg"/><Relationship Id="rId20" Type="http://schemas.openxmlformats.org/officeDocument/2006/relationships/image" Target="../media/image19.svg"/><Relationship Id="rId41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svg"/><Relationship Id="rId36" Type="http://schemas.openxmlformats.org/officeDocument/2006/relationships/image" Target="../media/image35.svg"/><Relationship Id="rId49" Type="http://schemas.openxmlformats.org/officeDocument/2006/relationships/image" Target="../media/image48.svg"/></Relationships>
</file>

<file path=ppt/slides/_rels/slide1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4.png"/><Relationship Id="rId18" Type="http://schemas.openxmlformats.org/officeDocument/2006/relationships/image" Target="../media/image19.svg"/><Relationship Id="rId26" Type="http://schemas.openxmlformats.org/officeDocument/2006/relationships/image" Target="../media/image27.svg"/><Relationship Id="rId39" Type="http://schemas.openxmlformats.org/officeDocument/2006/relationships/image" Target="../media/image40.png"/><Relationship Id="rId21" Type="http://schemas.openxmlformats.org/officeDocument/2006/relationships/image" Target="../media/image22.png"/><Relationship Id="rId34" Type="http://schemas.openxmlformats.org/officeDocument/2006/relationships/image" Target="../media/image35.svg"/><Relationship Id="rId42" Type="http://schemas.openxmlformats.org/officeDocument/2006/relationships/image" Target="../media/image43.svg"/><Relationship Id="rId47" Type="http://schemas.openxmlformats.org/officeDocument/2006/relationships/image" Target="../media/image48.svg"/><Relationship Id="rId50" Type="http://schemas.openxmlformats.org/officeDocument/2006/relationships/image" Target="../media/image51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17.svg"/><Relationship Id="rId29" Type="http://schemas.openxmlformats.org/officeDocument/2006/relationships/image" Target="../media/image30.png"/><Relationship Id="rId11" Type="http://schemas.openxmlformats.org/officeDocument/2006/relationships/image" Target="../media/image12.png"/><Relationship Id="rId24" Type="http://schemas.openxmlformats.org/officeDocument/2006/relationships/image" Target="../media/image25.svg"/><Relationship Id="rId32" Type="http://schemas.openxmlformats.org/officeDocument/2006/relationships/image" Target="../media/image33.svg"/><Relationship Id="rId37" Type="http://schemas.openxmlformats.org/officeDocument/2006/relationships/image" Target="../media/image38.png"/><Relationship Id="rId40" Type="http://schemas.openxmlformats.org/officeDocument/2006/relationships/image" Target="../media/image41.svg"/><Relationship Id="rId45" Type="http://schemas.openxmlformats.org/officeDocument/2006/relationships/image" Target="../media/image46.sv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23" Type="http://schemas.openxmlformats.org/officeDocument/2006/relationships/image" Target="../media/image24.png"/><Relationship Id="rId28" Type="http://schemas.openxmlformats.org/officeDocument/2006/relationships/image" Target="../media/image29.svg"/><Relationship Id="rId36" Type="http://schemas.openxmlformats.org/officeDocument/2006/relationships/image" Target="../media/image37.svg"/><Relationship Id="rId49" Type="http://schemas.openxmlformats.org/officeDocument/2006/relationships/image" Target="../media/image50.svg"/><Relationship Id="rId10" Type="http://schemas.openxmlformats.org/officeDocument/2006/relationships/image" Target="../media/image11.svg"/><Relationship Id="rId19" Type="http://schemas.openxmlformats.org/officeDocument/2006/relationships/image" Target="../media/image20.png"/><Relationship Id="rId31" Type="http://schemas.openxmlformats.org/officeDocument/2006/relationships/image" Target="../media/image32.png"/><Relationship Id="rId44" Type="http://schemas.openxmlformats.org/officeDocument/2006/relationships/image" Target="../media/image45.svg"/><Relationship Id="rId52" Type="http://schemas.openxmlformats.org/officeDocument/2006/relationships/image" Target="../media/image57.png"/><Relationship Id="rId4" Type="http://schemas.openxmlformats.org/officeDocument/2006/relationships/image" Target="../media/image56.svg"/><Relationship Id="rId9" Type="http://schemas.openxmlformats.org/officeDocument/2006/relationships/image" Target="../media/image10.png"/><Relationship Id="rId14" Type="http://schemas.openxmlformats.org/officeDocument/2006/relationships/image" Target="../media/image15.svg"/><Relationship Id="rId22" Type="http://schemas.openxmlformats.org/officeDocument/2006/relationships/image" Target="../media/image23.svg"/><Relationship Id="rId27" Type="http://schemas.openxmlformats.org/officeDocument/2006/relationships/image" Target="../media/image28.png"/><Relationship Id="rId30" Type="http://schemas.openxmlformats.org/officeDocument/2006/relationships/image" Target="../media/image31.svg"/><Relationship Id="rId35" Type="http://schemas.openxmlformats.org/officeDocument/2006/relationships/image" Target="../media/image36.png"/><Relationship Id="rId43" Type="http://schemas.openxmlformats.org/officeDocument/2006/relationships/image" Target="../media/image44.png"/><Relationship Id="rId48" Type="http://schemas.openxmlformats.org/officeDocument/2006/relationships/image" Target="../media/image49.png"/><Relationship Id="rId8" Type="http://schemas.openxmlformats.org/officeDocument/2006/relationships/image" Target="../media/image2.svg"/><Relationship Id="rId51" Type="http://schemas.openxmlformats.org/officeDocument/2006/relationships/image" Target="../media/image52.svg"/><Relationship Id="rId3" Type="http://schemas.openxmlformats.org/officeDocument/2006/relationships/image" Target="../media/image55.png"/><Relationship Id="rId12" Type="http://schemas.openxmlformats.org/officeDocument/2006/relationships/image" Target="../media/image13.svg"/><Relationship Id="rId17" Type="http://schemas.openxmlformats.org/officeDocument/2006/relationships/image" Target="../media/image18.png"/><Relationship Id="rId25" Type="http://schemas.openxmlformats.org/officeDocument/2006/relationships/image" Target="../media/image26.png"/><Relationship Id="rId33" Type="http://schemas.openxmlformats.org/officeDocument/2006/relationships/image" Target="../media/image34.png"/><Relationship Id="rId38" Type="http://schemas.openxmlformats.org/officeDocument/2006/relationships/image" Target="../media/image39.svg"/><Relationship Id="rId46" Type="http://schemas.openxmlformats.org/officeDocument/2006/relationships/image" Target="../media/image47.png"/><Relationship Id="rId20" Type="http://schemas.openxmlformats.org/officeDocument/2006/relationships/image" Target="../media/image21.svg"/><Relationship Id="rId41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/Relationships>
</file>

<file path=ppt/slides/_rels/slide1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svg"/><Relationship Id="rId26" Type="http://schemas.openxmlformats.org/officeDocument/2006/relationships/image" Target="../media/image25.svg"/><Relationship Id="rId39" Type="http://schemas.openxmlformats.org/officeDocument/2006/relationships/image" Target="../media/image38.png"/><Relationship Id="rId21" Type="http://schemas.openxmlformats.org/officeDocument/2006/relationships/image" Target="../media/image20.png"/><Relationship Id="rId34" Type="http://schemas.openxmlformats.org/officeDocument/2006/relationships/image" Target="../media/image33.svg"/><Relationship Id="rId42" Type="http://schemas.openxmlformats.org/officeDocument/2006/relationships/image" Target="../media/image41.svg"/><Relationship Id="rId47" Type="http://schemas.openxmlformats.org/officeDocument/2006/relationships/image" Target="../media/image46.svg"/><Relationship Id="rId50" Type="http://schemas.openxmlformats.org/officeDocument/2006/relationships/image" Target="../media/image49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15.svg"/><Relationship Id="rId29" Type="http://schemas.openxmlformats.org/officeDocument/2006/relationships/image" Target="../media/image28.png"/><Relationship Id="rId11" Type="http://schemas.openxmlformats.org/officeDocument/2006/relationships/image" Target="../media/image10.png"/><Relationship Id="rId24" Type="http://schemas.openxmlformats.org/officeDocument/2006/relationships/image" Target="../media/image23.svg"/><Relationship Id="rId32" Type="http://schemas.openxmlformats.org/officeDocument/2006/relationships/image" Target="../media/image31.svg"/><Relationship Id="rId37" Type="http://schemas.openxmlformats.org/officeDocument/2006/relationships/image" Target="../media/image36.png"/><Relationship Id="rId40" Type="http://schemas.openxmlformats.org/officeDocument/2006/relationships/image" Target="../media/image39.svg"/><Relationship Id="rId45" Type="http://schemas.openxmlformats.org/officeDocument/2006/relationships/image" Target="../media/image44.png"/><Relationship Id="rId53" Type="http://schemas.openxmlformats.org/officeDocument/2006/relationships/image" Target="../media/image52.svg"/><Relationship Id="rId5" Type="http://schemas.openxmlformats.org/officeDocument/2006/relationships/image" Target="../media/image6.png"/><Relationship Id="rId10" Type="http://schemas.openxmlformats.org/officeDocument/2006/relationships/image" Target="../media/image9.sv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4" Type="http://schemas.openxmlformats.org/officeDocument/2006/relationships/image" Target="../media/image43.svg"/><Relationship Id="rId52" Type="http://schemas.openxmlformats.org/officeDocument/2006/relationships/image" Target="../media/image51.png"/><Relationship Id="rId4" Type="http://schemas.openxmlformats.org/officeDocument/2006/relationships/image" Target="../media/image56.svg"/><Relationship Id="rId9" Type="http://schemas.openxmlformats.org/officeDocument/2006/relationships/image" Target="../media/image8.png"/><Relationship Id="rId14" Type="http://schemas.openxmlformats.org/officeDocument/2006/relationships/image" Target="../media/image13.svg"/><Relationship Id="rId22" Type="http://schemas.openxmlformats.org/officeDocument/2006/relationships/image" Target="../media/image21.svg"/><Relationship Id="rId27" Type="http://schemas.openxmlformats.org/officeDocument/2006/relationships/image" Target="../media/image26.png"/><Relationship Id="rId30" Type="http://schemas.openxmlformats.org/officeDocument/2006/relationships/image" Target="../media/image29.svg"/><Relationship Id="rId35" Type="http://schemas.openxmlformats.org/officeDocument/2006/relationships/image" Target="../media/image34.png"/><Relationship Id="rId43" Type="http://schemas.openxmlformats.org/officeDocument/2006/relationships/image" Target="../media/image42.png"/><Relationship Id="rId48" Type="http://schemas.openxmlformats.org/officeDocument/2006/relationships/image" Target="../media/image47.png"/><Relationship Id="rId8" Type="http://schemas.openxmlformats.org/officeDocument/2006/relationships/image" Target="../media/image2.svg"/><Relationship Id="rId51" Type="http://schemas.openxmlformats.org/officeDocument/2006/relationships/image" Target="../media/image50.svg"/><Relationship Id="rId3" Type="http://schemas.openxmlformats.org/officeDocument/2006/relationships/image" Target="../media/image55.png"/><Relationship Id="rId12" Type="http://schemas.openxmlformats.org/officeDocument/2006/relationships/image" Target="../media/image11.sv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38" Type="http://schemas.openxmlformats.org/officeDocument/2006/relationships/image" Target="../media/image37.svg"/><Relationship Id="rId46" Type="http://schemas.openxmlformats.org/officeDocument/2006/relationships/image" Target="../media/image45.svg"/><Relationship Id="rId20" Type="http://schemas.openxmlformats.org/officeDocument/2006/relationships/image" Target="../media/image19.svg"/><Relationship Id="rId41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svg"/><Relationship Id="rId36" Type="http://schemas.openxmlformats.org/officeDocument/2006/relationships/image" Target="../media/image35.svg"/><Relationship Id="rId49" Type="http://schemas.openxmlformats.org/officeDocument/2006/relationships/image" Target="../media/image48.svg"/></Relationships>
</file>

<file path=ppt/slides/_rels/slide1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svg"/><Relationship Id="rId26" Type="http://schemas.openxmlformats.org/officeDocument/2006/relationships/image" Target="../media/image25.svg"/><Relationship Id="rId39" Type="http://schemas.openxmlformats.org/officeDocument/2006/relationships/image" Target="../media/image38.png"/><Relationship Id="rId21" Type="http://schemas.openxmlformats.org/officeDocument/2006/relationships/image" Target="../media/image20.png"/><Relationship Id="rId34" Type="http://schemas.openxmlformats.org/officeDocument/2006/relationships/image" Target="../media/image33.svg"/><Relationship Id="rId42" Type="http://schemas.openxmlformats.org/officeDocument/2006/relationships/image" Target="../media/image41.svg"/><Relationship Id="rId47" Type="http://schemas.openxmlformats.org/officeDocument/2006/relationships/image" Target="../media/image46.svg"/><Relationship Id="rId50" Type="http://schemas.openxmlformats.org/officeDocument/2006/relationships/image" Target="../media/image48.sv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6" Type="http://schemas.openxmlformats.org/officeDocument/2006/relationships/image" Target="../media/image15.svg"/><Relationship Id="rId29" Type="http://schemas.openxmlformats.org/officeDocument/2006/relationships/image" Target="../media/image28.png"/><Relationship Id="rId11" Type="http://schemas.openxmlformats.org/officeDocument/2006/relationships/image" Target="../media/image10.png"/><Relationship Id="rId24" Type="http://schemas.openxmlformats.org/officeDocument/2006/relationships/image" Target="../media/image23.svg"/><Relationship Id="rId32" Type="http://schemas.openxmlformats.org/officeDocument/2006/relationships/image" Target="../media/image31.svg"/><Relationship Id="rId37" Type="http://schemas.openxmlformats.org/officeDocument/2006/relationships/image" Target="../media/image36.png"/><Relationship Id="rId40" Type="http://schemas.openxmlformats.org/officeDocument/2006/relationships/image" Target="../media/image39.svg"/><Relationship Id="rId45" Type="http://schemas.openxmlformats.org/officeDocument/2006/relationships/image" Target="../media/image44.png"/><Relationship Id="rId53" Type="http://schemas.openxmlformats.org/officeDocument/2006/relationships/image" Target="../media/image51.png"/><Relationship Id="rId5" Type="http://schemas.openxmlformats.org/officeDocument/2006/relationships/image" Target="../media/image6.png"/><Relationship Id="rId10" Type="http://schemas.openxmlformats.org/officeDocument/2006/relationships/image" Target="../media/image59.sv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4" Type="http://schemas.openxmlformats.org/officeDocument/2006/relationships/image" Target="../media/image43.svg"/><Relationship Id="rId52" Type="http://schemas.openxmlformats.org/officeDocument/2006/relationships/image" Target="../media/image50.svg"/><Relationship Id="rId4" Type="http://schemas.openxmlformats.org/officeDocument/2006/relationships/image" Target="../media/image56.svg"/><Relationship Id="rId9" Type="http://schemas.openxmlformats.org/officeDocument/2006/relationships/image" Target="../media/image58.png"/><Relationship Id="rId14" Type="http://schemas.openxmlformats.org/officeDocument/2006/relationships/image" Target="../media/image13.svg"/><Relationship Id="rId22" Type="http://schemas.openxmlformats.org/officeDocument/2006/relationships/image" Target="../media/image21.svg"/><Relationship Id="rId27" Type="http://schemas.openxmlformats.org/officeDocument/2006/relationships/image" Target="../media/image26.png"/><Relationship Id="rId30" Type="http://schemas.openxmlformats.org/officeDocument/2006/relationships/image" Target="../media/image29.svg"/><Relationship Id="rId35" Type="http://schemas.openxmlformats.org/officeDocument/2006/relationships/image" Target="../media/image34.png"/><Relationship Id="rId43" Type="http://schemas.openxmlformats.org/officeDocument/2006/relationships/image" Target="../media/image42.png"/><Relationship Id="rId48" Type="http://schemas.openxmlformats.org/officeDocument/2006/relationships/image" Target="../media/image60.png"/><Relationship Id="rId8" Type="http://schemas.openxmlformats.org/officeDocument/2006/relationships/image" Target="../media/image2.svg"/><Relationship Id="rId51" Type="http://schemas.openxmlformats.org/officeDocument/2006/relationships/image" Target="../media/image49.png"/><Relationship Id="rId3" Type="http://schemas.openxmlformats.org/officeDocument/2006/relationships/image" Target="../media/image55.png"/><Relationship Id="rId12" Type="http://schemas.openxmlformats.org/officeDocument/2006/relationships/image" Target="../media/image11.sv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38" Type="http://schemas.openxmlformats.org/officeDocument/2006/relationships/image" Target="../media/image37.svg"/><Relationship Id="rId46" Type="http://schemas.openxmlformats.org/officeDocument/2006/relationships/image" Target="../media/image45.svg"/><Relationship Id="rId20" Type="http://schemas.openxmlformats.org/officeDocument/2006/relationships/image" Target="../media/image19.svg"/><Relationship Id="rId41" Type="http://schemas.openxmlformats.org/officeDocument/2006/relationships/image" Target="../media/image40.png"/><Relationship Id="rId54" Type="http://schemas.openxmlformats.org/officeDocument/2006/relationships/image" Target="../media/image52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svg"/><Relationship Id="rId36" Type="http://schemas.openxmlformats.org/officeDocument/2006/relationships/image" Target="../media/image35.svg"/><Relationship Id="rId49" Type="http://schemas.openxmlformats.org/officeDocument/2006/relationships/image" Target="../media/image47.png"/></Relationships>
</file>

<file path=ppt/slides/_rels/slide1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svg"/><Relationship Id="rId26" Type="http://schemas.openxmlformats.org/officeDocument/2006/relationships/image" Target="../media/image25.svg"/><Relationship Id="rId39" Type="http://schemas.openxmlformats.org/officeDocument/2006/relationships/image" Target="../media/image38.png"/><Relationship Id="rId21" Type="http://schemas.openxmlformats.org/officeDocument/2006/relationships/image" Target="../media/image20.png"/><Relationship Id="rId34" Type="http://schemas.openxmlformats.org/officeDocument/2006/relationships/image" Target="../media/image33.svg"/><Relationship Id="rId42" Type="http://schemas.openxmlformats.org/officeDocument/2006/relationships/image" Target="../media/image41.svg"/><Relationship Id="rId47" Type="http://schemas.openxmlformats.org/officeDocument/2006/relationships/image" Target="../media/image46.svg"/><Relationship Id="rId50" Type="http://schemas.openxmlformats.org/officeDocument/2006/relationships/image" Target="../media/image49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6" Type="http://schemas.openxmlformats.org/officeDocument/2006/relationships/image" Target="../media/image15.svg"/><Relationship Id="rId29" Type="http://schemas.openxmlformats.org/officeDocument/2006/relationships/image" Target="../media/image28.png"/><Relationship Id="rId11" Type="http://schemas.openxmlformats.org/officeDocument/2006/relationships/image" Target="../media/image10.png"/><Relationship Id="rId24" Type="http://schemas.openxmlformats.org/officeDocument/2006/relationships/image" Target="../media/image23.svg"/><Relationship Id="rId32" Type="http://schemas.openxmlformats.org/officeDocument/2006/relationships/image" Target="../media/image31.svg"/><Relationship Id="rId37" Type="http://schemas.openxmlformats.org/officeDocument/2006/relationships/image" Target="../media/image36.png"/><Relationship Id="rId40" Type="http://schemas.openxmlformats.org/officeDocument/2006/relationships/image" Target="../media/image39.svg"/><Relationship Id="rId45" Type="http://schemas.openxmlformats.org/officeDocument/2006/relationships/image" Target="../media/image44.png"/><Relationship Id="rId53" Type="http://schemas.openxmlformats.org/officeDocument/2006/relationships/image" Target="../media/image52.svg"/><Relationship Id="rId5" Type="http://schemas.openxmlformats.org/officeDocument/2006/relationships/image" Target="../media/image6.png"/><Relationship Id="rId10" Type="http://schemas.openxmlformats.org/officeDocument/2006/relationships/image" Target="../media/image9.sv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4" Type="http://schemas.openxmlformats.org/officeDocument/2006/relationships/image" Target="../media/image43.svg"/><Relationship Id="rId52" Type="http://schemas.openxmlformats.org/officeDocument/2006/relationships/image" Target="../media/image51.png"/><Relationship Id="rId4" Type="http://schemas.openxmlformats.org/officeDocument/2006/relationships/image" Target="../media/image56.svg"/><Relationship Id="rId9" Type="http://schemas.openxmlformats.org/officeDocument/2006/relationships/image" Target="../media/image8.png"/><Relationship Id="rId14" Type="http://schemas.openxmlformats.org/officeDocument/2006/relationships/image" Target="../media/image13.svg"/><Relationship Id="rId22" Type="http://schemas.openxmlformats.org/officeDocument/2006/relationships/image" Target="../media/image21.svg"/><Relationship Id="rId27" Type="http://schemas.openxmlformats.org/officeDocument/2006/relationships/image" Target="../media/image26.png"/><Relationship Id="rId30" Type="http://schemas.openxmlformats.org/officeDocument/2006/relationships/image" Target="../media/image29.svg"/><Relationship Id="rId35" Type="http://schemas.openxmlformats.org/officeDocument/2006/relationships/image" Target="../media/image34.png"/><Relationship Id="rId43" Type="http://schemas.openxmlformats.org/officeDocument/2006/relationships/image" Target="../media/image42.png"/><Relationship Id="rId48" Type="http://schemas.openxmlformats.org/officeDocument/2006/relationships/image" Target="../media/image47.png"/><Relationship Id="rId8" Type="http://schemas.openxmlformats.org/officeDocument/2006/relationships/image" Target="../media/image2.svg"/><Relationship Id="rId51" Type="http://schemas.openxmlformats.org/officeDocument/2006/relationships/image" Target="../media/image50.svg"/><Relationship Id="rId3" Type="http://schemas.openxmlformats.org/officeDocument/2006/relationships/image" Target="../media/image55.png"/><Relationship Id="rId12" Type="http://schemas.openxmlformats.org/officeDocument/2006/relationships/image" Target="../media/image11.sv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38" Type="http://schemas.openxmlformats.org/officeDocument/2006/relationships/image" Target="../media/image37.svg"/><Relationship Id="rId46" Type="http://schemas.openxmlformats.org/officeDocument/2006/relationships/image" Target="../media/image45.svg"/><Relationship Id="rId20" Type="http://schemas.openxmlformats.org/officeDocument/2006/relationships/image" Target="../media/image19.svg"/><Relationship Id="rId41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svg"/><Relationship Id="rId36" Type="http://schemas.openxmlformats.org/officeDocument/2006/relationships/image" Target="../media/image35.svg"/><Relationship Id="rId49" Type="http://schemas.openxmlformats.org/officeDocument/2006/relationships/image" Target="../media/image48.svg"/></Relationships>
</file>

<file path=ppt/slides/_rels/slide1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svg"/><Relationship Id="rId26" Type="http://schemas.openxmlformats.org/officeDocument/2006/relationships/image" Target="../media/image25.svg"/><Relationship Id="rId39" Type="http://schemas.openxmlformats.org/officeDocument/2006/relationships/image" Target="../media/image38.png"/><Relationship Id="rId21" Type="http://schemas.openxmlformats.org/officeDocument/2006/relationships/image" Target="../media/image20.png"/><Relationship Id="rId34" Type="http://schemas.openxmlformats.org/officeDocument/2006/relationships/image" Target="../media/image33.svg"/><Relationship Id="rId42" Type="http://schemas.openxmlformats.org/officeDocument/2006/relationships/image" Target="../media/image41.svg"/><Relationship Id="rId47" Type="http://schemas.openxmlformats.org/officeDocument/2006/relationships/image" Target="../media/image46.svg"/><Relationship Id="rId50" Type="http://schemas.openxmlformats.org/officeDocument/2006/relationships/image" Target="../media/image49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6" Type="http://schemas.openxmlformats.org/officeDocument/2006/relationships/image" Target="../media/image15.svg"/><Relationship Id="rId29" Type="http://schemas.openxmlformats.org/officeDocument/2006/relationships/image" Target="../media/image28.png"/><Relationship Id="rId11" Type="http://schemas.openxmlformats.org/officeDocument/2006/relationships/image" Target="../media/image10.png"/><Relationship Id="rId24" Type="http://schemas.openxmlformats.org/officeDocument/2006/relationships/image" Target="../media/image23.svg"/><Relationship Id="rId32" Type="http://schemas.openxmlformats.org/officeDocument/2006/relationships/image" Target="../media/image31.svg"/><Relationship Id="rId37" Type="http://schemas.openxmlformats.org/officeDocument/2006/relationships/image" Target="../media/image36.png"/><Relationship Id="rId40" Type="http://schemas.openxmlformats.org/officeDocument/2006/relationships/image" Target="../media/image39.svg"/><Relationship Id="rId45" Type="http://schemas.openxmlformats.org/officeDocument/2006/relationships/image" Target="../media/image44.png"/><Relationship Id="rId53" Type="http://schemas.openxmlformats.org/officeDocument/2006/relationships/image" Target="../media/image52.svg"/><Relationship Id="rId5" Type="http://schemas.openxmlformats.org/officeDocument/2006/relationships/image" Target="../media/image6.png"/><Relationship Id="rId10" Type="http://schemas.openxmlformats.org/officeDocument/2006/relationships/image" Target="../media/image9.sv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4" Type="http://schemas.openxmlformats.org/officeDocument/2006/relationships/image" Target="../media/image43.svg"/><Relationship Id="rId52" Type="http://schemas.openxmlformats.org/officeDocument/2006/relationships/image" Target="../media/image51.png"/><Relationship Id="rId4" Type="http://schemas.openxmlformats.org/officeDocument/2006/relationships/image" Target="../media/image56.svg"/><Relationship Id="rId9" Type="http://schemas.openxmlformats.org/officeDocument/2006/relationships/image" Target="../media/image8.png"/><Relationship Id="rId14" Type="http://schemas.openxmlformats.org/officeDocument/2006/relationships/image" Target="../media/image13.svg"/><Relationship Id="rId22" Type="http://schemas.openxmlformats.org/officeDocument/2006/relationships/image" Target="../media/image21.svg"/><Relationship Id="rId27" Type="http://schemas.openxmlformats.org/officeDocument/2006/relationships/image" Target="../media/image26.png"/><Relationship Id="rId30" Type="http://schemas.openxmlformats.org/officeDocument/2006/relationships/image" Target="../media/image29.svg"/><Relationship Id="rId35" Type="http://schemas.openxmlformats.org/officeDocument/2006/relationships/image" Target="../media/image34.png"/><Relationship Id="rId43" Type="http://schemas.openxmlformats.org/officeDocument/2006/relationships/image" Target="../media/image42.png"/><Relationship Id="rId48" Type="http://schemas.openxmlformats.org/officeDocument/2006/relationships/image" Target="../media/image47.png"/><Relationship Id="rId8" Type="http://schemas.openxmlformats.org/officeDocument/2006/relationships/image" Target="../media/image2.svg"/><Relationship Id="rId51" Type="http://schemas.openxmlformats.org/officeDocument/2006/relationships/image" Target="../media/image50.svg"/><Relationship Id="rId3" Type="http://schemas.openxmlformats.org/officeDocument/2006/relationships/image" Target="../media/image55.png"/><Relationship Id="rId12" Type="http://schemas.openxmlformats.org/officeDocument/2006/relationships/image" Target="../media/image11.sv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38" Type="http://schemas.openxmlformats.org/officeDocument/2006/relationships/image" Target="../media/image37.svg"/><Relationship Id="rId46" Type="http://schemas.openxmlformats.org/officeDocument/2006/relationships/image" Target="../media/image45.svg"/><Relationship Id="rId20" Type="http://schemas.openxmlformats.org/officeDocument/2006/relationships/image" Target="../media/image19.svg"/><Relationship Id="rId41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svg"/><Relationship Id="rId36" Type="http://schemas.openxmlformats.org/officeDocument/2006/relationships/image" Target="../media/image35.svg"/><Relationship Id="rId49" Type="http://schemas.openxmlformats.org/officeDocument/2006/relationships/image" Target="../media/image48.svg"/></Relationships>
</file>

<file path=ppt/slides/_rels/slide1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svg"/><Relationship Id="rId26" Type="http://schemas.openxmlformats.org/officeDocument/2006/relationships/image" Target="../media/image25.svg"/><Relationship Id="rId39" Type="http://schemas.openxmlformats.org/officeDocument/2006/relationships/image" Target="../media/image38.png"/><Relationship Id="rId21" Type="http://schemas.openxmlformats.org/officeDocument/2006/relationships/image" Target="../media/image20.png"/><Relationship Id="rId34" Type="http://schemas.openxmlformats.org/officeDocument/2006/relationships/image" Target="../media/image33.svg"/><Relationship Id="rId42" Type="http://schemas.openxmlformats.org/officeDocument/2006/relationships/image" Target="../media/image41.svg"/><Relationship Id="rId47" Type="http://schemas.openxmlformats.org/officeDocument/2006/relationships/image" Target="../media/image46.svg"/><Relationship Id="rId50" Type="http://schemas.openxmlformats.org/officeDocument/2006/relationships/image" Target="../media/image49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6" Type="http://schemas.openxmlformats.org/officeDocument/2006/relationships/image" Target="../media/image15.svg"/><Relationship Id="rId29" Type="http://schemas.openxmlformats.org/officeDocument/2006/relationships/image" Target="../media/image28.png"/><Relationship Id="rId11" Type="http://schemas.openxmlformats.org/officeDocument/2006/relationships/image" Target="../media/image10.png"/><Relationship Id="rId24" Type="http://schemas.openxmlformats.org/officeDocument/2006/relationships/image" Target="../media/image23.svg"/><Relationship Id="rId32" Type="http://schemas.openxmlformats.org/officeDocument/2006/relationships/image" Target="../media/image31.svg"/><Relationship Id="rId37" Type="http://schemas.openxmlformats.org/officeDocument/2006/relationships/image" Target="../media/image36.png"/><Relationship Id="rId40" Type="http://schemas.openxmlformats.org/officeDocument/2006/relationships/image" Target="../media/image39.svg"/><Relationship Id="rId45" Type="http://schemas.openxmlformats.org/officeDocument/2006/relationships/image" Target="../media/image44.png"/><Relationship Id="rId53" Type="http://schemas.openxmlformats.org/officeDocument/2006/relationships/image" Target="../media/image52.svg"/><Relationship Id="rId5" Type="http://schemas.openxmlformats.org/officeDocument/2006/relationships/image" Target="../media/image6.png"/><Relationship Id="rId10" Type="http://schemas.openxmlformats.org/officeDocument/2006/relationships/image" Target="../media/image9.sv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4" Type="http://schemas.openxmlformats.org/officeDocument/2006/relationships/image" Target="../media/image43.svg"/><Relationship Id="rId52" Type="http://schemas.openxmlformats.org/officeDocument/2006/relationships/image" Target="../media/image51.png"/><Relationship Id="rId4" Type="http://schemas.openxmlformats.org/officeDocument/2006/relationships/image" Target="../media/image5.svg"/><Relationship Id="rId9" Type="http://schemas.openxmlformats.org/officeDocument/2006/relationships/image" Target="../media/image8.png"/><Relationship Id="rId14" Type="http://schemas.openxmlformats.org/officeDocument/2006/relationships/image" Target="../media/image13.svg"/><Relationship Id="rId22" Type="http://schemas.openxmlformats.org/officeDocument/2006/relationships/image" Target="../media/image21.svg"/><Relationship Id="rId27" Type="http://schemas.openxmlformats.org/officeDocument/2006/relationships/image" Target="../media/image26.png"/><Relationship Id="rId30" Type="http://schemas.openxmlformats.org/officeDocument/2006/relationships/image" Target="../media/image29.svg"/><Relationship Id="rId35" Type="http://schemas.openxmlformats.org/officeDocument/2006/relationships/image" Target="../media/image34.png"/><Relationship Id="rId43" Type="http://schemas.openxmlformats.org/officeDocument/2006/relationships/image" Target="../media/image42.png"/><Relationship Id="rId48" Type="http://schemas.openxmlformats.org/officeDocument/2006/relationships/image" Target="../media/image47.png"/><Relationship Id="rId8" Type="http://schemas.openxmlformats.org/officeDocument/2006/relationships/image" Target="../media/image2.svg"/><Relationship Id="rId51" Type="http://schemas.openxmlformats.org/officeDocument/2006/relationships/image" Target="../media/image50.svg"/><Relationship Id="rId3" Type="http://schemas.openxmlformats.org/officeDocument/2006/relationships/image" Target="../media/image4.png"/><Relationship Id="rId12" Type="http://schemas.openxmlformats.org/officeDocument/2006/relationships/image" Target="../media/image11.sv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38" Type="http://schemas.openxmlformats.org/officeDocument/2006/relationships/image" Target="../media/image37.svg"/><Relationship Id="rId46" Type="http://schemas.openxmlformats.org/officeDocument/2006/relationships/image" Target="../media/image45.svg"/><Relationship Id="rId20" Type="http://schemas.openxmlformats.org/officeDocument/2006/relationships/image" Target="../media/image19.svg"/><Relationship Id="rId41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svg"/><Relationship Id="rId36" Type="http://schemas.openxmlformats.org/officeDocument/2006/relationships/image" Target="../media/image35.svg"/><Relationship Id="rId49" Type="http://schemas.openxmlformats.org/officeDocument/2006/relationships/image" Target="../media/image48.svg"/></Relationships>
</file>

<file path=ppt/slides/_rels/slide1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svg"/><Relationship Id="rId26" Type="http://schemas.openxmlformats.org/officeDocument/2006/relationships/image" Target="../media/image25.svg"/><Relationship Id="rId39" Type="http://schemas.openxmlformats.org/officeDocument/2006/relationships/image" Target="../media/image38.png"/><Relationship Id="rId21" Type="http://schemas.openxmlformats.org/officeDocument/2006/relationships/image" Target="../media/image20.png"/><Relationship Id="rId34" Type="http://schemas.openxmlformats.org/officeDocument/2006/relationships/image" Target="../media/image33.svg"/><Relationship Id="rId42" Type="http://schemas.openxmlformats.org/officeDocument/2006/relationships/image" Target="../media/image41.svg"/><Relationship Id="rId47" Type="http://schemas.openxmlformats.org/officeDocument/2006/relationships/image" Target="../media/image46.svg"/><Relationship Id="rId50" Type="http://schemas.openxmlformats.org/officeDocument/2006/relationships/image" Target="../media/image49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6" Type="http://schemas.openxmlformats.org/officeDocument/2006/relationships/image" Target="../media/image15.svg"/><Relationship Id="rId29" Type="http://schemas.openxmlformats.org/officeDocument/2006/relationships/image" Target="../media/image28.png"/><Relationship Id="rId11" Type="http://schemas.openxmlformats.org/officeDocument/2006/relationships/image" Target="../media/image10.png"/><Relationship Id="rId24" Type="http://schemas.openxmlformats.org/officeDocument/2006/relationships/image" Target="../media/image23.svg"/><Relationship Id="rId32" Type="http://schemas.openxmlformats.org/officeDocument/2006/relationships/image" Target="../media/image31.svg"/><Relationship Id="rId37" Type="http://schemas.openxmlformats.org/officeDocument/2006/relationships/image" Target="../media/image36.png"/><Relationship Id="rId40" Type="http://schemas.openxmlformats.org/officeDocument/2006/relationships/image" Target="../media/image39.svg"/><Relationship Id="rId45" Type="http://schemas.openxmlformats.org/officeDocument/2006/relationships/image" Target="../media/image44.png"/><Relationship Id="rId53" Type="http://schemas.openxmlformats.org/officeDocument/2006/relationships/image" Target="../media/image52.svg"/><Relationship Id="rId5" Type="http://schemas.openxmlformats.org/officeDocument/2006/relationships/image" Target="../media/image6.png"/><Relationship Id="rId10" Type="http://schemas.openxmlformats.org/officeDocument/2006/relationships/image" Target="../media/image9.sv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4" Type="http://schemas.openxmlformats.org/officeDocument/2006/relationships/image" Target="../media/image43.svg"/><Relationship Id="rId52" Type="http://schemas.openxmlformats.org/officeDocument/2006/relationships/image" Target="../media/image51.png"/><Relationship Id="rId4" Type="http://schemas.openxmlformats.org/officeDocument/2006/relationships/image" Target="../media/image56.svg"/><Relationship Id="rId9" Type="http://schemas.openxmlformats.org/officeDocument/2006/relationships/image" Target="../media/image8.png"/><Relationship Id="rId14" Type="http://schemas.openxmlformats.org/officeDocument/2006/relationships/image" Target="../media/image13.svg"/><Relationship Id="rId22" Type="http://schemas.openxmlformats.org/officeDocument/2006/relationships/image" Target="../media/image21.svg"/><Relationship Id="rId27" Type="http://schemas.openxmlformats.org/officeDocument/2006/relationships/image" Target="../media/image26.png"/><Relationship Id="rId30" Type="http://schemas.openxmlformats.org/officeDocument/2006/relationships/image" Target="../media/image29.svg"/><Relationship Id="rId35" Type="http://schemas.openxmlformats.org/officeDocument/2006/relationships/image" Target="../media/image34.png"/><Relationship Id="rId43" Type="http://schemas.openxmlformats.org/officeDocument/2006/relationships/image" Target="../media/image42.png"/><Relationship Id="rId48" Type="http://schemas.openxmlformats.org/officeDocument/2006/relationships/image" Target="../media/image47.png"/><Relationship Id="rId8" Type="http://schemas.openxmlformats.org/officeDocument/2006/relationships/image" Target="../media/image2.svg"/><Relationship Id="rId51" Type="http://schemas.openxmlformats.org/officeDocument/2006/relationships/image" Target="../media/image50.svg"/><Relationship Id="rId3" Type="http://schemas.openxmlformats.org/officeDocument/2006/relationships/image" Target="../media/image55.png"/><Relationship Id="rId12" Type="http://schemas.openxmlformats.org/officeDocument/2006/relationships/image" Target="../media/image11.sv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38" Type="http://schemas.openxmlformats.org/officeDocument/2006/relationships/image" Target="../media/image37.svg"/><Relationship Id="rId46" Type="http://schemas.openxmlformats.org/officeDocument/2006/relationships/image" Target="../media/image45.svg"/><Relationship Id="rId20" Type="http://schemas.openxmlformats.org/officeDocument/2006/relationships/image" Target="../media/image19.svg"/><Relationship Id="rId41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svg"/><Relationship Id="rId36" Type="http://schemas.openxmlformats.org/officeDocument/2006/relationships/image" Target="../media/image35.svg"/><Relationship Id="rId49" Type="http://schemas.openxmlformats.org/officeDocument/2006/relationships/image" Target="../media/image48.svg"/></Relationships>
</file>

<file path=ppt/slides/_rels/slide2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svg"/><Relationship Id="rId26" Type="http://schemas.openxmlformats.org/officeDocument/2006/relationships/image" Target="../media/image25.svg"/><Relationship Id="rId39" Type="http://schemas.openxmlformats.org/officeDocument/2006/relationships/image" Target="../media/image38.png"/><Relationship Id="rId21" Type="http://schemas.openxmlformats.org/officeDocument/2006/relationships/image" Target="../media/image20.png"/><Relationship Id="rId34" Type="http://schemas.openxmlformats.org/officeDocument/2006/relationships/image" Target="../media/image33.svg"/><Relationship Id="rId42" Type="http://schemas.openxmlformats.org/officeDocument/2006/relationships/image" Target="../media/image41.svg"/><Relationship Id="rId47" Type="http://schemas.openxmlformats.org/officeDocument/2006/relationships/image" Target="../media/image46.svg"/><Relationship Id="rId50" Type="http://schemas.openxmlformats.org/officeDocument/2006/relationships/image" Target="../media/image49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6" Type="http://schemas.openxmlformats.org/officeDocument/2006/relationships/image" Target="../media/image15.svg"/><Relationship Id="rId29" Type="http://schemas.openxmlformats.org/officeDocument/2006/relationships/image" Target="../media/image28.png"/><Relationship Id="rId11" Type="http://schemas.openxmlformats.org/officeDocument/2006/relationships/image" Target="../media/image10.png"/><Relationship Id="rId24" Type="http://schemas.openxmlformats.org/officeDocument/2006/relationships/image" Target="../media/image23.svg"/><Relationship Id="rId32" Type="http://schemas.openxmlformats.org/officeDocument/2006/relationships/image" Target="../media/image31.svg"/><Relationship Id="rId37" Type="http://schemas.openxmlformats.org/officeDocument/2006/relationships/image" Target="../media/image36.png"/><Relationship Id="rId40" Type="http://schemas.openxmlformats.org/officeDocument/2006/relationships/image" Target="../media/image39.svg"/><Relationship Id="rId45" Type="http://schemas.openxmlformats.org/officeDocument/2006/relationships/image" Target="../media/image44.png"/><Relationship Id="rId53" Type="http://schemas.openxmlformats.org/officeDocument/2006/relationships/image" Target="../media/image52.svg"/><Relationship Id="rId5" Type="http://schemas.openxmlformats.org/officeDocument/2006/relationships/image" Target="../media/image6.png"/><Relationship Id="rId10" Type="http://schemas.openxmlformats.org/officeDocument/2006/relationships/image" Target="../media/image9.sv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4" Type="http://schemas.openxmlformats.org/officeDocument/2006/relationships/image" Target="../media/image43.svg"/><Relationship Id="rId52" Type="http://schemas.openxmlformats.org/officeDocument/2006/relationships/image" Target="../media/image51.png"/><Relationship Id="rId4" Type="http://schemas.openxmlformats.org/officeDocument/2006/relationships/image" Target="../media/image5.svg"/><Relationship Id="rId9" Type="http://schemas.openxmlformats.org/officeDocument/2006/relationships/image" Target="../media/image8.png"/><Relationship Id="rId14" Type="http://schemas.openxmlformats.org/officeDocument/2006/relationships/image" Target="../media/image13.svg"/><Relationship Id="rId22" Type="http://schemas.openxmlformats.org/officeDocument/2006/relationships/image" Target="../media/image21.svg"/><Relationship Id="rId27" Type="http://schemas.openxmlformats.org/officeDocument/2006/relationships/image" Target="../media/image26.png"/><Relationship Id="rId30" Type="http://schemas.openxmlformats.org/officeDocument/2006/relationships/image" Target="../media/image29.svg"/><Relationship Id="rId35" Type="http://schemas.openxmlformats.org/officeDocument/2006/relationships/image" Target="../media/image34.png"/><Relationship Id="rId43" Type="http://schemas.openxmlformats.org/officeDocument/2006/relationships/image" Target="../media/image42.png"/><Relationship Id="rId48" Type="http://schemas.openxmlformats.org/officeDocument/2006/relationships/image" Target="../media/image47.png"/><Relationship Id="rId8" Type="http://schemas.openxmlformats.org/officeDocument/2006/relationships/image" Target="../media/image2.svg"/><Relationship Id="rId51" Type="http://schemas.openxmlformats.org/officeDocument/2006/relationships/image" Target="../media/image50.svg"/><Relationship Id="rId3" Type="http://schemas.openxmlformats.org/officeDocument/2006/relationships/image" Target="../media/image4.png"/><Relationship Id="rId12" Type="http://schemas.openxmlformats.org/officeDocument/2006/relationships/image" Target="../media/image11.sv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38" Type="http://schemas.openxmlformats.org/officeDocument/2006/relationships/image" Target="../media/image37.svg"/><Relationship Id="rId46" Type="http://schemas.openxmlformats.org/officeDocument/2006/relationships/image" Target="../media/image45.svg"/><Relationship Id="rId20" Type="http://schemas.openxmlformats.org/officeDocument/2006/relationships/image" Target="../media/image19.svg"/><Relationship Id="rId41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svg"/><Relationship Id="rId36" Type="http://schemas.openxmlformats.org/officeDocument/2006/relationships/image" Target="../media/image35.svg"/><Relationship Id="rId49" Type="http://schemas.openxmlformats.org/officeDocument/2006/relationships/image" Target="../media/image48.svg"/></Relationships>
</file>

<file path=ppt/slides/_rels/slide2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svg"/><Relationship Id="rId26" Type="http://schemas.openxmlformats.org/officeDocument/2006/relationships/image" Target="../media/image25.svg"/><Relationship Id="rId39" Type="http://schemas.openxmlformats.org/officeDocument/2006/relationships/image" Target="../media/image38.png"/><Relationship Id="rId21" Type="http://schemas.openxmlformats.org/officeDocument/2006/relationships/image" Target="../media/image20.png"/><Relationship Id="rId34" Type="http://schemas.openxmlformats.org/officeDocument/2006/relationships/image" Target="../media/image33.svg"/><Relationship Id="rId42" Type="http://schemas.openxmlformats.org/officeDocument/2006/relationships/image" Target="../media/image41.svg"/><Relationship Id="rId47" Type="http://schemas.openxmlformats.org/officeDocument/2006/relationships/image" Target="../media/image46.svg"/><Relationship Id="rId50" Type="http://schemas.openxmlformats.org/officeDocument/2006/relationships/image" Target="../media/image49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6" Type="http://schemas.openxmlformats.org/officeDocument/2006/relationships/image" Target="../media/image15.svg"/><Relationship Id="rId29" Type="http://schemas.openxmlformats.org/officeDocument/2006/relationships/image" Target="../media/image28.png"/><Relationship Id="rId11" Type="http://schemas.openxmlformats.org/officeDocument/2006/relationships/image" Target="../media/image10.png"/><Relationship Id="rId24" Type="http://schemas.openxmlformats.org/officeDocument/2006/relationships/image" Target="../media/image23.svg"/><Relationship Id="rId32" Type="http://schemas.openxmlformats.org/officeDocument/2006/relationships/image" Target="../media/image31.svg"/><Relationship Id="rId37" Type="http://schemas.openxmlformats.org/officeDocument/2006/relationships/image" Target="../media/image36.png"/><Relationship Id="rId40" Type="http://schemas.openxmlformats.org/officeDocument/2006/relationships/image" Target="../media/image39.svg"/><Relationship Id="rId45" Type="http://schemas.openxmlformats.org/officeDocument/2006/relationships/image" Target="../media/image44.png"/><Relationship Id="rId53" Type="http://schemas.openxmlformats.org/officeDocument/2006/relationships/image" Target="../media/image52.svg"/><Relationship Id="rId5" Type="http://schemas.openxmlformats.org/officeDocument/2006/relationships/image" Target="../media/image6.png"/><Relationship Id="rId10" Type="http://schemas.openxmlformats.org/officeDocument/2006/relationships/image" Target="../media/image9.sv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4" Type="http://schemas.openxmlformats.org/officeDocument/2006/relationships/image" Target="../media/image43.svg"/><Relationship Id="rId52" Type="http://schemas.openxmlformats.org/officeDocument/2006/relationships/image" Target="../media/image51.png"/><Relationship Id="rId4" Type="http://schemas.openxmlformats.org/officeDocument/2006/relationships/image" Target="../media/image56.svg"/><Relationship Id="rId9" Type="http://schemas.openxmlformats.org/officeDocument/2006/relationships/image" Target="../media/image8.png"/><Relationship Id="rId14" Type="http://schemas.openxmlformats.org/officeDocument/2006/relationships/image" Target="../media/image13.svg"/><Relationship Id="rId22" Type="http://schemas.openxmlformats.org/officeDocument/2006/relationships/image" Target="../media/image21.svg"/><Relationship Id="rId27" Type="http://schemas.openxmlformats.org/officeDocument/2006/relationships/image" Target="../media/image26.png"/><Relationship Id="rId30" Type="http://schemas.openxmlformats.org/officeDocument/2006/relationships/image" Target="../media/image29.svg"/><Relationship Id="rId35" Type="http://schemas.openxmlformats.org/officeDocument/2006/relationships/image" Target="../media/image34.png"/><Relationship Id="rId43" Type="http://schemas.openxmlformats.org/officeDocument/2006/relationships/image" Target="../media/image42.png"/><Relationship Id="rId48" Type="http://schemas.openxmlformats.org/officeDocument/2006/relationships/image" Target="../media/image47.png"/><Relationship Id="rId8" Type="http://schemas.openxmlformats.org/officeDocument/2006/relationships/image" Target="../media/image2.svg"/><Relationship Id="rId51" Type="http://schemas.openxmlformats.org/officeDocument/2006/relationships/image" Target="../media/image50.svg"/><Relationship Id="rId3" Type="http://schemas.openxmlformats.org/officeDocument/2006/relationships/image" Target="../media/image55.png"/><Relationship Id="rId12" Type="http://schemas.openxmlformats.org/officeDocument/2006/relationships/image" Target="../media/image11.sv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38" Type="http://schemas.openxmlformats.org/officeDocument/2006/relationships/image" Target="../media/image37.svg"/><Relationship Id="rId46" Type="http://schemas.openxmlformats.org/officeDocument/2006/relationships/image" Target="../media/image45.svg"/><Relationship Id="rId20" Type="http://schemas.openxmlformats.org/officeDocument/2006/relationships/image" Target="../media/image19.svg"/><Relationship Id="rId41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svg"/><Relationship Id="rId36" Type="http://schemas.openxmlformats.org/officeDocument/2006/relationships/image" Target="../media/image35.svg"/><Relationship Id="rId49" Type="http://schemas.openxmlformats.org/officeDocument/2006/relationships/image" Target="../media/image48.svg"/></Relationships>
</file>

<file path=ppt/slides/_rels/slide2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svg"/><Relationship Id="rId26" Type="http://schemas.openxmlformats.org/officeDocument/2006/relationships/image" Target="../media/image25.svg"/><Relationship Id="rId39" Type="http://schemas.openxmlformats.org/officeDocument/2006/relationships/image" Target="../media/image38.png"/><Relationship Id="rId21" Type="http://schemas.openxmlformats.org/officeDocument/2006/relationships/image" Target="../media/image20.png"/><Relationship Id="rId34" Type="http://schemas.openxmlformats.org/officeDocument/2006/relationships/image" Target="../media/image33.svg"/><Relationship Id="rId42" Type="http://schemas.openxmlformats.org/officeDocument/2006/relationships/image" Target="../media/image41.svg"/><Relationship Id="rId47" Type="http://schemas.openxmlformats.org/officeDocument/2006/relationships/image" Target="../media/image46.svg"/><Relationship Id="rId50" Type="http://schemas.openxmlformats.org/officeDocument/2006/relationships/image" Target="../media/image49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6" Type="http://schemas.openxmlformats.org/officeDocument/2006/relationships/image" Target="../media/image15.svg"/><Relationship Id="rId29" Type="http://schemas.openxmlformats.org/officeDocument/2006/relationships/image" Target="../media/image28.png"/><Relationship Id="rId11" Type="http://schemas.openxmlformats.org/officeDocument/2006/relationships/image" Target="../media/image10.png"/><Relationship Id="rId24" Type="http://schemas.openxmlformats.org/officeDocument/2006/relationships/image" Target="../media/image23.svg"/><Relationship Id="rId32" Type="http://schemas.openxmlformats.org/officeDocument/2006/relationships/image" Target="../media/image31.svg"/><Relationship Id="rId37" Type="http://schemas.openxmlformats.org/officeDocument/2006/relationships/image" Target="../media/image36.png"/><Relationship Id="rId40" Type="http://schemas.openxmlformats.org/officeDocument/2006/relationships/image" Target="../media/image39.svg"/><Relationship Id="rId45" Type="http://schemas.openxmlformats.org/officeDocument/2006/relationships/image" Target="../media/image44.png"/><Relationship Id="rId53" Type="http://schemas.openxmlformats.org/officeDocument/2006/relationships/image" Target="../media/image52.svg"/><Relationship Id="rId5" Type="http://schemas.openxmlformats.org/officeDocument/2006/relationships/image" Target="../media/image6.png"/><Relationship Id="rId10" Type="http://schemas.openxmlformats.org/officeDocument/2006/relationships/image" Target="../media/image9.sv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4" Type="http://schemas.openxmlformats.org/officeDocument/2006/relationships/image" Target="../media/image43.svg"/><Relationship Id="rId52" Type="http://schemas.openxmlformats.org/officeDocument/2006/relationships/image" Target="../media/image51.png"/><Relationship Id="rId4" Type="http://schemas.openxmlformats.org/officeDocument/2006/relationships/image" Target="../media/image56.svg"/><Relationship Id="rId9" Type="http://schemas.openxmlformats.org/officeDocument/2006/relationships/image" Target="../media/image8.png"/><Relationship Id="rId14" Type="http://schemas.openxmlformats.org/officeDocument/2006/relationships/image" Target="../media/image13.svg"/><Relationship Id="rId22" Type="http://schemas.openxmlformats.org/officeDocument/2006/relationships/image" Target="../media/image21.svg"/><Relationship Id="rId27" Type="http://schemas.openxmlformats.org/officeDocument/2006/relationships/image" Target="../media/image26.png"/><Relationship Id="rId30" Type="http://schemas.openxmlformats.org/officeDocument/2006/relationships/image" Target="../media/image29.svg"/><Relationship Id="rId35" Type="http://schemas.openxmlformats.org/officeDocument/2006/relationships/image" Target="../media/image34.png"/><Relationship Id="rId43" Type="http://schemas.openxmlformats.org/officeDocument/2006/relationships/image" Target="../media/image42.png"/><Relationship Id="rId48" Type="http://schemas.openxmlformats.org/officeDocument/2006/relationships/image" Target="../media/image47.png"/><Relationship Id="rId8" Type="http://schemas.openxmlformats.org/officeDocument/2006/relationships/image" Target="../media/image2.svg"/><Relationship Id="rId51" Type="http://schemas.openxmlformats.org/officeDocument/2006/relationships/image" Target="../media/image50.svg"/><Relationship Id="rId3" Type="http://schemas.openxmlformats.org/officeDocument/2006/relationships/image" Target="../media/image55.png"/><Relationship Id="rId12" Type="http://schemas.openxmlformats.org/officeDocument/2006/relationships/image" Target="../media/image11.sv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38" Type="http://schemas.openxmlformats.org/officeDocument/2006/relationships/image" Target="../media/image37.svg"/><Relationship Id="rId46" Type="http://schemas.openxmlformats.org/officeDocument/2006/relationships/image" Target="../media/image45.svg"/><Relationship Id="rId20" Type="http://schemas.openxmlformats.org/officeDocument/2006/relationships/image" Target="../media/image19.svg"/><Relationship Id="rId41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svg"/><Relationship Id="rId36" Type="http://schemas.openxmlformats.org/officeDocument/2006/relationships/image" Target="../media/image35.svg"/><Relationship Id="rId49" Type="http://schemas.openxmlformats.org/officeDocument/2006/relationships/image" Target="../media/image48.svg"/></Relationships>
</file>

<file path=ppt/slides/_rels/slide2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svg"/><Relationship Id="rId26" Type="http://schemas.openxmlformats.org/officeDocument/2006/relationships/image" Target="../media/image25.svg"/><Relationship Id="rId39" Type="http://schemas.openxmlformats.org/officeDocument/2006/relationships/image" Target="../media/image38.png"/><Relationship Id="rId21" Type="http://schemas.openxmlformats.org/officeDocument/2006/relationships/image" Target="../media/image20.png"/><Relationship Id="rId34" Type="http://schemas.openxmlformats.org/officeDocument/2006/relationships/image" Target="../media/image33.svg"/><Relationship Id="rId42" Type="http://schemas.openxmlformats.org/officeDocument/2006/relationships/image" Target="../media/image41.svg"/><Relationship Id="rId47" Type="http://schemas.openxmlformats.org/officeDocument/2006/relationships/image" Target="../media/image46.svg"/><Relationship Id="rId50" Type="http://schemas.openxmlformats.org/officeDocument/2006/relationships/image" Target="../media/image49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6" Type="http://schemas.openxmlformats.org/officeDocument/2006/relationships/image" Target="../media/image15.svg"/><Relationship Id="rId29" Type="http://schemas.openxmlformats.org/officeDocument/2006/relationships/image" Target="../media/image28.png"/><Relationship Id="rId11" Type="http://schemas.openxmlformats.org/officeDocument/2006/relationships/image" Target="../media/image10.png"/><Relationship Id="rId24" Type="http://schemas.openxmlformats.org/officeDocument/2006/relationships/image" Target="../media/image23.svg"/><Relationship Id="rId32" Type="http://schemas.openxmlformats.org/officeDocument/2006/relationships/image" Target="../media/image31.svg"/><Relationship Id="rId37" Type="http://schemas.openxmlformats.org/officeDocument/2006/relationships/image" Target="../media/image36.png"/><Relationship Id="rId40" Type="http://schemas.openxmlformats.org/officeDocument/2006/relationships/image" Target="../media/image39.svg"/><Relationship Id="rId45" Type="http://schemas.openxmlformats.org/officeDocument/2006/relationships/image" Target="../media/image44.png"/><Relationship Id="rId53" Type="http://schemas.openxmlformats.org/officeDocument/2006/relationships/image" Target="../media/image52.svg"/><Relationship Id="rId5" Type="http://schemas.openxmlformats.org/officeDocument/2006/relationships/image" Target="../media/image6.png"/><Relationship Id="rId10" Type="http://schemas.openxmlformats.org/officeDocument/2006/relationships/image" Target="../media/image9.sv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4" Type="http://schemas.openxmlformats.org/officeDocument/2006/relationships/image" Target="../media/image43.svg"/><Relationship Id="rId52" Type="http://schemas.openxmlformats.org/officeDocument/2006/relationships/image" Target="../media/image51.png"/><Relationship Id="rId4" Type="http://schemas.openxmlformats.org/officeDocument/2006/relationships/image" Target="../media/image56.svg"/><Relationship Id="rId9" Type="http://schemas.openxmlformats.org/officeDocument/2006/relationships/image" Target="../media/image8.png"/><Relationship Id="rId14" Type="http://schemas.openxmlformats.org/officeDocument/2006/relationships/image" Target="../media/image13.svg"/><Relationship Id="rId22" Type="http://schemas.openxmlformats.org/officeDocument/2006/relationships/image" Target="../media/image21.svg"/><Relationship Id="rId27" Type="http://schemas.openxmlformats.org/officeDocument/2006/relationships/image" Target="../media/image26.png"/><Relationship Id="rId30" Type="http://schemas.openxmlformats.org/officeDocument/2006/relationships/image" Target="../media/image29.svg"/><Relationship Id="rId35" Type="http://schemas.openxmlformats.org/officeDocument/2006/relationships/image" Target="../media/image34.png"/><Relationship Id="rId43" Type="http://schemas.openxmlformats.org/officeDocument/2006/relationships/image" Target="../media/image42.png"/><Relationship Id="rId48" Type="http://schemas.openxmlformats.org/officeDocument/2006/relationships/image" Target="../media/image47.png"/><Relationship Id="rId8" Type="http://schemas.openxmlformats.org/officeDocument/2006/relationships/image" Target="../media/image2.svg"/><Relationship Id="rId51" Type="http://schemas.openxmlformats.org/officeDocument/2006/relationships/image" Target="../media/image50.svg"/><Relationship Id="rId3" Type="http://schemas.openxmlformats.org/officeDocument/2006/relationships/image" Target="../media/image55.png"/><Relationship Id="rId12" Type="http://schemas.openxmlformats.org/officeDocument/2006/relationships/image" Target="../media/image11.sv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38" Type="http://schemas.openxmlformats.org/officeDocument/2006/relationships/image" Target="../media/image37.svg"/><Relationship Id="rId46" Type="http://schemas.openxmlformats.org/officeDocument/2006/relationships/image" Target="../media/image45.svg"/><Relationship Id="rId20" Type="http://schemas.openxmlformats.org/officeDocument/2006/relationships/image" Target="../media/image19.svg"/><Relationship Id="rId41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svg"/><Relationship Id="rId36" Type="http://schemas.openxmlformats.org/officeDocument/2006/relationships/image" Target="../media/image35.svg"/><Relationship Id="rId49" Type="http://schemas.openxmlformats.org/officeDocument/2006/relationships/image" Target="../media/image48.svg"/></Relationships>
</file>

<file path=ppt/slides/_rels/slide2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svg"/><Relationship Id="rId26" Type="http://schemas.openxmlformats.org/officeDocument/2006/relationships/image" Target="../media/image25.svg"/><Relationship Id="rId39" Type="http://schemas.openxmlformats.org/officeDocument/2006/relationships/image" Target="../media/image38.png"/><Relationship Id="rId21" Type="http://schemas.openxmlformats.org/officeDocument/2006/relationships/image" Target="../media/image20.png"/><Relationship Id="rId34" Type="http://schemas.openxmlformats.org/officeDocument/2006/relationships/image" Target="../media/image33.svg"/><Relationship Id="rId42" Type="http://schemas.openxmlformats.org/officeDocument/2006/relationships/image" Target="../media/image41.svg"/><Relationship Id="rId47" Type="http://schemas.openxmlformats.org/officeDocument/2006/relationships/image" Target="../media/image46.svg"/><Relationship Id="rId50" Type="http://schemas.openxmlformats.org/officeDocument/2006/relationships/image" Target="../media/image49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6" Type="http://schemas.openxmlformats.org/officeDocument/2006/relationships/image" Target="../media/image15.svg"/><Relationship Id="rId29" Type="http://schemas.openxmlformats.org/officeDocument/2006/relationships/image" Target="../media/image28.png"/><Relationship Id="rId11" Type="http://schemas.openxmlformats.org/officeDocument/2006/relationships/image" Target="../media/image10.png"/><Relationship Id="rId24" Type="http://schemas.openxmlformats.org/officeDocument/2006/relationships/image" Target="../media/image23.svg"/><Relationship Id="rId32" Type="http://schemas.openxmlformats.org/officeDocument/2006/relationships/image" Target="../media/image31.svg"/><Relationship Id="rId37" Type="http://schemas.openxmlformats.org/officeDocument/2006/relationships/image" Target="../media/image36.png"/><Relationship Id="rId40" Type="http://schemas.openxmlformats.org/officeDocument/2006/relationships/image" Target="../media/image39.svg"/><Relationship Id="rId45" Type="http://schemas.openxmlformats.org/officeDocument/2006/relationships/image" Target="../media/image44.png"/><Relationship Id="rId53" Type="http://schemas.openxmlformats.org/officeDocument/2006/relationships/image" Target="../media/image52.svg"/><Relationship Id="rId5" Type="http://schemas.openxmlformats.org/officeDocument/2006/relationships/image" Target="../media/image6.png"/><Relationship Id="rId10" Type="http://schemas.openxmlformats.org/officeDocument/2006/relationships/image" Target="../media/image9.sv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4" Type="http://schemas.openxmlformats.org/officeDocument/2006/relationships/image" Target="../media/image43.svg"/><Relationship Id="rId52" Type="http://schemas.openxmlformats.org/officeDocument/2006/relationships/image" Target="../media/image51.png"/><Relationship Id="rId4" Type="http://schemas.openxmlformats.org/officeDocument/2006/relationships/image" Target="../media/image56.svg"/><Relationship Id="rId9" Type="http://schemas.openxmlformats.org/officeDocument/2006/relationships/image" Target="../media/image8.png"/><Relationship Id="rId14" Type="http://schemas.openxmlformats.org/officeDocument/2006/relationships/image" Target="../media/image13.svg"/><Relationship Id="rId22" Type="http://schemas.openxmlformats.org/officeDocument/2006/relationships/image" Target="../media/image21.svg"/><Relationship Id="rId27" Type="http://schemas.openxmlformats.org/officeDocument/2006/relationships/image" Target="../media/image26.png"/><Relationship Id="rId30" Type="http://schemas.openxmlformats.org/officeDocument/2006/relationships/image" Target="../media/image29.svg"/><Relationship Id="rId35" Type="http://schemas.openxmlformats.org/officeDocument/2006/relationships/image" Target="../media/image34.png"/><Relationship Id="rId43" Type="http://schemas.openxmlformats.org/officeDocument/2006/relationships/image" Target="../media/image42.png"/><Relationship Id="rId48" Type="http://schemas.openxmlformats.org/officeDocument/2006/relationships/image" Target="../media/image47.png"/><Relationship Id="rId8" Type="http://schemas.openxmlformats.org/officeDocument/2006/relationships/image" Target="../media/image2.svg"/><Relationship Id="rId51" Type="http://schemas.openxmlformats.org/officeDocument/2006/relationships/image" Target="../media/image50.svg"/><Relationship Id="rId3" Type="http://schemas.openxmlformats.org/officeDocument/2006/relationships/image" Target="../media/image55.png"/><Relationship Id="rId12" Type="http://schemas.openxmlformats.org/officeDocument/2006/relationships/image" Target="../media/image11.sv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38" Type="http://schemas.openxmlformats.org/officeDocument/2006/relationships/image" Target="../media/image37.svg"/><Relationship Id="rId46" Type="http://schemas.openxmlformats.org/officeDocument/2006/relationships/image" Target="../media/image45.svg"/><Relationship Id="rId20" Type="http://schemas.openxmlformats.org/officeDocument/2006/relationships/image" Target="../media/image19.svg"/><Relationship Id="rId41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svg"/><Relationship Id="rId36" Type="http://schemas.openxmlformats.org/officeDocument/2006/relationships/image" Target="../media/image35.svg"/><Relationship Id="rId49" Type="http://schemas.openxmlformats.org/officeDocument/2006/relationships/image" Target="../media/image48.svg"/></Relationships>
</file>

<file path=ppt/slides/_rels/slide2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svg"/><Relationship Id="rId26" Type="http://schemas.openxmlformats.org/officeDocument/2006/relationships/image" Target="../media/image25.svg"/><Relationship Id="rId39" Type="http://schemas.openxmlformats.org/officeDocument/2006/relationships/image" Target="../media/image38.png"/><Relationship Id="rId21" Type="http://schemas.openxmlformats.org/officeDocument/2006/relationships/image" Target="../media/image20.png"/><Relationship Id="rId34" Type="http://schemas.openxmlformats.org/officeDocument/2006/relationships/image" Target="../media/image33.svg"/><Relationship Id="rId42" Type="http://schemas.openxmlformats.org/officeDocument/2006/relationships/image" Target="../media/image41.svg"/><Relationship Id="rId47" Type="http://schemas.openxmlformats.org/officeDocument/2006/relationships/image" Target="../media/image46.svg"/><Relationship Id="rId50" Type="http://schemas.openxmlformats.org/officeDocument/2006/relationships/image" Target="../media/image49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6" Type="http://schemas.openxmlformats.org/officeDocument/2006/relationships/image" Target="../media/image15.svg"/><Relationship Id="rId29" Type="http://schemas.openxmlformats.org/officeDocument/2006/relationships/image" Target="../media/image28.png"/><Relationship Id="rId11" Type="http://schemas.openxmlformats.org/officeDocument/2006/relationships/image" Target="../media/image10.png"/><Relationship Id="rId24" Type="http://schemas.openxmlformats.org/officeDocument/2006/relationships/image" Target="../media/image23.svg"/><Relationship Id="rId32" Type="http://schemas.openxmlformats.org/officeDocument/2006/relationships/image" Target="../media/image31.svg"/><Relationship Id="rId37" Type="http://schemas.openxmlformats.org/officeDocument/2006/relationships/image" Target="../media/image36.png"/><Relationship Id="rId40" Type="http://schemas.openxmlformats.org/officeDocument/2006/relationships/image" Target="../media/image39.svg"/><Relationship Id="rId45" Type="http://schemas.openxmlformats.org/officeDocument/2006/relationships/image" Target="../media/image44.png"/><Relationship Id="rId53" Type="http://schemas.openxmlformats.org/officeDocument/2006/relationships/image" Target="../media/image52.svg"/><Relationship Id="rId5" Type="http://schemas.openxmlformats.org/officeDocument/2006/relationships/image" Target="../media/image6.png"/><Relationship Id="rId10" Type="http://schemas.openxmlformats.org/officeDocument/2006/relationships/image" Target="../media/image9.sv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4" Type="http://schemas.openxmlformats.org/officeDocument/2006/relationships/image" Target="../media/image43.svg"/><Relationship Id="rId52" Type="http://schemas.openxmlformats.org/officeDocument/2006/relationships/image" Target="../media/image51.png"/><Relationship Id="rId4" Type="http://schemas.openxmlformats.org/officeDocument/2006/relationships/image" Target="../media/image5.svg"/><Relationship Id="rId9" Type="http://schemas.openxmlformats.org/officeDocument/2006/relationships/image" Target="../media/image8.png"/><Relationship Id="rId14" Type="http://schemas.openxmlformats.org/officeDocument/2006/relationships/image" Target="../media/image13.svg"/><Relationship Id="rId22" Type="http://schemas.openxmlformats.org/officeDocument/2006/relationships/image" Target="../media/image21.svg"/><Relationship Id="rId27" Type="http://schemas.openxmlformats.org/officeDocument/2006/relationships/image" Target="../media/image26.png"/><Relationship Id="rId30" Type="http://schemas.openxmlformats.org/officeDocument/2006/relationships/image" Target="../media/image29.svg"/><Relationship Id="rId35" Type="http://schemas.openxmlformats.org/officeDocument/2006/relationships/image" Target="../media/image34.png"/><Relationship Id="rId43" Type="http://schemas.openxmlformats.org/officeDocument/2006/relationships/image" Target="../media/image42.png"/><Relationship Id="rId48" Type="http://schemas.openxmlformats.org/officeDocument/2006/relationships/image" Target="../media/image47.png"/><Relationship Id="rId8" Type="http://schemas.openxmlformats.org/officeDocument/2006/relationships/image" Target="../media/image2.svg"/><Relationship Id="rId51" Type="http://schemas.openxmlformats.org/officeDocument/2006/relationships/image" Target="../media/image50.svg"/><Relationship Id="rId3" Type="http://schemas.openxmlformats.org/officeDocument/2006/relationships/image" Target="../media/image4.png"/><Relationship Id="rId12" Type="http://schemas.openxmlformats.org/officeDocument/2006/relationships/image" Target="../media/image11.sv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38" Type="http://schemas.openxmlformats.org/officeDocument/2006/relationships/image" Target="../media/image37.svg"/><Relationship Id="rId46" Type="http://schemas.openxmlformats.org/officeDocument/2006/relationships/image" Target="../media/image45.svg"/><Relationship Id="rId20" Type="http://schemas.openxmlformats.org/officeDocument/2006/relationships/image" Target="../media/image19.svg"/><Relationship Id="rId41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svg"/><Relationship Id="rId36" Type="http://schemas.openxmlformats.org/officeDocument/2006/relationships/image" Target="../media/image35.svg"/><Relationship Id="rId49" Type="http://schemas.openxmlformats.org/officeDocument/2006/relationships/image" Target="../media/image48.svg"/></Relationships>
</file>

<file path=ppt/slides/_rels/slide2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svg"/><Relationship Id="rId26" Type="http://schemas.openxmlformats.org/officeDocument/2006/relationships/image" Target="../media/image25.svg"/><Relationship Id="rId39" Type="http://schemas.openxmlformats.org/officeDocument/2006/relationships/image" Target="../media/image38.png"/><Relationship Id="rId21" Type="http://schemas.openxmlformats.org/officeDocument/2006/relationships/image" Target="../media/image20.png"/><Relationship Id="rId34" Type="http://schemas.openxmlformats.org/officeDocument/2006/relationships/image" Target="../media/image33.svg"/><Relationship Id="rId42" Type="http://schemas.openxmlformats.org/officeDocument/2006/relationships/image" Target="../media/image41.svg"/><Relationship Id="rId47" Type="http://schemas.openxmlformats.org/officeDocument/2006/relationships/image" Target="../media/image46.svg"/><Relationship Id="rId50" Type="http://schemas.openxmlformats.org/officeDocument/2006/relationships/image" Target="../media/image49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6" Type="http://schemas.openxmlformats.org/officeDocument/2006/relationships/image" Target="../media/image15.svg"/><Relationship Id="rId29" Type="http://schemas.openxmlformats.org/officeDocument/2006/relationships/image" Target="../media/image28.png"/><Relationship Id="rId11" Type="http://schemas.openxmlformats.org/officeDocument/2006/relationships/image" Target="../media/image10.png"/><Relationship Id="rId24" Type="http://schemas.openxmlformats.org/officeDocument/2006/relationships/image" Target="../media/image23.svg"/><Relationship Id="rId32" Type="http://schemas.openxmlformats.org/officeDocument/2006/relationships/image" Target="../media/image31.svg"/><Relationship Id="rId37" Type="http://schemas.openxmlformats.org/officeDocument/2006/relationships/image" Target="../media/image36.png"/><Relationship Id="rId40" Type="http://schemas.openxmlformats.org/officeDocument/2006/relationships/image" Target="../media/image39.svg"/><Relationship Id="rId45" Type="http://schemas.openxmlformats.org/officeDocument/2006/relationships/image" Target="../media/image44.png"/><Relationship Id="rId53" Type="http://schemas.openxmlformats.org/officeDocument/2006/relationships/image" Target="../media/image52.svg"/><Relationship Id="rId5" Type="http://schemas.openxmlformats.org/officeDocument/2006/relationships/image" Target="../media/image6.png"/><Relationship Id="rId10" Type="http://schemas.openxmlformats.org/officeDocument/2006/relationships/image" Target="../media/image9.sv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4" Type="http://schemas.openxmlformats.org/officeDocument/2006/relationships/image" Target="../media/image43.svg"/><Relationship Id="rId52" Type="http://schemas.openxmlformats.org/officeDocument/2006/relationships/image" Target="../media/image51.png"/><Relationship Id="rId4" Type="http://schemas.openxmlformats.org/officeDocument/2006/relationships/image" Target="../media/image56.svg"/><Relationship Id="rId9" Type="http://schemas.openxmlformats.org/officeDocument/2006/relationships/image" Target="../media/image8.png"/><Relationship Id="rId14" Type="http://schemas.openxmlformats.org/officeDocument/2006/relationships/image" Target="../media/image13.svg"/><Relationship Id="rId22" Type="http://schemas.openxmlformats.org/officeDocument/2006/relationships/image" Target="../media/image21.svg"/><Relationship Id="rId27" Type="http://schemas.openxmlformats.org/officeDocument/2006/relationships/image" Target="../media/image26.png"/><Relationship Id="rId30" Type="http://schemas.openxmlformats.org/officeDocument/2006/relationships/image" Target="../media/image29.svg"/><Relationship Id="rId35" Type="http://schemas.openxmlformats.org/officeDocument/2006/relationships/image" Target="../media/image34.png"/><Relationship Id="rId43" Type="http://schemas.openxmlformats.org/officeDocument/2006/relationships/image" Target="../media/image42.png"/><Relationship Id="rId48" Type="http://schemas.openxmlformats.org/officeDocument/2006/relationships/image" Target="../media/image47.png"/><Relationship Id="rId8" Type="http://schemas.openxmlformats.org/officeDocument/2006/relationships/image" Target="../media/image2.svg"/><Relationship Id="rId51" Type="http://schemas.openxmlformats.org/officeDocument/2006/relationships/image" Target="../media/image50.svg"/><Relationship Id="rId3" Type="http://schemas.openxmlformats.org/officeDocument/2006/relationships/image" Target="../media/image55.png"/><Relationship Id="rId12" Type="http://schemas.openxmlformats.org/officeDocument/2006/relationships/image" Target="../media/image11.sv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38" Type="http://schemas.openxmlformats.org/officeDocument/2006/relationships/image" Target="../media/image37.svg"/><Relationship Id="rId46" Type="http://schemas.openxmlformats.org/officeDocument/2006/relationships/image" Target="../media/image45.svg"/><Relationship Id="rId20" Type="http://schemas.openxmlformats.org/officeDocument/2006/relationships/image" Target="../media/image19.svg"/><Relationship Id="rId41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svg"/><Relationship Id="rId36" Type="http://schemas.openxmlformats.org/officeDocument/2006/relationships/image" Target="../media/image35.svg"/><Relationship Id="rId49" Type="http://schemas.openxmlformats.org/officeDocument/2006/relationships/image" Target="../media/image48.svg"/></Relationships>
</file>

<file path=ppt/slides/_rels/slide2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svg"/><Relationship Id="rId26" Type="http://schemas.openxmlformats.org/officeDocument/2006/relationships/image" Target="../media/image25.svg"/><Relationship Id="rId39" Type="http://schemas.openxmlformats.org/officeDocument/2006/relationships/image" Target="../media/image38.png"/><Relationship Id="rId21" Type="http://schemas.openxmlformats.org/officeDocument/2006/relationships/image" Target="../media/image20.png"/><Relationship Id="rId34" Type="http://schemas.openxmlformats.org/officeDocument/2006/relationships/image" Target="../media/image33.svg"/><Relationship Id="rId42" Type="http://schemas.openxmlformats.org/officeDocument/2006/relationships/image" Target="../media/image41.svg"/><Relationship Id="rId47" Type="http://schemas.openxmlformats.org/officeDocument/2006/relationships/image" Target="../media/image46.svg"/><Relationship Id="rId50" Type="http://schemas.openxmlformats.org/officeDocument/2006/relationships/image" Target="../media/image49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6" Type="http://schemas.openxmlformats.org/officeDocument/2006/relationships/image" Target="../media/image15.svg"/><Relationship Id="rId29" Type="http://schemas.openxmlformats.org/officeDocument/2006/relationships/image" Target="../media/image28.png"/><Relationship Id="rId11" Type="http://schemas.openxmlformats.org/officeDocument/2006/relationships/image" Target="../media/image10.png"/><Relationship Id="rId24" Type="http://schemas.openxmlformats.org/officeDocument/2006/relationships/image" Target="../media/image23.svg"/><Relationship Id="rId32" Type="http://schemas.openxmlformats.org/officeDocument/2006/relationships/image" Target="../media/image31.svg"/><Relationship Id="rId37" Type="http://schemas.openxmlformats.org/officeDocument/2006/relationships/image" Target="../media/image36.png"/><Relationship Id="rId40" Type="http://schemas.openxmlformats.org/officeDocument/2006/relationships/image" Target="../media/image39.svg"/><Relationship Id="rId45" Type="http://schemas.openxmlformats.org/officeDocument/2006/relationships/image" Target="../media/image44.png"/><Relationship Id="rId53" Type="http://schemas.openxmlformats.org/officeDocument/2006/relationships/image" Target="../media/image52.svg"/><Relationship Id="rId5" Type="http://schemas.openxmlformats.org/officeDocument/2006/relationships/image" Target="../media/image6.png"/><Relationship Id="rId10" Type="http://schemas.openxmlformats.org/officeDocument/2006/relationships/image" Target="../media/image9.sv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4" Type="http://schemas.openxmlformats.org/officeDocument/2006/relationships/image" Target="../media/image43.svg"/><Relationship Id="rId52" Type="http://schemas.openxmlformats.org/officeDocument/2006/relationships/image" Target="../media/image51.png"/><Relationship Id="rId4" Type="http://schemas.openxmlformats.org/officeDocument/2006/relationships/image" Target="../media/image5.svg"/><Relationship Id="rId9" Type="http://schemas.openxmlformats.org/officeDocument/2006/relationships/image" Target="../media/image8.png"/><Relationship Id="rId14" Type="http://schemas.openxmlformats.org/officeDocument/2006/relationships/image" Target="../media/image13.svg"/><Relationship Id="rId22" Type="http://schemas.openxmlformats.org/officeDocument/2006/relationships/image" Target="../media/image21.svg"/><Relationship Id="rId27" Type="http://schemas.openxmlformats.org/officeDocument/2006/relationships/image" Target="../media/image26.png"/><Relationship Id="rId30" Type="http://schemas.openxmlformats.org/officeDocument/2006/relationships/image" Target="../media/image29.svg"/><Relationship Id="rId35" Type="http://schemas.openxmlformats.org/officeDocument/2006/relationships/image" Target="../media/image34.png"/><Relationship Id="rId43" Type="http://schemas.openxmlformats.org/officeDocument/2006/relationships/image" Target="../media/image42.png"/><Relationship Id="rId48" Type="http://schemas.openxmlformats.org/officeDocument/2006/relationships/image" Target="../media/image47.png"/><Relationship Id="rId8" Type="http://schemas.openxmlformats.org/officeDocument/2006/relationships/image" Target="../media/image2.svg"/><Relationship Id="rId51" Type="http://schemas.openxmlformats.org/officeDocument/2006/relationships/image" Target="../media/image50.svg"/><Relationship Id="rId3" Type="http://schemas.openxmlformats.org/officeDocument/2006/relationships/image" Target="../media/image4.png"/><Relationship Id="rId12" Type="http://schemas.openxmlformats.org/officeDocument/2006/relationships/image" Target="../media/image11.sv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38" Type="http://schemas.openxmlformats.org/officeDocument/2006/relationships/image" Target="../media/image37.svg"/><Relationship Id="rId46" Type="http://schemas.openxmlformats.org/officeDocument/2006/relationships/image" Target="../media/image45.svg"/><Relationship Id="rId20" Type="http://schemas.openxmlformats.org/officeDocument/2006/relationships/image" Target="../media/image19.svg"/><Relationship Id="rId41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svg"/><Relationship Id="rId36" Type="http://schemas.openxmlformats.org/officeDocument/2006/relationships/image" Target="../media/image35.svg"/><Relationship Id="rId49" Type="http://schemas.openxmlformats.org/officeDocument/2006/relationships/image" Target="../media/image48.svg"/></Relationships>
</file>

<file path=ppt/slides/_rels/slide2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svg"/><Relationship Id="rId26" Type="http://schemas.openxmlformats.org/officeDocument/2006/relationships/image" Target="../media/image25.svg"/><Relationship Id="rId39" Type="http://schemas.openxmlformats.org/officeDocument/2006/relationships/image" Target="../media/image38.png"/><Relationship Id="rId21" Type="http://schemas.openxmlformats.org/officeDocument/2006/relationships/image" Target="../media/image20.png"/><Relationship Id="rId34" Type="http://schemas.openxmlformats.org/officeDocument/2006/relationships/image" Target="../media/image33.svg"/><Relationship Id="rId42" Type="http://schemas.openxmlformats.org/officeDocument/2006/relationships/image" Target="../media/image41.svg"/><Relationship Id="rId47" Type="http://schemas.openxmlformats.org/officeDocument/2006/relationships/image" Target="../media/image46.svg"/><Relationship Id="rId50" Type="http://schemas.openxmlformats.org/officeDocument/2006/relationships/image" Target="../media/image47.png"/><Relationship Id="rId55" Type="http://schemas.openxmlformats.org/officeDocument/2006/relationships/image" Target="../media/image52.sv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6" Type="http://schemas.openxmlformats.org/officeDocument/2006/relationships/image" Target="../media/image15.svg"/><Relationship Id="rId29" Type="http://schemas.openxmlformats.org/officeDocument/2006/relationships/image" Target="../media/image28.png"/><Relationship Id="rId11" Type="http://schemas.openxmlformats.org/officeDocument/2006/relationships/image" Target="../media/image10.png"/><Relationship Id="rId24" Type="http://schemas.openxmlformats.org/officeDocument/2006/relationships/image" Target="../media/image23.svg"/><Relationship Id="rId32" Type="http://schemas.openxmlformats.org/officeDocument/2006/relationships/image" Target="../media/image31.svg"/><Relationship Id="rId37" Type="http://schemas.openxmlformats.org/officeDocument/2006/relationships/image" Target="../media/image36.png"/><Relationship Id="rId40" Type="http://schemas.openxmlformats.org/officeDocument/2006/relationships/image" Target="../media/image39.svg"/><Relationship Id="rId45" Type="http://schemas.openxmlformats.org/officeDocument/2006/relationships/image" Target="../media/image44.png"/><Relationship Id="rId53" Type="http://schemas.openxmlformats.org/officeDocument/2006/relationships/image" Target="../media/image50.svg"/><Relationship Id="rId5" Type="http://schemas.openxmlformats.org/officeDocument/2006/relationships/image" Target="../media/image6.png"/><Relationship Id="rId10" Type="http://schemas.openxmlformats.org/officeDocument/2006/relationships/image" Target="../media/image9.sv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4" Type="http://schemas.openxmlformats.org/officeDocument/2006/relationships/image" Target="../media/image43.svg"/><Relationship Id="rId52" Type="http://schemas.openxmlformats.org/officeDocument/2006/relationships/image" Target="../media/image49.png"/><Relationship Id="rId4" Type="http://schemas.openxmlformats.org/officeDocument/2006/relationships/image" Target="../media/image56.svg"/><Relationship Id="rId9" Type="http://schemas.openxmlformats.org/officeDocument/2006/relationships/image" Target="../media/image8.png"/><Relationship Id="rId14" Type="http://schemas.openxmlformats.org/officeDocument/2006/relationships/image" Target="../media/image13.svg"/><Relationship Id="rId22" Type="http://schemas.openxmlformats.org/officeDocument/2006/relationships/image" Target="../media/image21.svg"/><Relationship Id="rId27" Type="http://schemas.openxmlformats.org/officeDocument/2006/relationships/image" Target="../media/image26.png"/><Relationship Id="rId30" Type="http://schemas.openxmlformats.org/officeDocument/2006/relationships/image" Target="../media/image29.svg"/><Relationship Id="rId35" Type="http://schemas.openxmlformats.org/officeDocument/2006/relationships/image" Target="../media/image34.png"/><Relationship Id="rId43" Type="http://schemas.openxmlformats.org/officeDocument/2006/relationships/image" Target="../media/image42.png"/><Relationship Id="rId48" Type="http://schemas.openxmlformats.org/officeDocument/2006/relationships/image" Target="../media/image53.png"/><Relationship Id="rId8" Type="http://schemas.openxmlformats.org/officeDocument/2006/relationships/image" Target="../media/image2.svg"/><Relationship Id="rId51" Type="http://schemas.openxmlformats.org/officeDocument/2006/relationships/image" Target="../media/image48.svg"/><Relationship Id="rId3" Type="http://schemas.openxmlformats.org/officeDocument/2006/relationships/image" Target="../media/image55.png"/><Relationship Id="rId12" Type="http://schemas.openxmlformats.org/officeDocument/2006/relationships/image" Target="../media/image11.sv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38" Type="http://schemas.openxmlformats.org/officeDocument/2006/relationships/image" Target="../media/image37.svg"/><Relationship Id="rId46" Type="http://schemas.openxmlformats.org/officeDocument/2006/relationships/image" Target="../media/image45.svg"/><Relationship Id="rId20" Type="http://schemas.openxmlformats.org/officeDocument/2006/relationships/image" Target="../media/image19.svg"/><Relationship Id="rId41" Type="http://schemas.openxmlformats.org/officeDocument/2006/relationships/image" Target="../media/image40.png"/><Relationship Id="rId54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svg"/><Relationship Id="rId36" Type="http://schemas.openxmlformats.org/officeDocument/2006/relationships/image" Target="../media/image35.svg"/><Relationship Id="rId49" Type="http://schemas.openxmlformats.org/officeDocument/2006/relationships/image" Target="../media/image54.svg"/></Relationships>
</file>

<file path=ppt/slides/_rels/slide2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svg"/><Relationship Id="rId26" Type="http://schemas.openxmlformats.org/officeDocument/2006/relationships/image" Target="../media/image25.svg"/><Relationship Id="rId39" Type="http://schemas.openxmlformats.org/officeDocument/2006/relationships/image" Target="../media/image38.png"/><Relationship Id="rId21" Type="http://schemas.openxmlformats.org/officeDocument/2006/relationships/image" Target="../media/image20.png"/><Relationship Id="rId34" Type="http://schemas.openxmlformats.org/officeDocument/2006/relationships/image" Target="../media/image33.svg"/><Relationship Id="rId42" Type="http://schemas.openxmlformats.org/officeDocument/2006/relationships/image" Target="../media/image41.svg"/><Relationship Id="rId47" Type="http://schemas.openxmlformats.org/officeDocument/2006/relationships/image" Target="../media/image46.svg"/><Relationship Id="rId50" Type="http://schemas.openxmlformats.org/officeDocument/2006/relationships/image" Target="../media/image48.sv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6" Type="http://schemas.openxmlformats.org/officeDocument/2006/relationships/image" Target="../media/image15.svg"/><Relationship Id="rId29" Type="http://schemas.openxmlformats.org/officeDocument/2006/relationships/image" Target="../media/image28.png"/><Relationship Id="rId11" Type="http://schemas.openxmlformats.org/officeDocument/2006/relationships/image" Target="../media/image10.png"/><Relationship Id="rId24" Type="http://schemas.openxmlformats.org/officeDocument/2006/relationships/image" Target="../media/image23.svg"/><Relationship Id="rId32" Type="http://schemas.openxmlformats.org/officeDocument/2006/relationships/image" Target="../media/image31.svg"/><Relationship Id="rId37" Type="http://schemas.openxmlformats.org/officeDocument/2006/relationships/image" Target="../media/image36.png"/><Relationship Id="rId40" Type="http://schemas.openxmlformats.org/officeDocument/2006/relationships/image" Target="../media/image39.svg"/><Relationship Id="rId45" Type="http://schemas.openxmlformats.org/officeDocument/2006/relationships/image" Target="../media/image44.png"/><Relationship Id="rId53" Type="http://schemas.openxmlformats.org/officeDocument/2006/relationships/image" Target="../media/image51.png"/><Relationship Id="rId5" Type="http://schemas.openxmlformats.org/officeDocument/2006/relationships/image" Target="../media/image6.png"/><Relationship Id="rId10" Type="http://schemas.openxmlformats.org/officeDocument/2006/relationships/image" Target="../media/image62.sv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4" Type="http://schemas.openxmlformats.org/officeDocument/2006/relationships/image" Target="../media/image43.svg"/><Relationship Id="rId52" Type="http://schemas.openxmlformats.org/officeDocument/2006/relationships/image" Target="../media/image50.svg"/><Relationship Id="rId4" Type="http://schemas.openxmlformats.org/officeDocument/2006/relationships/image" Target="../media/image56.svg"/><Relationship Id="rId9" Type="http://schemas.openxmlformats.org/officeDocument/2006/relationships/image" Target="../media/image61.png"/><Relationship Id="rId14" Type="http://schemas.openxmlformats.org/officeDocument/2006/relationships/image" Target="../media/image13.svg"/><Relationship Id="rId22" Type="http://schemas.openxmlformats.org/officeDocument/2006/relationships/image" Target="../media/image21.svg"/><Relationship Id="rId27" Type="http://schemas.openxmlformats.org/officeDocument/2006/relationships/image" Target="../media/image26.png"/><Relationship Id="rId30" Type="http://schemas.openxmlformats.org/officeDocument/2006/relationships/image" Target="../media/image29.svg"/><Relationship Id="rId35" Type="http://schemas.openxmlformats.org/officeDocument/2006/relationships/image" Target="../media/image34.png"/><Relationship Id="rId43" Type="http://schemas.openxmlformats.org/officeDocument/2006/relationships/image" Target="../media/image42.png"/><Relationship Id="rId48" Type="http://schemas.openxmlformats.org/officeDocument/2006/relationships/image" Target="../media/image63.jpg"/><Relationship Id="rId8" Type="http://schemas.openxmlformats.org/officeDocument/2006/relationships/image" Target="../media/image2.svg"/><Relationship Id="rId51" Type="http://schemas.openxmlformats.org/officeDocument/2006/relationships/image" Target="../media/image49.png"/><Relationship Id="rId3" Type="http://schemas.openxmlformats.org/officeDocument/2006/relationships/image" Target="../media/image55.png"/><Relationship Id="rId12" Type="http://schemas.openxmlformats.org/officeDocument/2006/relationships/image" Target="../media/image11.sv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38" Type="http://schemas.openxmlformats.org/officeDocument/2006/relationships/image" Target="../media/image37.svg"/><Relationship Id="rId46" Type="http://schemas.openxmlformats.org/officeDocument/2006/relationships/image" Target="../media/image45.svg"/><Relationship Id="rId20" Type="http://schemas.openxmlformats.org/officeDocument/2006/relationships/image" Target="../media/image19.svg"/><Relationship Id="rId41" Type="http://schemas.openxmlformats.org/officeDocument/2006/relationships/image" Target="../media/image40.png"/><Relationship Id="rId54" Type="http://schemas.openxmlformats.org/officeDocument/2006/relationships/image" Target="../media/image52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svg"/><Relationship Id="rId36" Type="http://schemas.openxmlformats.org/officeDocument/2006/relationships/image" Target="../media/image35.svg"/><Relationship Id="rId49" Type="http://schemas.openxmlformats.org/officeDocument/2006/relationships/image" Target="../media/image47.png"/></Relationships>
</file>

<file path=ppt/slides/_rels/slide3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svg"/><Relationship Id="rId26" Type="http://schemas.openxmlformats.org/officeDocument/2006/relationships/image" Target="../media/image25.svg"/><Relationship Id="rId39" Type="http://schemas.openxmlformats.org/officeDocument/2006/relationships/image" Target="../media/image38.png"/><Relationship Id="rId21" Type="http://schemas.openxmlformats.org/officeDocument/2006/relationships/image" Target="../media/image20.png"/><Relationship Id="rId34" Type="http://schemas.openxmlformats.org/officeDocument/2006/relationships/image" Target="../media/image33.svg"/><Relationship Id="rId42" Type="http://schemas.openxmlformats.org/officeDocument/2006/relationships/image" Target="../media/image41.svg"/><Relationship Id="rId47" Type="http://schemas.openxmlformats.org/officeDocument/2006/relationships/image" Target="../media/image46.svg"/><Relationship Id="rId50" Type="http://schemas.openxmlformats.org/officeDocument/2006/relationships/image" Target="../media/image49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6" Type="http://schemas.openxmlformats.org/officeDocument/2006/relationships/image" Target="../media/image15.svg"/><Relationship Id="rId29" Type="http://schemas.openxmlformats.org/officeDocument/2006/relationships/image" Target="../media/image28.png"/><Relationship Id="rId11" Type="http://schemas.openxmlformats.org/officeDocument/2006/relationships/image" Target="../media/image10.png"/><Relationship Id="rId24" Type="http://schemas.openxmlformats.org/officeDocument/2006/relationships/image" Target="../media/image23.svg"/><Relationship Id="rId32" Type="http://schemas.openxmlformats.org/officeDocument/2006/relationships/image" Target="../media/image31.svg"/><Relationship Id="rId37" Type="http://schemas.openxmlformats.org/officeDocument/2006/relationships/image" Target="../media/image36.png"/><Relationship Id="rId40" Type="http://schemas.openxmlformats.org/officeDocument/2006/relationships/image" Target="../media/image39.svg"/><Relationship Id="rId45" Type="http://schemas.openxmlformats.org/officeDocument/2006/relationships/image" Target="../media/image44.png"/><Relationship Id="rId53" Type="http://schemas.openxmlformats.org/officeDocument/2006/relationships/image" Target="../media/image52.svg"/><Relationship Id="rId5" Type="http://schemas.openxmlformats.org/officeDocument/2006/relationships/image" Target="../media/image6.png"/><Relationship Id="rId10" Type="http://schemas.openxmlformats.org/officeDocument/2006/relationships/image" Target="../media/image65.sv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4" Type="http://schemas.openxmlformats.org/officeDocument/2006/relationships/image" Target="../media/image43.svg"/><Relationship Id="rId52" Type="http://schemas.openxmlformats.org/officeDocument/2006/relationships/image" Target="../media/image51.png"/><Relationship Id="rId4" Type="http://schemas.openxmlformats.org/officeDocument/2006/relationships/image" Target="../media/image56.svg"/><Relationship Id="rId9" Type="http://schemas.openxmlformats.org/officeDocument/2006/relationships/image" Target="../media/image64.png"/><Relationship Id="rId14" Type="http://schemas.openxmlformats.org/officeDocument/2006/relationships/image" Target="../media/image13.svg"/><Relationship Id="rId22" Type="http://schemas.openxmlformats.org/officeDocument/2006/relationships/image" Target="../media/image21.svg"/><Relationship Id="rId27" Type="http://schemas.openxmlformats.org/officeDocument/2006/relationships/image" Target="../media/image26.png"/><Relationship Id="rId30" Type="http://schemas.openxmlformats.org/officeDocument/2006/relationships/image" Target="../media/image29.svg"/><Relationship Id="rId35" Type="http://schemas.openxmlformats.org/officeDocument/2006/relationships/image" Target="../media/image34.png"/><Relationship Id="rId43" Type="http://schemas.openxmlformats.org/officeDocument/2006/relationships/image" Target="../media/image42.png"/><Relationship Id="rId48" Type="http://schemas.openxmlformats.org/officeDocument/2006/relationships/image" Target="../media/image47.png"/><Relationship Id="rId8" Type="http://schemas.openxmlformats.org/officeDocument/2006/relationships/image" Target="../media/image2.svg"/><Relationship Id="rId51" Type="http://schemas.openxmlformats.org/officeDocument/2006/relationships/image" Target="../media/image50.svg"/><Relationship Id="rId3" Type="http://schemas.openxmlformats.org/officeDocument/2006/relationships/image" Target="../media/image55.png"/><Relationship Id="rId12" Type="http://schemas.openxmlformats.org/officeDocument/2006/relationships/image" Target="../media/image11.sv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38" Type="http://schemas.openxmlformats.org/officeDocument/2006/relationships/image" Target="../media/image37.svg"/><Relationship Id="rId46" Type="http://schemas.openxmlformats.org/officeDocument/2006/relationships/image" Target="../media/image45.svg"/><Relationship Id="rId20" Type="http://schemas.openxmlformats.org/officeDocument/2006/relationships/image" Target="../media/image19.svg"/><Relationship Id="rId41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svg"/><Relationship Id="rId36" Type="http://schemas.openxmlformats.org/officeDocument/2006/relationships/image" Target="../media/image35.svg"/><Relationship Id="rId49" Type="http://schemas.openxmlformats.org/officeDocument/2006/relationships/image" Target="../media/image48.svg"/></Relationships>
</file>

<file path=ppt/slides/_rels/slide3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svg"/><Relationship Id="rId26" Type="http://schemas.openxmlformats.org/officeDocument/2006/relationships/image" Target="../media/image25.svg"/><Relationship Id="rId39" Type="http://schemas.openxmlformats.org/officeDocument/2006/relationships/image" Target="../media/image38.png"/><Relationship Id="rId21" Type="http://schemas.openxmlformats.org/officeDocument/2006/relationships/image" Target="../media/image20.png"/><Relationship Id="rId34" Type="http://schemas.openxmlformats.org/officeDocument/2006/relationships/image" Target="../media/image33.svg"/><Relationship Id="rId42" Type="http://schemas.openxmlformats.org/officeDocument/2006/relationships/image" Target="../media/image41.svg"/><Relationship Id="rId47" Type="http://schemas.openxmlformats.org/officeDocument/2006/relationships/image" Target="../media/image46.svg"/><Relationship Id="rId50" Type="http://schemas.openxmlformats.org/officeDocument/2006/relationships/image" Target="../media/image49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6" Type="http://schemas.openxmlformats.org/officeDocument/2006/relationships/image" Target="../media/image15.svg"/><Relationship Id="rId29" Type="http://schemas.openxmlformats.org/officeDocument/2006/relationships/image" Target="../media/image28.png"/><Relationship Id="rId11" Type="http://schemas.openxmlformats.org/officeDocument/2006/relationships/image" Target="../media/image10.png"/><Relationship Id="rId24" Type="http://schemas.openxmlformats.org/officeDocument/2006/relationships/image" Target="../media/image23.svg"/><Relationship Id="rId32" Type="http://schemas.openxmlformats.org/officeDocument/2006/relationships/image" Target="../media/image31.svg"/><Relationship Id="rId37" Type="http://schemas.openxmlformats.org/officeDocument/2006/relationships/image" Target="../media/image36.png"/><Relationship Id="rId40" Type="http://schemas.openxmlformats.org/officeDocument/2006/relationships/image" Target="../media/image39.svg"/><Relationship Id="rId45" Type="http://schemas.openxmlformats.org/officeDocument/2006/relationships/image" Target="../media/image44.png"/><Relationship Id="rId53" Type="http://schemas.openxmlformats.org/officeDocument/2006/relationships/image" Target="../media/image52.svg"/><Relationship Id="rId5" Type="http://schemas.openxmlformats.org/officeDocument/2006/relationships/image" Target="../media/image6.png"/><Relationship Id="rId10" Type="http://schemas.openxmlformats.org/officeDocument/2006/relationships/image" Target="../media/image9.sv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4" Type="http://schemas.openxmlformats.org/officeDocument/2006/relationships/image" Target="../media/image43.svg"/><Relationship Id="rId52" Type="http://schemas.openxmlformats.org/officeDocument/2006/relationships/image" Target="../media/image51.png"/><Relationship Id="rId4" Type="http://schemas.openxmlformats.org/officeDocument/2006/relationships/image" Target="../media/image5.svg"/><Relationship Id="rId9" Type="http://schemas.openxmlformats.org/officeDocument/2006/relationships/image" Target="../media/image8.png"/><Relationship Id="rId14" Type="http://schemas.openxmlformats.org/officeDocument/2006/relationships/image" Target="../media/image13.svg"/><Relationship Id="rId22" Type="http://schemas.openxmlformats.org/officeDocument/2006/relationships/image" Target="../media/image21.svg"/><Relationship Id="rId27" Type="http://schemas.openxmlformats.org/officeDocument/2006/relationships/image" Target="../media/image26.png"/><Relationship Id="rId30" Type="http://schemas.openxmlformats.org/officeDocument/2006/relationships/image" Target="../media/image29.svg"/><Relationship Id="rId35" Type="http://schemas.openxmlformats.org/officeDocument/2006/relationships/image" Target="../media/image34.png"/><Relationship Id="rId43" Type="http://schemas.openxmlformats.org/officeDocument/2006/relationships/image" Target="../media/image42.png"/><Relationship Id="rId48" Type="http://schemas.openxmlformats.org/officeDocument/2006/relationships/image" Target="../media/image47.png"/><Relationship Id="rId8" Type="http://schemas.openxmlformats.org/officeDocument/2006/relationships/image" Target="../media/image2.svg"/><Relationship Id="rId51" Type="http://schemas.openxmlformats.org/officeDocument/2006/relationships/image" Target="../media/image50.svg"/><Relationship Id="rId3" Type="http://schemas.openxmlformats.org/officeDocument/2006/relationships/image" Target="../media/image4.png"/><Relationship Id="rId12" Type="http://schemas.openxmlformats.org/officeDocument/2006/relationships/image" Target="../media/image11.sv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38" Type="http://schemas.openxmlformats.org/officeDocument/2006/relationships/image" Target="../media/image37.svg"/><Relationship Id="rId46" Type="http://schemas.openxmlformats.org/officeDocument/2006/relationships/image" Target="../media/image45.svg"/><Relationship Id="rId20" Type="http://schemas.openxmlformats.org/officeDocument/2006/relationships/image" Target="../media/image19.svg"/><Relationship Id="rId41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svg"/><Relationship Id="rId36" Type="http://schemas.openxmlformats.org/officeDocument/2006/relationships/image" Target="../media/image35.svg"/><Relationship Id="rId49" Type="http://schemas.openxmlformats.org/officeDocument/2006/relationships/image" Target="../media/image48.svg"/></Relationships>
</file>

<file path=ppt/slides/_rels/slide3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svg"/><Relationship Id="rId26" Type="http://schemas.openxmlformats.org/officeDocument/2006/relationships/image" Target="../media/image25.svg"/><Relationship Id="rId39" Type="http://schemas.openxmlformats.org/officeDocument/2006/relationships/image" Target="../media/image38.png"/><Relationship Id="rId21" Type="http://schemas.openxmlformats.org/officeDocument/2006/relationships/image" Target="../media/image20.png"/><Relationship Id="rId34" Type="http://schemas.openxmlformats.org/officeDocument/2006/relationships/image" Target="../media/image33.svg"/><Relationship Id="rId42" Type="http://schemas.openxmlformats.org/officeDocument/2006/relationships/image" Target="../media/image41.svg"/><Relationship Id="rId47" Type="http://schemas.openxmlformats.org/officeDocument/2006/relationships/image" Target="../media/image46.svg"/><Relationship Id="rId50" Type="http://schemas.openxmlformats.org/officeDocument/2006/relationships/image" Target="../media/image49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6" Type="http://schemas.openxmlformats.org/officeDocument/2006/relationships/image" Target="../media/image15.svg"/><Relationship Id="rId29" Type="http://schemas.openxmlformats.org/officeDocument/2006/relationships/image" Target="../media/image28.png"/><Relationship Id="rId11" Type="http://schemas.openxmlformats.org/officeDocument/2006/relationships/image" Target="../media/image10.png"/><Relationship Id="rId24" Type="http://schemas.openxmlformats.org/officeDocument/2006/relationships/image" Target="../media/image23.svg"/><Relationship Id="rId32" Type="http://schemas.openxmlformats.org/officeDocument/2006/relationships/image" Target="../media/image31.svg"/><Relationship Id="rId37" Type="http://schemas.openxmlformats.org/officeDocument/2006/relationships/image" Target="../media/image36.png"/><Relationship Id="rId40" Type="http://schemas.openxmlformats.org/officeDocument/2006/relationships/image" Target="../media/image39.svg"/><Relationship Id="rId45" Type="http://schemas.openxmlformats.org/officeDocument/2006/relationships/image" Target="../media/image44.png"/><Relationship Id="rId53" Type="http://schemas.openxmlformats.org/officeDocument/2006/relationships/image" Target="../media/image52.svg"/><Relationship Id="rId5" Type="http://schemas.openxmlformats.org/officeDocument/2006/relationships/image" Target="../media/image6.png"/><Relationship Id="rId10" Type="http://schemas.openxmlformats.org/officeDocument/2006/relationships/image" Target="../media/image9.sv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4" Type="http://schemas.openxmlformats.org/officeDocument/2006/relationships/image" Target="../media/image43.svg"/><Relationship Id="rId52" Type="http://schemas.openxmlformats.org/officeDocument/2006/relationships/image" Target="../media/image51.png"/><Relationship Id="rId4" Type="http://schemas.openxmlformats.org/officeDocument/2006/relationships/image" Target="../media/image5.svg"/><Relationship Id="rId9" Type="http://schemas.openxmlformats.org/officeDocument/2006/relationships/image" Target="../media/image8.png"/><Relationship Id="rId14" Type="http://schemas.openxmlformats.org/officeDocument/2006/relationships/image" Target="../media/image13.svg"/><Relationship Id="rId22" Type="http://schemas.openxmlformats.org/officeDocument/2006/relationships/image" Target="../media/image21.svg"/><Relationship Id="rId27" Type="http://schemas.openxmlformats.org/officeDocument/2006/relationships/image" Target="../media/image26.png"/><Relationship Id="rId30" Type="http://schemas.openxmlformats.org/officeDocument/2006/relationships/image" Target="../media/image29.svg"/><Relationship Id="rId35" Type="http://schemas.openxmlformats.org/officeDocument/2006/relationships/image" Target="../media/image34.png"/><Relationship Id="rId43" Type="http://schemas.openxmlformats.org/officeDocument/2006/relationships/image" Target="../media/image42.png"/><Relationship Id="rId48" Type="http://schemas.openxmlformats.org/officeDocument/2006/relationships/image" Target="../media/image47.png"/><Relationship Id="rId8" Type="http://schemas.openxmlformats.org/officeDocument/2006/relationships/image" Target="../media/image2.svg"/><Relationship Id="rId51" Type="http://schemas.openxmlformats.org/officeDocument/2006/relationships/image" Target="../media/image50.svg"/><Relationship Id="rId3" Type="http://schemas.openxmlformats.org/officeDocument/2006/relationships/image" Target="../media/image4.png"/><Relationship Id="rId12" Type="http://schemas.openxmlformats.org/officeDocument/2006/relationships/image" Target="../media/image11.sv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38" Type="http://schemas.openxmlformats.org/officeDocument/2006/relationships/image" Target="../media/image37.svg"/><Relationship Id="rId46" Type="http://schemas.openxmlformats.org/officeDocument/2006/relationships/image" Target="../media/image45.svg"/><Relationship Id="rId20" Type="http://schemas.openxmlformats.org/officeDocument/2006/relationships/image" Target="../media/image19.svg"/><Relationship Id="rId41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svg"/><Relationship Id="rId36" Type="http://schemas.openxmlformats.org/officeDocument/2006/relationships/image" Target="../media/image35.svg"/><Relationship Id="rId49" Type="http://schemas.openxmlformats.org/officeDocument/2006/relationships/image" Target="../media/image48.svg"/></Relationships>
</file>

<file path=ppt/slides/_rels/slide3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svg"/><Relationship Id="rId26" Type="http://schemas.openxmlformats.org/officeDocument/2006/relationships/image" Target="../media/image25.svg"/><Relationship Id="rId39" Type="http://schemas.openxmlformats.org/officeDocument/2006/relationships/image" Target="../media/image38.png"/><Relationship Id="rId21" Type="http://schemas.openxmlformats.org/officeDocument/2006/relationships/image" Target="../media/image20.png"/><Relationship Id="rId34" Type="http://schemas.openxmlformats.org/officeDocument/2006/relationships/image" Target="../media/image33.svg"/><Relationship Id="rId42" Type="http://schemas.openxmlformats.org/officeDocument/2006/relationships/image" Target="../media/image41.svg"/><Relationship Id="rId47" Type="http://schemas.openxmlformats.org/officeDocument/2006/relationships/image" Target="../media/image46.svg"/><Relationship Id="rId50" Type="http://schemas.openxmlformats.org/officeDocument/2006/relationships/image" Target="../media/image49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6" Type="http://schemas.openxmlformats.org/officeDocument/2006/relationships/image" Target="../media/image15.svg"/><Relationship Id="rId29" Type="http://schemas.openxmlformats.org/officeDocument/2006/relationships/image" Target="../media/image28.png"/><Relationship Id="rId11" Type="http://schemas.openxmlformats.org/officeDocument/2006/relationships/image" Target="../media/image10.png"/><Relationship Id="rId24" Type="http://schemas.openxmlformats.org/officeDocument/2006/relationships/image" Target="../media/image23.svg"/><Relationship Id="rId32" Type="http://schemas.openxmlformats.org/officeDocument/2006/relationships/image" Target="../media/image31.svg"/><Relationship Id="rId37" Type="http://schemas.openxmlformats.org/officeDocument/2006/relationships/image" Target="../media/image36.png"/><Relationship Id="rId40" Type="http://schemas.openxmlformats.org/officeDocument/2006/relationships/image" Target="../media/image39.svg"/><Relationship Id="rId45" Type="http://schemas.openxmlformats.org/officeDocument/2006/relationships/image" Target="../media/image44.png"/><Relationship Id="rId53" Type="http://schemas.openxmlformats.org/officeDocument/2006/relationships/image" Target="../media/image52.svg"/><Relationship Id="rId5" Type="http://schemas.openxmlformats.org/officeDocument/2006/relationships/image" Target="../media/image6.png"/><Relationship Id="rId10" Type="http://schemas.openxmlformats.org/officeDocument/2006/relationships/image" Target="../media/image9.sv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4" Type="http://schemas.openxmlformats.org/officeDocument/2006/relationships/image" Target="../media/image43.svg"/><Relationship Id="rId52" Type="http://schemas.openxmlformats.org/officeDocument/2006/relationships/image" Target="../media/image51.png"/><Relationship Id="rId4" Type="http://schemas.openxmlformats.org/officeDocument/2006/relationships/image" Target="../media/image5.svg"/><Relationship Id="rId9" Type="http://schemas.openxmlformats.org/officeDocument/2006/relationships/image" Target="../media/image8.png"/><Relationship Id="rId14" Type="http://schemas.openxmlformats.org/officeDocument/2006/relationships/image" Target="../media/image13.svg"/><Relationship Id="rId22" Type="http://schemas.openxmlformats.org/officeDocument/2006/relationships/image" Target="../media/image21.svg"/><Relationship Id="rId27" Type="http://schemas.openxmlformats.org/officeDocument/2006/relationships/image" Target="../media/image26.png"/><Relationship Id="rId30" Type="http://schemas.openxmlformats.org/officeDocument/2006/relationships/image" Target="../media/image29.svg"/><Relationship Id="rId35" Type="http://schemas.openxmlformats.org/officeDocument/2006/relationships/image" Target="../media/image34.png"/><Relationship Id="rId43" Type="http://schemas.openxmlformats.org/officeDocument/2006/relationships/image" Target="../media/image42.png"/><Relationship Id="rId48" Type="http://schemas.openxmlformats.org/officeDocument/2006/relationships/image" Target="../media/image47.png"/><Relationship Id="rId8" Type="http://schemas.openxmlformats.org/officeDocument/2006/relationships/image" Target="../media/image2.svg"/><Relationship Id="rId51" Type="http://schemas.openxmlformats.org/officeDocument/2006/relationships/image" Target="../media/image50.svg"/><Relationship Id="rId3" Type="http://schemas.openxmlformats.org/officeDocument/2006/relationships/image" Target="../media/image4.png"/><Relationship Id="rId12" Type="http://schemas.openxmlformats.org/officeDocument/2006/relationships/image" Target="../media/image11.sv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38" Type="http://schemas.openxmlformats.org/officeDocument/2006/relationships/image" Target="../media/image37.svg"/><Relationship Id="rId46" Type="http://schemas.openxmlformats.org/officeDocument/2006/relationships/image" Target="../media/image45.svg"/><Relationship Id="rId20" Type="http://schemas.openxmlformats.org/officeDocument/2006/relationships/image" Target="../media/image19.svg"/><Relationship Id="rId41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svg"/><Relationship Id="rId36" Type="http://schemas.openxmlformats.org/officeDocument/2006/relationships/image" Target="../media/image35.svg"/><Relationship Id="rId49" Type="http://schemas.openxmlformats.org/officeDocument/2006/relationships/image" Target="../media/image48.svg"/></Relationships>
</file>

<file path=ppt/slides/_rels/slide3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svg"/><Relationship Id="rId26" Type="http://schemas.openxmlformats.org/officeDocument/2006/relationships/image" Target="../media/image25.svg"/><Relationship Id="rId39" Type="http://schemas.openxmlformats.org/officeDocument/2006/relationships/image" Target="../media/image38.png"/><Relationship Id="rId21" Type="http://schemas.openxmlformats.org/officeDocument/2006/relationships/image" Target="../media/image20.png"/><Relationship Id="rId34" Type="http://schemas.openxmlformats.org/officeDocument/2006/relationships/image" Target="../media/image33.svg"/><Relationship Id="rId42" Type="http://schemas.openxmlformats.org/officeDocument/2006/relationships/image" Target="../media/image41.svg"/><Relationship Id="rId47" Type="http://schemas.openxmlformats.org/officeDocument/2006/relationships/image" Target="../media/image46.svg"/><Relationship Id="rId50" Type="http://schemas.openxmlformats.org/officeDocument/2006/relationships/image" Target="../media/image47.png"/><Relationship Id="rId55" Type="http://schemas.openxmlformats.org/officeDocument/2006/relationships/image" Target="../media/image52.sv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6" Type="http://schemas.openxmlformats.org/officeDocument/2006/relationships/image" Target="../media/image15.svg"/><Relationship Id="rId29" Type="http://schemas.openxmlformats.org/officeDocument/2006/relationships/image" Target="../media/image28.png"/><Relationship Id="rId11" Type="http://schemas.openxmlformats.org/officeDocument/2006/relationships/image" Target="../media/image10.png"/><Relationship Id="rId24" Type="http://schemas.openxmlformats.org/officeDocument/2006/relationships/image" Target="../media/image23.svg"/><Relationship Id="rId32" Type="http://schemas.openxmlformats.org/officeDocument/2006/relationships/image" Target="../media/image31.svg"/><Relationship Id="rId37" Type="http://schemas.openxmlformats.org/officeDocument/2006/relationships/image" Target="../media/image36.png"/><Relationship Id="rId40" Type="http://schemas.openxmlformats.org/officeDocument/2006/relationships/image" Target="../media/image39.svg"/><Relationship Id="rId45" Type="http://schemas.openxmlformats.org/officeDocument/2006/relationships/image" Target="../media/image44.png"/><Relationship Id="rId53" Type="http://schemas.openxmlformats.org/officeDocument/2006/relationships/image" Target="../media/image50.svg"/><Relationship Id="rId5" Type="http://schemas.openxmlformats.org/officeDocument/2006/relationships/image" Target="../media/image6.png"/><Relationship Id="rId10" Type="http://schemas.openxmlformats.org/officeDocument/2006/relationships/image" Target="../media/image9.sv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4" Type="http://schemas.openxmlformats.org/officeDocument/2006/relationships/image" Target="../media/image43.svg"/><Relationship Id="rId52" Type="http://schemas.openxmlformats.org/officeDocument/2006/relationships/image" Target="../media/image49.png"/><Relationship Id="rId4" Type="http://schemas.openxmlformats.org/officeDocument/2006/relationships/image" Target="../media/image5.svg"/><Relationship Id="rId9" Type="http://schemas.openxmlformats.org/officeDocument/2006/relationships/image" Target="../media/image8.png"/><Relationship Id="rId14" Type="http://schemas.openxmlformats.org/officeDocument/2006/relationships/image" Target="../media/image13.svg"/><Relationship Id="rId22" Type="http://schemas.openxmlformats.org/officeDocument/2006/relationships/image" Target="../media/image21.svg"/><Relationship Id="rId27" Type="http://schemas.openxmlformats.org/officeDocument/2006/relationships/image" Target="../media/image26.png"/><Relationship Id="rId30" Type="http://schemas.openxmlformats.org/officeDocument/2006/relationships/image" Target="../media/image29.svg"/><Relationship Id="rId35" Type="http://schemas.openxmlformats.org/officeDocument/2006/relationships/image" Target="../media/image34.png"/><Relationship Id="rId43" Type="http://schemas.openxmlformats.org/officeDocument/2006/relationships/image" Target="../media/image42.png"/><Relationship Id="rId48" Type="http://schemas.openxmlformats.org/officeDocument/2006/relationships/image" Target="../media/image53.png"/><Relationship Id="rId8" Type="http://schemas.openxmlformats.org/officeDocument/2006/relationships/image" Target="../media/image2.svg"/><Relationship Id="rId51" Type="http://schemas.openxmlformats.org/officeDocument/2006/relationships/image" Target="../media/image48.svg"/><Relationship Id="rId3" Type="http://schemas.openxmlformats.org/officeDocument/2006/relationships/image" Target="../media/image4.png"/><Relationship Id="rId12" Type="http://schemas.openxmlformats.org/officeDocument/2006/relationships/image" Target="../media/image11.sv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38" Type="http://schemas.openxmlformats.org/officeDocument/2006/relationships/image" Target="../media/image37.svg"/><Relationship Id="rId46" Type="http://schemas.openxmlformats.org/officeDocument/2006/relationships/image" Target="../media/image45.svg"/><Relationship Id="rId20" Type="http://schemas.openxmlformats.org/officeDocument/2006/relationships/image" Target="../media/image19.svg"/><Relationship Id="rId41" Type="http://schemas.openxmlformats.org/officeDocument/2006/relationships/image" Target="../media/image40.png"/><Relationship Id="rId54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svg"/><Relationship Id="rId36" Type="http://schemas.openxmlformats.org/officeDocument/2006/relationships/image" Target="../media/image35.svg"/><Relationship Id="rId49" Type="http://schemas.openxmlformats.org/officeDocument/2006/relationships/image" Target="../media/image54.svg"/></Relationships>
</file>

<file path=ppt/slides/_rels/slide3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svg"/><Relationship Id="rId26" Type="http://schemas.openxmlformats.org/officeDocument/2006/relationships/image" Target="../media/image25.svg"/><Relationship Id="rId39" Type="http://schemas.openxmlformats.org/officeDocument/2006/relationships/image" Target="../media/image38.png"/><Relationship Id="rId21" Type="http://schemas.openxmlformats.org/officeDocument/2006/relationships/image" Target="../media/image20.png"/><Relationship Id="rId34" Type="http://schemas.openxmlformats.org/officeDocument/2006/relationships/image" Target="../media/image33.svg"/><Relationship Id="rId42" Type="http://schemas.openxmlformats.org/officeDocument/2006/relationships/image" Target="../media/image41.svg"/><Relationship Id="rId47" Type="http://schemas.openxmlformats.org/officeDocument/2006/relationships/image" Target="../media/image46.svg"/><Relationship Id="rId50" Type="http://schemas.openxmlformats.org/officeDocument/2006/relationships/image" Target="../media/image49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6" Type="http://schemas.openxmlformats.org/officeDocument/2006/relationships/image" Target="../media/image15.svg"/><Relationship Id="rId29" Type="http://schemas.openxmlformats.org/officeDocument/2006/relationships/image" Target="../media/image28.png"/><Relationship Id="rId11" Type="http://schemas.openxmlformats.org/officeDocument/2006/relationships/image" Target="../media/image10.png"/><Relationship Id="rId24" Type="http://schemas.openxmlformats.org/officeDocument/2006/relationships/image" Target="../media/image23.svg"/><Relationship Id="rId32" Type="http://schemas.openxmlformats.org/officeDocument/2006/relationships/image" Target="../media/image31.svg"/><Relationship Id="rId37" Type="http://schemas.openxmlformats.org/officeDocument/2006/relationships/image" Target="../media/image36.png"/><Relationship Id="rId40" Type="http://schemas.openxmlformats.org/officeDocument/2006/relationships/image" Target="../media/image39.svg"/><Relationship Id="rId45" Type="http://schemas.openxmlformats.org/officeDocument/2006/relationships/image" Target="../media/image44.png"/><Relationship Id="rId53" Type="http://schemas.openxmlformats.org/officeDocument/2006/relationships/image" Target="../media/image52.svg"/><Relationship Id="rId5" Type="http://schemas.openxmlformats.org/officeDocument/2006/relationships/image" Target="../media/image6.png"/><Relationship Id="rId10" Type="http://schemas.openxmlformats.org/officeDocument/2006/relationships/image" Target="../media/image9.sv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4" Type="http://schemas.openxmlformats.org/officeDocument/2006/relationships/image" Target="../media/image43.svg"/><Relationship Id="rId52" Type="http://schemas.openxmlformats.org/officeDocument/2006/relationships/image" Target="../media/image51.png"/><Relationship Id="rId4" Type="http://schemas.openxmlformats.org/officeDocument/2006/relationships/image" Target="../media/image5.svg"/><Relationship Id="rId9" Type="http://schemas.openxmlformats.org/officeDocument/2006/relationships/image" Target="../media/image8.png"/><Relationship Id="rId14" Type="http://schemas.openxmlformats.org/officeDocument/2006/relationships/image" Target="../media/image13.svg"/><Relationship Id="rId22" Type="http://schemas.openxmlformats.org/officeDocument/2006/relationships/image" Target="../media/image21.svg"/><Relationship Id="rId27" Type="http://schemas.openxmlformats.org/officeDocument/2006/relationships/image" Target="../media/image26.png"/><Relationship Id="rId30" Type="http://schemas.openxmlformats.org/officeDocument/2006/relationships/image" Target="../media/image29.svg"/><Relationship Id="rId35" Type="http://schemas.openxmlformats.org/officeDocument/2006/relationships/image" Target="../media/image34.png"/><Relationship Id="rId43" Type="http://schemas.openxmlformats.org/officeDocument/2006/relationships/image" Target="../media/image42.png"/><Relationship Id="rId48" Type="http://schemas.openxmlformats.org/officeDocument/2006/relationships/image" Target="../media/image47.png"/><Relationship Id="rId8" Type="http://schemas.openxmlformats.org/officeDocument/2006/relationships/image" Target="../media/image2.svg"/><Relationship Id="rId51" Type="http://schemas.openxmlformats.org/officeDocument/2006/relationships/image" Target="../media/image50.svg"/><Relationship Id="rId3" Type="http://schemas.openxmlformats.org/officeDocument/2006/relationships/image" Target="../media/image4.png"/><Relationship Id="rId12" Type="http://schemas.openxmlformats.org/officeDocument/2006/relationships/image" Target="../media/image11.sv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38" Type="http://schemas.openxmlformats.org/officeDocument/2006/relationships/image" Target="../media/image37.svg"/><Relationship Id="rId46" Type="http://schemas.openxmlformats.org/officeDocument/2006/relationships/image" Target="../media/image45.svg"/><Relationship Id="rId20" Type="http://schemas.openxmlformats.org/officeDocument/2006/relationships/image" Target="../media/image19.svg"/><Relationship Id="rId41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svg"/><Relationship Id="rId36" Type="http://schemas.openxmlformats.org/officeDocument/2006/relationships/image" Target="../media/image35.svg"/><Relationship Id="rId49" Type="http://schemas.openxmlformats.org/officeDocument/2006/relationships/image" Target="../media/image48.svg"/></Relationships>
</file>

<file path=ppt/slides/_rels/slide3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svg"/><Relationship Id="rId26" Type="http://schemas.openxmlformats.org/officeDocument/2006/relationships/image" Target="../media/image25.svg"/><Relationship Id="rId39" Type="http://schemas.openxmlformats.org/officeDocument/2006/relationships/image" Target="../media/image38.png"/><Relationship Id="rId21" Type="http://schemas.openxmlformats.org/officeDocument/2006/relationships/image" Target="../media/image20.png"/><Relationship Id="rId34" Type="http://schemas.openxmlformats.org/officeDocument/2006/relationships/image" Target="../media/image33.svg"/><Relationship Id="rId42" Type="http://schemas.openxmlformats.org/officeDocument/2006/relationships/image" Target="../media/image41.svg"/><Relationship Id="rId47" Type="http://schemas.openxmlformats.org/officeDocument/2006/relationships/image" Target="../media/image46.svg"/><Relationship Id="rId50" Type="http://schemas.openxmlformats.org/officeDocument/2006/relationships/image" Target="../media/image49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6" Type="http://schemas.openxmlformats.org/officeDocument/2006/relationships/image" Target="../media/image15.svg"/><Relationship Id="rId29" Type="http://schemas.openxmlformats.org/officeDocument/2006/relationships/image" Target="../media/image28.png"/><Relationship Id="rId11" Type="http://schemas.openxmlformats.org/officeDocument/2006/relationships/image" Target="../media/image10.png"/><Relationship Id="rId24" Type="http://schemas.openxmlformats.org/officeDocument/2006/relationships/image" Target="../media/image23.svg"/><Relationship Id="rId32" Type="http://schemas.openxmlformats.org/officeDocument/2006/relationships/image" Target="../media/image31.svg"/><Relationship Id="rId37" Type="http://schemas.openxmlformats.org/officeDocument/2006/relationships/image" Target="../media/image36.png"/><Relationship Id="rId40" Type="http://schemas.openxmlformats.org/officeDocument/2006/relationships/image" Target="../media/image39.svg"/><Relationship Id="rId45" Type="http://schemas.openxmlformats.org/officeDocument/2006/relationships/image" Target="../media/image44.png"/><Relationship Id="rId53" Type="http://schemas.openxmlformats.org/officeDocument/2006/relationships/image" Target="../media/image52.svg"/><Relationship Id="rId5" Type="http://schemas.openxmlformats.org/officeDocument/2006/relationships/image" Target="../media/image6.png"/><Relationship Id="rId10" Type="http://schemas.openxmlformats.org/officeDocument/2006/relationships/image" Target="../media/image9.sv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4" Type="http://schemas.openxmlformats.org/officeDocument/2006/relationships/image" Target="../media/image43.svg"/><Relationship Id="rId52" Type="http://schemas.openxmlformats.org/officeDocument/2006/relationships/image" Target="../media/image51.png"/><Relationship Id="rId4" Type="http://schemas.openxmlformats.org/officeDocument/2006/relationships/image" Target="../media/image5.svg"/><Relationship Id="rId9" Type="http://schemas.openxmlformats.org/officeDocument/2006/relationships/image" Target="../media/image8.png"/><Relationship Id="rId14" Type="http://schemas.openxmlformats.org/officeDocument/2006/relationships/image" Target="../media/image13.svg"/><Relationship Id="rId22" Type="http://schemas.openxmlformats.org/officeDocument/2006/relationships/image" Target="../media/image21.svg"/><Relationship Id="rId27" Type="http://schemas.openxmlformats.org/officeDocument/2006/relationships/image" Target="../media/image26.png"/><Relationship Id="rId30" Type="http://schemas.openxmlformats.org/officeDocument/2006/relationships/image" Target="../media/image29.svg"/><Relationship Id="rId35" Type="http://schemas.openxmlformats.org/officeDocument/2006/relationships/image" Target="../media/image34.png"/><Relationship Id="rId43" Type="http://schemas.openxmlformats.org/officeDocument/2006/relationships/image" Target="../media/image42.png"/><Relationship Id="rId48" Type="http://schemas.openxmlformats.org/officeDocument/2006/relationships/image" Target="../media/image47.png"/><Relationship Id="rId8" Type="http://schemas.openxmlformats.org/officeDocument/2006/relationships/image" Target="../media/image2.svg"/><Relationship Id="rId51" Type="http://schemas.openxmlformats.org/officeDocument/2006/relationships/image" Target="../media/image50.svg"/><Relationship Id="rId3" Type="http://schemas.openxmlformats.org/officeDocument/2006/relationships/image" Target="../media/image4.png"/><Relationship Id="rId12" Type="http://schemas.openxmlformats.org/officeDocument/2006/relationships/image" Target="../media/image11.sv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38" Type="http://schemas.openxmlformats.org/officeDocument/2006/relationships/image" Target="../media/image37.svg"/><Relationship Id="rId46" Type="http://schemas.openxmlformats.org/officeDocument/2006/relationships/image" Target="../media/image45.svg"/><Relationship Id="rId20" Type="http://schemas.openxmlformats.org/officeDocument/2006/relationships/image" Target="../media/image19.svg"/><Relationship Id="rId41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svg"/><Relationship Id="rId36" Type="http://schemas.openxmlformats.org/officeDocument/2006/relationships/image" Target="../media/image35.svg"/><Relationship Id="rId49" Type="http://schemas.openxmlformats.org/officeDocument/2006/relationships/image" Target="../media/image48.svg"/></Relationships>
</file>

<file path=ppt/slides/_rels/slide3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svg"/><Relationship Id="rId26" Type="http://schemas.openxmlformats.org/officeDocument/2006/relationships/image" Target="../media/image25.svg"/><Relationship Id="rId39" Type="http://schemas.openxmlformats.org/officeDocument/2006/relationships/image" Target="../media/image38.png"/><Relationship Id="rId21" Type="http://schemas.openxmlformats.org/officeDocument/2006/relationships/image" Target="../media/image20.png"/><Relationship Id="rId34" Type="http://schemas.openxmlformats.org/officeDocument/2006/relationships/image" Target="../media/image33.svg"/><Relationship Id="rId42" Type="http://schemas.openxmlformats.org/officeDocument/2006/relationships/image" Target="../media/image41.svg"/><Relationship Id="rId47" Type="http://schemas.openxmlformats.org/officeDocument/2006/relationships/image" Target="../media/image46.svg"/><Relationship Id="rId50" Type="http://schemas.openxmlformats.org/officeDocument/2006/relationships/image" Target="../media/image49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36.xml"/><Relationship Id="rId16" Type="http://schemas.openxmlformats.org/officeDocument/2006/relationships/image" Target="../media/image15.svg"/><Relationship Id="rId29" Type="http://schemas.openxmlformats.org/officeDocument/2006/relationships/image" Target="../media/image28.png"/><Relationship Id="rId11" Type="http://schemas.openxmlformats.org/officeDocument/2006/relationships/image" Target="../media/image10.png"/><Relationship Id="rId24" Type="http://schemas.openxmlformats.org/officeDocument/2006/relationships/image" Target="../media/image23.svg"/><Relationship Id="rId32" Type="http://schemas.openxmlformats.org/officeDocument/2006/relationships/image" Target="../media/image31.svg"/><Relationship Id="rId37" Type="http://schemas.openxmlformats.org/officeDocument/2006/relationships/image" Target="../media/image36.png"/><Relationship Id="rId40" Type="http://schemas.openxmlformats.org/officeDocument/2006/relationships/image" Target="../media/image39.svg"/><Relationship Id="rId45" Type="http://schemas.openxmlformats.org/officeDocument/2006/relationships/image" Target="../media/image44.png"/><Relationship Id="rId53" Type="http://schemas.openxmlformats.org/officeDocument/2006/relationships/image" Target="../media/image52.svg"/><Relationship Id="rId5" Type="http://schemas.openxmlformats.org/officeDocument/2006/relationships/image" Target="../media/image6.png"/><Relationship Id="rId10" Type="http://schemas.openxmlformats.org/officeDocument/2006/relationships/image" Target="../media/image67.sv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4" Type="http://schemas.openxmlformats.org/officeDocument/2006/relationships/image" Target="../media/image43.svg"/><Relationship Id="rId52" Type="http://schemas.openxmlformats.org/officeDocument/2006/relationships/image" Target="../media/image51.png"/><Relationship Id="rId4" Type="http://schemas.openxmlformats.org/officeDocument/2006/relationships/image" Target="../media/image56.svg"/><Relationship Id="rId9" Type="http://schemas.openxmlformats.org/officeDocument/2006/relationships/image" Target="../media/image66.png"/><Relationship Id="rId14" Type="http://schemas.openxmlformats.org/officeDocument/2006/relationships/image" Target="../media/image13.svg"/><Relationship Id="rId22" Type="http://schemas.openxmlformats.org/officeDocument/2006/relationships/image" Target="../media/image21.svg"/><Relationship Id="rId27" Type="http://schemas.openxmlformats.org/officeDocument/2006/relationships/image" Target="../media/image26.png"/><Relationship Id="rId30" Type="http://schemas.openxmlformats.org/officeDocument/2006/relationships/image" Target="../media/image29.svg"/><Relationship Id="rId35" Type="http://schemas.openxmlformats.org/officeDocument/2006/relationships/image" Target="../media/image34.png"/><Relationship Id="rId43" Type="http://schemas.openxmlformats.org/officeDocument/2006/relationships/image" Target="../media/image42.png"/><Relationship Id="rId48" Type="http://schemas.openxmlformats.org/officeDocument/2006/relationships/image" Target="../media/image47.png"/><Relationship Id="rId8" Type="http://schemas.openxmlformats.org/officeDocument/2006/relationships/image" Target="../media/image2.svg"/><Relationship Id="rId51" Type="http://schemas.openxmlformats.org/officeDocument/2006/relationships/image" Target="../media/image50.svg"/><Relationship Id="rId3" Type="http://schemas.openxmlformats.org/officeDocument/2006/relationships/image" Target="../media/image55.png"/><Relationship Id="rId12" Type="http://schemas.openxmlformats.org/officeDocument/2006/relationships/image" Target="../media/image11.sv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38" Type="http://schemas.openxmlformats.org/officeDocument/2006/relationships/image" Target="../media/image37.svg"/><Relationship Id="rId46" Type="http://schemas.openxmlformats.org/officeDocument/2006/relationships/image" Target="../media/image45.svg"/><Relationship Id="rId20" Type="http://schemas.openxmlformats.org/officeDocument/2006/relationships/image" Target="../media/image19.svg"/><Relationship Id="rId41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svg"/><Relationship Id="rId36" Type="http://schemas.openxmlformats.org/officeDocument/2006/relationships/image" Target="../media/image35.svg"/><Relationship Id="rId49" Type="http://schemas.openxmlformats.org/officeDocument/2006/relationships/image" Target="../media/image48.svg"/></Relationships>
</file>

<file path=ppt/slides/_rels/slide3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svg"/><Relationship Id="rId26" Type="http://schemas.openxmlformats.org/officeDocument/2006/relationships/image" Target="../media/image25.svg"/><Relationship Id="rId39" Type="http://schemas.openxmlformats.org/officeDocument/2006/relationships/image" Target="../media/image38.png"/><Relationship Id="rId21" Type="http://schemas.openxmlformats.org/officeDocument/2006/relationships/image" Target="../media/image20.png"/><Relationship Id="rId34" Type="http://schemas.openxmlformats.org/officeDocument/2006/relationships/image" Target="../media/image33.svg"/><Relationship Id="rId42" Type="http://schemas.openxmlformats.org/officeDocument/2006/relationships/image" Target="../media/image41.svg"/><Relationship Id="rId47" Type="http://schemas.openxmlformats.org/officeDocument/2006/relationships/image" Target="../media/image46.svg"/><Relationship Id="rId50" Type="http://schemas.openxmlformats.org/officeDocument/2006/relationships/image" Target="../media/image49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37.xml"/><Relationship Id="rId16" Type="http://schemas.openxmlformats.org/officeDocument/2006/relationships/image" Target="../media/image15.svg"/><Relationship Id="rId29" Type="http://schemas.openxmlformats.org/officeDocument/2006/relationships/image" Target="../media/image28.png"/><Relationship Id="rId11" Type="http://schemas.openxmlformats.org/officeDocument/2006/relationships/image" Target="../media/image10.png"/><Relationship Id="rId24" Type="http://schemas.openxmlformats.org/officeDocument/2006/relationships/image" Target="../media/image23.svg"/><Relationship Id="rId32" Type="http://schemas.openxmlformats.org/officeDocument/2006/relationships/image" Target="../media/image31.svg"/><Relationship Id="rId37" Type="http://schemas.openxmlformats.org/officeDocument/2006/relationships/image" Target="../media/image36.png"/><Relationship Id="rId40" Type="http://schemas.openxmlformats.org/officeDocument/2006/relationships/image" Target="../media/image39.svg"/><Relationship Id="rId45" Type="http://schemas.openxmlformats.org/officeDocument/2006/relationships/image" Target="../media/image44.png"/><Relationship Id="rId53" Type="http://schemas.openxmlformats.org/officeDocument/2006/relationships/image" Target="../media/image52.svg"/><Relationship Id="rId5" Type="http://schemas.openxmlformats.org/officeDocument/2006/relationships/image" Target="../media/image6.png"/><Relationship Id="rId10" Type="http://schemas.openxmlformats.org/officeDocument/2006/relationships/image" Target="../media/image9.sv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4" Type="http://schemas.openxmlformats.org/officeDocument/2006/relationships/image" Target="../media/image43.svg"/><Relationship Id="rId52" Type="http://schemas.openxmlformats.org/officeDocument/2006/relationships/image" Target="../media/image51.png"/><Relationship Id="rId4" Type="http://schemas.openxmlformats.org/officeDocument/2006/relationships/image" Target="../media/image5.svg"/><Relationship Id="rId9" Type="http://schemas.openxmlformats.org/officeDocument/2006/relationships/image" Target="../media/image8.png"/><Relationship Id="rId14" Type="http://schemas.openxmlformats.org/officeDocument/2006/relationships/image" Target="../media/image13.svg"/><Relationship Id="rId22" Type="http://schemas.openxmlformats.org/officeDocument/2006/relationships/image" Target="../media/image21.svg"/><Relationship Id="rId27" Type="http://schemas.openxmlformats.org/officeDocument/2006/relationships/image" Target="../media/image26.png"/><Relationship Id="rId30" Type="http://schemas.openxmlformats.org/officeDocument/2006/relationships/image" Target="../media/image29.svg"/><Relationship Id="rId35" Type="http://schemas.openxmlformats.org/officeDocument/2006/relationships/image" Target="../media/image34.png"/><Relationship Id="rId43" Type="http://schemas.openxmlformats.org/officeDocument/2006/relationships/image" Target="../media/image42.png"/><Relationship Id="rId48" Type="http://schemas.openxmlformats.org/officeDocument/2006/relationships/image" Target="../media/image47.png"/><Relationship Id="rId8" Type="http://schemas.openxmlformats.org/officeDocument/2006/relationships/image" Target="../media/image2.svg"/><Relationship Id="rId51" Type="http://schemas.openxmlformats.org/officeDocument/2006/relationships/image" Target="../media/image50.svg"/><Relationship Id="rId3" Type="http://schemas.openxmlformats.org/officeDocument/2006/relationships/image" Target="../media/image4.png"/><Relationship Id="rId12" Type="http://schemas.openxmlformats.org/officeDocument/2006/relationships/image" Target="../media/image11.sv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38" Type="http://schemas.openxmlformats.org/officeDocument/2006/relationships/image" Target="../media/image37.svg"/><Relationship Id="rId46" Type="http://schemas.openxmlformats.org/officeDocument/2006/relationships/image" Target="../media/image45.svg"/><Relationship Id="rId20" Type="http://schemas.openxmlformats.org/officeDocument/2006/relationships/image" Target="../media/image19.svg"/><Relationship Id="rId41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svg"/><Relationship Id="rId36" Type="http://schemas.openxmlformats.org/officeDocument/2006/relationships/image" Target="../media/image35.svg"/><Relationship Id="rId49" Type="http://schemas.openxmlformats.org/officeDocument/2006/relationships/image" Target="../media/image48.svg"/></Relationships>
</file>

<file path=ppt/slides/_rels/slide3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svg"/><Relationship Id="rId26" Type="http://schemas.openxmlformats.org/officeDocument/2006/relationships/image" Target="../media/image25.svg"/><Relationship Id="rId39" Type="http://schemas.openxmlformats.org/officeDocument/2006/relationships/image" Target="../media/image38.png"/><Relationship Id="rId21" Type="http://schemas.openxmlformats.org/officeDocument/2006/relationships/image" Target="../media/image20.png"/><Relationship Id="rId34" Type="http://schemas.openxmlformats.org/officeDocument/2006/relationships/image" Target="../media/image33.svg"/><Relationship Id="rId42" Type="http://schemas.openxmlformats.org/officeDocument/2006/relationships/image" Target="../media/image41.svg"/><Relationship Id="rId47" Type="http://schemas.openxmlformats.org/officeDocument/2006/relationships/image" Target="../media/image46.svg"/><Relationship Id="rId50" Type="http://schemas.openxmlformats.org/officeDocument/2006/relationships/image" Target="../media/image49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38.xml"/><Relationship Id="rId16" Type="http://schemas.openxmlformats.org/officeDocument/2006/relationships/image" Target="../media/image15.svg"/><Relationship Id="rId29" Type="http://schemas.openxmlformats.org/officeDocument/2006/relationships/image" Target="../media/image28.png"/><Relationship Id="rId11" Type="http://schemas.openxmlformats.org/officeDocument/2006/relationships/image" Target="../media/image10.png"/><Relationship Id="rId24" Type="http://schemas.openxmlformats.org/officeDocument/2006/relationships/image" Target="../media/image23.svg"/><Relationship Id="rId32" Type="http://schemas.openxmlformats.org/officeDocument/2006/relationships/image" Target="../media/image31.svg"/><Relationship Id="rId37" Type="http://schemas.openxmlformats.org/officeDocument/2006/relationships/image" Target="../media/image36.png"/><Relationship Id="rId40" Type="http://schemas.openxmlformats.org/officeDocument/2006/relationships/image" Target="../media/image39.svg"/><Relationship Id="rId45" Type="http://schemas.openxmlformats.org/officeDocument/2006/relationships/image" Target="../media/image44.png"/><Relationship Id="rId53" Type="http://schemas.openxmlformats.org/officeDocument/2006/relationships/image" Target="../media/image52.svg"/><Relationship Id="rId5" Type="http://schemas.openxmlformats.org/officeDocument/2006/relationships/image" Target="../media/image6.png"/><Relationship Id="rId10" Type="http://schemas.openxmlformats.org/officeDocument/2006/relationships/image" Target="../media/image67.sv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4" Type="http://schemas.openxmlformats.org/officeDocument/2006/relationships/image" Target="../media/image43.svg"/><Relationship Id="rId52" Type="http://schemas.openxmlformats.org/officeDocument/2006/relationships/image" Target="../media/image51.png"/><Relationship Id="rId4" Type="http://schemas.openxmlformats.org/officeDocument/2006/relationships/image" Target="../media/image56.svg"/><Relationship Id="rId9" Type="http://schemas.openxmlformats.org/officeDocument/2006/relationships/image" Target="../media/image66.png"/><Relationship Id="rId14" Type="http://schemas.openxmlformats.org/officeDocument/2006/relationships/image" Target="../media/image13.svg"/><Relationship Id="rId22" Type="http://schemas.openxmlformats.org/officeDocument/2006/relationships/image" Target="../media/image21.svg"/><Relationship Id="rId27" Type="http://schemas.openxmlformats.org/officeDocument/2006/relationships/image" Target="../media/image26.png"/><Relationship Id="rId30" Type="http://schemas.openxmlformats.org/officeDocument/2006/relationships/image" Target="../media/image29.svg"/><Relationship Id="rId35" Type="http://schemas.openxmlformats.org/officeDocument/2006/relationships/image" Target="../media/image34.png"/><Relationship Id="rId43" Type="http://schemas.openxmlformats.org/officeDocument/2006/relationships/image" Target="../media/image42.png"/><Relationship Id="rId48" Type="http://schemas.openxmlformats.org/officeDocument/2006/relationships/image" Target="../media/image47.png"/><Relationship Id="rId8" Type="http://schemas.openxmlformats.org/officeDocument/2006/relationships/image" Target="../media/image2.svg"/><Relationship Id="rId51" Type="http://schemas.openxmlformats.org/officeDocument/2006/relationships/image" Target="../media/image50.svg"/><Relationship Id="rId3" Type="http://schemas.openxmlformats.org/officeDocument/2006/relationships/image" Target="../media/image55.png"/><Relationship Id="rId12" Type="http://schemas.openxmlformats.org/officeDocument/2006/relationships/image" Target="../media/image11.sv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38" Type="http://schemas.openxmlformats.org/officeDocument/2006/relationships/image" Target="../media/image37.svg"/><Relationship Id="rId46" Type="http://schemas.openxmlformats.org/officeDocument/2006/relationships/image" Target="../media/image45.svg"/><Relationship Id="rId20" Type="http://schemas.openxmlformats.org/officeDocument/2006/relationships/image" Target="../media/image19.svg"/><Relationship Id="rId41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svg"/><Relationship Id="rId36" Type="http://schemas.openxmlformats.org/officeDocument/2006/relationships/image" Target="../media/image35.svg"/><Relationship Id="rId49" Type="http://schemas.openxmlformats.org/officeDocument/2006/relationships/image" Target="../media/image48.svg"/></Relationships>
</file>

<file path=ppt/slides/_rels/slide4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svg"/><Relationship Id="rId26" Type="http://schemas.openxmlformats.org/officeDocument/2006/relationships/image" Target="../media/image25.svg"/><Relationship Id="rId39" Type="http://schemas.openxmlformats.org/officeDocument/2006/relationships/image" Target="../media/image38.png"/><Relationship Id="rId21" Type="http://schemas.openxmlformats.org/officeDocument/2006/relationships/image" Target="../media/image20.png"/><Relationship Id="rId34" Type="http://schemas.openxmlformats.org/officeDocument/2006/relationships/image" Target="../media/image33.svg"/><Relationship Id="rId42" Type="http://schemas.openxmlformats.org/officeDocument/2006/relationships/image" Target="../media/image41.svg"/><Relationship Id="rId47" Type="http://schemas.openxmlformats.org/officeDocument/2006/relationships/image" Target="../media/image46.svg"/><Relationship Id="rId50" Type="http://schemas.openxmlformats.org/officeDocument/2006/relationships/image" Target="../media/image49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39.xml"/><Relationship Id="rId16" Type="http://schemas.openxmlformats.org/officeDocument/2006/relationships/image" Target="../media/image15.svg"/><Relationship Id="rId29" Type="http://schemas.openxmlformats.org/officeDocument/2006/relationships/image" Target="../media/image28.png"/><Relationship Id="rId11" Type="http://schemas.openxmlformats.org/officeDocument/2006/relationships/image" Target="../media/image10.png"/><Relationship Id="rId24" Type="http://schemas.openxmlformats.org/officeDocument/2006/relationships/image" Target="../media/image23.svg"/><Relationship Id="rId32" Type="http://schemas.openxmlformats.org/officeDocument/2006/relationships/image" Target="../media/image31.svg"/><Relationship Id="rId37" Type="http://schemas.openxmlformats.org/officeDocument/2006/relationships/image" Target="../media/image36.png"/><Relationship Id="rId40" Type="http://schemas.openxmlformats.org/officeDocument/2006/relationships/image" Target="../media/image39.svg"/><Relationship Id="rId45" Type="http://schemas.openxmlformats.org/officeDocument/2006/relationships/image" Target="../media/image44.png"/><Relationship Id="rId53" Type="http://schemas.openxmlformats.org/officeDocument/2006/relationships/image" Target="../media/image52.svg"/><Relationship Id="rId5" Type="http://schemas.openxmlformats.org/officeDocument/2006/relationships/image" Target="../media/image6.png"/><Relationship Id="rId10" Type="http://schemas.openxmlformats.org/officeDocument/2006/relationships/image" Target="../media/image9.sv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4" Type="http://schemas.openxmlformats.org/officeDocument/2006/relationships/image" Target="../media/image43.svg"/><Relationship Id="rId52" Type="http://schemas.openxmlformats.org/officeDocument/2006/relationships/image" Target="../media/image51.png"/><Relationship Id="rId4" Type="http://schemas.openxmlformats.org/officeDocument/2006/relationships/image" Target="../media/image5.svg"/><Relationship Id="rId9" Type="http://schemas.openxmlformats.org/officeDocument/2006/relationships/image" Target="../media/image8.png"/><Relationship Id="rId14" Type="http://schemas.openxmlformats.org/officeDocument/2006/relationships/image" Target="../media/image13.svg"/><Relationship Id="rId22" Type="http://schemas.openxmlformats.org/officeDocument/2006/relationships/image" Target="../media/image21.svg"/><Relationship Id="rId27" Type="http://schemas.openxmlformats.org/officeDocument/2006/relationships/image" Target="../media/image26.png"/><Relationship Id="rId30" Type="http://schemas.openxmlformats.org/officeDocument/2006/relationships/image" Target="../media/image29.svg"/><Relationship Id="rId35" Type="http://schemas.openxmlformats.org/officeDocument/2006/relationships/image" Target="../media/image34.png"/><Relationship Id="rId43" Type="http://schemas.openxmlformats.org/officeDocument/2006/relationships/image" Target="../media/image42.png"/><Relationship Id="rId48" Type="http://schemas.openxmlformats.org/officeDocument/2006/relationships/image" Target="../media/image47.png"/><Relationship Id="rId8" Type="http://schemas.openxmlformats.org/officeDocument/2006/relationships/image" Target="../media/image2.svg"/><Relationship Id="rId51" Type="http://schemas.openxmlformats.org/officeDocument/2006/relationships/image" Target="../media/image50.svg"/><Relationship Id="rId3" Type="http://schemas.openxmlformats.org/officeDocument/2006/relationships/image" Target="../media/image4.png"/><Relationship Id="rId12" Type="http://schemas.openxmlformats.org/officeDocument/2006/relationships/image" Target="../media/image11.sv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38" Type="http://schemas.openxmlformats.org/officeDocument/2006/relationships/image" Target="../media/image37.svg"/><Relationship Id="rId46" Type="http://schemas.openxmlformats.org/officeDocument/2006/relationships/image" Target="../media/image45.svg"/><Relationship Id="rId20" Type="http://schemas.openxmlformats.org/officeDocument/2006/relationships/image" Target="../media/image19.svg"/><Relationship Id="rId41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svg"/><Relationship Id="rId36" Type="http://schemas.openxmlformats.org/officeDocument/2006/relationships/image" Target="../media/image35.svg"/><Relationship Id="rId49" Type="http://schemas.openxmlformats.org/officeDocument/2006/relationships/image" Target="../media/image48.svg"/></Relationships>
</file>

<file path=ppt/slides/_rels/slide4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svg"/><Relationship Id="rId26" Type="http://schemas.openxmlformats.org/officeDocument/2006/relationships/image" Target="../media/image25.svg"/><Relationship Id="rId39" Type="http://schemas.openxmlformats.org/officeDocument/2006/relationships/image" Target="../media/image38.png"/><Relationship Id="rId21" Type="http://schemas.openxmlformats.org/officeDocument/2006/relationships/image" Target="../media/image20.png"/><Relationship Id="rId34" Type="http://schemas.openxmlformats.org/officeDocument/2006/relationships/image" Target="../media/image33.svg"/><Relationship Id="rId42" Type="http://schemas.openxmlformats.org/officeDocument/2006/relationships/image" Target="../media/image41.svg"/><Relationship Id="rId47" Type="http://schemas.openxmlformats.org/officeDocument/2006/relationships/image" Target="../media/image46.svg"/><Relationship Id="rId50" Type="http://schemas.openxmlformats.org/officeDocument/2006/relationships/image" Target="../media/image49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40.xml"/><Relationship Id="rId16" Type="http://schemas.openxmlformats.org/officeDocument/2006/relationships/image" Target="../media/image15.svg"/><Relationship Id="rId29" Type="http://schemas.openxmlformats.org/officeDocument/2006/relationships/image" Target="../media/image28.png"/><Relationship Id="rId11" Type="http://schemas.openxmlformats.org/officeDocument/2006/relationships/image" Target="../media/image10.png"/><Relationship Id="rId24" Type="http://schemas.openxmlformats.org/officeDocument/2006/relationships/image" Target="../media/image23.svg"/><Relationship Id="rId32" Type="http://schemas.openxmlformats.org/officeDocument/2006/relationships/image" Target="../media/image31.svg"/><Relationship Id="rId37" Type="http://schemas.openxmlformats.org/officeDocument/2006/relationships/image" Target="../media/image36.png"/><Relationship Id="rId40" Type="http://schemas.openxmlformats.org/officeDocument/2006/relationships/image" Target="../media/image39.svg"/><Relationship Id="rId45" Type="http://schemas.openxmlformats.org/officeDocument/2006/relationships/image" Target="../media/image44.png"/><Relationship Id="rId53" Type="http://schemas.openxmlformats.org/officeDocument/2006/relationships/image" Target="../media/image52.svg"/><Relationship Id="rId5" Type="http://schemas.openxmlformats.org/officeDocument/2006/relationships/image" Target="../media/image6.png"/><Relationship Id="rId10" Type="http://schemas.openxmlformats.org/officeDocument/2006/relationships/image" Target="../media/image9.sv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4" Type="http://schemas.openxmlformats.org/officeDocument/2006/relationships/image" Target="../media/image43.svg"/><Relationship Id="rId52" Type="http://schemas.openxmlformats.org/officeDocument/2006/relationships/image" Target="../media/image51.png"/><Relationship Id="rId4" Type="http://schemas.openxmlformats.org/officeDocument/2006/relationships/image" Target="../media/image56.svg"/><Relationship Id="rId9" Type="http://schemas.openxmlformats.org/officeDocument/2006/relationships/image" Target="../media/image8.png"/><Relationship Id="rId14" Type="http://schemas.openxmlformats.org/officeDocument/2006/relationships/image" Target="../media/image13.svg"/><Relationship Id="rId22" Type="http://schemas.openxmlformats.org/officeDocument/2006/relationships/image" Target="../media/image21.svg"/><Relationship Id="rId27" Type="http://schemas.openxmlformats.org/officeDocument/2006/relationships/image" Target="../media/image26.png"/><Relationship Id="rId30" Type="http://schemas.openxmlformats.org/officeDocument/2006/relationships/image" Target="../media/image29.svg"/><Relationship Id="rId35" Type="http://schemas.openxmlformats.org/officeDocument/2006/relationships/image" Target="../media/image34.png"/><Relationship Id="rId43" Type="http://schemas.openxmlformats.org/officeDocument/2006/relationships/image" Target="../media/image42.png"/><Relationship Id="rId48" Type="http://schemas.openxmlformats.org/officeDocument/2006/relationships/image" Target="../media/image47.png"/><Relationship Id="rId8" Type="http://schemas.openxmlformats.org/officeDocument/2006/relationships/image" Target="../media/image2.svg"/><Relationship Id="rId51" Type="http://schemas.openxmlformats.org/officeDocument/2006/relationships/image" Target="../media/image50.svg"/><Relationship Id="rId3" Type="http://schemas.openxmlformats.org/officeDocument/2006/relationships/image" Target="../media/image55.png"/><Relationship Id="rId12" Type="http://schemas.openxmlformats.org/officeDocument/2006/relationships/image" Target="../media/image11.sv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38" Type="http://schemas.openxmlformats.org/officeDocument/2006/relationships/image" Target="../media/image37.svg"/><Relationship Id="rId46" Type="http://schemas.openxmlformats.org/officeDocument/2006/relationships/image" Target="../media/image45.svg"/><Relationship Id="rId20" Type="http://schemas.openxmlformats.org/officeDocument/2006/relationships/image" Target="../media/image19.svg"/><Relationship Id="rId41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svg"/><Relationship Id="rId36" Type="http://schemas.openxmlformats.org/officeDocument/2006/relationships/image" Target="../media/image35.svg"/><Relationship Id="rId49" Type="http://schemas.openxmlformats.org/officeDocument/2006/relationships/image" Target="../media/image48.svg"/></Relationships>
</file>

<file path=ppt/slides/_rels/slide4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svg"/><Relationship Id="rId26" Type="http://schemas.openxmlformats.org/officeDocument/2006/relationships/image" Target="../media/image25.svg"/><Relationship Id="rId39" Type="http://schemas.openxmlformats.org/officeDocument/2006/relationships/image" Target="../media/image38.png"/><Relationship Id="rId21" Type="http://schemas.openxmlformats.org/officeDocument/2006/relationships/image" Target="../media/image20.png"/><Relationship Id="rId34" Type="http://schemas.openxmlformats.org/officeDocument/2006/relationships/image" Target="../media/image33.svg"/><Relationship Id="rId42" Type="http://schemas.openxmlformats.org/officeDocument/2006/relationships/image" Target="../media/image41.svg"/><Relationship Id="rId47" Type="http://schemas.openxmlformats.org/officeDocument/2006/relationships/image" Target="../media/image46.svg"/><Relationship Id="rId50" Type="http://schemas.openxmlformats.org/officeDocument/2006/relationships/image" Target="../media/image47.png"/><Relationship Id="rId55" Type="http://schemas.openxmlformats.org/officeDocument/2006/relationships/image" Target="../media/image52.sv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41.xml"/><Relationship Id="rId16" Type="http://schemas.openxmlformats.org/officeDocument/2006/relationships/image" Target="../media/image15.svg"/><Relationship Id="rId29" Type="http://schemas.openxmlformats.org/officeDocument/2006/relationships/image" Target="../media/image28.png"/><Relationship Id="rId11" Type="http://schemas.openxmlformats.org/officeDocument/2006/relationships/image" Target="../media/image10.png"/><Relationship Id="rId24" Type="http://schemas.openxmlformats.org/officeDocument/2006/relationships/image" Target="../media/image23.svg"/><Relationship Id="rId32" Type="http://schemas.openxmlformats.org/officeDocument/2006/relationships/image" Target="../media/image31.svg"/><Relationship Id="rId37" Type="http://schemas.openxmlformats.org/officeDocument/2006/relationships/image" Target="../media/image36.png"/><Relationship Id="rId40" Type="http://schemas.openxmlformats.org/officeDocument/2006/relationships/image" Target="../media/image39.svg"/><Relationship Id="rId45" Type="http://schemas.openxmlformats.org/officeDocument/2006/relationships/image" Target="../media/image44.png"/><Relationship Id="rId53" Type="http://schemas.openxmlformats.org/officeDocument/2006/relationships/image" Target="../media/image50.svg"/><Relationship Id="rId5" Type="http://schemas.openxmlformats.org/officeDocument/2006/relationships/image" Target="../media/image6.png"/><Relationship Id="rId10" Type="http://schemas.openxmlformats.org/officeDocument/2006/relationships/image" Target="../media/image9.sv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4" Type="http://schemas.openxmlformats.org/officeDocument/2006/relationships/image" Target="../media/image43.svg"/><Relationship Id="rId52" Type="http://schemas.openxmlformats.org/officeDocument/2006/relationships/image" Target="../media/image49.png"/><Relationship Id="rId4" Type="http://schemas.openxmlformats.org/officeDocument/2006/relationships/image" Target="../media/image56.svg"/><Relationship Id="rId9" Type="http://schemas.openxmlformats.org/officeDocument/2006/relationships/image" Target="../media/image8.png"/><Relationship Id="rId14" Type="http://schemas.openxmlformats.org/officeDocument/2006/relationships/image" Target="../media/image13.svg"/><Relationship Id="rId22" Type="http://schemas.openxmlformats.org/officeDocument/2006/relationships/image" Target="../media/image21.svg"/><Relationship Id="rId27" Type="http://schemas.openxmlformats.org/officeDocument/2006/relationships/image" Target="../media/image26.png"/><Relationship Id="rId30" Type="http://schemas.openxmlformats.org/officeDocument/2006/relationships/image" Target="../media/image29.svg"/><Relationship Id="rId35" Type="http://schemas.openxmlformats.org/officeDocument/2006/relationships/image" Target="../media/image34.png"/><Relationship Id="rId43" Type="http://schemas.openxmlformats.org/officeDocument/2006/relationships/image" Target="../media/image42.png"/><Relationship Id="rId48" Type="http://schemas.openxmlformats.org/officeDocument/2006/relationships/image" Target="../media/image53.png"/><Relationship Id="rId8" Type="http://schemas.openxmlformats.org/officeDocument/2006/relationships/image" Target="../media/image2.svg"/><Relationship Id="rId51" Type="http://schemas.openxmlformats.org/officeDocument/2006/relationships/image" Target="../media/image48.svg"/><Relationship Id="rId3" Type="http://schemas.openxmlformats.org/officeDocument/2006/relationships/image" Target="../media/image55.png"/><Relationship Id="rId12" Type="http://schemas.openxmlformats.org/officeDocument/2006/relationships/image" Target="../media/image11.sv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38" Type="http://schemas.openxmlformats.org/officeDocument/2006/relationships/image" Target="../media/image37.svg"/><Relationship Id="rId46" Type="http://schemas.openxmlformats.org/officeDocument/2006/relationships/image" Target="../media/image45.svg"/><Relationship Id="rId20" Type="http://schemas.openxmlformats.org/officeDocument/2006/relationships/image" Target="../media/image19.svg"/><Relationship Id="rId41" Type="http://schemas.openxmlformats.org/officeDocument/2006/relationships/image" Target="../media/image40.png"/><Relationship Id="rId54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svg"/><Relationship Id="rId36" Type="http://schemas.openxmlformats.org/officeDocument/2006/relationships/image" Target="../media/image35.svg"/><Relationship Id="rId49" Type="http://schemas.openxmlformats.org/officeDocument/2006/relationships/image" Target="../media/image54.svg"/></Relationships>
</file>

<file path=ppt/slides/_rels/slide4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svg"/><Relationship Id="rId26" Type="http://schemas.openxmlformats.org/officeDocument/2006/relationships/image" Target="../media/image25.svg"/><Relationship Id="rId39" Type="http://schemas.openxmlformats.org/officeDocument/2006/relationships/image" Target="../media/image38.png"/><Relationship Id="rId21" Type="http://schemas.openxmlformats.org/officeDocument/2006/relationships/image" Target="../media/image20.png"/><Relationship Id="rId34" Type="http://schemas.openxmlformats.org/officeDocument/2006/relationships/image" Target="../media/image33.svg"/><Relationship Id="rId42" Type="http://schemas.openxmlformats.org/officeDocument/2006/relationships/image" Target="../media/image41.svg"/><Relationship Id="rId47" Type="http://schemas.openxmlformats.org/officeDocument/2006/relationships/image" Target="../media/image46.svg"/><Relationship Id="rId50" Type="http://schemas.openxmlformats.org/officeDocument/2006/relationships/image" Target="../media/image49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42.xml"/><Relationship Id="rId16" Type="http://schemas.openxmlformats.org/officeDocument/2006/relationships/image" Target="../media/image15.svg"/><Relationship Id="rId29" Type="http://schemas.openxmlformats.org/officeDocument/2006/relationships/image" Target="../media/image28.png"/><Relationship Id="rId11" Type="http://schemas.openxmlformats.org/officeDocument/2006/relationships/image" Target="../media/image10.png"/><Relationship Id="rId24" Type="http://schemas.openxmlformats.org/officeDocument/2006/relationships/image" Target="../media/image23.svg"/><Relationship Id="rId32" Type="http://schemas.openxmlformats.org/officeDocument/2006/relationships/image" Target="../media/image31.svg"/><Relationship Id="rId37" Type="http://schemas.openxmlformats.org/officeDocument/2006/relationships/image" Target="../media/image36.png"/><Relationship Id="rId40" Type="http://schemas.openxmlformats.org/officeDocument/2006/relationships/image" Target="../media/image39.svg"/><Relationship Id="rId45" Type="http://schemas.openxmlformats.org/officeDocument/2006/relationships/image" Target="../media/image44.png"/><Relationship Id="rId53" Type="http://schemas.openxmlformats.org/officeDocument/2006/relationships/image" Target="../media/image52.svg"/><Relationship Id="rId5" Type="http://schemas.openxmlformats.org/officeDocument/2006/relationships/image" Target="../media/image6.png"/><Relationship Id="rId10" Type="http://schemas.openxmlformats.org/officeDocument/2006/relationships/image" Target="../media/image9.sv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4" Type="http://schemas.openxmlformats.org/officeDocument/2006/relationships/image" Target="../media/image43.svg"/><Relationship Id="rId52" Type="http://schemas.openxmlformats.org/officeDocument/2006/relationships/image" Target="../media/image51.png"/><Relationship Id="rId4" Type="http://schemas.openxmlformats.org/officeDocument/2006/relationships/image" Target="../media/image5.svg"/><Relationship Id="rId9" Type="http://schemas.openxmlformats.org/officeDocument/2006/relationships/image" Target="../media/image8.png"/><Relationship Id="rId14" Type="http://schemas.openxmlformats.org/officeDocument/2006/relationships/image" Target="../media/image13.svg"/><Relationship Id="rId22" Type="http://schemas.openxmlformats.org/officeDocument/2006/relationships/image" Target="../media/image21.svg"/><Relationship Id="rId27" Type="http://schemas.openxmlformats.org/officeDocument/2006/relationships/image" Target="../media/image26.png"/><Relationship Id="rId30" Type="http://schemas.openxmlformats.org/officeDocument/2006/relationships/image" Target="../media/image29.svg"/><Relationship Id="rId35" Type="http://schemas.openxmlformats.org/officeDocument/2006/relationships/image" Target="../media/image34.png"/><Relationship Id="rId43" Type="http://schemas.openxmlformats.org/officeDocument/2006/relationships/image" Target="../media/image42.png"/><Relationship Id="rId48" Type="http://schemas.openxmlformats.org/officeDocument/2006/relationships/image" Target="../media/image47.png"/><Relationship Id="rId8" Type="http://schemas.openxmlformats.org/officeDocument/2006/relationships/image" Target="../media/image2.svg"/><Relationship Id="rId51" Type="http://schemas.openxmlformats.org/officeDocument/2006/relationships/image" Target="../media/image50.svg"/><Relationship Id="rId3" Type="http://schemas.openxmlformats.org/officeDocument/2006/relationships/image" Target="../media/image4.png"/><Relationship Id="rId12" Type="http://schemas.openxmlformats.org/officeDocument/2006/relationships/image" Target="../media/image11.sv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38" Type="http://schemas.openxmlformats.org/officeDocument/2006/relationships/image" Target="../media/image37.svg"/><Relationship Id="rId46" Type="http://schemas.openxmlformats.org/officeDocument/2006/relationships/image" Target="../media/image45.svg"/><Relationship Id="rId20" Type="http://schemas.openxmlformats.org/officeDocument/2006/relationships/image" Target="../media/image19.svg"/><Relationship Id="rId41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svg"/><Relationship Id="rId36" Type="http://schemas.openxmlformats.org/officeDocument/2006/relationships/image" Target="../media/image35.svg"/><Relationship Id="rId49" Type="http://schemas.openxmlformats.org/officeDocument/2006/relationships/image" Target="../media/image48.svg"/></Relationships>
</file>

<file path=ppt/slides/_rels/slide4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svg"/><Relationship Id="rId26" Type="http://schemas.openxmlformats.org/officeDocument/2006/relationships/image" Target="../media/image25.svg"/><Relationship Id="rId39" Type="http://schemas.openxmlformats.org/officeDocument/2006/relationships/image" Target="../media/image38.png"/><Relationship Id="rId21" Type="http://schemas.openxmlformats.org/officeDocument/2006/relationships/image" Target="../media/image20.png"/><Relationship Id="rId34" Type="http://schemas.openxmlformats.org/officeDocument/2006/relationships/image" Target="../media/image33.svg"/><Relationship Id="rId42" Type="http://schemas.openxmlformats.org/officeDocument/2006/relationships/image" Target="../media/image41.svg"/><Relationship Id="rId47" Type="http://schemas.openxmlformats.org/officeDocument/2006/relationships/image" Target="../media/image46.svg"/><Relationship Id="rId50" Type="http://schemas.openxmlformats.org/officeDocument/2006/relationships/image" Target="../media/image49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43.xml"/><Relationship Id="rId16" Type="http://schemas.openxmlformats.org/officeDocument/2006/relationships/image" Target="../media/image15.svg"/><Relationship Id="rId29" Type="http://schemas.openxmlformats.org/officeDocument/2006/relationships/image" Target="../media/image28.png"/><Relationship Id="rId11" Type="http://schemas.openxmlformats.org/officeDocument/2006/relationships/image" Target="../media/image10.png"/><Relationship Id="rId24" Type="http://schemas.openxmlformats.org/officeDocument/2006/relationships/image" Target="../media/image23.svg"/><Relationship Id="rId32" Type="http://schemas.openxmlformats.org/officeDocument/2006/relationships/image" Target="../media/image31.svg"/><Relationship Id="rId37" Type="http://schemas.openxmlformats.org/officeDocument/2006/relationships/image" Target="../media/image36.png"/><Relationship Id="rId40" Type="http://schemas.openxmlformats.org/officeDocument/2006/relationships/image" Target="../media/image39.svg"/><Relationship Id="rId45" Type="http://schemas.openxmlformats.org/officeDocument/2006/relationships/image" Target="../media/image44.png"/><Relationship Id="rId53" Type="http://schemas.openxmlformats.org/officeDocument/2006/relationships/image" Target="../media/image52.svg"/><Relationship Id="rId5" Type="http://schemas.openxmlformats.org/officeDocument/2006/relationships/image" Target="../media/image6.png"/><Relationship Id="rId10" Type="http://schemas.openxmlformats.org/officeDocument/2006/relationships/image" Target="../media/image9.sv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4" Type="http://schemas.openxmlformats.org/officeDocument/2006/relationships/image" Target="../media/image43.svg"/><Relationship Id="rId52" Type="http://schemas.openxmlformats.org/officeDocument/2006/relationships/image" Target="../media/image51.png"/><Relationship Id="rId4" Type="http://schemas.openxmlformats.org/officeDocument/2006/relationships/image" Target="../media/image56.svg"/><Relationship Id="rId9" Type="http://schemas.openxmlformats.org/officeDocument/2006/relationships/image" Target="../media/image8.png"/><Relationship Id="rId14" Type="http://schemas.openxmlformats.org/officeDocument/2006/relationships/image" Target="../media/image13.svg"/><Relationship Id="rId22" Type="http://schemas.openxmlformats.org/officeDocument/2006/relationships/image" Target="../media/image21.svg"/><Relationship Id="rId27" Type="http://schemas.openxmlformats.org/officeDocument/2006/relationships/image" Target="../media/image26.png"/><Relationship Id="rId30" Type="http://schemas.openxmlformats.org/officeDocument/2006/relationships/image" Target="../media/image29.svg"/><Relationship Id="rId35" Type="http://schemas.openxmlformats.org/officeDocument/2006/relationships/image" Target="../media/image34.png"/><Relationship Id="rId43" Type="http://schemas.openxmlformats.org/officeDocument/2006/relationships/image" Target="../media/image42.png"/><Relationship Id="rId48" Type="http://schemas.openxmlformats.org/officeDocument/2006/relationships/image" Target="../media/image47.png"/><Relationship Id="rId8" Type="http://schemas.openxmlformats.org/officeDocument/2006/relationships/image" Target="../media/image2.svg"/><Relationship Id="rId51" Type="http://schemas.openxmlformats.org/officeDocument/2006/relationships/image" Target="../media/image50.svg"/><Relationship Id="rId3" Type="http://schemas.openxmlformats.org/officeDocument/2006/relationships/image" Target="../media/image55.png"/><Relationship Id="rId12" Type="http://schemas.openxmlformats.org/officeDocument/2006/relationships/image" Target="../media/image11.sv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38" Type="http://schemas.openxmlformats.org/officeDocument/2006/relationships/image" Target="../media/image37.svg"/><Relationship Id="rId46" Type="http://schemas.openxmlformats.org/officeDocument/2006/relationships/image" Target="../media/image45.svg"/><Relationship Id="rId20" Type="http://schemas.openxmlformats.org/officeDocument/2006/relationships/image" Target="../media/image19.svg"/><Relationship Id="rId41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svg"/><Relationship Id="rId36" Type="http://schemas.openxmlformats.org/officeDocument/2006/relationships/image" Target="../media/image35.svg"/><Relationship Id="rId49" Type="http://schemas.openxmlformats.org/officeDocument/2006/relationships/image" Target="../media/image48.svg"/></Relationships>
</file>

<file path=ppt/slides/_rels/slide4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svg"/><Relationship Id="rId26" Type="http://schemas.openxmlformats.org/officeDocument/2006/relationships/image" Target="../media/image25.svg"/><Relationship Id="rId39" Type="http://schemas.openxmlformats.org/officeDocument/2006/relationships/image" Target="../media/image38.png"/><Relationship Id="rId21" Type="http://schemas.openxmlformats.org/officeDocument/2006/relationships/image" Target="../media/image20.png"/><Relationship Id="rId34" Type="http://schemas.openxmlformats.org/officeDocument/2006/relationships/image" Target="../media/image33.svg"/><Relationship Id="rId42" Type="http://schemas.openxmlformats.org/officeDocument/2006/relationships/image" Target="../media/image41.svg"/><Relationship Id="rId47" Type="http://schemas.openxmlformats.org/officeDocument/2006/relationships/image" Target="../media/image46.svg"/><Relationship Id="rId50" Type="http://schemas.openxmlformats.org/officeDocument/2006/relationships/image" Target="../media/image49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44.xml"/><Relationship Id="rId16" Type="http://schemas.openxmlformats.org/officeDocument/2006/relationships/image" Target="../media/image15.svg"/><Relationship Id="rId29" Type="http://schemas.openxmlformats.org/officeDocument/2006/relationships/image" Target="../media/image28.png"/><Relationship Id="rId11" Type="http://schemas.openxmlformats.org/officeDocument/2006/relationships/image" Target="../media/image10.png"/><Relationship Id="rId24" Type="http://schemas.openxmlformats.org/officeDocument/2006/relationships/image" Target="../media/image23.svg"/><Relationship Id="rId32" Type="http://schemas.openxmlformats.org/officeDocument/2006/relationships/image" Target="../media/image31.svg"/><Relationship Id="rId37" Type="http://schemas.openxmlformats.org/officeDocument/2006/relationships/image" Target="../media/image36.png"/><Relationship Id="rId40" Type="http://schemas.openxmlformats.org/officeDocument/2006/relationships/image" Target="../media/image39.svg"/><Relationship Id="rId45" Type="http://schemas.openxmlformats.org/officeDocument/2006/relationships/image" Target="../media/image44.png"/><Relationship Id="rId53" Type="http://schemas.openxmlformats.org/officeDocument/2006/relationships/image" Target="../media/image52.svg"/><Relationship Id="rId5" Type="http://schemas.openxmlformats.org/officeDocument/2006/relationships/image" Target="../media/image6.png"/><Relationship Id="rId10" Type="http://schemas.openxmlformats.org/officeDocument/2006/relationships/image" Target="../media/image9.sv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4" Type="http://schemas.openxmlformats.org/officeDocument/2006/relationships/image" Target="../media/image43.svg"/><Relationship Id="rId52" Type="http://schemas.openxmlformats.org/officeDocument/2006/relationships/image" Target="../media/image51.png"/><Relationship Id="rId4" Type="http://schemas.openxmlformats.org/officeDocument/2006/relationships/image" Target="../media/image5.svg"/><Relationship Id="rId9" Type="http://schemas.openxmlformats.org/officeDocument/2006/relationships/image" Target="../media/image8.png"/><Relationship Id="rId14" Type="http://schemas.openxmlformats.org/officeDocument/2006/relationships/image" Target="../media/image13.svg"/><Relationship Id="rId22" Type="http://schemas.openxmlformats.org/officeDocument/2006/relationships/image" Target="../media/image21.svg"/><Relationship Id="rId27" Type="http://schemas.openxmlformats.org/officeDocument/2006/relationships/image" Target="../media/image26.png"/><Relationship Id="rId30" Type="http://schemas.openxmlformats.org/officeDocument/2006/relationships/image" Target="../media/image29.svg"/><Relationship Id="rId35" Type="http://schemas.openxmlformats.org/officeDocument/2006/relationships/image" Target="../media/image34.png"/><Relationship Id="rId43" Type="http://schemas.openxmlformats.org/officeDocument/2006/relationships/image" Target="../media/image42.png"/><Relationship Id="rId48" Type="http://schemas.openxmlformats.org/officeDocument/2006/relationships/image" Target="../media/image47.png"/><Relationship Id="rId8" Type="http://schemas.openxmlformats.org/officeDocument/2006/relationships/image" Target="../media/image2.svg"/><Relationship Id="rId51" Type="http://schemas.openxmlformats.org/officeDocument/2006/relationships/image" Target="../media/image50.svg"/><Relationship Id="rId3" Type="http://schemas.openxmlformats.org/officeDocument/2006/relationships/image" Target="../media/image4.png"/><Relationship Id="rId12" Type="http://schemas.openxmlformats.org/officeDocument/2006/relationships/image" Target="../media/image11.sv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38" Type="http://schemas.openxmlformats.org/officeDocument/2006/relationships/image" Target="../media/image37.svg"/><Relationship Id="rId46" Type="http://schemas.openxmlformats.org/officeDocument/2006/relationships/image" Target="../media/image45.svg"/><Relationship Id="rId20" Type="http://schemas.openxmlformats.org/officeDocument/2006/relationships/image" Target="../media/image19.svg"/><Relationship Id="rId41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svg"/><Relationship Id="rId36" Type="http://schemas.openxmlformats.org/officeDocument/2006/relationships/image" Target="../media/image35.svg"/><Relationship Id="rId49" Type="http://schemas.openxmlformats.org/officeDocument/2006/relationships/image" Target="../media/image48.svg"/></Relationships>
</file>

<file path=ppt/slides/_rels/slide4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svg"/><Relationship Id="rId26" Type="http://schemas.openxmlformats.org/officeDocument/2006/relationships/image" Target="../media/image25.svg"/><Relationship Id="rId39" Type="http://schemas.openxmlformats.org/officeDocument/2006/relationships/image" Target="../media/image38.png"/><Relationship Id="rId21" Type="http://schemas.openxmlformats.org/officeDocument/2006/relationships/image" Target="../media/image20.png"/><Relationship Id="rId34" Type="http://schemas.openxmlformats.org/officeDocument/2006/relationships/image" Target="../media/image33.svg"/><Relationship Id="rId42" Type="http://schemas.openxmlformats.org/officeDocument/2006/relationships/image" Target="../media/image41.svg"/><Relationship Id="rId47" Type="http://schemas.openxmlformats.org/officeDocument/2006/relationships/image" Target="../media/image46.svg"/><Relationship Id="rId50" Type="http://schemas.openxmlformats.org/officeDocument/2006/relationships/image" Target="../media/image49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45.xml"/><Relationship Id="rId16" Type="http://schemas.openxmlformats.org/officeDocument/2006/relationships/image" Target="../media/image15.svg"/><Relationship Id="rId29" Type="http://schemas.openxmlformats.org/officeDocument/2006/relationships/image" Target="../media/image28.png"/><Relationship Id="rId11" Type="http://schemas.openxmlformats.org/officeDocument/2006/relationships/image" Target="../media/image10.png"/><Relationship Id="rId24" Type="http://schemas.openxmlformats.org/officeDocument/2006/relationships/image" Target="../media/image23.svg"/><Relationship Id="rId32" Type="http://schemas.openxmlformats.org/officeDocument/2006/relationships/image" Target="../media/image31.svg"/><Relationship Id="rId37" Type="http://schemas.openxmlformats.org/officeDocument/2006/relationships/image" Target="../media/image36.png"/><Relationship Id="rId40" Type="http://schemas.openxmlformats.org/officeDocument/2006/relationships/image" Target="../media/image39.svg"/><Relationship Id="rId45" Type="http://schemas.openxmlformats.org/officeDocument/2006/relationships/image" Target="../media/image44.png"/><Relationship Id="rId53" Type="http://schemas.openxmlformats.org/officeDocument/2006/relationships/image" Target="../media/image52.svg"/><Relationship Id="rId5" Type="http://schemas.openxmlformats.org/officeDocument/2006/relationships/image" Target="../media/image6.png"/><Relationship Id="rId10" Type="http://schemas.openxmlformats.org/officeDocument/2006/relationships/image" Target="../media/image9.sv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4" Type="http://schemas.openxmlformats.org/officeDocument/2006/relationships/image" Target="../media/image43.svg"/><Relationship Id="rId52" Type="http://schemas.openxmlformats.org/officeDocument/2006/relationships/image" Target="../media/image51.png"/><Relationship Id="rId4" Type="http://schemas.openxmlformats.org/officeDocument/2006/relationships/image" Target="../media/image5.svg"/><Relationship Id="rId9" Type="http://schemas.openxmlformats.org/officeDocument/2006/relationships/image" Target="../media/image8.png"/><Relationship Id="rId14" Type="http://schemas.openxmlformats.org/officeDocument/2006/relationships/image" Target="../media/image13.svg"/><Relationship Id="rId22" Type="http://schemas.openxmlformats.org/officeDocument/2006/relationships/image" Target="../media/image21.svg"/><Relationship Id="rId27" Type="http://schemas.openxmlformats.org/officeDocument/2006/relationships/image" Target="../media/image26.png"/><Relationship Id="rId30" Type="http://schemas.openxmlformats.org/officeDocument/2006/relationships/image" Target="../media/image29.svg"/><Relationship Id="rId35" Type="http://schemas.openxmlformats.org/officeDocument/2006/relationships/image" Target="../media/image34.png"/><Relationship Id="rId43" Type="http://schemas.openxmlformats.org/officeDocument/2006/relationships/image" Target="../media/image42.png"/><Relationship Id="rId48" Type="http://schemas.openxmlformats.org/officeDocument/2006/relationships/image" Target="../media/image47.png"/><Relationship Id="rId8" Type="http://schemas.openxmlformats.org/officeDocument/2006/relationships/image" Target="../media/image2.svg"/><Relationship Id="rId51" Type="http://schemas.openxmlformats.org/officeDocument/2006/relationships/image" Target="../media/image50.svg"/><Relationship Id="rId3" Type="http://schemas.openxmlformats.org/officeDocument/2006/relationships/image" Target="../media/image4.png"/><Relationship Id="rId12" Type="http://schemas.openxmlformats.org/officeDocument/2006/relationships/image" Target="../media/image11.sv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38" Type="http://schemas.openxmlformats.org/officeDocument/2006/relationships/image" Target="../media/image37.svg"/><Relationship Id="rId46" Type="http://schemas.openxmlformats.org/officeDocument/2006/relationships/image" Target="../media/image45.svg"/><Relationship Id="rId20" Type="http://schemas.openxmlformats.org/officeDocument/2006/relationships/image" Target="../media/image19.svg"/><Relationship Id="rId41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svg"/><Relationship Id="rId36" Type="http://schemas.openxmlformats.org/officeDocument/2006/relationships/image" Target="../media/image35.svg"/><Relationship Id="rId49" Type="http://schemas.openxmlformats.org/officeDocument/2006/relationships/image" Target="../media/image48.svg"/></Relationships>
</file>

<file path=ppt/slides/_rels/slide4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svg"/><Relationship Id="rId26" Type="http://schemas.openxmlformats.org/officeDocument/2006/relationships/image" Target="../media/image25.svg"/><Relationship Id="rId39" Type="http://schemas.openxmlformats.org/officeDocument/2006/relationships/image" Target="../media/image38.png"/><Relationship Id="rId21" Type="http://schemas.openxmlformats.org/officeDocument/2006/relationships/image" Target="../media/image20.png"/><Relationship Id="rId34" Type="http://schemas.openxmlformats.org/officeDocument/2006/relationships/image" Target="../media/image33.svg"/><Relationship Id="rId42" Type="http://schemas.openxmlformats.org/officeDocument/2006/relationships/image" Target="../media/image41.svg"/><Relationship Id="rId47" Type="http://schemas.openxmlformats.org/officeDocument/2006/relationships/image" Target="../media/image46.svg"/><Relationship Id="rId50" Type="http://schemas.openxmlformats.org/officeDocument/2006/relationships/image" Target="../media/image49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46.xml"/><Relationship Id="rId16" Type="http://schemas.openxmlformats.org/officeDocument/2006/relationships/image" Target="../media/image15.svg"/><Relationship Id="rId29" Type="http://schemas.openxmlformats.org/officeDocument/2006/relationships/image" Target="../media/image28.png"/><Relationship Id="rId11" Type="http://schemas.openxmlformats.org/officeDocument/2006/relationships/image" Target="../media/image10.png"/><Relationship Id="rId24" Type="http://schemas.openxmlformats.org/officeDocument/2006/relationships/image" Target="../media/image23.svg"/><Relationship Id="rId32" Type="http://schemas.openxmlformats.org/officeDocument/2006/relationships/image" Target="../media/image31.svg"/><Relationship Id="rId37" Type="http://schemas.openxmlformats.org/officeDocument/2006/relationships/image" Target="../media/image36.png"/><Relationship Id="rId40" Type="http://schemas.openxmlformats.org/officeDocument/2006/relationships/image" Target="../media/image39.svg"/><Relationship Id="rId45" Type="http://schemas.openxmlformats.org/officeDocument/2006/relationships/image" Target="../media/image44.png"/><Relationship Id="rId53" Type="http://schemas.openxmlformats.org/officeDocument/2006/relationships/image" Target="../media/image52.svg"/><Relationship Id="rId5" Type="http://schemas.openxmlformats.org/officeDocument/2006/relationships/image" Target="../media/image6.png"/><Relationship Id="rId10" Type="http://schemas.openxmlformats.org/officeDocument/2006/relationships/image" Target="../media/image9.sv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4" Type="http://schemas.openxmlformats.org/officeDocument/2006/relationships/image" Target="../media/image43.svg"/><Relationship Id="rId52" Type="http://schemas.openxmlformats.org/officeDocument/2006/relationships/image" Target="../media/image51.png"/><Relationship Id="rId4" Type="http://schemas.openxmlformats.org/officeDocument/2006/relationships/image" Target="../media/image5.svg"/><Relationship Id="rId9" Type="http://schemas.openxmlformats.org/officeDocument/2006/relationships/image" Target="../media/image8.png"/><Relationship Id="rId14" Type="http://schemas.openxmlformats.org/officeDocument/2006/relationships/image" Target="../media/image13.svg"/><Relationship Id="rId22" Type="http://schemas.openxmlformats.org/officeDocument/2006/relationships/image" Target="../media/image21.svg"/><Relationship Id="rId27" Type="http://schemas.openxmlformats.org/officeDocument/2006/relationships/image" Target="../media/image26.png"/><Relationship Id="rId30" Type="http://schemas.openxmlformats.org/officeDocument/2006/relationships/image" Target="../media/image29.svg"/><Relationship Id="rId35" Type="http://schemas.openxmlformats.org/officeDocument/2006/relationships/image" Target="../media/image34.png"/><Relationship Id="rId43" Type="http://schemas.openxmlformats.org/officeDocument/2006/relationships/image" Target="../media/image42.png"/><Relationship Id="rId48" Type="http://schemas.openxmlformats.org/officeDocument/2006/relationships/image" Target="../media/image47.png"/><Relationship Id="rId8" Type="http://schemas.openxmlformats.org/officeDocument/2006/relationships/image" Target="../media/image2.svg"/><Relationship Id="rId51" Type="http://schemas.openxmlformats.org/officeDocument/2006/relationships/image" Target="../media/image50.svg"/><Relationship Id="rId3" Type="http://schemas.openxmlformats.org/officeDocument/2006/relationships/image" Target="../media/image4.png"/><Relationship Id="rId12" Type="http://schemas.openxmlformats.org/officeDocument/2006/relationships/image" Target="../media/image11.sv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38" Type="http://schemas.openxmlformats.org/officeDocument/2006/relationships/image" Target="../media/image37.svg"/><Relationship Id="rId46" Type="http://schemas.openxmlformats.org/officeDocument/2006/relationships/image" Target="../media/image45.svg"/><Relationship Id="rId20" Type="http://schemas.openxmlformats.org/officeDocument/2006/relationships/image" Target="../media/image19.svg"/><Relationship Id="rId41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svg"/><Relationship Id="rId36" Type="http://schemas.openxmlformats.org/officeDocument/2006/relationships/image" Target="../media/image35.svg"/><Relationship Id="rId49" Type="http://schemas.openxmlformats.org/officeDocument/2006/relationships/image" Target="../media/image48.svg"/></Relationships>
</file>

<file path=ppt/slides/_rels/slide4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svg"/><Relationship Id="rId26" Type="http://schemas.openxmlformats.org/officeDocument/2006/relationships/image" Target="../media/image25.svg"/><Relationship Id="rId39" Type="http://schemas.openxmlformats.org/officeDocument/2006/relationships/image" Target="../media/image38.png"/><Relationship Id="rId21" Type="http://schemas.openxmlformats.org/officeDocument/2006/relationships/image" Target="../media/image20.png"/><Relationship Id="rId34" Type="http://schemas.openxmlformats.org/officeDocument/2006/relationships/image" Target="../media/image33.svg"/><Relationship Id="rId42" Type="http://schemas.openxmlformats.org/officeDocument/2006/relationships/image" Target="../media/image41.svg"/><Relationship Id="rId47" Type="http://schemas.openxmlformats.org/officeDocument/2006/relationships/image" Target="../media/image46.svg"/><Relationship Id="rId50" Type="http://schemas.openxmlformats.org/officeDocument/2006/relationships/image" Target="../media/image49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47.xml"/><Relationship Id="rId16" Type="http://schemas.openxmlformats.org/officeDocument/2006/relationships/image" Target="../media/image15.svg"/><Relationship Id="rId29" Type="http://schemas.openxmlformats.org/officeDocument/2006/relationships/image" Target="../media/image28.png"/><Relationship Id="rId11" Type="http://schemas.openxmlformats.org/officeDocument/2006/relationships/image" Target="../media/image10.png"/><Relationship Id="rId24" Type="http://schemas.openxmlformats.org/officeDocument/2006/relationships/image" Target="../media/image23.svg"/><Relationship Id="rId32" Type="http://schemas.openxmlformats.org/officeDocument/2006/relationships/image" Target="../media/image31.svg"/><Relationship Id="rId37" Type="http://schemas.openxmlformats.org/officeDocument/2006/relationships/image" Target="../media/image36.png"/><Relationship Id="rId40" Type="http://schemas.openxmlformats.org/officeDocument/2006/relationships/image" Target="../media/image39.svg"/><Relationship Id="rId45" Type="http://schemas.openxmlformats.org/officeDocument/2006/relationships/image" Target="../media/image44.png"/><Relationship Id="rId53" Type="http://schemas.openxmlformats.org/officeDocument/2006/relationships/image" Target="../media/image52.svg"/><Relationship Id="rId5" Type="http://schemas.openxmlformats.org/officeDocument/2006/relationships/image" Target="../media/image6.png"/><Relationship Id="rId10" Type="http://schemas.openxmlformats.org/officeDocument/2006/relationships/image" Target="../media/image9.sv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4" Type="http://schemas.openxmlformats.org/officeDocument/2006/relationships/image" Target="../media/image43.svg"/><Relationship Id="rId52" Type="http://schemas.openxmlformats.org/officeDocument/2006/relationships/image" Target="../media/image51.png"/><Relationship Id="rId4" Type="http://schemas.openxmlformats.org/officeDocument/2006/relationships/image" Target="../media/image56.svg"/><Relationship Id="rId9" Type="http://schemas.openxmlformats.org/officeDocument/2006/relationships/image" Target="../media/image8.png"/><Relationship Id="rId14" Type="http://schemas.openxmlformats.org/officeDocument/2006/relationships/image" Target="../media/image13.svg"/><Relationship Id="rId22" Type="http://schemas.openxmlformats.org/officeDocument/2006/relationships/image" Target="../media/image21.svg"/><Relationship Id="rId27" Type="http://schemas.openxmlformats.org/officeDocument/2006/relationships/image" Target="../media/image26.png"/><Relationship Id="rId30" Type="http://schemas.openxmlformats.org/officeDocument/2006/relationships/image" Target="../media/image29.svg"/><Relationship Id="rId35" Type="http://schemas.openxmlformats.org/officeDocument/2006/relationships/image" Target="../media/image34.png"/><Relationship Id="rId43" Type="http://schemas.openxmlformats.org/officeDocument/2006/relationships/image" Target="../media/image42.png"/><Relationship Id="rId48" Type="http://schemas.openxmlformats.org/officeDocument/2006/relationships/image" Target="../media/image47.png"/><Relationship Id="rId8" Type="http://schemas.openxmlformats.org/officeDocument/2006/relationships/image" Target="../media/image2.svg"/><Relationship Id="rId51" Type="http://schemas.openxmlformats.org/officeDocument/2006/relationships/image" Target="../media/image50.svg"/><Relationship Id="rId3" Type="http://schemas.openxmlformats.org/officeDocument/2006/relationships/image" Target="../media/image55.png"/><Relationship Id="rId12" Type="http://schemas.openxmlformats.org/officeDocument/2006/relationships/image" Target="../media/image11.sv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38" Type="http://schemas.openxmlformats.org/officeDocument/2006/relationships/image" Target="../media/image37.svg"/><Relationship Id="rId46" Type="http://schemas.openxmlformats.org/officeDocument/2006/relationships/image" Target="../media/image45.svg"/><Relationship Id="rId20" Type="http://schemas.openxmlformats.org/officeDocument/2006/relationships/image" Target="../media/image19.svg"/><Relationship Id="rId41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svg"/><Relationship Id="rId36" Type="http://schemas.openxmlformats.org/officeDocument/2006/relationships/image" Target="../media/image35.svg"/><Relationship Id="rId49" Type="http://schemas.openxmlformats.org/officeDocument/2006/relationships/image" Target="../media/image48.svg"/></Relationships>
</file>

<file path=ppt/slides/_rels/slide4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4.png"/><Relationship Id="rId18" Type="http://schemas.openxmlformats.org/officeDocument/2006/relationships/image" Target="../media/image19.svg"/><Relationship Id="rId26" Type="http://schemas.openxmlformats.org/officeDocument/2006/relationships/image" Target="../media/image27.svg"/><Relationship Id="rId39" Type="http://schemas.openxmlformats.org/officeDocument/2006/relationships/image" Target="../media/image38.png"/><Relationship Id="rId21" Type="http://schemas.openxmlformats.org/officeDocument/2006/relationships/image" Target="../media/image22.png"/><Relationship Id="rId34" Type="http://schemas.openxmlformats.org/officeDocument/2006/relationships/image" Target="../media/image35.svg"/><Relationship Id="rId42" Type="http://schemas.openxmlformats.org/officeDocument/2006/relationships/image" Target="../media/image41.svg"/><Relationship Id="rId47" Type="http://schemas.openxmlformats.org/officeDocument/2006/relationships/image" Target="../media/image46.svg"/><Relationship Id="rId50" Type="http://schemas.openxmlformats.org/officeDocument/2006/relationships/image" Target="../media/image48.sv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48.xml"/><Relationship Id="rId16" Type="http://schemas.openxmlformats.org/officeDocument/2006/relationships/image" Target="../media/image17.svg"/><Relationship Id="rId29" Type="http://schemas.openxmlformats.org/officeDocument/2006/relationships/image" Target="../media/image30.png"/><Relationship Id="rId11" Type="http://schemas.openxmlformats.org/officeDocument/2006/relationships/image" Target="../media/image12.png"/><Relationship Id="rId24" Type="http://schemas.openxmlformats.org/officeDocument/2006/relationships/image" Target="../media/image25.svg"/><Relationship Id="rId32" Type="http://schemas.openxmlformats.org/officeDocument/2006/relationships/image" Target="../media/image33.svg"/><Relationship Id="rId37" Type="http://schemas.openxmlformats.org/officeDocument/2006/relationships/image" Target="../media/image36.png"/><Relationship Id="rId40" Type="http://schemas.openxmlformats.org/officeDocument/2006/relationships/image" Target="../media/image39.svg"/><Relationship Id="rId45" Type="http://schemas.openxmlformats.org/officeDocument/2006/relationships/image" Target="../media/image44.png"/><Relationship Id="rId53" Type="http://schemas.openxmlformats.org/officeDocument/2006/relationships/image" Target="../media/image51.pn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19" Type="http://schemas.openxmlformats.org/officeDocument/2006/relationships/image" Target="../media/image20.png"/><Relationship Id="rId31" Type="http://schemas.openxmlformats.org/officeDocument/2006/relationships/image" Target="../media/image32.png"/><Relationship Id="rId44" Type="http://schemas.openxmlformats.org/officeDocument/2006/relationships/image" Target="../media/image43.svg"/><Relationship Id="rId52" Type="http://schemas.openxmlformats.org/officeDocument/2006/relationships/image" Target="../media/image50.svg"/><Relationship Id="rId4" Type="http://schemas.openxmlformats.org/officeDocument/2006/relationships/image" Target="../media/image56.svg"/><Relationship Id="rId9" Type="http://schemas.openxmlformats.org/officeDocument/2006/relationships/image" Target="../media/image10.png"/><Relationship Id="rId14" Type="http://schemas.openxmlformats.org/officeDocument/2006/relationships/image" Target="../media/image15.svg"/><Relationship Id="rId22" Type="http://schemas.openxmlformats.org/officeDocument/2006/relationships/image" Target="../media/image23.svg"/><Relationship Id="rId27" Type="http://schemas.openxmlformats.org/officeDocument/2006/relationships/image" Target="../media/image28.png"/><Relationship Id="rId30" Type="http://schemas.openxmlformats.org/officeDocument/2006/relationships/image" Target="../media/image31.svg"/><Relationship Id="rId35" Type="http://schemas.openxmlformats.org/officeDocument/2006/relationships/image" Target="../media/image68.png"/><Relationship Id="rId43" Type="http://schemas.openxmlformats.org/officeDocument/2006/relationships/image" Target="../media/image42.png"/><Relationship Id="rId48" Type="http://schemas.openxmlformats.org/officeDocument/2006/relationships/image" Target="../media/image70.jpg"/><Relationship Id="rId8" Type="http://schemas.openxmlformats.org/officeDocument/2006/relationships/image" Target="../media/image2.svg"/><Relationship Id="rId51" Type="http://schemas.openxmlformats.org/officeDocument/2006/relationships/image" Target="../media/image49.png"/><Relationship Id="rId3" Type="http://schemas.openxmlformats.org/officeDocument/2006/relationships/image" Target="../media/image55.png"/><Relationship Id="rId12" Type="http://schemas.openxmlformats.org/officeDocument/2006/relationships/image" Target="../media/image13.svg"/><Relationship Id="rId17" Type="http://schemas.openxmlformats.org/officeDocument/2006/relationships/image" Target="../media/image18.png"/><Relationship Id="rId25" Type="http://schemas.openxmlformats.org/officeDocument/2006/relationships/image" Target="../media/image26.png"/><Relationship Id="rId33" Type="http://schemas.openxmlformats.org/officeDocument/2006/relationships/image" Target="../media/image34.png"/><Relationship Id="rId38" Type="http://schemas.openxmlformats.org/officeDocument/2006/relationships/image" Target="../media/image37.svg"/><Relationship Id="rId46" Type="http://schemas.openxmlformats.org/officeDocument/2006/relationships/image" Target="../media/image45.svg"/><Relationship Id="rId20" Type="http://schemas.openxmlformats.org/officeDocument/2006/relationships/image" Target="../media/image21.svg"/><Relationship Id="rId41" Type="http://schemas.openxmlformats.org/officeDocument/2006/relationships/image" Target="../media/image40.png"/><Relationship Id="rId54" Type="http://schemas.openxmlformats.org/officeDocument/2006/relationships/image" Target="../media/image52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15" Type="http://schemas.openxmlformats.org/officeDocument/2006/relationships/image" Target="../media/image16.png"/><Relationship Id="rId23" Type="http://schemas.openxmlformats.org/officeDocument/2006/relationships/image" Target="../media/image24.png"/><Relationship Id="rId28" Type="http://schemas.openxmlformats.org/officeDocument/2006/relationships/image" Target="../media/image29.svg"/><Relationship Id="rId36" Type="http://schemas.openxmlformats.org/officeDocument/2006/relationships/image" Target="../media/image69.svg"/><Relationship Id="rId49" Type="http://schemas.openxmlformats.org/officeDocument/2006/relationships/image" Target="../media/image47.png"/></Relationships>
</file>

<file path=ppt/slides/_rels/slide5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4.png"/><Relationship Id="rId18" Type="http://schemas.openxmlformats.org/officeDocument/2006/relationships/image" Target="../media/image19.svg"/><Relationship Id="rId26" Type="http://schemas.openxmlformats.org/officeDocument/2006/relationships/image" Target="../media/image27.svg"/><Relationship Id="rId39" Type="http://schemas.openxmlformats.org/officeDocument/2006/relationships/image" Target="../media/image40.png"/><Relationship Id="rId21" Type="http://schemas.openxmlformats.org/officeDocument/2006/relationships/image" Target="../media/image22.png"/><Relationship Id="rId34" Type="http://schemas.openxmlformats.org/officeDocument/2006/relationships/image" Target="../media/image35.svg"/><Relationship Id="rId42" Type="http://schemas.openxmlformats.org/officeDocument/2006/relationships/image" Target="../media/image43.svg"/><Relationship Id="rId47" Type="http://schemas.openxmlformats.org/officeDocument/2006/relationships/image" Target="../media/image54.svg"/><Relationship Id="rId50" Type="http://schemas.openxmlformats.org/officeDocument/2006/relationships/image" Target="../media/image49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49.xml"/><Relationship Id="rId16" Type="http://schemas.openxmlformats.org/officeDocument/2006/relationships/image" Target="../media/image17.svg"/><Relationship Id="rId29" Type="http://schemas.openxmlformats.org/officeDocument/2006/relationships/image" Target="../media/image30.png"/><Relationship Id="rId11" Type="http://schemas.openxmlformats.org/officeDocument/2006/relationships/image" Target="../media/image12.png"/><Relationship Id="rId24" Type="http://schemas.openxmlformats.org/officeDocument/2006/relationships/image" Target="../media/image25.svg"/><Relationship Id="rId32" Type="http://schemas.openxmlformats.org/officeDocument/2006/relationships/image" Target="../media/image33.svg"/><Relationship Id="rId37" Type="http://schemas.openxmlformats.org/officeDocument/2006/relationships/image" Target="../media/image38.png"/><Relationship Id="rId40" Type="http://schemas.openxmlformats.org/officeDocument/2006/relationships/image" Target="../media/image41.svg"/><Relationship Id="rId45" Type="http://schemas.openxmlformats.org/officeDocument/2006/relationships/image" Target="../media/image46.svg"/><Relationship Id="rId53" Type="http://schemas.openxmlformats.org/officeDocument/2006/relationships/image" Target="../media/image52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19" Type="http://schemas.openxmlformats.org/officeDocument/2006/relationships/image" Target="../media/image20.png"/><Relationship Id="rId31" Type="http://schemas.openxmlformats.org/officeDocument/2006/relationships/image" Target="../media/image32.png"/><Relationship Id="rId44" Type="http://schemas.openxmlformats.org/officeDocument/2006/relationships/image" Target="../media/image45.svg"/><Relationship Id="rId52" Type="http://schemas.openxmlformats.org/officeDocument/2006/relationships/image" Target="../media/image51.png"/><Relationship Id="rId4" Type="http://schemas.openxmlformats.org/officeDocument/2006/relationships/image" Target="../media/image56.svg"/><Relationship Id="rId9" Type="http://schemas.openxmlformats.org/officeDocument/2006/relationships/image" Target="../media/image10.png"/><Relationship Id="rId14" Type="http://schemas.openxmlformats.org/officeDocument/2006/relationships/image" Target="../media/image15.svg"/><Relationship Id="rId22" Type="http://schemas.openxmlformats.org/officeDocument/2006/relationships/image" Target="../media/image23.svg"/><Relationship Id="rId27" Type="http://schemas.openxmlformats.org/officeDocument/2006/relationships/image" Target="../media/image28.png"/><Relationship Id="rId30" Type="http://schemas.openxmlformats.org/officeDocument/2006/relationships/image" Target="../media/image31.svg"/><Relationship Id="rId35" Type="http://schemas.openxmlformats.org/officeDocument/2006/relationships/image" Target="../media/image36.png"/><Relationship Id="rId43" Type="http://schemas.openxmlformats.org/officeDocument/2006/relationships/image" Target="../media/image44.png"/><Relationship Id="rId48" Type="http://schemas.openxmlformats.org/officeDocument/2006/relationships/image" Target="../media/image47.png"/><Relationship Id="rId8" Type="http://schemas.openxmlformats.org/officeDocument/2006/relationships/image" Target="../media/image2.svg"/><Relationship Id="rId51" Type="http://schemas.openxmlformats.org/officeDocument/2006/relationships/image" Target="../media/image50.svg"/><Relationship Id="rId3" Type="http://schemas.openxmlformats.org/officeDocument/2006/relationships/image" Target="../media/image55.png"/><Relationship Id="rId12" Type="http://schemas.openxmlformats.org/officeDocument/2006/relationships/image" Target="../media/image13.svg"/><Relationship Id="rId17" Type="http://schemas.openxmlformats.org/officeDocument/2006/relationships/image" Target="../media/image18.png"/><Relationship Id="rId25" Type="http://schemas.openxmlformats.org/officeDocument/2006/relationships/image" Target="../media/image26.png"/><Relationship Id="rId33" Type="http://schemas.openxmlformats.org/officeDocument/2006/relationships/image" Target="../media/image34.png"/><Relationship Id="rId38" Type="http://schemas.openxmlformats.org/officeDocument/2006/relationships/image" Target="../media/image39.svg"/><Relationship Id="rId46" Type="http://schemas.openxmlformats.org/officeDocument/2006/relationships/image" Target="../media/image53.png"/><Relationship Id="rId20" Type="http://schemas.openxmlformats.org/officeDocument/2006/relationships/image" Target="../media/image21.svg"/><Relationship Id="rId41" Type="http://schemas.openxmlformats.org/officeDocument/2006/relationships/image" Target="../media/image42.png"/><Relationship Id="rId54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15" Type="http://schemas.openxmlformats.org/officeDocument/2006/relationships/image" Target="../media/image16.png"/><Relationship Id="rId23" Type="http://schemas.openxmlformats.org/officeDocument/2006/relationships/image" Target="../media/image24.png"/><Relationship Id="rId28" Type="http://schemas.openxmlformats.org/officeDocument/2006/relationships/image" Target="../media/image29.svg"/><Relationship Id="rId36" Type="http://schemas.openxmlformats.org/officeDocument/2006/relationships/image" Target="../media/image37.svg"/><Relationship Id="rId49" Type="http://schemas.openxmlformats.org/officeDocument/2006/relationships/image" Target="../media/image48.svg"/></Relationships>
</file>

<file path=ppt/slides/_rels/slide5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svg"/><Relationship Id="rId26" Type="http://schemas.openxmlformats.org/officeDocument/2006/relationships/image" Target="../media/image25.svg"/><Relationship Id="rId39" Type="http://schemas.openxmlformats.org/officeDocument/2006/relationships/image" Target="../media/image38.png"/><Relationship Id="rId21" Type="http://schemas.openxmlformats.org/officeDocument/2006/relationships/image" Target="../media/image20.png"/><Relationship Id="rId34" Type="http://schemas.openxmlformats.org/officeDocument/2006/relationships/image" Target="../media/image33.svg"/><Relationship Id="rId42" Type="http://schemas.openxmlformats.org/officeDocument/2006/relationships/image" Target="../media/image41.svg"/><Relationship Id="rId47" Type="http://schemas.openxmlformats.org/officeDocument/2006/relationships/image" Target="../media/image46.svg"/><Relationship Id="rId50" Type="http://schemas.openxmlformats.org/officeDocument/2006/relationships/image" Target="../media/image49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50.xml"/><Relationship Id="rId16" Type="http://schemas.openxmlformats.org/officeDocument/2006/relationships/image" Target="../media/image15.svg"/><Relationship Id="rId29" Type="http://schemas.openxmlformats.org/officeDocument/2006/relationships/image" Target="../media/image28.png"/><Relationship Id="rId11" Type="http://schemas.openxmlformats.org/officeDocument/2006/relationships/image" Target="../media/image10.png"/><Relationship Id="rId24" Type="http://schemas.openxmlformats.org/officeDocument/2006/relationships/image" Target="../media/image23.svg"/><Relationship Id="rId32" Type="http://schemas.openxmlformats.org/officeDocument/2006/relationships/image" Target="../media/image31.svg"/><Relationship Id="rId37" Type="http://schemas.openxmlformats.org/officeDocument/2006/relationships/image" Target="../media/image36.png"/><Relationship Id="rId40" Type="http://schemas.openxmlformats.org/officeDocument/2006/relationships/image" Target="../media/image39.svg"/><Relationship Id="rId45" Type="http://schemas.openxmlformats.org/officeDocument/2006/relationships/image" Target="../media/image44.png"/><Relationship Id="rId53" Type="http://schemas.openxmlformats.org/officeDocument/2006/relationships/image" Target="../media/image52.svg"/><Relationship Id="rId5" Type="http://schemas.openxmlformats.org/officeDocument/2006/relationships/image" Target="../media/image6.png"/><Relationship Id="rId10" Type="http://schemas.openxmlformats.org/officeDocument/2006/relationships/image" Target="../media/image9.sv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4" Type="http://schemas.openxmlformats.org/officeDocument/2006/relationships/image" Target="../media/image43.svg"/><Relationship Id="rId52" Type="http://schemas.openxmlformats.org/officeDocument/2006/relationships/image" Target="../media/image51.png"/><Relationship Id="rId4" Type="http://schemas.openxmlformats.org/officeDocument/2006/relationships/image" Target="../media/image5.svg"/><Relationship Id="rId9" Type="http://schemas.openxmlformats.org/officeDocument/2006/relationships/image" Target="../media/image8.png"/><Relationship Id="rId14" Type="http://schemas.openxmlformats.org/officeDocument/2006/relationships/image" Target="../media/image13.svg"/><Relationship Id="rId22" Type="http://schemas.openxmlformats.org/officeDocument/2006/relationships/image" Target="../media/image21.svg"/><Relationship Id="rId27" Type="http://schemas.openxmlformats.org/officeDocument/2006/relationships/image" Target="../media/image26.png"/><Relationship Id="rId30" Type="http://schemas.openxmlformats.org/officeDocument/2006/relationships/image" Target="../media/image29.svg"/><Relationship Id="rId35" Type="http://schemas.openxmlformats.org/officeDocument/2006/relationships/image" Target="../media/image34.png"/><Relationship Id="rId43" Type="http://schemas.openxmlformats.org/officeDocument/2006/relationships/image" Target="../media/image42.png"/><Relationship Id="rId48" Type="http://schemas.openxmlformats.org/officeDocument/2006/relationships/image" Target="../media/image47.png"/><Relationship Id="rId8" Type="http://schemas.openxmlformats.org/officeDocument/2006/relationships/image" Target="../media/image2.svg"/><Relationship Id="rId51" Type="http://schemas.openxmlformats.org/officeDocument/2006/relationships/image" Target="../media/image50.svg"/><Relationship Id="rId3" Type="http://schemas.openxmlformats.org/officeDocument/2006/relationships/image" Target="../media/image4.png"/><Relationship Id="rId12" Type="http://schemas.openxmlformats.org/officeDocument/2006/relationships/image" Target="../media/image11.sv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38" Type="http://schemas.openxmlformats.org/officeDocument/2006/relationships/image" Target="../media/image37.svg"/><Relationship Id="rId46" Type="http://schemas.openxmlformats.org/officeDocument/2006/relationships/image" Target="../media/image45.svg"/><Relationship Id="rId20" Type="http://schemas.openxmlformats.org/officeDocument/2006/relationships/image" Target="../media/image19.svg"/><Relationship Id="rId41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svg"/><Relationship Id="rId36" Type="http://schemas.openxmlformats.org/officeDocument/2006/relationships/image" Target="../media/image35.svg"/><Relationship Id="rId49" Type="http://schemas.openxmlformats.org/officeDocument/2006/relationships/image" Target="../media/image48.svg"/></Relationships>
</file>

<file path=ppt/slides/_rels/slide5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svg"/><Relationship Id="rId26" Type="http://schemas.openxmlformats.org/officeDocument/2006/relationships/image" Target="../media/image25.svg"/><Relationship Id="rId39" Type="http://schemas.openxmlformats.org/officeDocument/2006/relationships/image" Target="../media/image38.png"/><Relationship Id="rId21" Type="http://schemas.openxmlformats.org/officeDocument/2006/relationships/image" Target="../media/image20.png"/><Relationship Id="rId34" Type="http://schemas.openxmlformats.org/officeDocument/2006/relationships/image" Target="../media/image33.svg"/><Relationship Id="rId42" Type="http://schemas.openxmlformats.org/officeDocument/2006/relationships/image" Target="../media/image41.svg"/><Relationship Id="rId47" Type="http://schemas.openxmlformats.org/officeDocument/2006/relationships/image" Target="../media/image46.svg"/><Relationship Id="rId50" Type="http://schemas.openxmlformats.org/officeDocument/2006/relationships/image" Target="../media/image49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51.xml"/><Relationship Id="rId16" Type="http://schemas.openxmlformats.org/officeDocument/2006/relationships/image" Target="../media/image15.svg"/><Relationship Id="rId29" Type="http://schemas.openxmlformats.org/officeDocument/2006/relationships/image" Target="../media/image28.png"/><Relationship Id="rId11" Type="http://schemas.openxmlformats.org/officeDocument/2006/relationships/image" Target="../media/image10.png"/><Relationship Id="rId24" Type="http://schemas.openxmlformats.org/officeDocument/2006/relationships/image" Target="../media/image23.svg"/><Relationship Id="rId32" Type="http://schemas.openxmlformats.org/officeDocument/2006/relationships/image" Target="../media/image31.svg"/><Relationship Id="rId37" Type="http://schemas.openxmlformats.org/officeDocument/2006/relationships/image" Target="../media/image36.png"/><Relationship Id="rId40" Type="http://schemas.openxmlformats.org/officeDocument/2006/relationships/image" Target="../media/image39.svg"/><Relationship Id="rId45" Type="http://schemas.openxmlformats.org/officeDocument/2006/relationships/image" Target="../media/image44.png"/><Relationship Id="rId53" Type="http://schemas.openxmlformats.org/officeDocument/2006/relationships/image" Target="../media/image52.svg"/><Relationship Id="rId5" Type="http://schemas.openxmlformats.org/officeDocument/2006/relationships/image" Target="../media/image6.png"/><Relationship Id="rId10" Type="http://schemas.openxmlformats.org/officeDocument/2006/relationships/image" Target="../media/image9.sv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4" Type="http://schemas.openxmlformats.org/officeDocument/2006/relationships/image" Target="../media/image43.svg"/><Relationship Id="rId52" Type="http://schemas.openxmlformats.org/officeDocument/2006/relationships/image" Target="../media/image51.png"/><Relationship Id="rId4" Type="http://schemas.openxmlformats.org/officeDocument/2006/relationships/image" Target="../media/image56.svg"/><Relationship Id="rId9" Type="http://schemas.openxmlformats.org/officeDocument/2006/relationships/image" Target="../media/image8.png"/><Relationship Id="rId14" Type="http://schemas.openxmlformats.org/officeDocument/2006/relationships/image" Target="../media/image13.svg"/><Relationship Id="rId22" Type="http://schemas.openxmlformats.org/officeDocument/2006/relationships/image" Target="../media/image21.svg"/><Relationship Id="rId27" Type="http://schemas.openxmlformats.org/officeDocument/2006/relationships/image" Target="../media/image26.png"/><Relationship Id="rId30" Type="http://schemas.openxmlformats.org/officeDocument/2006/relationships/image" Target="../media/image29.svg"/><Relationship Id="rId35" Type="http://schemas.openxmlformats.org/officeDocument/2006/relationships/image" Target="../media/image34.png"/><Relationship Id="rId43" Type="http://schemas.openxmlformats.org/officeDocument/2006/relationships/image" Target="../media/image42.png"/><Relationship Id="rId48" Type="http://schemas.openxmlformats.org/officeDocument/2006/relationships/image" Target="../media/image47.png"/><Relationship Id="rId8" Type="http://schemas.openxmlformats.org/officeDocument/2006/relationships/image" Target="../media/image2.svg"/><Relationship Id="rId51" Type="http://schemas.openxmlformats.org/officeDocument/2006/relationships/image" Target="../media/image50.svg"/><Relationship Id="rId3" Type="http://schemas.openxmlformats.org/officeDocument/2006/relationships/image" Target="../media/image55.png"/><Relationship Id="rId12" Type="http://schemas.openxmlformats.org/officeDocument/2006/relationships/image" Target="../media/image11.sv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38" Type="http://schemas.openxmlformats.org/officeDocument/2006/relationships/image" Target="../media/image37.svg"/><Relationship Id="rId46" Type="http://schemas.openxmlformats.org/officeDocument/2006/relationships/image" Target="../media/image45.svg"/><Relationship Id="rId20" Type="http://schemas.openxmlformats.org/officeDocument/2006/relationships/image" Target="../media/image19.svg"/><Relationship Id="rId41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svg"/><Relationship Id="rId36" Type="http://schemas.openxmlformats.org/officeDocument/2006/relationships/image" Target="../media/image35.svg"/><Relationship Id="rId49" Type="http://schemas.openxmlformats.org/officeDocument/2006/relationships/image" Target="../media/image48.svg"/></Relationships>
</file>

<file path=ppt/slides/_rels/slide5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svg"/><Relationship Id="rId26" Type="http://schemas.openxmlformats.org/officeDocument/2006/relationships/image" Target="../media/image25.svg"/><Relationship Id="rId39" Type="http://schemas.openxmlformats.org/officeDocument/2006/relationships/image" Target="../media/image38.png"/><Relationship Id="rId21" Type="http://schemas.openxmlformats.org/officeDocument/2006/relationships/image" Target="../media/image20.png"/><Relationship Id="rId34" Type="http://schemas.openxmlformats.org/officeDocument/2006/relationships/image" Target="../media/image33.svg"/><Relationship Id="rId42" Type="http://schemas.openxmlformats.org/officeDocument/2006/relationships/image" Target="../media/image41.svg"/><Relationship Id="rId47" Type="http://schemas.openxmlformats.org/officeDocument/2006/relationships/image" Target="../media/image46.svg"/><Relationship Id="rId50" Type="http://schemas.openxmlformats.org/officeDocument/2006/relationships/image" Target="../media/image49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52.xml"/><Relationship Id="rId16" Type="http://schemas.openxmlformats.org/officeDocument/2006/relationships/image" Target="../media/image15.svg"/><Relationship Id="rId29" Type="http://schemas.openxmlformats.org/officeDocument/2006/relationships/image" Target="../media/image28.png"/><Relationship Id="rId11" Type="http://schemas.openxmlformats.org/officeDocument/2006/relationships/image" Target="../media/image10.png"/><Relationship Id="rId24" Type="http://schemas.openxmlformats.org/officeDocument/2006/relationships/image" Target="../media/image23.svg"/><Relationship Id="rId32" Type="http://schemas.openxmlformats.org/officeDocument/2006/relationships/image" Target="../media/image31.svg"/><Relationship Id="rId37" Type="http://schemas.openxmlformats.org/officeDocument/2006/relationships/image" Target="../media/image36.png"/><Relationship Id="rId40" Type="http://schemas.openxmlformats.org/officeDocument/2006/relationships/image" Target="../media/image39.svg"/><Relationship Id="rId45" Type="http://schemas.openxmlformats.org/officeDocument/2006/relationships/image" Target="../media/image44.png"/><Relationship Id="rId53" Type="http://schemas.openxmlformats.org/officeDocument/2006/relationships/image" Target="../media/image52.svg"/><Relationship Id="rId5" Type="http://schemas.openxmlformats.org/officeDocument/2006/relationships/image" Target="../media/image6.png"/><Relationship Id="rId10" Type="http://schemas.openxmlformats.org/officeDocument/2006/relationships/image" Target="../media/image9.sv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4" Type="http://schemas.openxmlformats.org/officeDocument/2006/relationships/image" Target="../media/image43.svg"/><Relationship Id="rId52" Type="http://schemas.openxmlformats.org/officeDocument/2006/relationships/image" Target="../media/image51.png"/><Relationship Id="rId4" Type="http://schemas.openxmlformats.org/officeDocument/2006/relationships/image" Target="../media/image5.svg"/><Relationship Id="rId9" Type="http://schemas.openxmlformats.org/officeDocument/2006/relationships/image" Target="../media/image8.png"/><Relationship Id="rId14" Type="http://schemas.openxmlformats.org/officeDocument/2006/relationships/image" Target="../media/image13.svg"/><Relationship Id="rId22" Type="http://schemas.openxmlformats.org/officeDocument/2006/relationships/image" Target="../media/image21.svg"/><Relationship Id="rId27" Type="http://schemas.openxmlformats.org/officeDocument/2006/relationships/image" Target="../media/image26.png"/><Relationship Id="rId30" Type="http://schemas.openxmlformats.org/officeDocument/2006/relationships/image" Target="../media/image29.svg"/><Relationship Id="rId35" Type="http://schemas.openxmlformats.org/officeDocument/2006/relationships/image" Target="../media/image34.png"/><Relationship Id="rId43" Type="http://schemas.openxmlformats.org/officeDocument/2006/relationships/image" Target="../media/image42.png"/><Relationship Id="rId48" Type="http://schemas.openxmlformats.org/officeDocument/2006/relationships/image" Target="../media/image47.png"/><Relationship Id="rId8" Type="http://schemas.openxmlformats.org/officeDocument/2006/relationships/image" Target="../media/image2.svg"/><Relationship Id="rId51" Type="http://schemas.openxmlformats.org/officeDocument/2006/relationships/image" Target="../media/image50.svg"/><Relationship Id="rId3" Type="http://schemas.openxmlformats.org/officeDocument/2006/relationships/image" Target="../media/image4.png"/><Relationship Id="rId12" Type="http://schemas.openxmlformats.org/officeDocument/2006/relationships/image" Target="../media/image11.sv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38" Type="http://schemas.openxmlformats.org/officeDocument/2006/relationships/image" Target="../media/image37.svg"/><Relationship Id="rId46" Type="http://schemas.openxmlformats.org/officeDocument/2006/relationships/image" Target="../media/image45.svg"/><Relationship Id="rId20" Type="http://schemas.openxmlformats.org/officeDocument/2006/relationships/image" Target="../media/image19.svg"/><Relationship Id="rId41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svg"/><Relationship Id="rId36" Type="http://schemas.openxmlformats.org/officeDocument/2006/relationships/image" Target="../media/image35.svg"/><Relationship Id="rId49" Type="http://schemas.openxmlformats.org/officeDocument/2006/relationships/image" Target="../media/image48.svg"/></Relationships>
</file>

<file path=ppt/slides/_rels/slide5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svg"/><Relationship Id="rId26" Type="http://schemas.openxmlformats.org/officeDocument/2006/relationships/image" Target="../media/image25.svg"/><Relationship Id="rId39" Type="http://schemas.openxmlformats.org/officeDocument/2006/relationships/image" Target="../media/image38.png"/><Relationship Id="rId21" Type="http://schemas.openxmlformats.org/officeDocument/2006/relationships/image" Target="../media/image20.png"/><Relationship Id="rId34" Type="http://schemas.openxmlformats.org/officeDocument/2006/relationships/image" Target="../media/image33.svg"/><Relationship Id="rId42" Type="http://schemas.openxmlformats.org/officeDocument/2006/relationships/image" Target="../media/image41.svg"/><Relationship Id="rId47" Type="http://schemas.openxmlformats.org/officeDocument/2006/relationships/image" Target="../media/image46.svg"/><Relationship Id="rId50" Type="http://schemas.openxmlformats.org/officeDocument/2006/relationships/image" Target="../media/image49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53.xml"/><Relationship Id="rId16" Type="http://schemas.openxmlformats.org/officeDocument/2006/relationships/image" Target="../media/image15.svg"/><Relationship Id="rId29" Type="http://schemas.openxmlformats.org/officeDocument/2006/relationships/image" Target="../media/image28.png"/><Relationship Id="rId11" Type="http://schemas.openxmlformats.org/officeDocument/2006/relationships/image" Target="../media/image10.png"/><Relationship Id="rId24" Type="http://schemas.openxmlformats.org/officeDocument/2006/relationships/image" Target="../media/image23.svg"/><Relationship Id="rId32" Type="http://schemas.openxmlformats.org/officeDocument/2006/relationships/image" Target="../media/image31.svg"/><Relationship Id="rId37" Type="http://schemas.openxmlformats.org/officeDocument/2006/relationships/image" Target="../media/image36.png"/><Relationship Id="rId40" Type="http://schemas.openxmlformats.org/officeDocument/2006/relationships/image" Target="../media/image39.svg"/><Relationship Id="rId45" Type="http://schemas.openxmlformats.org/officeDocument/2006/relationships/image" Target="../media/image44.png"/><Relationship Id="rId53" Type="http://schemas.openxmlformats.org/officeDocument/2006/relationships/image" Target="../media/image52.svg"/><Relationship Id="rId5" Type="http://schemas.openxmlformats.org/officeDocument/2006/relationships/image" Target="../media/image6.png"/><Relationship Id="rId10" Type="http://schemas.openxmlformats.org/officeDocument/2006/relationships/image" Target="../media/image9.sv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4" Type="http://schemas.openxmlformats.org/officeDocument/2006/relationships/image" Target="../media/image43.svg"/><Relationship Id="rId52" Type="http://schemas.openxmlformats.org/officeDocument/2006/relationships/image" Target="../media/image51.png"/><Relationship Id="rId4" Type="http://schemas.openxmlformats.org/officeDocument/2006/relationships/image" Target="../media/image56.svg"/><Relationship Id="rId9" Type="http://schemas.openxmlformats.org/officeDocument/2006/relationships/image" Target="../media/image8.png"/><Relationship Id="rId14" Type="http://schemas.openxmlformats.org/officeDocument/2006/relationships/image" Target="../media/image13.svg"/><Relationship Id="rId22" Type="http://schemas.openxmlformats.org/officeDocument/2006/relationships/image" Target="../media/image21.svg"/><Relationship Id="rId27" Type="http://schemas.openxmlformats.org/officeDocument/2006/relationships/image" Target="../media/image26.png"/><Relationship Id="rId30" Type="http://schemas.openxmlformats.org/officeDocument/2006/relationships/image" Target="../media/image29.svg"/><Relationship Id="rId35" Type="http://schemas.openxmlformats.org/officeDocument/2006/relationships/image" Target="../media/image34.png"/><Relationship Id="rId43" Type="http://schemas.openxmlformats.org/officeDocument/2006/relationships/image" Target="../media/image42.png"/><Relationship Id="rId48" Type="http://schemas.openxmlformats.org/officeDocument/2006/relationships/image" Target="../media/image47.png"/><Relationship Id="rId8" Type="http://schemas.openxmlformats.org/officeDocument/2006/relationships/image" Target="../media/image2.svg"/><Relationship Id="rId51" Type="http://schemas.openxmlformats.org/officeDocument/2006/relationships/image" Target="../media/image50.svg"/><Relationship Id="rId3" Type="http://schemas.openxmlformats.org/officeDocument/2006/relationships/image" Target="../media/image55.png"/><Relationship Id="rId12" Type="http://schemas.openxmlformats.org/officeDocument/2006/relationships/image" Target="../media/image11.sv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38" Type="http://schemas.openxmlformats.org/officeDocument/2006/relationships/image" Target="../media/image37.svg"/><Relationship Id="rId46" Type="http://schemas.openxmlformats.org/officeDocument/2006/relationships/image" Target="../media/image45.svg"/><Relationship Id="rId20" Type="http://schemas.openxmlformats.org/officeDocument/2006/relationships/image" Target="../media/image19.svg"/><Relationship Id="rId41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svg"/><Relationship Id="rId36" Type="http://schemas.openxmlformats.org/officeDocument/2006/relationships/image" Target="../media/image35.svg"/><Relationship Id="rId49" Type="http://schemas.openxmlformats.org/officeDocument/2006/relationships/image" Target="../media/image4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7"/>
          <p:cNvSpPr>
            <a:spLocks noChangeAspect="1"/>
          </p:cNvSpPr>
          <p:nvPr/>
        </p:nvSpPr>
        <p:spPr bwMode="white">
          <a:xfrm>
            <a:off x="10" y="0"/>
            <a:ext cx="6083447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 bwMode="white">
          <a:xfrm>
            <a:off x="794092" y="640615"/>
            <a:ext cx="4284397" cy="5576770"/>
          </a:xfrm>
          <a:ln>
            <a:headEnd type="none"/>
            <a:tailEnd type="none"/>
          </a:ln>
        </p:spPr>
        <p:txBody>
          <a:bodyPr wrap="square" anchor="ctr">
            <a:normAutofit/>
          </a:bodyPr>
          <a:lstStyle/>
          <a:p>
            <a:pPr defTabSz="914400"/>
            <a:r>
              <a:rPr lang="en-US" sz="5100" dirty="0">
                <a:solidFill>
                  <a:schemeClr val="bg1"/>
                </a:solidFill>
              </a:rPr>
              <a:t>Conditional Access Policy Documentation</a:t>
            </a:r>
          </a:p>
        </p:txBody>
      </p:sp>
      <p:sp>
        <p:nvSpPr>
          <p:cNvPr id="15" name="Rectangle 9"/>
          <p:cNvSpPr>
            <a:spLocks noChangeAspect="1"/>
          </p:cNvSpPr>
          <p:nvPr/>
        </p:nvSpPr>
        <p:spPr bwMode="white">
          <a:xfrm>
            <a:off x="6096000" y="0"/>
            <a:ext cx="6095990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3" name="TextBox 12"/>
          <p:cNvSpPr txBox="1">
            <a:spLocks noChangeArrowheads="1"/>
          </p:cNvSpPr>
          <p:nvPr/>
        </p:nvSpPr>
        <p:spPr bwMode="white">
          <a:xfrm>
            <a:off x="6437779" y="3893802"/>
            <a:ext cx="1074140" cy="369332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AU" dirty="0"/>
              <a:t>Tenant ID</a:t>
            </a:r>
            <a:endParaRPr lang="en-US" dirty="0"/>
          </a:p>
        </p:txBody>
      </p:sp>
      <p:sp>
        <p:nvSpPr>
          <p:cNvPr id="12" name="TenantId"/>
          <p:cNvSpPr txBox="1">
            <a:spLocks noChangeArrowheads="1"/>
          </p:cNvSpPr>
          <p:nvPr/>
        </p:nvSpPr>
        <p:spPr bwMode="white">
          <a:xfrm>
            <a:off x="6739464" y="4202718"/>
            <a:ext cx="5184715" cy="420637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91440" tIns="45720" rIns="91440" bIns="45720" anchor="ctr">
            <a:normAutofit/>
          </a:bodyPr>
          <a:lstStyle>
            <a:lvl1pPr marL="0" indent="0" algn="ctr" defTabSz="914400" rtl="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defTabSz="914400"/>
            <a:r>
              <a:rPr lang="en-US" sz="1800" b="1" dirty="0"/>
              <a:t>fd30c709-1bb8-49f1-9c7e-dd8840c989d0</a:t>
            </a:r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white">
          <a:xfrm>
            <a:off x="6437779" y="4510100"/>
            <a:ext cx="1433213" cy="369332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AU" dirty="0"/>
              <a:t>Tenant Name</a:t>
            </a:r>
            <a:endParaRPr lang="en-US" dirty="0"/>
          </a:p>
        </p:txBody>
      </p:sp>
      <p:sp>
        <p:nvSpPr>
          <p:cNvPr id="10" name="TenantName"/>
          <p:cNvSpPr txBox="1">
            <a:spLocks noChangeArrowheads="1"/>
          </p:cNvSpPr>
          <p:nvPr/>
        </p:nvSpPr>
        <p:spPr bwMode="white">
          <a:xfrm>
            <a:off x="6739464" y="4819016"/>
            <a:ext cx="5184715" cy="420637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91440" tIns="45720" rIns="91440" bIns="45720" anchor="ctr">
            <a:normAutofit/>
          </a:bodyPr>
          <a:lstStyle>
            <a:lvl1pPr marL="0" indent="0" algn="ctr" defTabSz="914400" rtl="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defTabSz="914400"/>
            <a:r>
              <a:rPr lang="en-US" sz="1800" b="1" dirty="0"/>
              <a:t>OCC</a:t>
            </a:r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white">
          <a:xfrm>
            <a:off x="6414439" y="5145985"/>
            <a:ext cx="1456553" cy="369332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AU" dirty="0"/>
              <a:t>Generated by</a:t>
            </a:r>
            <a:endParaRPr lang="en-US" dirty="0"/>
          </a:p>
        </p:txBody>
      </p:sp>
      <p:sp>
        <p:nvSpPr>
          <p:cNvPr id="6" name="GeneratedBy"/>
          <p:cNvSpPr txBox="1">
            <a:spLocks noChangeArrowheads="1"/>
          </p:cNvSpPr>
          <p:nvPr/>
        </p:nvSpPr>
        <p:spPr bwMode="white">
          <a:xfrm>
            <a:off x="6716124" y="5438928"/>
            <a:ext cx="5184715" cy="420637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91440" tIns="45720" rIns="91440" bIns="45720" anchor="ctr">
            <a:normAutofit/>
          </a:bodyPr>
          <a:lstStyle>
            <a:lvl1pPr marL="0" indent="0" algn="ctr" defTabSz="914400" rtl="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defTabSz="914400"/>
            <a:r>
              <a:rPr lang="en-US" sz="1800" b="1" dirty="0"/>
              <a:t>Admin Shun Lin (admin.shun.lin@occtreasgovprod.onmicrosoft.com)</a:t>
            </a: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white">
          <a:xfrm>
            <a:off x="6437779" y="5788498"/>
            <a:ext cx="1475340" cy="369332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AU" dirty="0"/>
              <a:t>Generated on</a:t>
            </a:r>
            <a:endParaRPr lang="en-US" dirty="0"/>
          </a:p>
        </p:txBody>
      </p:sp>
      <p:sp>
        <p:nvSpPr>
          <p:cNvPr id="3" name="GenerationDate"/>
          <p:cNvSpPr>
            <a:spLocks noGrp="1"/>
          </p:cNvSpPr>
          <p:nvPr>
            <p:ph type="subTitle" idx="1"/>
          </p:nvPr>
        </p:nvSpPr>
        <p:spPr bwMode="white">
          <a:xfrm>
            <a:off x="6739464" y="6078070"/>
            <a:ext cx="5184715" cy="420637"/>
          </a:xfrm>
          <a:ln>
            <a:headEnd type="none"/>
            <a:tailEnd type="none"/>
          </a:ln>
        </p:spPr>
        <p:txBody>
          <a:bodyPr wrap="square" anchor="ctr">
            <a:normAutofit/>
          </a:bodyPr>
          <a:lstStyle/>
          <a:p>
            <a:pPr algn="l" defTabSz="914400"/>
            <a:r>
              <a:rPr lang="en-US" sz="1800" b="1" dirty="0"/>
              <a:t>30 Sep 2025</a:t>
            </a:r>
          </a:p>
        </p:txBody>
      </p:sp>
      <p:pic>
        <p:nvPicPr>
          <p:cNvPr id="16" name="Graphic 15"/>
          <p:cNvPicPr>
            <a:picLocks noChangeAspect="1"/>
          </p:cNvPicPr>
          <p:nvPr/>
        </p:nvPicPr>
        <p:blipFill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 bwMode="white">
          <a:xfrm>
            <a:off x="2225576" y="570682"/>
            <a:ext cx="1421431" cy="1421431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" name="TextBox 3"/>
          <p:cNvSpPr txBox="1">
            <a:spLocks noChangeArrowheads="1"/>
          </p:cNvSpPr>
          <p:nvPr/>
        </p:nvSpPr>
        <p:spPr bwMode="white">
          <a:xfrm>
            <a:off x="310122" y="6539219"/>
            <a:ext cx="1154483" cy="253916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AU" sz="1050" dirty="0">
                <a:solidFill>
                  <a:schemeClr val="bg1"/>
                </a:solidFill>
                <a:hlinkClick r:id="rId4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idPowerToys.com</a:t>
            </a:r>
            <a:endParaRPr lang="en-US" sz="1050" dirty="0">
              <a:solidFill>
                <a:schemeClr val="bg1"/>
              </a:solidFill>
            </a:endParaRPr>
          </a:p>
        </p:txBody>
      </p:sp>
      <p:pic>
        <p:nvPicPr>
          <p:cNvPr id="9" name="Picture 8" descr="A picture containing vector graphics&#10;&#10;Description automatically generated"/>
          <p:cNvPicPr>
            <a:picLocks noChangeAspect="1"/>
          </p:cNvPicPr>
          <p:nvPr/>
        </p:nvPicPr>
        <p:blipFill>
          <a:blip r:embed="rId5">
            <a:lum/>
          </a:blip>
          <a:srcRect/>
          <a:stretch>
            <a:fillRect/>
          </a:stretch>
        </p:blipFill>
        <p:spPr bwMode="white">
          <a:xfrm>
            <a:off x="126203" y="6553200"/>
            <a:ext cx="206902" cy="206902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UserWorkload"/>
          <p:cNvSpPr>
            <a:spLocks/>
          </p:cNvSpPr>
          <p:nvPr/>
        </p:nvSpPr>
        <p:spPr bwMode="auto">
          <a:xfrm>
            <a:off x="175820" y="2709769"/>
            <a:ext cx="2202823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Users</a:t>
            </a:r>
          </a:p>
        </p:txBody>
      </p:sp>
      <p:sp>
        <p:nvSpPr>
          <p:cNvPr id="7" name="UserWorkloadIncExc"/>
          <p:cNvSpPr txBox="1">
            <a:spLocks noChangeArrowheads="1"/>
          </p:cNvSpPr>
          <p:nvPr/>
        </p:nvSpPr>
        <p:spPr bwMode="white">
          <a:xfrm>
            <a:off x="125485" y="3698952"/>
            <a:ext cx="3062115" cy="313265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 numCol="1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b="1" dirty="0"/>
            </a:pPr>
            <a:r>
              <a:t> Users</a:t>
            </a:r>
          </a:p>
          <a:p>
            <a:pPr defTabSz="457200">
              <a:defRPr sz="1100" dirty="0"/>
            </a:pPr>
            <a:r>
              <a:t> - SVO365 AADConnect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19" name="Risks"/>
          <p:cNvSpPr txBox="1">
            <a:spLocks noChangeArrowheads="1"/>
          </p:cNvSpPr>
          <p:nvPr/>
        </p:nvSpPr>
        <p:spPr bwMode="white">
          <a:xfrm>
            <a:off x="524485" y="1021946"/>
            <a:ext cx="1348869" cy="166886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0" name="Platforms"/>
          <p:cNvSpPr txBox="1">
            <a:spLocks noChangeArrowheads="1"/>
          </p:cNvSpPr>
          <p:nvPr/>
        </p:nvSpPr>
        <p:spPr bwMode="white">
          <a:xfrm>
            <a:off x="1826931" y="1021947"/>
            <a:ext cx="2061056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3" name="Locations"/>
          <p:cNvSpPr txBox="1">
            <a:spLocks noChangeArrowheads="1"/>
          </p:cNvSpPr>
          <p:nvPr/>
        </p:nvSpPr>
        <p:spPr bwMode="white">
          <a:xfrm>
            <a:off x="8324941" y="1021947"/>
            <a:ext cx="3513702" cy="159258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b="1" dirty="0"/>
            </a:pPr>
            <a:r>
              <a:t>✅ Include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r>
              <a:t>🚫 Exclude</a:t>
            </a:r>
          </a:p>
          <a:p>
            <a:pPr defTabSz="457200">
              <a:defRPr sz="1100" dirty="0"/>
            </a:pPr>
            <a:r>
              <a:t> - OCC Proxy Egress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24" name="ClientAppTypes"/>
          <p:cNvSpPr txBox="1">
            <a:spLocks noChangeArrowheads="1"/>
          </p:cNvSpPr>
          <p:nvPr/>
        </p:nvSpPr>
        <p:spPr bwMode="white">
          <a:xfrm>
            <a:off x="3810664" y="1021947"/>
            <a:ext cx="1581599" cy="165343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5" name="DeviceFilters"/>
          <p:cNvSpPr txBox="1">
            <a:spLocks noChangeArrowheads="1"/>
          </p:cNvSpPr>
          <p:nvPr/>
        </p:nvSpPr>
        <p:spPr bwMode="white">
          <a:xfrm>
            <a:off x="5818151" y="1022762"/>
            <a:ext cx="2248808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cxnSp>
        <p:nvCxnSpPr>
          <p:cNvPr id="27" name="Straight Arrow Connector 26" descr="Arrow drawn from user/workload  to the action being performed by the user such as accessing cloud apps."/>
          <p:cNvCxnSpPr/>
          <p:nvPr/>
        </p:nvCxnSpPr>
        <p:spPr bwMode="white">
          <a:xfrm>
            <a:off x="2195232" y="3159047"/>
            <a:ext cx="3959471" cy="1"/>
          </a:xfrm>
          <a:prstGeom prst="straightConnector1">
            <a:avLst/>
          </a:prstGeom>
          <a:ln w="76200"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30" name="IconBlockAccess" descr="Picture with red color stop sign to indicate blocked access"/>
          <p:cNvPicPr>
            <a:picLocks noChangeAspect="1"/>
          </p:cNvPicPr>
          <p:nvPr/>
        </p:nvPicPr>
        <p:blipFill>
          <a:blip r:embed="rId3">
            <a:lum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 bwMode="white">
          <a:xfrm>
            <a:off x="5306633" y="2735805"/>
            <a:ext cx="356616" cy="35661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34" name="GrantLabelBlockAccess"/>
          <p:cNvSpPr txBox="1">
            <a:spLocks noChangeArrowheads="1"/>
          </p:cNvSpPr>
          <p:nvPr/>
        </p:nvSpPr>
        <p:spPr bwMode="white">
          <a:xfrm>
            <a:off x="3936931" y="2734375"/>
            <a:ext cx="1358065" cy="369332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algn="ctr" defTabSz="457200"/>
            <a:r>
              <a:rPr lang="en-US" b="1" dirty="0">
                <a:solidFill>
                  <a:srgbClr val="FF0000"/>
                </a:solidFill>
              </a:rPr>
              <a:t>Block access</a:t>
            </a:r>
          </a:p>
        </p:txBody>
      </p:sp>
      <p:sp>
        <p:nvSpPr>
          <p:cNvPr id="3" name="CloudAppActionIncExc"/>
          <p:cNvSpPr txBox="1">
            <a:spLocks noChangeArrowheads="1"/>
          </p:cNvSpPr>
          <p:nvPr/>
        </p:nvSpPr>
        <p:spPr bwMode="white">
          <a:xfrm>
            <a:off x="6039518" y="3662782"/>
            <a:ext cx="3649518" cy="315161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</p:txBody>
      </p:sp>
      <p:pic>
        <p:nvPicPr>
          <p:cNvPr id="26" name="IconGroupIdentity"/>
          <p:cNvPicPr>
            <a:picLocks noChangeAspect="1"/>
          </p:cNvPicPr>
          <p:nvPr/>
        </p:nvPicPr>
        <p:blipFill>
          <a:blip r:embed="rId5">
            <a:lum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 bwMode="white">
          <a:xfrm>
            <a:off x="327701" y="2839007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36" name="Graphic 35"/>
          <p:cNvPicPr>
            <a:picLocks noChangeAspect="1"/>
          </p:cNvPicPr>
          <p:nvPr/>
        </p:nvPicPr>
        <p:blipFill>
          <a:blip r:embed="rId7">
            <a:lum/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p:blipFill>
        <p:spPr bwMode="white">
          <a:xfrm>
            <a:off x="495610" y="197468"/>
            <a:ext cx="381196" cy="38119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" name="CloudAppAction"/>
          <p:cNvSpPr>
            <a:spLocks/>
          </p:cNvSpPr>
          <p:nvPr/>
        </p:nvSpPr>
        <p:spPr bwMode="auto">
          <a:xfrm>
            <a:off x="6206089" y="2718506"/>
            <a:ext cx="3227026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All cloud apps</a:t>
            </a:r>
          </a:p>
        </p:txBody>
      </p:sp>
      <p:pic>
        <p:nvPicPr>
          <p:cNvPr id="75" name="IconAccessAllCloudApps"/>
          <p:cNvPicPr>
            <a:picLocks noChangeAspect="1"/>
          </p:cNvPicPr>
          <p:nvPr/>
        </p:nvPicPr>
        <p:blipFill>
          <a:blip r:embed="rId9">
            <a:lum/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p:blipFill>
        <p:spPr bwMode="white">
          <a:xfrm>
            <a:off x="6439264" y="2836824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21" name="StateEnabled"/>
          <p:cNvSpPr>
            <a:spLocks/>
          </p:cNvSpPr>
          <p:nvPr/>
        </p:nvSpPr>
        <p:spPr bwMode="white">
          <a:xfrm>
            <a:off x="10842171" y="83487"/>
            <a:ext cx="1260389" cy="264812"/>
          </a:xfrm>
          <a:prstGeom prst="round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r>
              <a:rPr lang="en-US" sz="800" dirty="0"/>
              <a:t>Policy Enabled</a:t>
            </a:r>
          </a:p>
        </p:txBody>
      </p:sp>
      <p:grpSp>
        <p:nvGrpSpPr>
          <p:cNvPr id="10" name="IconRiskyUsers"/>
          <p:cNvGrpSpPr>
            <a:grpSpLocks/>
          </p:cNvGrpSpPr>
          <p:nvPr/>
        </p:nvGrpSpPr>
        <p:grpSpPr bwMode="white">
          <a:xfrm>
            <a:off x="635426" y="738677"/>
            <a:ext cx="1202553" cy="274320"/>
            <a:chOff x="2013768" y="1033956"/>
            <a:chExt cx="1342320" cy="274320"/>
          </a:xfrm>
        </p:grpSpPr>
        <p:pic>
          <p:nvPicPr>
            <p:cNvPr id="46" name="Graphic 1"/>
            <p:cNvPicPr>
              <a:picLocks noChangeAspect="1"/>
            </p:cNvPicPr>
            <p:nvPr/>
          </p:nvPicPr>
          <p:blipFill>
            <a:blip r:embed="rId11">
              <a:lum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013768" y="1033956"/>
              <a:ext cx="274320" cy="27432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5" name="Label 1"/>
            <p:cNvSpPr txBox="1">
              <a:spLocks noChangeArrowheads="1"/>
            </p:cNvSpPr>
            <p:nvPr/>
          </p:nvSpPr>
          <p:spPr bwMode="white">
            <a:xfrm>
              <a:off x="2240077" y="1040706"/>
              <a:ext cx="1116011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Risk</a:t>
              </a:r>
            </a:p>
          </p:txBody>
        </p:sp>
      </p:grpSp>
      <p:grpSp>
        <p:nvGrpSpPr>
          <p:cNvPr id="14" name="IconPlatforms"/>
          <p:cNvGrpSpPr>
            <a:grpSpLocks/>
          </p:cNvGrpSpPr>
          <p:nvPr/>
        </p:nvGrpSpPr>
        <p:grpSpPr bwMode="white">
          <a:xfrm>
            <a:off x="1927788" y="715249"/>
            <a:ext cx="1719285" cy="365760"/>
            <a:chOff x="3262737" y="994835"/>
            <a:chExt cx="1719285" cy="365760"/>
          </a:xfrm>
        </p:grpSpPr>
        <p:pic>
          <p:nvPicPr>
            <p:cNvPr id="29" name="Graphic 1"/>
            <p:cNvPicPr>
              <a:picLocks noChangeAspect="1"/>
            </p:cNvPicPr>
            <p:nvPr/>
          </p:nvPicPr>
          <p:blipFill>
            <a:blip r:embed="rId13">
              <a:lum/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3262737" y="994835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1" name="Label 1"/>
            <p:cNvSpPr txBox="1">
              <a:spLocks noChangeArrowheads="1"/>
            </p:cNvSpPr>
            <p:nvPr/>
          </p:nvSpPr>
          <p:spPr bwMode="white">
            <a:xfrm>
              <a:off x="3582397" y="1027255"/>
              <a:ext cx="1399625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Device platforms</a:t>
              </a:r>
            </a:p>
          </p:txBody>
        </p:sp>
      </p:grpSp>
      <p:grpSp>
        <p:nvGrpSpPr>
          <p:cNvPr id="17" name="IconClientAppTypes"/>
          <p:cNvGrpSpPr>
            <a:grpSpLocks/>
          </p:cNvGrpSpPr>
          <p:nvPr/>
        </p:nvGrpSpPr>
        <p:grpSpPr bwMode="white">
          <a:xfrm>
            <a:off x="3908159" y="670015"/>
            <a:ext cx="1852971" cy="365760"/>
            <a:chOff x="4858970" y="975927"/>
            <a:chExt cx="1852971" cy="365760"/>
          </a:xfrm>
        </p:grpSpPr>
        <p:pic>
          <p:nvPicPr>
            <p:cNvPr id="58" name="Graphic 1"/>
            <p:cNvPicPr>
              <a:picLocks noChangeAspect="1"/>
            </p:cNvPicPr>
            <p:nvPr/>
          </p:nvPicPr>
          <p:blipFill>
            <a:blip r:embed="rId15">
              <a:lum/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858970" y="975927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5" name="Label 1"/>
            <p:cNvSpPr txBox="1">
              <a:spLocks noChangeArrowheads="1"/>
            </p:cNvSpPr>
            <p:nvPr/>
          </p:nvSpPr>
          <p:spPr bwMode="white">
            <a:xfrm>
              <a:off x="5193983" y="1009899"/>
              <a:ext cx="1517958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Client apps</a:t>
              </a:r>
            </a:p>
          </p:txBody>
        </p:sp>
      </p:grpSp>
      <p:grpSp>
        <p:nvGrpSpPr>
          <p:cNvPr id="37" name="IconLocations"/>
          <p:cNvGrpSpPr>
            <a:grpSpLocks/>
          </p:cNvGrpSpPr>
          <p:nvPr/>
        </p:nvGrpSpPr>
        <p:grpSpPr bwMode="white">
          <a:xfrm>
            <a:off x="8411896" y="646848"/>
            <a:ext cx="1850168" cy="388465"/>
            <a:chOff x="2321433" y="3262888"/>
            <a:chExt cx="1850168" cy="388465"/>
          </a:xfrm>
        </p:grpSpPr>
        <p:pic>
          <p:nvPicPr>
            <p:cNvPr id="33" name="Graphic 1"/>
            <p:cNvPicPr>
              <a:picLocks noChangeAspect="1"/>
            </p:cNvPicPr>
            <p:nvPr/>
          </p:nvPicPr>
          <p:blipFill>
            <a:blip r:embed="rId17">
              <a:lum/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321433" y="3262888"/>
              <a:ext cx="388465" cy="388465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28" name="Label 1"/>
            <p:cNvSpPr txBox="1">
              <a:spLocks noChangeArrowheads="1"/>
            </p:cNvSpPr>
            <p:nvPr/>
          </p:nvSpPr>
          <p:spPr bwMode="white">
            <a:xfrm>
              <a:off x="2713321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Locations</a:t>
              </a:r>
              <a:endParaRPr lang="en-US" sz="1100" b="1" dirty="0"/>
            </a:p>
          </p:txBody>
        </p:sp>
      </p:grpSp>
      <p:grpSp>
        <p:nvGrpSpPr>
          <p:cNvPr id="39" name="IconDeviceFilters"/>
          <p:cNvGrpSpPr>
            <a:grpSpLocks/>
          </p:cNvGrpSpPr>
          <p:nvPr/>
        </p:nvGrpSpPr>
        <p:grpSpPr bwMode="white">
          <a:xfrm>
            <a:off x="5472818" y="661958"/>
            <a:ext cx="1839823" cy="364111"/>
            <a:chOff x="4195414" y="3273669"/>
            <a:chExt cx="1839823" cy="364111"/>
          </a:xfrm>
        </p:grpSpPr>
        <p:pic>
          <p:nvPicPr>
            <p:cNvPr id="60" name="Graphic 1"/>
            <p:cNvPicPr>
              <a:picLocks noChangeAspect="1"/>
            </p:cNvPicPr>
            <p:nvPr/>
          </p:nvPicPr>
          <p:blipFill>
            <a:blip r:embed="rId19">
              <a:lum/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195414" y="3273669"/>
              <a:ext cx="364111" cy="364111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31" name="Label 1"/>
            <p:cNvSpPr txBox="1">
              <a:spLocks noChangeArrowheads="1"/>
            </p:cNvSpPr>
            <p:nvPr/>
          </p:nvSpPr>
          <p:spPr bwMode="white">
            <a:xfrm>
              <a:off x="4576957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Filter for devices</a:t>
              </a:r>
              <a:endParaRPr lang="en-US" sz="1100" b="1" dirty="0"/>
            </a:p>
          </p:txBody>
        </p:sp>
      </p:grpSp>
      <p:pic>
        <p:nvPicPr>
          <p:cNvPr id="62" name="IconGrantMultifactorAuthentication"/>
          <p:cNvPicPr>
            <a:picLocks noChangeAspect="1"/>
          </p:cNvPicPr>
          <p:nvPr/>
        </p:nvPicPr>
        <p:blipFill>
          <a:blip r:embed="rId21">
            <a:lum/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>
            <a:fillRect/>
          </a:stretch>
        </p:blipFill>
        <p:spPr bwMode="white">
          <a:xfrm>
            <a:off x="3410647" y="3566863"/>
            <a:ext cx="17145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5" name="IconGrantMultifactorAuthenticationLabel"/>
          <p:cNvSpPr txBox="1">
            <a:spLocks noChangeArrowheads="1"/>
          </p:cNvSpPr>
          <p:nvPr/>
        </p:nvSpPr>
        <p:spPr bwMode="white">
          <a:xfrm>
            <a:off x="3575836" y="3571997"/>
            <a:ext cx="19007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Multifactor authentication</a:t>
            </a:r>
            <a:endParaRPr lang="en-US" sz="1000" dirty="0"/>
          </a:p>
        </p:txBody>
      </p:sp>
      <p:pic>
        <p:nvPicPr>
          <p:cNvPr id="38" name="IconGrantAuthenticationStrength"/>
          <p:cNvPicPr>
            <a:picLocks noChangeAspect="1"/>
          </p:cNvPicPr>
          <p:nvPr/>
        </p:nvPicPr>
        <p:blipFill>
          <a:blip r:embed="rId23">
            <a:lum/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/>
          <a:stretch>
            <a:fillRect/>
          </a:stretch>
        </p:blipFill>
        <p:spPr bwMode="white">
          <a:xfrm>
            <a:off x="3374515" y="3905034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7" name="IconGrantAuthenticationStrengthLabel"/>
          <p:cNvSpPr txBox="1">
            <a:spLocks noChangeArrowheads="1"/>
          </p:cNvSpPr>
          <p:nvPr/>
        </p:nvSpPr>
        <p:spPr bwMode="white">
          <a:xfrm>
            <a:off x="3575836" y="3907323"/>
            <a:ext cx="2185294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Authentication strength</a:t>
            </a:r>
            <a:endParaRPr lang="en-US" sz="1000" dirty="0"/>
          </a:p>
        </p:txBody>
      </p:sp>
      <p:pic>
        <p:nvPicPr>
          <p:cNvPr id="52" name="IconGrantDeviceCompliance"/>
          <p:cNvPicPr>
            <a:picLocks noChangeAspect="1"/>
          </p:cNvPicPr>
          <p:nvPr/>
        </p:nvPicPr>
        <p:blipFill>
          <a:blip r:embed="rId25">
            <a:lum/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/>
          <a:stretch>
            <a:fillRect/>
          </a:stretch>
        </p:blipFill>
        <p:spPr bwMode="white">
          <a:xfrm>
            <a:off x="3374515" y="4243205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9" name="IconGrantDeviceComplianceLabel"/>
          <p:cNvSpPr txBox="1">
            <a:spLocks noChangeArrowheads="1"/>
          </p:cNvSpPr>
          <p:nvPr/>
        </p:nvSpPr>
        <p:spPr bwMode="white">
          <a:xfrm>
            <a:off x="3575836" y="4242649"/>
            <a:ext cx="17378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Compliant device</a:t>
            </a:r>
            <a:endParaRPr lang="en-US" sz="1000" dirty="0"/>
          </a:p>
        </p:txBody>
      </p:sp>
      <p:pic>
        <p:nvPicPr>
          <p:cNvPr id="43" name="IconGrantHybridJoined"/>
          <p:cNvPicPr>
            <a:picLocks noChangeAspect="1"/>
          </p:cNvPicPr>
          <p:nvPr/>
        </p:nvPicPr>
        <p:blipFill>
          <a:blip r:embed="rId27">
            <a:lum/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/>
          <a:stretch>
            <a:fillRect/>
          </a:stretch>
        </p:blipFill>
        <p:spPr bwMode="white">
          <a:xfrm>
            <a:off x="3374515" y="4581376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3" name="IconGrantHybridJoinedLabel"/>
          <p:cNvSpPr txBox="1">
            <a:spLocks noChangeArrowheads="1"/>
          </p:cNvSpPr>
          <p:nvPr/>
        </p:nvSpPr>
        <p:spPr bwMode="white">
          <a:xfrm>
            <a:off x="3575836" y="4577975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Hybrid Azure AD joined device</a:t>
            </a:r>
            <a:endParaRPr lang="en-US" sz="1000" dirty="0"/>
          </a:p>
        </p:txBody>
      </p:sp>
      <p:pic>
        <p:nvPicPr>
          <p:cNvPr id="48" name="IconGrantApprovedClientApp"/>
          <p:cNvPicPr>
            <a:picLocks noChangeAspect="1"/>
          </p:cNvPicPr>
          <p:nvPr/>
        </p:nvPicPr>
        <p:blipFill>
          <a:blip r:embed="rId29">
            <a:lum/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rcRect/>
          <a:stretch>
            <a:fillRect/>
          </a:stretch>
        </p:blipFill>
        <p:spPr bwMode="white">
          <a:xfrm>
            <a:off x="3374515" y="491954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5" name="IconGrantApprovedClientAppLabel"/>
          <p:cNvSpPr txBox="1">
            <a:spLocks noChangeArrowheads="1"/>
          </p:cNvSpPr>
          <p:nvPr/>
        </p:nvSpPr>
        <p:spPr bwMode="white">
          <a:xfrm>
            <a:off x="3575836" y="4913301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Approved client app</a:t>
            </a:r>
            <a:endParaRPr lang="en-US" sz="1000" dirty="0"/>
          </a:p>
        </p:txBody>
      </p:sp>
      <p:pic>
        <p:nvPicPr>
          <p:cNvPr id="42" name="IconGrantCustomAuth"/>
          <p:cNvPicPr>
            <a:picLocks noChangeAspect="1"/>
          </p:cNvPicPr>
          <p:nvPr/>
        </p:nvPicPr>
        <p:blipFill>
          <a:blip r:embed="rId31">
            <a:lum/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rcRect/>
          <a:stretch>
            <a:fillRect/>
          </a:stretch>
        </p:blipFill>
        <p:spPr bwMode="white">
          <a:xfrm>
            <a:off x="3374515" y="593406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9" name="IconGrantCustomAuthLabel"/>
          <p:cNvSpPr txBox="1">
            <a:spLocks noChangeArrowheads="1"/>
          </p:cNvSpPr>
          <p:nvPr/>
        </p:nvSpPr>
        <p:spPr bwMode="white">
          <a:xfrm>
            <a:off x="3575836" y="5919279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Custom authentication factor</a:t>
            </a:r>
            <a:endParaRPr lang="en-US" sz="1000" dirty="0"/>
          </a:p>
        </p:txBody>
      </p:sp>
      <p:pic>
        <p:nvPicPr>
          <p:cNvPr id="40" name="IconGrantTermsOfUse"/>
          <p:cNvPicPr>
            <a:picLocks noChangeAspect="1"/>
          </p:cNvPicPr>
          <p:nvPr/>
        </p:nvPicPr>
        <p:blipFill>
          <a:blip r:embed="rId33">
            <a:lum/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rcRect/>
          <a:stretch>
            <a:fillRect/>
          </a:stretch>
        </p:blipFill>
        <p:spPr bwMode="white">
          <a:xfrm>
            <a:off x="3374515" y="627222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3" name="IconGrantTermsOfUseLabel"/>
          <p:cNvSpPr txBox="1">
            <a:spLocks noChangeArrowheads="1"/>
          </p:cNvSpPr>
          <p:nvPr/>
        </p:nvSpPr>
        <p:spPr bwMode="white">
          <a:xfrm>
            <a:off x="3575836" y="625460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Terms of use</a:t>
            </a:r>
            <a:endParaRPr lang="en-US" sz="1000" dirty="0"/>
          </a:p>
        </p:txBody>
      </p:sp>
      <p:sp>
        <p:nvSpPr>
          <p:cNvPr id="56" name="IconGrantAppProtectionLabel"/>
          <p:cNvSpPr txBox="1">
            <a:spLocks noChangeArrowheads="1"/>
          </p:cNvSpPr>
          <p:nvPr/>
        </p:nvSpPr>
        <p:spPr bwMode="white">
          <a:xfrm>
            <a:off x="3575836" y="524862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 protection policy</a:t>
            </a:r>
            <a:endParaRPr lang="en-US" sz="1000" dirty="0"/>
          </a:p>
        </p:txBody>
      </p:sp>
      <p:pic>
        <p:nvPicPr>
          <p:cNvPr id="65" name="IconGrantAppProtection"/>
          <p:cNvPicPr>
            <a:picLocks noChangeAspect="1"/>
          </p:cNvPicPr>
          <p:nvPr/>
        </p:nvPicPr>
        <p:blipFill>
          <a:blip r:embed="rId35">
            <a:lum/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rcRect/>
          <a:stretch>
            <a:fillRect/>
          </a:stretch>
        </p:blipFill>
        <p:spPr bwMode="white">
          <a:xfrm>
            <a:off x="3374515" y="525771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7" name="IconGrantChangePasswordLabel"/>
          <p:cNvSpPr txBox="1">
            <a:spLocks noChangeArrowheads="1"/>
          </p:cNvSpPr>
          <p:nvPr/>
        </p:nvSpPr>
        <p:spPr bwMode="white">
          <a:xfrm>
            <a:off x="3575836" y="5583953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Change password</a:t>
            </a:r>
            <a:endParaRPr lang="en-US" sz="1000" dirty="0"/>
          </a:p>
        </p:txBody>
      </p:sp>
      <p:pic>
        <p:nvPicPr>
          <p:cNvPr id="67" name="IconGrantChangePassword"/>
          <p:cNvPicPr>
            <a:picLocks noChangeAspect="1"/>
          </p:cNvPicPr>
          <p:nvPr/>
        </p:nvPicPr>
        <p:blipFill>
          <a:blip r:embed="rId37">
            <a:lum/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rcRect/>
          <a:stretch>
            <a:fillRect/>
          </a:stretch>
        </p:blipFill>
        <p:spPr bwMode="white">
          <a:xfrm>
            <a:off x="3374515" y="5595889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4" name="ShadeRisk"/>
          <p:cNvSpPr>
            <a:spLocks/>
          </p:cNvSpPr>
          <p:nvPr/>
        </p:nvSpPr>
        <p:spPr bwMode="white">
          <a:xfrm>
            <a:off x="507564" y="650246"/>
            <a:ext cx="976864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66" name="ShadeDevicePlatforms"/>
          <p:cNvSpPr>
            <a:spLocks/>
          </p:cNvSpPr>
          <p:nvPr/>
        </p:nvSpPr>
        <p:spPr bwMode="white">
          <a:xfrm>
            <a:off x="1863623" y="663409"/>
            <a:ext cx="1773927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78" name="ShadeClientApps"/>
          <p:cNvSpPr>
            <a:spLocks/>
          </p:cNvSpPr>
          <p:nvPr/>
        </p:nvSpPr>
        <p:spPr bwMode="white">
          <a:xfrm>
            <a:off x="3802273" y="650246"/>
            <a:ext cx="1481482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2" name="ShadeFilterForDevices"/>
          <p:cNvSpPr>
            <a:spLocks/>
          </p:cNvSpPr>
          <p:nvPr/>
        </p:nvSpPr>
        <p:spPr bwMode="white">
          <a:xfrm>
            <a:off x="5438955" y="627922"/>
            <a:ext cx="1873685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3" name="ShadeGrantMultifactorAuth"/>
          <p:cNvSpPr>
            <a:spLocks/>
          </p:cNvSpPr>
          <p:nvPr/>
        </p:nvSpPr>
        <p:spPr bwMode="white">
          <a:xfrm>
            <a:off x="3369399" y="3534220"/>
            <a:ext cx="2069555" cy="28330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4" name="ShadeGrantAuthStrength"/>
          <p:cNvSpPr>
            <a:spLocks/>
          </p:cNvSpPr>
          <p:nvPr/>
        </p:nvSpPr>
        <p:spPr bwMode="white">
          <a:xfrm>
            <a:off x="3350256" y="3869846"/>
            <a:ext cx="2069555" cy="27801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5" name="ShadeGrantCompliantDevice"/>
          <p:cNvSpPr>
            <a:spLocks/>
          </p:cNvSpPr>
          <p:nvPr/>
        </p:nvSpPr>
        <p:spPr bwMode="white">
          <a:xfrm>
            <a:off x="3361852" y="4243205"/>
            <a:ext cx="2077102" cy="26110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6" name="ShadeGrantHybridAzureADJoined"/>
          <p:cNvSpPr>
            <a:spLocks/>
          </p:cNvSpPr>
          <p:nvPr/>
        </p:nvSpPr>
        <p:spPr bwMode="white">
          <a:xfrm>
            <a:off x="3353637" y="4552268"/>
            <a:ext cx="2160906" cy="298395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7" name="ShadeGrantApprovedClientApp"/>
          <p:cNvSpPr>
            <a:spLocks/>
          </p:cNvSpPr>
          <p:nvPr/>
        </p:nvSpPr>
        <p:spPr bwMode="white">
          <a:xfrm>
            <a:off x="3331918" y="4876027"/>
            <a:ext cx="2182625" cy="29839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8" name="ShadeGrantAppProtectionPolicy"/>
          <p:cNvSpPr>
            <a:spLocks/>
          </p:cNvSpPr>
          <p:nvPr/>
        </p:nvSpPr>
        <p:spPr bwMode="white">
          <a:xfrm>
            <a:off x="3350256" y="5207226"/>
            <a:ext cx="2122561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9" name="ShadeGrantChangePassword"/>
          <p:cNvSpPr>
            <a:spLocks/>
          </p:cNvSpPr>
          <p:nvPr/>
        </p:nvSpPr>
        <p:spPr bwMode="white">
          <a:xfrm>
            <a:off x="3350257" y="5557021"/>
            <a:ext cx="2042006" cy="287239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0" name="ShadeGrantCustomAuthFactor"/>
          <p:cNvSpPr>
            <a:spLocks/>
          </p:cNvSpPr>
          <p:nvPr/>
        </p:nvSpPr>
        <p:spPr bwMode="white">
          <a:xfrm>
            <a:off x="3331918" y="5899058"/>
            <a:ext cx="2182625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1" name="ShadeGrantTermsOfUse"/>
          <p:cNvSpPr>
            <a:spLocks/>
          </p:cNvSpPr>
          <p:nvPr/>
        </p:nvSpPr>
        <p:spPr bwMode="white">
          <a:xfrm>
            <a:off x="3313823" y="6192350"/>
            <a:ext cx="101602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99" name="Rectangle 98"/>
          <p:cNvSpPr>
            <a:spLocks/>
          </p:cNvSpPr>
          <p:nvPr/>
        </p:nvSpPr>
        <p:spPr bwMode="white">
          <a:xfrm>
            <a:off x="3268757" y="3253404"/>
            <a:ext cx="2357725" cy="3498546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0" name="Rectangle 109"/>
          <p:cNvSpPr>
            <a:spLocks/>
          </p:cNvSpPr>
          <p:nvPr/>
        </p:nvSpPr>
        <p:spPr bwMode="white">
          <a:xfrm>
            <a:off x="9881750" y="3248255"/>
            <a:ext cx="2220808" cy="3510149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7" name="Rectangle 116"/>
          <p:cNvSpPr>
            <a:spLocks/>
          </p:cNvSpPr>
          <p:nvPr/>
        </p:nvSpPr>
        <p:spPr bwMode="white">
          <a:xfrm>
            <a:off x="26741" y="606825"/>
            <a:ext cx="11985015" cy="2063636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2" name="Conditions Label"/>
          <p:cNvSpPr txBox="1">
            <a:spLocks noChangeArrowheads="1"/>
          </p:cNvSpPr>
          <p:nvPr/>
        </p:nvSpPr>
        <p:spPr bwMode="white">
          <a:xfrm rot="16200000">
            <a:off x="-883507" y="1514324"/>
            <a:ext cx="2081441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Conditions</a:t>
            </a:r>
          </a:p>
        </p:txBody>
      </p:sp>
      <p:sp>
        <p:nvSpPr>
          <p:cNvPr id="109" name="Grant Controls"/>
          <p:cNvSpPr txBox="1">
            <a:spLocks noChangeArrowheads="1"/>
          </p:cNvSpPr>
          <p:nvPr/>
        </p:nvSpPr>
        <p:spPr bwMode="white">
          <a:xfrm>
            <a:off x="3252146" y="3244395"/>
            <a:ext cx="2391873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Grant Controls</a:t>
            </a:r>
          </a:p>
        </p:txBody>
      </p:sp>
      <p:sp>
        <p:nvSpPr>
          <p:cNvPr id="111" name="Session Controls"/>
          <p:cNvSpPr txBox="1">
            <a:spLocks noChangeArrowheads="1"/>
          </p:cNvSpPr>
          <p:nvPr/>
        </p:nvSpPr>
        <p:spPr bwMode="white">
          <a:xfrm>
            <a:off x="9864212" y="3243751"/>
            <a:ext cx="2238346" cy="23786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Session Controls</a:t>
            </a:r>
          </a:p>
        </p:txBody>
      </p:sp>
      <p:pic>
        <p:nvPicPr>
          <p:cNvPr id="72" name="Graphic 71"/>
          <p:cNvPicPr>
            <a:picLocks noChangeAspect="1"/>
          </p:cNvPicPr>
          <p:nvPr/>
        </p:nvPicPr>
        <p:blipFill>
          <a:blip r:embed="rId39">
            <a:lum/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rcRect/>
          <a:stretch>
            <a:fillRect/>
          </a:stretch>
        </p:blipFill>
        <p:spPr bwMode="white">
          <a:xfrm>
            <a:off x="9996846" y="356982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4" name="Graphic 93"/>
          <p:cNvPicPr>
            <a:picLocks noChangeAspect="1"/>
          </p:cNvPicPr>
          <p:nvPr/>
        </p:nvPicPr>
        <p:blipFill>
          <a:blip r:embed="rId41">
            <a:lum/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rcRect/>
          <a:stretch>
            <a:fillRect/>
          </a:stretch>
        </p:blipFill>
        <p:spPr bwMode="white">
          <a:xfrm>
            <a:off x="10009443" y="525644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5" name="TextBox 94"/>
          <p:cNvSpPr txBox="1">
            <a:spLocks noChangeArrowheads="1"/>
          </p:cNvSpPr>
          <p:nvPr/>
        </p:nvSpPr>
        <p:spPr bwMode="white">
          <a:xfrm>
            <a:off x="10207481" y="3578463"/>
            <a:ext cx="150554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App enforced restrictions</a:t>
            </a:r>
          </a:p>
        </p:txBody>
      </p:sp>
      <p:sp>
        <p:nvSpPr>
          <p:cNvPr id="96" name="TextBox 95"/>
          <p:cNvSpPr txBox="1">
            <a:spLocks noChangeArrowheads="1"/>
          </p:cNvSpPr>
          <p:nvPr/>
        </p:nvSpPr>
        <p:spPr bwMode="white">
          <a:xfrm>
            <a:off x="10201167" y="3899846"/>
            <a:ext cx="181011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Conditional Access App Control</a:t>
            </a:r>
          </a:p>
        </p:txBody>
      </p:sp>
      <p:sp>
        <p:nvSpPr>
          <p:cNvPr id="97" name="TextBox 96"/>
          <p:cNvSpPr txBox="1">
            <a:spLocks noChangeArrowheads="1"/>
          </p:cNvSpPr>
          <p:nvPr/>
        </p:nvSpPr>
        <p:spPr bwMode="white">
          <a:xfrm>
            <a:off x="10215627" y="4357505"/>
            <a:ext cx="1090363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Sign-in frequency</a:t>
            </a:r>
          </a:p>
        </p:txBody>
      </p:sp>
      <p:sp>
        <p:nvSpPr>
          <p:cNvPr id="98" name="TextBox 97"/>
          <p:cNvSpPr txBox="1">
            <a:spLocks noChangeArrowheads="1"/>
          </p:cNvSpPr>
          <p:nvPr/>
        </p:nvSpPr>
        <p:spPr bwMode="white">
          <a:xfrm>
            <a:off x="10225446" y="4793305"/>
            <a:ext cx="156966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Persistent browser session</a:t>
            </a:r>
          </a:p>
        </p:txBody>
      </p:sp>
      <p:sp>
        <p:nvSpPr>
          <p:cNvPr id="100" name="TextBox 99"/>
          <p:cNvSpPr txBox="1">
            <a:spLocks noChangeArrowheads="1"/>
          </p:cNvSpPr>
          <p:nvPr/>
        </p:nvSpPr>
        <p:spPr bwMode="white">
          <a:xfrm>
            <a:off x="10229552" y="5232376"/>
            <a:ext cx="1717137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Continuous access evaluation</a:t>
            </a:r>
          </a:p>
        </p:txBody>
      </p:sp>
      <p:sp>
        <p:nvSpPr>
          <p:cNvPr id="101" name="TextBox 100"/>
          <p:cNvSpPr txBox="1">
            <a:spLocks noChangeArrowheads="1"/>
          </p:cNvSpPr>
          <p:nvPr/>
        </p:nvSpPr>
        <p:spPr bwMode="white">
          <a:xfrm>
            <a:off x="10259108" y="5658625"/>
            <a:ext cx="153599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Disable resilience defaults</a:t>
            </a:r>
          </a:p>
        </p:txBody>
      </p:sp>
      <p:pic>
        <p:nvPicPr>
          <p:cNvPr id="103" name="Graphic 102"/>
          <p:cNvPicPr>
            <a:picLocks noChangeAspect="1"/>
          </p:cNvPicPr>
          <p:nvPr/>
        </p:nvPicPr>
        <p:blipFill>
          <a:blip r:embed="rId43">
            <a:lum/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rcRect/>
          <a:stretch>
            <a:fillRect/>
          </a:stretch>
        </p:blipFill>
        <p:spPr bwMode="white">
          <a:xfrm>
            <a:off x="9996846" y="479900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5" name="Graphic 104"/>
          <p:cNvPicPr>
            <a:picLocks noChangeAspect="1"/>
          </p:cNvPicPr>
          <p:nvPr/>
        </p:nvPicPr>
        <p:blipFill>
          <a:blip r:embed="rId45">
            <a:lum/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rcRect/>
          <a:stretch>
            <a:fillRect/>
          </a:stretch>
        </p:blipFill>
        <p:spPr bwMode="white">
          <a:xfrm>
            <a:off x="9996846" y="437457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7" name="Graphic 106"/>
          <p:cNvPicPr>
            <a:picLocks noChangeAspect="1"/>
          </p:cNvPicPr>
          <p:nvPr/>
        </p:nvPicPr>
        <p:blipFill>
          <a:blip r:embed="rId7">
            <a:lum/>
            <a:extLst>
              <a:ext uri="{96DAC541-7B7A-43D3-8B79-37D633B846F1}">
                <asvg:svgBlip xmlns:asvg="http://schemas.microsoft.com/office/drawing/2016/SVG/main" r:embed="rId47"/>
              </a:ext>
            </a:extLst>
          </a:blip>
          <a:srcRect/>
          <a:stretch>
            <a:fillRect/>
          </a:stretch>
        </p:blipFill>
        <p:spPr bwMode="white">
          <a:xfrm>
            <a:off x="9996846" y="391529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15" name="SessionSifInterval"/>
          <p:cNvSpPr txBox="1">
            <a:spLocks noChangeArrowheads="1"/>
          </p:cNvSpPr>
          <p:nvPr/>
        </p:nvSpPr>
        <p:spPr bwMode="white">
          <a:xfrm>
            <a:off x="10296745" y="4516775"/>
            <a:ext cx="1249060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Periodic reauthentication</a:t>
            </a:r>
          </a:p>
        </p:txBody>
      </p:sp>
      <p:sp>
        <p:nvSpPr>
          <p:cNvPr id="114" name="SessionCasType"/>
          <p:cNvSpPr txBox="1">
            <a:spLocks noChangeArrowheads="1"/>
          </p:cNvSpPr>
          <p:nvPr/>
        </p:nvSpPr>
        <p:spPr bwMode="white">
          <a:xfrm>
            <a:off x="10296745" y="4075500"/>
            <a:ext cx="95410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App Control Policy</a:t>
            </a:r>
          </a:p>
        </p:txBody>
      </p:sp>
      <p:sp>
        <p:nvSpPr>
          <p:cNvPr id="116" name="SessionPersistenBrowserMode"/>
          <p:cNvSpPr txBox="1">
            <a:spLocks noChangeArrowheads="1"/>
          </p:cNvSpPr>
          <p:nvPr/>
        </p:nvSpPr>
        <p:spPr bwMode="white">
          <a:xfrm>
            <a:off x="10309761" y="4945281"/>
            <a:ext cx="918841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Always persistent</a:t>
            </a:r>
          </a:p>
        </p:txBody>
      </p:sp>
      <p:sp>
        <p:nvSpPr>
          <p:cNvPr id="118" name="SessionCaeMode"/>
          <p:cNvSpPr txBox="1">
            <a:spLocks noChangeArrowheads="1"/>
          </p:cNvSpPr>
          <p:nvPr/>
        </p:nvSpPr>
        <p:spPr bwMode="white">
          <a:xfrm>
            <a:off x="10301386" y="5393378"/>
            <a:ext cx="15359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US" sz="800" dirty="0"/>
              <a:t>Strictly enforce location policies</a:t>
            </a:r>
          </a:p>
        </p:txBody>
      </p:sp>
      <p:sp>
        <p:nvSpPr>
          <p:cNvPr id="119" name="ShadeSessionAppEnforced"/>
          <p:cNvSpPr>
            <a:spLocks/>
          </p:cNvSpPr>
          <p:nvPr/>
        </p:nvSpPr>
        <p:spPr bwMode="white">
          <a:xfrm>
            <a:off x="9959680" y="3548808"/>
            <a:ext cx="2051597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0" name="ShadeSessionCas"/>
          <p:cNvSpPr>
            <a:spLocks/>
          </p:cNvSpPr>
          <p:nvPr/>
        </p:nvSpPr>
        <p:spPr bwMode="white">
          <a:xfrm>
            <a:off x="9978939" y="3884212"/>
            <a:ext cx="2087576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1" name="ShadeSessionSif"/>
          <p:cNvSpPr>
            <a:spLocks/>
          </p:cNvSpPr>
          <p:nvPr/>
        </p:nvSpPr>
        <p:spPr bwMode="white">
          <a:xfrm>
            <a:off x="9940787" y="4320077"/>
            <a:ext cx="2125728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2" name="ShadeSessionPersistentBrowser"/>
          <p:cNvSpPr>
            <a:spLocks/>
          </p:cNvSpPr>
          <p:nvPr/>
        </p:nvSpPr>
        <p:spPr bwMode="white">
          <a:xfrm>
            <a:off x="9938833" y="4746195"/>
            <a:ext cx="207244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" name="Label Secure Sign In Session"/>
          <p:cNvSpPr txBox="1">
            <a:spLocks noChangeArrowheads="1"/>
          </p:cNvSpPr>
          <p:nvPr/>
        </p:nvSpPr>
        <p:spPr bwMode="white">
          <a:xfrm>
            <a:off x="10260000" y="6084874"/>
            <a:ext cx="166584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Token protection for session</a:t>
            </a:r>
          </a:p>
        </p:txBody>
      </p:sp>
      <p:pic>
        <p:nvPicPr>
          <p:cNvPr id="77" name="IconSessionCaeDisable" descr="Close with solid fill"/>
          <p:cNvPicPr>
            <a:picLocks noChangeAspect="1"/>
          </p:cNvPicPr>
          <p:nvPr/>
        </p:nvPicPr>
        <p:blipFill>
          <a:blip r:embed="rId48">
            <a:lum/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rcRect/>
          <a:stretch>
            <a:fillRect/>
          </a:stretch>
        </p:blipFill>
        <p:spPr bwMode="white">
          <a:xfrm>
            <a:off x="9979885" y="5218651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2" name="IconSessionSecureSignInSession 1"/>
          <p:cNvPicPr>
            <a:picLocks noChangeAspect="1"/>
          </p:cNvPicPr>
          <p:nvPr/>
        </p:nvPicPr>
        <p:blipFill>
          <a:blip r:embed="rId50">
            <a:lum/>
            <a:extLst>
              <a:ext uri="{96DAC541-7B7A-43D3-8B79-37D633B846F1}">
                <asvg:svgBlip xmlns:asvg="http://schemas.microsoft.com/office/drawing/2016/SVG/main" r:embed="rId51"/>
              </a:ext>
            </a:extLst>
          </a:blip>
          <a:srcRect/>
          <a:stretch>
            <a:fillRect/>
          </a:stretch>
        </p:blipFill>
        <p:spPr bwMode="white">
          <a:xfrm>
            <a:off x="9997200" y="6085768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3" name="ShadeSessionCae"/>
          <p:cNvSpPr>
            <a:spLocks/>
          </p:cNvSpPr>
          <p:nvPr/>
        </p:nvSpPr>
        <p:spPr bwMode="white">
          <a:xfrm>
            <a:off x="9987595" y="5219780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76" name="ShadeSessionSecureSignIn"/>
          <p:cNvSpPr>
            <a:spLocks/>
          </p:cNvSpPr>
          <p:nvPr/>
        </p:nvSpPr>
        <p:spPr bwMode="white">
          <a:xfrm>
            <a:off x="9996846" y="5986498"/>
            <a:ext cx="2014431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pic>
        <p:nvPicPr>
          <p:cNvPr id="102" name="Graphic 101"/>
          <p:cNvPicPr>
            <a:picLocks noChangeAspect="1"/>
          </p:cNvPicPr>
          <p:nvPr/>
        </p:nvPicPr>
        <p:blipFill>
          <a:blip r:embed="rId52">
            <a:lum/>
            <a:extLst>
              <a:ext uri="{96DAC541-7B7A-43D3-8B79-37D633B846F1}">
                <asvg:svgBlip xmlns:asvg="http://schemas.microsoft.com/office/drawing/2016/SVG/main" r:embed="rId53"/>
              </a:ext>
            </a:extLst>
          </a:blip>
          <a:srcRect/>
          <a:stretch>
            <a:fillRect/>
          </a:stretch>
        </p:blipFill>
        <p:spPr bwMode="white">
          <a:xfrm>
            <a:off x="9997200" y="5663777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80" name="Graphic 79" descr="Close with solid fill"/>
          <p:cNvPicPr>
            <a:picLocks noChangeAspect="1"/>
          </p:cNvPicPr>
          <p:nvPr/>
        </p:nvPicPr>
        <p:blipFill>
          <a:blip r:embed="rId48">
            <a:lum/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rcRect/>
          <a:stretch>
            <a:fillRect/>
          </a:stretch>
        </p:blipFill>
        <p:spPr bwMode="white">
          <a:xfrm>
            <a:off x="9963899" y="5637424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4" name="ShadeSessionDisableResilience"/>
          <p:cNvSpPr>
            <a:spLocks/>
          </p:cNvSpPr>
          <p:nvPr/>
        </p:nvSpPr>
        <p:spPr bwMode="white">
          <a:xfrm>
            <a:off x="9959681" y="5602709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2" name="PolicyName">
            <a:hlinkClick r:id="" action="ppaction://hlinkfile"/>
          </p:cNvPr>
          <p:cNvSpPr>
            <a:spLocks noGrp="1"/>
          </p:cNvSpPr>
          <p:nvPr>
            <p:ph type="title"/>
          </p:nvPr>
        </p:nvSpPr>
        <p:spPr bwMode="white">
          <a:xfrm>
            <a:off x="838200" y="115511"/>
            <a:ext cx="10003967" cy="609565"/>
          </a:xfrm>
          <a:ln>
            <a:headEnd type="none"/>
            <a:tailEnd type="none"/>
          </a:ln>
        </p:spPr>
        <p:txBody>
          <a:bodyPr wrap="square">
            <a:noAutofit/>
          </a:bodyPr>
          <a:lstStyle/>
          <a:p>
            <a:pPr defTabSz="914400"/>
            <a:r>
              <a:rPr lang="en-US" sz="2000" b="1" dirty="0"/>
              <a:t> [All Apps] [SVo365 AADConnect] (Block) Service Accounts Login From Non-OCC Proxy IPs</a:t>
            </a:r>
          </a:p>
        </p:txBody>
      </p:sp>
      <p:sp>
        <p:nvSpPr>
          <p:cNvPr id="16" name="LastModified"/>
          <p:cNvSpPr txBox="1">
            <a:spLocks noChangeArrowheads="1"/>
          </p:cNvSpPr>
          <p:nvPr/>
        </p:nvSpPr>
        <p:spPr bwMode="white">
          <a:xfrm>
            <a:off x="10556111" y="388376"/>
            <a:ext cx="15483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algn="r" defTabSz="457200"/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Last modified: 2025-05-13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UserWorkload"/>
          <p:cNvSpPr>
            <a:spLocks/>
          </p:cNvSpPr>
          <p:nvPr/>
        </p:nvSpPr>
        <p:spPr bwMode="auto">
          <a:xfrm>
            <a:off x="175820" y="2709769"/>
            <a:ext cx="2202823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Users</a:t>
            </a:r>
          </a:p>
        </p:txBody>
      </p:sp>
      <p:sp>
        <p:nvSpPr>
          <p:cNvPr id="7" name="UserWorkloadIncExc"/>
          <p:cNvSpPr txBox="1">
            <a:spLocks noChangeArrowheads="1"/>
          </p:cNvSpPr>
          <p:nvPr/>
        </p:nvSpPr>
        <p:spPr bwMode="white">
          <a:xfrm>
            <a:off x="125485" y="3698952"/>
            <a:ext cx="3062115" cy="313265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 numCol="1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b="1" dirty="0"/>
            </a:pPr>
            <a:r>
              <a:t> Users</a:t>
            </a:r>
          </a:p>
          <a:p>
            <a:pPr defTabSz="457200">
              <a:defRPr sz="1100" dirty="0"/>
            </a:pPr>
            <a:r>
              <a:t> - SVO365 AEMADMIN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19" name="Risks"/>
          <p:cNvSpPr txBox="1">
            <a:spLocks noChangeArrowheads="1"/>
          </p:cNvSpPr>
          <p:nvPr/>
        </p:nvSpPr>
        <p:spPr bwMode="white">
          <a:xfrm>
            <a:off x="524485" y="1021946"/>
            <a:ext cx="1348869" cy="166886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0" name="Platforms"/>
          <p:cNvSpPr txBox="1">
            <a:spLocks noChangeArrowheads="1"/>
          </p:cNvSpPr>
          <p:nvPr/>
        </p:nvSpPr>
        <p:spPr bwMode="white">
          <a:xfrm>
            <a:off x="1826931" y="1021947"/>
            <a:ext cx="2061056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3" name="Locations"/>
          <p:cNvSpPr txBox="1">
            <a:spLocks noChangeArrowheads="1"/>
          </p:cNvSpPr>
          <p:nvPr/>
        </p:nvSpPr>
        <p:spPr bwMode="white">
          <a:xfrm>
            <a:off x="8324941" y="1021947"/>
            <a:ext cx="3513702" cy="159258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b="1" dirty="0"/>
            </a:pPr>
            <a:r>
              <a:t>✅ Include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r>
              <a:t>🚫 Exclude</a:t>
            </a:r>
          </a:p>
          <a:p>
            <a:pPr defTabSz="457200">
              <a:defRPr sz="1100" dirty="0"/>
            </a:pPr>
            <a:r>
              <a:t> - Netskope Egress </a:t>
            </a:r>
          </a:p>
          <a:p>
            <a:pPr defTabSz="457200">
              <a:defRPr sz="1100" dirty="0"/>
            </a:pPr>
            <a:r>
              <a:t> - OCC Proxy Egress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24" name="ClientAppTypes"/>
          <p:cNvSpPr txBox="1">
            <a:spLocks noChangeArrowheads="1"/>
          </p:cNvSpPr>
          <p:nvPr/>
        </p:nvSpPr>
        <p:spPr bwMode="white">
          <a:xfrm>
            <a:off x="3810664" y="1021947"/>
            <a:ext cx="1581599" cy="165343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5" name="DeviceFilters"/>
          <p:cNvSpPr txBox="1">
            <a:spLocks noChangeArrowheads="1"/>
          </p:cNvSpPr>
          <p:nvPr/>
        </p:nvSpPr>
        <p:spPr bwMode="white">
          <a:xfrm>
            <a:off x="5818151" y="1022762"/>
            <a:ext cx="2248808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cxnSp>
        <p:nvCxnSpPr>
          <p:cNvPr id="27" name="Straight Arrow Connector 26" descr="Arrow drawn from user/workload  to the action being performed by the user such as accessing cloud apps."/>
          <p:cNvCxnSpPr/>
          <p:nvPr/>
        </p:nvCxnSpPr>
        <p:spPr bwMode="white">
          <a:xfrm>
            <a:off x="2195232" y="3159047"/>
            <a:ext cx="3959471" cy="1"/>
          </a:xfrm>
          <a:prstGeom prst="straightConnector1">
            <a:avLst/>
          </a:prstGeom>
          <a:ln w="76200"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30" name="IconBlockAccess" descr="Picture with red color stop sign to indicate blocked access"/>
          <p:cNvPicPr>
            <a:picLocks noChangeAspect="1"/>
          </p:cNvPicPr>
          <p:nvPr/>
        </p:nvPicPr>
        <p:blipFill>
          <a:blip r:embed="rId3">
            <a:lum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 bwMode="white">
          <a:xfrm>
            <a:off x="5306633" y="2735805"/>
            <a:ext cx="356616" cy="35661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34" name="GrantLabelBlockAccess"/>
          <p:cNvSpPr txBox="1">
            <a:spLocks noChangeArrowheads="1"/>
          </p:cNvSpPr>
          <p:nvPr/>
        </p:nvSpPr>
        <p:spPr bwMode="white">
          <a:xfrm>
            <a:off x="3936931" y="2734375"/>
            <a:ext cx="1358065" cy="369332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algn="ctr" defTabSz="457200"/>
            <a:r>
              <a:rPr lang="en-US" b="1" dirty="0">
                <a:solidFill>
                  <a:srgbClr val="FF0000"/>
                </a:solidFill>
              </a:rPr>
              <a:t>Block access</a:t>
            </a:r>
          </a:p>
        </p:txBody>
      </p:sp>
      <p:sp>
        <p:nvSpPr>
          <p:cNvPr id="3" name="CloudAppActionIncExc"/>
          <p:cNvSpPr txBox="1">
            <a:spLocks noChangeArrowheads="1"/>
          </p:cNvSpPr>
          <p:nvPr/>
        </p:nvSpPr>
        <p:spPr bwMode="white">
          <a:xfrm>
            <a:off x="6039518" y="3662782"/>
            <a:ext cx="3649518" cy="315161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</p:txBody>
      </p:sp>
      <p:pic>
        <p:nvPicPr>
          <p:cNvPr id="26" name="IconGroupIdentity"/>
          <p:cNvPicPr>
            <a:picLocks noChangeAspect="1"/>
          </p:cNvPicPr>
          <p:nvPr/>
        </p:nvPicPr>
        <p:blipFill>
          <a:blip r:embed="rId5">
            <a:lum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 bwMode="white">
          <a:xfrm>
            <a:off x="327701" y="2839007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36" name="Graphic 35"/>
          <p:cNvPicPr>
            <a:picLocks noChangeAspect="1"/>
          </p:cNvPicPr>
          <p:nvPr/>
        </p:nvPicPr>
        <p:blipFill>
          <a:blip r:embed="rId7">
            <a:lum/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p:blipFill>
        <p:spPr bwMode="white">
          <a:xfrm>
            <a:off x="495610" y="197468"/>
            <a:ext cx="381196" cy="38119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" name="CloudAppAction"/>
          <p:cNvSpPr>
            <a:spLocks/>
          </p:cNvSpPr>
          <p:nvPr/>
        </p:nvSpPr>
        <p:spPr bwMode="auto">
          <a:xfrm>
            <a:off x="6206089" y="2718506"/>
            <a:ext cx="3227026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All cloud apps</a:t>
            </a:r>
          </a:p>
        </p:txBody>
      </p:sp>
      <p:pic>
        <p:nvPicPr>
          <p:cNvPr id="75" name="IconAccessAllCloudApps"/>
          <p:cNvPicPr>
            <a:picLocks noChangeAspect="1"/>
          </p:cNvPicPr>
          <p:nvPr/>
        </p:nvPicPr>
        <p:blipFill>
          <a:blip r:embed="rId9">
            <a:lum/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p:blipFill>
        <p:spPr bwMode="white">
          <a:xfrm>
            <a:off x="6439264" y="2836824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21" name="StateEnabled"/>
          <p:cNvSpPr>
            <a:spLocks/>
          </p:cNvSpPr>
          <p:nvPr/>
        </p:nvSpPr>
        <p:spPr bwMode="white">
          <a:xfrm>
            <a:off x="10842171" y="83487"/>
            <a:ext cx="1260389" cy="264812"/>
          </a:xfrm>
          <a:prstGeom prst="round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r>
              <a:rPr lang="en-US" sz="800" dirty="0"/>
              <a:t>Policy Enabled</a:t>
            </a:r>
          </a:p>
        </p:txBody>
      </p:sp>
      <p:grpSp>
        <p:nvGrpSpPr>
          <p:cNvPr id="10" name="IconRiskyUsers"/>
          <p:cNvGrpSpPr>
            <a:grpSpLocks/>
          </p:cNvGrpSpPr>
          <p:nvPr/>
        </p:nvGrpSpPr>
        <p:grpSpPr bwMode="white">
          <a:xfrm>
            <a:off x="635426" y="738677"/>
            <a:ext cx="1202553" cy="274320"/>
            <a:chOff x="2013768" y="1033956"/>
            <a:chExt cx="1342320" cy="274320"/>
          </a:xfrm>
        </p:grpSpPr>
        <p:pic>
          <p:nvPicPr>
            <p:cNvPr id="46" name="Graphic 1"/>
            <p:cNvPicPr>
              <a:picLocks noChangeAspect="1"/>
            </p:cNvPicPr>
            <p:nvPr/>
          </p:nvPicPr>
          <p:blipFill>
            <a:blip r:embed="rId11">
              <a:lum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013768" y="1033956"/>
              <a:ext cx="274320" cy="27432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5" name="Label 1"/>
            <p:cNvSpPr txBox="1">
              <a:spLocks noChangeArrowheads="1"/>
            </p:cNvSpPr>
            <p:nvPr/>
          </p:nvSpPr>
          <p:spPr bwMode="white">
            <a:xfrm>
              <a:off x="2240077" y="1040706"/>
              <a:ext cx="1116011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Risk</a:t>
              </a:r>
            </a:p>
          </p:txBody>
        </p:sp>
      </p:grpSp>
      <p:grpSp>
        <p:nvGrpSpPr>
          <p:cNvPr id="14" name="IconPlatforms"/>
          <p:cNvGrpSpPr>
            <a:grpSpLocks/>
          </p:cNvGrpSpPr>
          <p:nvPr/>
        </p:nvGrpSpPr>
        <p:grpSpPr bwMode="white">
          <a:xfrm>
            <a:off x="1927788" y="715249"/>
            <a:ext cx="1719285" cy="365760"/>
            <a:chOff x="3262737" y="994835"/>
            <a:chExt cx="1719285" cy="365760"/>
          </a:xfrm>
        </p:grpSpPr>
        <p:pic>
          <p:nvPicPr>
            <p:cNvPr id="29" name="Graphic 1"/>
            <p:cNvPicPr>
              <a:picLocks noChangeAspect="1"/>
            </p:cNvPicPr>
            <p:nvPr/>
          </p:nvPicPr>
          <p:blipFill>
            <a:blip r:embed="rId13">
              <a:lum/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3262737" y="994835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1" name="Label 1"/>
            <p:cNvSpPr txBox="1">
              <a:spLocks noChangeArrowheads="1"/>
            </p:cNvSpPr>
            <p:nvPr/>
          </p:nvSpPr>
          <p:spPr bwMode="white">
            <a:xfrm>
              <a:off x="3582397" y="1027255"/>
              <a:ext cx="1399625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Device platforms</a:t>
              </a:r>
            </a:p>
          </p:txBody>
        </p:sp>
      </p:grpSp>
      <p:grpSp>
        <p:nvGrpSpPr>
          <p:cNvPr id="17" name="IconClientAppTypes"/>
          <p:cNvGrpSpPr>
            <a:grpSpLocks/>
          </p:cNvGrpSpPr>
          <p:nvPr/>
        </p:nvGrpSpPr>
        <p:grpSpPr bwMode="white">
          <a:xfrm>
            <a:off x="3908159" y="670015"/>
            <a:ext cx="1852971" cy="365760"/>
            <a:chOff x="4858970" y="975927"/>
            <a:chExt cx="1852971" cy="365760"/>
          </a:xfrm>
        </p:grpSpPr>
        <p:pic>
          <p:nvPicPr>
            <p:cNvPr id="58" name="Graphic 1"/>
            <p:cNvPicPr>
              <a:picLocks noChangeAspect="1"/>
            </p:cNvPicPr>
            <p:nvPr/>
          </p:nvPicPr>
          <p:blipFill>
            <a:blip r:embed="rId15">
              <a:lum/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858970" y="975927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5" name="Label 1"/>
            <p:cNvSpPr txBox="1">
              <a:spLocks noChangeArrowheads="1"/>
            </p:cNvSpPr>
            <p:nvPr/>
          </p:nvSpPr>
          <p:spPr bwMode="white">
            <a:xfrm>
              <a:off x="5193983" y="1009899"/>
              <a:ext cx="1517958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Client apps</a:t>
              </a:r>
            </a:p>
          </p:txBody>
        </p:sp>
      </p:grpSp>
      <p:grpSp>
        <p:nvGrpSpPr>
          <p:cNvPr id="37" name="IconLocations"/>
          <p:cNvGrpSpPr>
            <a:grpSpLocks/>
          </p:cNvGrpSpPr>
          <p:nvPr/>
        </p:nvGrpSpPr>
        <p:grpSpPr bwMode="white">
          <a:xfrm>
            <a:off x="8411896" y="646848"/>
            <a:ext cx="1850168" cy="388465"/>
            <a:chOff x="2321433" y="3262888"/>
            <a:chExt cx="1850168" cy="388465"/>
          </a:xfrm>
        </p:grpSpPr>
        <p:pic>
          <p:nvPicPr>
            <p:cNvPr id="33" name="Graphic 1"/>
            <p:cNvPicPr>
              <a:picLocks noChangeAspect="1"/>
            </p:cNvPicPr>
            <p:nvPr/>
          </p:nvPicPr>
          <p:blipFill>
            <a:blip r:embed="rId17">
              <a:lum/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321433" y="3262888"/>
              <a:ext cx="388465" cy="388465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28" name="Label 1"/>
            <p:cNvSpPr txBox="1">
              <a:spLocks noChangeArrowheads="1"/>
            </p:cNvSpPr>
            <p:nvPr/>
          </p:nvSpPr>
          <p:spPr bwMode="white">
            <a:xfrm>
              <a:off x="2713321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Locations</a:t>
              </a:r>
              <a:endParaRPr lang="en-US" sz="1100" b="1" dirty="0"/>
            </a:p>
          </p:txBody>
        </p:sp>
      </p:grpSp>
      <p:grpSp>
        <p:nvGrpSpPr>
          <p:cNvPr id="39" name="IconDeviceFilters"/>
          <p:cNvGrpSpPr>
            <a:grpSpLocks/>
          </p:cNvGrpSpPr>
          <p:nvPr/>
        </p:nvGrpSpPr>
        <p:grpSpPr bwMode="white">
          <a:xfrm>
            <a:off x="5472818" y="661958"/>
            <a:ext cx="1839823" cy="364111"/>
            <a:chOff x="4195414" y="3273669"/>
            <a:chExt cx="1839823" cy="364111"/>
          </a:xfrm>
        </p:grpSpPr>
        <p:pic>
          <p:nvPicPr>
            <p:cNvPr id="60" name="Graphic 1"/>
            <p:cNvPicPr>
              <a:picLocks noChangeAspect="1"/>
            </p:cNvPicPr>
            <p:nvPr/>
          </p:nvPicPr>
          <p:blipFill>
            <a:blip r:embed="rId19">
              <a:lum/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195414" y="3273669"/>
              <a:ext cx="364111" cy="364111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31" name="Label 1"/>
            <p:cNvSpPr txBox="1">
              <a:spLocks noChangeArrowheads="1"/>
            </p:cNvSpPr>
            <p:nvPr/>
          </p:nvSpPr>
          <p:spPr bwMode="white">
            <a:xfrm>
              <a:off x="4576957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Filter for devices</a:t>
              </a:r>
              <a:endParaRPr lang="en-US" sz="1100" b="1" dirty="0"/>
            </a:p>
          </p:txBody>
        </p:sp>
      </p:grpSp>
      <p:pic>
        <p:nvPicPr>
          <p:cNvPr id="62" name="IconGrantMultifactorAuthentication"/>
          <p:cNvPicPr>
            <a:picLocks noChangeAspect="1"/>
          </p:cNvPicPr>
          <p:nvPr/>
        </p:nvPicPr>
        <p:blipFill>
          <a:blip r:embed="rId21">
            <a:lum/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>
            <a:fillRect/>
          </a:stretch>
        </p:blipFill>
        <p:spPr bwMode="white">
          <a:xfrm>
            <a:off x="3410647" y="3566863"/>
            <a:ext cx="17145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5" name="IconGrantMultifactorAuthenticationLabel"/>
          <p:cNvSpPr txBox="1">
            <a:spLocks noChangeArrowheads="1"/>
          </p:cNvSpPr>
          <p:nvPr/>
        </p:nvSpPr>
        <p:spPr bwMode="white">
          <a:xfrm>
            <a:off x="3575836" y="3571997"/>
            <a:ext cx="19007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Multifactor authentication</a:t>
            </a:r>
            <a:endParaRPr lang="en-US" sz="1000" dirty="0"/>
          </a:p>
        </p:txBody>
      </p:sp>
      <p:pic>
        <p:nvPicPr>
          <p:cNvPr id="38" name="IconGrantAuthenticationStrength"/>
          <p:cNvPicPr>
            <a:picLocks noChangeAspect="1"/>
          </p:cNvPicPr>
          <p:nvPr/>
        </p:nvPicPr>
        <p:blipFill>
          <a:blip r:embed="rId23">
            <a:lum/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/>
          <a:stretch>
            <a:fillRect/>
          </a:stretch>
        </p:blipFill>
        <p:spPr bwMode="white">
          <a:xfrm>
            <a:off x="3374515" y="3905034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7" name="IconGrantAuthenticationStrengthLabel"/>
          <p:cNvSpPr txBox="1">
            <a:spLocks noChangeArrowheads="1"/>
          </p:cNvSpPr>
          <p:nvPr/>
        </p:nvSpPr>
        <p:spPr bwMode="white">
          <a:xfrm>
            <a:off x="3575836" y="3907323"/>
            <a:ext cx="2185294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Authentication strength</a:t>
            </a:r>
            <a:endParaRPr lang="en-US" sz="1000" dirty="0"/>
          </a:p>
        </p:txBody>
      </p:sp>
      <p:pic>
        <p:nvPicPr>
          <p:cNvPr id="52" name="IconGrantDeviceCompliance"/>
          <p:cNvPicPr>
            <a:picLocks noChangeAspect="1"/>
          </p:cNvPicPr>
          <p:nvPr/>
        </p:nvPicPr>
        <p:blipFill>
          <a:blip r:embed="rId25">
            <a:lum/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/>
          <a:stretch>
            <a:fillRect/>
          </a:stretch>
        </p:blipFill>
        <p:spPr bwMode="white">
          <a:xfrm>
            <a:off x="3374515" y="4243205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9" name="IconGrantDeviceComplianceLabel"/>
          <p:cNvSpPr txBox="1">
            <a:spLocks noChangeArrowheads="1"/>
          </p:cNvSpPr>
          <p:nvPr/>
        </p:nvSpPr>
        <p:spPr bwMode="white">
          <a:xfrm>
            <a:off x="3575836" y="4242649"/>
            <a:ext cx="17378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Compliant device</a:t>
            </a:r>
            <a:endParaRPr lang="en-US" sz="1000" dirty="0"/>
          </a:p>
        </p:txBody>
      </p:sp>
      <p:pic>
        <p:nvPicPr>
          <p:cNvPr id="43" name="IconGrantHybridJoined"/>
          <p:cNvPicPr>
            <a:picLocks noChangeAspect="1"/>
          </p:cNvPicPr>
          <p:nvPr/>
        </p:nvPicPr>
        <p:blipFill>
          <a:blip r:embed="rId27">
            <a:lum/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/>
          <a:stretch>
            <a:fillRect/>
          </a:stretch>
        </p:blipFill>
        <p:spPr bwMode="white">
          <a:xfrm>
            <a:off x="3374515" y="4581376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3" name="IconGrantHybridJoinedLabel"/>
          <p:cNvSpPr txBox="1">
            <a:spLocks noChangeArrowheads="1"/>
          </p:cNvSpPr>
          <p:nvPr/>
        </p:nvSpPr>
        <p:spPr bwMode="white">
          <a:xfrm>
            <a:off x="3575836" y="4577975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Hybrid Azure AD joined device</a:t>
            </a:r>
            <a:endParaRPr lang="en-US" sz="1000" dirty="0"/>
          </a:p>
        </p:txBody>
      </p:sp>
      <p:pic>
        <p:nvPicPr>
          <p:cNvPr id="48" name="IconGrantApprovedClientApp"/>
          <p:cNvPicPr>
            <a:picLocks noChangeAspect="1"/>
          </p:cNvPicPr>
          <p:nvPr/>
        </p:nvPicPr>
        <p:blipFill>
          <a:blip r:embed="rId29">
            <a:lum/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rcRect/>
          <a:stretch>
            <a:fillRect/>
          </a:stretch>
        </p:blipFill>
        <p:spPr bwMode="white">
          <a:xfrm>
            <a:off x="3374515" y="491954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5" name="IconGrantApprovedClientAppLabel"/>
          <p:cNvSpPr txBox="1">
            <a:spLocks noChangeArrowheads="1"/>
          </p:cNvSpPr>
          <p:nvPr/>
        </p:nvSpPr>
        <p:spPr bwMode="white">
          <a:xfrm>
            <a:off x="3575836" y="4913301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Approved client app</a:t>
            </a:r>
            <a:endParaRPr lang="en-US" sz="1000" dirty="0"/>
          </a:p>
        </p:txBody>
      </p:sp>
      <p:pic>
        <p:nvPicPr>
          <p:cNvPr id="42" name="IconGrantCustomAuth"/>
          <p:cNvPicPr>
            <a:picLocks noChangeAspect="1"/>
          </p:cNvPicPr>
          <p:nvPr/>
        </p:nvPicPr>
        <p:blipFill>
          <a:blip r:embed="rId31">
            <a:lum/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rcRect/>
          <a:stretch>
            <a:fillRect/>
          </a:stretch>
        </p:blipFill>
        <p:spPr bwMode="white">
          <a:xfrm>
            <a:off x="3374515" y="593406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9" name="IconGrantCustomAuthLabel"/>
          <p:cNvSpPr txBox="1">
            <a:spLocks noChangeArrowheads="1"/>
          </p:cNvSpPr>
          <p:nvPr/>
        </p:nvSpPr>
        <p:spPr bwMode="white">
          <a:xfrm>
            <a:off x="3575836" y="5919279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Custom authentication factor</a:t>
            </a:r>
            <a:endParaRPr lang="en-US" sz="1000" dirty="0"/>
          </a:p>
        </p:txBody>
      </p:sp>
      <p:pic>
        <p:nvPicPr>
          <p:cNvPr id="40" name="IconGrantTermsOfUse"/>
          <p:cNvPicPr>
            <a:picLocks noChangeAspect="1"/>
          </p:cNvPicPr>
          <p:nvPr/>
        </p:nvPicPr>
        <p:blipFill>
          <a:blip r:embed="rId33">
            <a:lum/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rcRect/>
          <a:stretch>
            <a:fillRect/>
          </a:stretch>
        </p:blipFill>
        <p:spPr bwMode="white">
          <a:xfrm>
            <a:off x="3374515" y="627222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3" name="IconGrantTermsOfUseLabel"/>
          <p:cNvSpPr txBox="1">
            <a:spLocks noChangeArrowheads="1"/>
          </p:cNvSpPr>
          <p:nvPr/>
        </p:nvSpPr>
        <p:spPr bwMode="white">
          <a:xfrm>
            <a:off x="3575836" y="625460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Terms of use</a:t>
            </a:r>
            <a:endParaRPr lang="en-US" sz="1000" dirty="0"/>
          </a:p>
        </p:txBody>
      </p:sp>
      <p:sp>
        <p:nvSpPr>
          <p:cNvPr id="56" name="IconGrantAppProtectionLabel"/>
          <p:cNvSpPr txBox="1">
            <a:spLocks noChangeArrowheads="1"/>
          </p:cNvSpPr>
          <p:nvPr/>
        </p:nvSpPr>
        <p:spPr bwMode="white">
          <a:xfrm>
            <a:off x="3575836" y="524862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 protection policy</a:t>
            </a:r>
            <a:endParaRPr lang="en-US" sz="1000" dirty="0"/>
          </a:p>
        </p:txBody>
      </p:sp>
      <p:pic>
        <p:nvPicPr>
          <p:cNvPr id="65" name="IconGrantAppProtection"/>
          <p:cNvPicPr>
            <a:picLocks noChangeAspect="1"/>
          </p:cNvPicPr>
          <p:nvPr/>
        </p:nvPicPr>
        <p:blipFill>
          <a:blip r:embed="rId35">
            <a:lum/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rcRect/>
          <a:stretch>
            <a:fillRect/>
          </a:stretch>
        </p:blipFill>
        <p:spPr bwMode="white">
          <a:xfrm>
            <a:off x="3374515" y="525771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7" name="IconGrantChangePasswordLabel"/>
          <p:cNvSpPr txBox="1">
            <a:spLocks noChangeArrowheads="1"/>
          </p:cNvSpPr>
          <p:nvPr/>
        </p:nvSpPr>
        <p:spPr bwMode="white">
          <a:xfrm>
            <a:off x="3575836" y="5583953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Change password</a:t>
            </a:r>
            <a:endParaRPr lang="en-US" sz="1000" dirty="0"/>
          </a:p>
        </p:txBody>
      </p:sp>
      <p:pic>
        <p:nvPicPr>
          <p:cNvPr id="67" name="IconGrantChangePassword"/>
          <p:cNvPicPr>
            <a:picLocks noChangeAspect="1"/>
          </p:cNvPicPr>
          <p:nvPr/>
        </p:nvPicPr>
        <p:blipFill>
          <a:blip r:embed="rId37">
            <a:lum/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rcRect/>
          <a:stretch>
            <a:fillRect/>
          </a:stretch>
        </p:blipFill>
        <p:spPr bwMode="white">
          <a:xfrm>
            <a:off x="3374515" y="5595889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4" name="ShadeRisk"/>
          <p:cNvSpPr>
            <a:spLocks/>
          </p:cNvSpPr>
          <p:nvPr/>
        </p:nvSpPr>
        <p:spPr bwMode="white">
          <a:xfrm>
            <a:off x="507564" y="650246"/>
            <a:ext cx="976864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66" name="ShadeDevicePlatforms"/>
          <p:cNvSpPr>
            <a:spLocks/>
          </p:cNvSpPr>
          <p:nvPr/>
        </p:nvSpPr>
        <p:spPr bwMode="white">
          <a:xfrm>
            <a:off x="1863623" y="663409"/>
            <a:ext cx="1773927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78" name="ShadeClientApps"/>
          <p:cNvSpPr>
            <a:spLocks/>
          </p:cNvSpPr>
          <p:nvPr/>
        </p:nvSpPr>
        <p:spPr bwMode="white">
          <a:xfrm>
            <a:off x="3802273" y="650246"/>
            <a:ext cx="1481482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2" name="ShadeFilterForDevices"/>
          <p:cNvSpPr>
            <a:spLocks/>
          </p:cNvSpPr>
          <p:nvPr/>
        </p:nvSpPr>
        <p:spPr bwMode="white">
          <a:xfrm>
            <a:off x="5438955" y="627922"/>
            <a:ext cx="1873685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3" name="ShadeGrantMultifactorAuth"/>
          <p:cNvSpPr>
            <a:spLocks/>
          </p:cNvSpPr>
          <p:nvPr/>
        </p:nvSpPr>
        <p:spPr bwMode="white">
          <a:xfrm>
            <a:off x="3369399" y="3534220"/>
            <a:ext cx="2069555" cy="28330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4" name="ShadeGrantAuthStrength"/>
          <p:cNvSpPr>
            <a:spLocks/>
          </p:cNvSpPr>
          <p:nvPr/>
        </p:nvSpPr>
        <p:spPr bwMode="white">
          <a:xfrm>
            <a:off x="3350256" y="3869846"/>
            <a:ext cx="2069555" cy="27801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5" name="ShadeGrantCompliantDevice"/>
          <p:cNvSpPr>
            <a:spLocks/>
          </p:cNvSpPr>
          <p:nvPr/>
        </p:nvSpPr>
        <p:spPr bwMode="white">
          <a:xfrm>
            <a:off x="3361852" y="4243205"/>
            <a:ext cx="2077102" cy="26110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6" name="ShadeGrantHybridAzureADJoined"/>
          <p:cNvSpPr>
            <a:spLocks/>
          </p:cNvSpPr>
          <p:nvPr/>
        </p:nvSpPr>
        <p:spPr bwMode="white">
          <a:xfrm>
            <a:off x="3353637" y="4552268"/>
            <a:ext cx="2160906" cy="298395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7" name="ShadeGrantApprovedClientApp"/>
          <p:cNvSpPr>
            <a:spLocks/>
          </p:cNvSpPr>
          <p:nvPr/>
        </p:nvSpPr>
        <p:spPr bwMode="white">
          <a:xfrm>
            <a:off x="3331918" y="4876027"/>
            <a:ext cx="2182625" cy="29839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8" name="ShadeGrantAppProtectionPolicy"/>
          <p:cNvSpPr>
            <a:spLocks/>
          </p:cNvSpPr>
          <p:nvPr/>
        </p:nvSpPr>
        <p:spPr bwMode="white">
          <a:xfrm>
            <a:off x="3350256" y="5207226"/>
            <a:ext cx="2122561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9" name="ShadeGrantChangePassword"/>
          <p:cNvSpPr>
            <a:spLocks/>
          </p:cNvSpPr>
          <p:nvPr/>
        </p:nvSpPr>
        <p:spPr bwMode="white">
          <a:xfrm>
            <a:off x="3350257" y="5557021"/>
            <a:ext cx="2042006" cy="287239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0" name="ShadeGrantCustomAuthFactor"/>
          <p:cNvSpPr>
            <a:spLocks/>
          </p:cNvSpPr>
          <p:nvPr/>
        </p:nvSpPr>
        <p:spPr bwMode="white">
          <a:xfrm>
            <a:off x="3331918" y="5899058"/>
            <a:ext cx="2182625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1" name="ShadeGrantTermsOfUse"/>
          <p:cNvSpPr>
            <a:spLocks/>
          </p:cNvSpPr>
          <p:nvPr/>
        </p:nvSpPr>
        <p:spPr bwMode="white">
          <a:xfrm>
            <a:off x="3313823" y="6192350"/>
            <a:ext cx="101602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99" name="Rectangle 98"/>
          <p:cNvSpPr>
            <a:spLocks/>
          </p:cNvSpPr>
          <p:nvPr/>
        </p:nvSpPr>
        <p:spPr bwMode="white">
          <a:xfrm>
            <a:off x="3268757" y="3253404"/>
            <a:ext cx="2357725" cy="3498546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0" name="Rectangle 109"/>
          <p:cNvSpPr>
            <a:spLocks/>
          </p:cNvSpPr>
          <p:nvPr/>
        </p:nvSpPr>
        <p:spPr bwMode="white">
          <a:xfrm>
            <a:off x="9881750" y="3248255"/>
            <a:ext cx="2220808" cy="3510149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7" name="Rectangle 116"/>
          <p:cNvSpPr>
            <a:spLocks/>
          </p:cNvSpPr>
          <p:nvPr/>
        </p:nvSpPr>
        <p:spPr bwMode="white">
          <a:xfrm>
            <a:off x="26741" y="606825"/>
            <a:ext cx="11985015" cy="2063636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2" name="Conditions Label"/>
          <p:cNvSpPr txBox="1">
            <a:spLocks noChangeArrowheads="1"/>
          </p:cNvSpPr>
          <p:nvPr/>
        </p:nvSpPr>
        <p:spPr bwMode="white">
          <a:xfrm rot="16200000">
            <a:off x="-883507" y="1514324"/>
            <a:ext cx="2081441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Conditions</a:t>
            </a:r>
          </a:p>
        </p:txBody>
      </p:sp>
      <p:sp>
        <p:nvSpPr>
          <p:cNvPr id="109" name="Grant Controls"/>
          <p:cNvSpPr txBox="1">
            <a:spLocks noChangeArrowheads="1"/>
          </p:cNvSpPr>
          <p:nvPr/>
        </p:nvSpPr>
        <p:spPr bwMode="white">
          <a:xfrm>
            <a:off x="3252146" y="3244395"/>
            <a:ext cx="2391873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Grant Controls</a:t>
            </a:r>
          </a:p>
        </p:txBody>
      </p:sp>
      <p:sp>
        <p:nvSpPr>
          <p:cNvPr id="111" name="Session Controls"/>
          <p:cNvSpPr txBox="1">
            <a:spLocks noChangeArrowheads="1"/>
          </p:cNvSpPr>
          <p:nvPr/>
        </p:nvSpPr>
        <p:spPr bwMode="white">
          <a:xfrm>
            <a:off x="9864212" y="3243751"/>
            <a:ext cx="2238346" cy="23786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Session Controls</a:t>
            </a:r>
          </a:p>
        </p:txBody>
      </p:sp>
      <p:pic>
        <p:nvPicPr>
          <p:cNvPr id="72" name="Graphic 71"/>
          <p:cNvPicPr>
            <a:picLocks noChangeAspect="1"/>
          </p:cNvPicPr>
          <p:nvPr/>
        </p:nvPicPr>
        <p:blipFill>
          <a:blip r:embed="rId39">
            <a:lum/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rcRect/>
          <a:stretch>
            <a:fillRect/>
          </a:stretch>
        </p:blipFill>
        <p:spPr bwMode="white">
          <a:xfrm>
            <a:off x="9996846" y="356982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4" name="Graphic 93"/>
          <p:cNvPicPr>
            <a:picLocks noChangeAspect="1"/>
          </p:cNvPicPr>
          <p:nvPr/>
        </p:nvPicPr>
        <p:blipFill>
          <a:blip r:embed="rId41">
            <a:lum/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rcRect/>
          <a:stretch>
            <a:fillRect/>
          </a:stretch>
        </p:blipFill>
        <p:spPr bwMode="white">
          <a:xfrm>
            <a:off x="10009443" y="525644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5" name="TextBox 94"/>
          <p:cNvSpPr txBox="1">
            <a:spLocks noChangeArrowheads="1"/>
          </p:cNvSpPr>
          <p:nvPr/>
        </p:nvSpPr>
        <p:spPr bwMode="white">
          <a:xfrm>
            <a:off x="10207481" y="3578463"/>
            <a:ext cx="150554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App enforced restrictions</a:t>
            </a:r>
          </a:p>
        </p:txBody>
      </p:sp>
      <p:sp>
        <p:nvSpPr>
          <p:cNvPr id="96" name="TextBox 95"/>
          <p:cNvSpPr txBox="1">
            <a:spLocks noChangeArrowheads="1"/>
          </p:cNvSpPr>
          <p:nvPr/>
        </p:nvSpPr>
        <p:spPr bwMode="white">
          <a:xfrm>
            <a:off x="10201167" y="3899846"/>
            <a:ext cx="181011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Conditional Access App Control</a:t>
            </a:r>
          </a:p>
        </p:txBody>
      </p:sp>
      <p:sp>
        <p:nvSpPr>
          <p:cNvPr id="97" name="TextBox 96"/>
          <p:cNvSpPr txBox="1">
            <a:spLocks noChangeArrowheads="1"/>
          </p:cNvSpPr>
          <p:nvPr/>
        </p:nvSpPr>
        <p:spPr bwMode="white">
          <a:xfrm>
            <a:off x="10215627" y="4357505"/>
            <a:ext cx="1090363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Sign-in frequency</a:t>
            </a:r>
          </a:p>
        </p:txBody>
      </p:sp>
      <p:sp>
        <p:nvSpPr>
          <p:cNvPr id="98" name="TextBox 97"/>
          <p:cNvSpPr txBox="1">
            <a:spLocks noChangeArrowheads="1"/>
          </p:cNvSpPr>
          <p:nvPr/>
        </p:nvSpPr>
        <p:spPr bwMode="white">
          <a:xfrm>
            <a:off x="10225446" y="4793305"/>
            <a:ext cx="156966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Persistent browser session</a:t>
            </a:r>
          </a:p>
        </p:txBody>
      </p:sp>
      <p:sp>
        <p:nvSpPr>
          <p:cNvPr id="100" name="TextBox 99"/>
          <p:cNvSpPr txBox="1">
            <a:spLocks noChangeArrowheads="1"/>
          </p:cNvSpPr>
          <p:nvPr/>
        </p:nvSpPr>
        <p:spPr bwMode="white">
          <a:xfrm>
            <a:off x="10229552" y="5232376"/>
            <a:ext cx="1717137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Continuous access evaluation</a:t>
            </a:r>
          </a:p>
        </p:txBody>
      </p:sp>
      <p:sp>
        <p:nvSpPr>
          <p:cNvPr id="101" name="TextBox 100"/>
          <p:cNvSpPr txBox="1">
            <a:spLocks noChangeArrowheads="1"/>
          </p:cNvSpPr>
          <p:nvPr/>
        </p:nvSpPr>
        <p:spPr bwMode="white">
          <a:xfrm>
            <a:off x="10259108" y="5658625"/>
            <a:ext cx="153599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Disable resilience defaults</a:t>
            </a:r>
          </a:p>
        </p:txBody>
      </p:sp>
      <p:pic>
        <p:nvPicPr>
          <p:cNvPr id="103" name="Graphic 102"/>
          <p:cNvPicPr>
            <a:picLocks noChangeAspect="1"/>
          </p:cNvPicPr>
          <p:nvPr/>
        </p:nvPicPr>
        <p:blipFill>
          <a:blip r:embed="rId43">
            <a:lum/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rcRect/>
          <a:stretch>
            <a:fillRect/>
          </a:stretch>
        </p:blipFill>
        <p:spPr bwMode="white">
          <a:xfrm>
            <a:off x="9996846" y="479900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5" name="Graphic 104"/>
          <p:cNvPicPr>
            <a:picLocks noChangeAspect="1"/>
          </p:cNvPicPr>
          <p:nvPr/>
        </p:nvPicPr>
        <p:blipFill>
          <a:blip r:embed="rId45">
            <a:lum/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rcRect/>
          <a:stretch>
            <a:fillRect/>
          </a:stretch>
        </p:blipFill>
        <p:spPr bwMode="white">
          <a:xfrm>
            <a:off x="9996846" y="437457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7" name="Graphic 106"/>
          <p:cNvPicPr>
            <a:picLocks noChangeAspect="1"/>
          </p:cNvPicPr>
          <p:nvPr/>
        </p:nvPicPr>
        <p:blipFill>
          <a:blip r:embed="rId7">
            <a:lum/>
            <a:extLst>
              <a:ext uri="{96DAC541-7B7A-43D3-8B79-37D633B846F1}">
                <asvg:svgBlip xmlns:asvg="http://schemas.microsoft.com/office/drawing/2016/SVG/main" r:embed="rId47"/>
              </a:ext>
            </a:extLst>
          </a:blip>
          <a:srcRect/>
          <a:stretch>
            <a:fillRect/>
          </a:stretch>
        </p:blipFill>
        <p:spPr bwMode="white">
          <a:xfrm>
            <a:off x="9996846" y="391529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15" name="SessionSifInterval"/>
          <p:cNvSpPr txBox="1">
            <a:spLocks noChangeArrowheads="1"/>
          </p:cNvSpPr>
          <p:nvPr/>
        </p:nvSpPr>
        <p:spPr bwMode="white">
          <a:xfrm>
            <a:off x="10296745" y="4516775"/>
            <a:ext cx="1249060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Periodic reauthentication</a:t>
            </a:r>
          </a:p>
        </p:txBody>
      </p:sp>
      <p:sp>
        <p:nvSpPr>
          <p:cNvPr id="114" name="SessionCasType"/>
          <p:cNvSpPr txBox="1">
            <a:spLocks noChangeArrowheads="1"/>
          </p:cNvSpPr>
          <p:nvPr/>
        </p:nvSpPr>
        <p:spPr bwMode="white">
          <a:xfrm>
            <a:off x="10296745" y="4075500"/>
            <a:ext cx="95410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App Control Policy</a:t>
            </a:r>
          </a:p>
        </p:txBody>
      </p:sp>
      <p:sp>
        <p:nvSpPr>
          <p:cNvPr id="116" name="SessionPersistenBrowserMode"/>
          <p:cNvSpPr txBox="1">
            <a:spLocks noChangeArrowheads="1"/>
          </p:cNvSpPr>
          <p:nvPr/>
        </p:nvSpPr>
        <p:spPr bwMode="white">
          <a:xfrm>
            <a:off x="10309761" y="4945281"/>
            <a:ext cx="918841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Always persistent</a:t>
            </a:r>
          </a:p>
        </p:txBody>
      </p:sp>
      <p:sp>
        <p:nvSpPr>
          <p:cNvPr id="118" name="SessionCaeMode"/>
          <p:cNvSpPr txBox="1">
            <a:spLocks noChangeArrowheads="1"/>
          </p:cNvSpPr>
          <p:nvPr/>
        </p:nvSpPr>
        <p:spPr bwMode="white">
          <a:xfrm>
            <a:off x="10301386" y="5393378"/>
            <a:ext cx="15359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US" sz="800" dirty="0"/>
              <a:t>Strictly enforce location policies</a:t>
            </a:r>
          </a:p>
        </p:txBody>
      </p:sp>
      <p:sp>
        <p:nvSpPr>
          <p:cNvPr id="119" name="ShadeSessionAppEnforced"/>
          <p:cNvSpPr>
            <a:spLocks/>
          </p:cNvSpPr>
          <p:nvPr/>
        </p:nvSpPr>
        <p:spPr bwMode="white">
          <a:xfrm>
            <a:off x="9959680" y="3548808"/>
            <a:ext cx="2051597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0" name="ShadeSessionCas"/>
          <p:cNvSpPr>
            <a:spLocks/>
          </p:cNvSpPr>
          <p:nvPr/>
        </p:nvSpPr>
        <p:spPr bwMode="white">
          <a:xfrm>
            <a:off x="9978939" y="3884212"/>
            <a:ext cx="2087576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1" name="ShadeSessionSif"/>
          <p:cNvSpPr>
            <a:spLocks/>
          </p:cNvSpPr>
          <p:nvPr/>
        </p:nvSpPr>
        <p:spPr bwMode="white">
          <a:xfrm>
            <a:off x="9940787" y="4320077"/>
            <a:ext cx="2125728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2" name="ShadeSessionPersistentBrowser"/>
          <p:cNvSpPr>
            <a:spLocks/>
          </p:cNvSpPr>
          <p:nvPr/>
        </p:nvSpPr>
        <p:spPr bwMode="white">
          <a:xfrm>
            <a:off x="9938833" y="4746195"/>
            <a:ext cx="207244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" name="Label Secure Sign In Session"/>
          <p:cNvSpPr txBox="1">
            <a:spLocks noChangeArrowheads="1"/>
          </p:cNvSpPr>
          <p:nvPr/>
        </p:nvSpPr>
        <p:spPr bwMode="white">
          <a:xfrm>
            <a:off x="10260000" y="6084874"/>
            <a:ext cx="166584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Token protection for session</a:t>
            </a:r>
          </a:p>
        </p:txBody>
      </p:sp>
      <p:pic>
        <p:nvPicPr>
          <p:cNvPr id="77" name="IconSessionCaeDisable" descr="Close with solid fill"/>
          <p:cNvPicPr>
            <a:picLocks noChangeAspect="1"/>
          </p:cNvPicPr>
          <p:nvPr/>
        </p:nvPicPr>
        <p:blipFill>
          <a:blip r:embed="rId48">
            <a:lum/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rcRect/>
          <a:stretch>
            <a:fillRect/>
          </a:stretch>
        </p:blipFill>
        <p:spPr bwMode="white">
          <a:xfrm>
            <a:off x="9979885" y="5218651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2" name="IconSessionSecureSignInSession 1"/>
          <p:cNvPicPr>
            <a:picLocks noChangeAspect="1"/>
          </p:cNvPicPr>
          <p:nvPr/>
        </p:nvPicPr>
        <p:blipFill>
          <a:blip r:embed="rId50">
            <a:lum/>
            <a:extLst>
              <a:ext uri="{96DAC541-7B7A-43D3-8B79-37D633B846F1}">
                <asvg:svgBlip xmlns:asvg="http://schemas.microsoft.com/office/drawing/2016/SVG/main" r:embed="rId51"/>
              </a:ext>
            </a:extLst>
          </a:blip>
          <a:srcRect/>
          <a:stretch>
            <a:fillRect/>
          </a:stretch>
        </p:blipFill>
        <p:spPr bwMode="white">
          <a:xfrm>
            <a:off x="9997200" y="6085768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3" name="ShadeSessionCae"/>
          <p:cNvSpPr>
            <a:spLocks/>
          </p:cNvSpPr>
          <p:nvPr/>
        </p:nvSpPr>
        <p:spPr bwMode="white">
          <a:xfrm>
            <a:off x="9987595" y="5219780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76" name="ShadeSessionSecureSignIn"/>
          <p:cNvSpPr>
            <a:spLocks/>
          </p:cNvSpPr>
          <p:nvPr/>
        </p:nvSpPr>
        <p:spPr bwMode="white">
          <a:xfrm>
            <a:off x="9996846" y="5986498"/>
            <a:ext cx="2014431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pic>
        <p:nvPicPr>
          <p:cNvPr id="102" name="Graphic 101"/>
          <p:cNvPicPr>
            <a:picLocks noChangeAspect="1"/>
          </p:cNvPicPr>
          <p:nvPr/>
        </p:nvPicPr>
        <p:blipFill>
          <a:blip r:embed="rId52">
            <a:lum/>
            <a:extLst>
              <a:ext uri="{96DAC541-7B7A-43D3-8B79-37D633B846F1}">
                <asvg:svgBlip xmlns:asvg="http://schemas.microsoft.com/office/drawing/2016/SVG/main" r:embed="rId53"/>
              </a:ext>
            </a:extLst>
          </a:blip>
          <a:srcRect/>
          <a:stretch>
            <a:fillRect/>
          </a:stretch>
        </p:blipFill>
        <p:spPr bwMode="white">
          <a:xfrm>
            <a:off x="9997200" y="5663777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80" name="Graphic 79" descr="Close with solid fill"/>
          <p:cNvPicPr>
            <a:picLocks noChangeAspect="1"/>
          </p:cNvPicPr>
          <p:nvPr/>
        </p:nvPicPr>
        <p:blipFill>
          <a:blip r:embed="rId48">
            <a:lum/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rcRect/>
          <a:stretch>
            <a:fillRect/>
          </a:stretch>
        </p:blipFill>
        <p:spPr bwMode="white">
          <a:xfrm>
            <a:off x="9963899" y="5637424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4" name="ShadeSessionDisableResilience"/>
          <p:cNvSpPr>
            <a:spLocks/>
          </p:cNvSpPr>
          <p:nvPr/>
        </p:nvSpPr>
        <p:spPr bwMode="white">
          <a:xfrm>
            <a:off x="9959681" y="5602709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2" name="PolicyName">
            <a:hlinkClick r:id="" action="ppaction://hlinkfile"/>
          </p:cNvPr>
          <p:cNvSpPr>
            <a:spLocks noGrp="1"/>
          </p:cNvSpPr>
          <p:nvPr>
            <p:ph type="title"/>
          </p:nvPr>
        </p:nvSpPr>
        <p:spPr bwMode="white">
          <a:xfrm>
            <a:off x="838200" y="115511"/>
            <a:ext cx="10003967" cy="609565"/>
          </a:xfrm>
          <a:ln>
            <a:headEnd type="none"/>
            <a:tailEnd type="none"/>
          </a:ln>
        </p:spPr>
        <p:txBody>
          <a:bodyPr wrap="square">
            <a:noAutofit/>
          </a:bodyPr>
          <a:lstStyle/>
          <a:p>
            <a:pPr defTabSz="914400"/>
            <a:r>
              <a:rPr lang="en-US" sz="2000" b="1" dirty="0"/>
              <a:t> [All Apps] [SVo365 AEM] (Block) Service Accounts Login From Non-OCC IPs </a:t>
            </a:r>
          </a:p>
        </p:txBody>
      </p:sp>
      <p:sp>
        <p:nvSpPr>
          <p:cNvPr id="16" name="LastModified"/>
          <p:cNvSpPr txBox="1">
            <a:spLocks noChangeArrowheads="1"/>
          </p:cNvSpPr>
          <p:nvPr/>
        </p:nvSpPr>
        <p:spPr bwMode="white">
          <a:xfrm>
            <a:off x="10556111" y="388376"/>
            <a:ext cx="15483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algn="r" defTabSz="457200"/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Last modified: 2025-05-20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UserWorkload"/>
          <p:cNvSpPr>
            <a:spLocks/>
          </p:cNvSpPr>
          <p:nvPr/>
        </p:nvSpPr>
        <p:spPr bwMode="auto">
          <a:xfrm>
            <a:off x="175820" y="2709769"/>
            <a:ext cx="2202823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Users</a:t>
            </a:r>
          </a:p>
        </p:txBody>
      </p:sp>
      <p:sp>
        <p:nvSpPr>
          <p:cNvPr id="7" name="UserWorkloadIncExc"/>
          <p:cNvSpPr txBox="1">
            <a:spLocks noChangeArrowheads="1"/>
          </p:cNvSpPr>
          <p:nvPr/>
        </p:nvSpPr>
        <p:spPr bwMode="white">
          <a:xfrm>
            <a:off x="125485" y="3698952"/>
            <a:ext cx="3062115" cy="313265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 numCol="1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b="1" dirty="0"/>
            </a:pPr>
            <a:r>
              <a:t> Users</a:t>
            </a:r>
          </a:p>
          <a:p>
            <a:pPr defTabSz="457200">
              <a:defRPr sz="1100" dirty="0"/>
            </a:pPr>
            <a:r>
              <a:t> - SVO365 TabUserDev</a:t>
            </a:r>
          </a:p>
          <a:p>
            <a:pPr defTabSz="457200">
              <a:defRPr sz="1100" dirty="0"/>
            </a:pPr>
            <a:r>
              <a:t> - SVO365 TabUserProd</a:t>
            </a:r>
          </a:p>
          <a:p>
            <a:pPr defTabSz="457200">
              <a:defRPr sz="1100" dirty="0"/>
            </a:pPr>
            <a:r>
              <a:t> - SVO365.PowerBIConfig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19" name="Risks"/>
          <p:cNvSpPr txBox="1">
            <a:spLocks noChangeArrowheads="1"/>
          </p:cNvSpPr>
          <p:nvPr/>
        </p:nvSpPr>
        <p:spPr bwMode="white">
          <a:xfrm>
            <a:off x="524485" y="1021946"/>
            <a:ext cx="1348869" cy="166886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0" name="Platforms"/>
          <p:cNvSpPr txBox="1">
            <a:spLocks noChangeArrowheads="1"/>
          </p:cNvSpPr>
          <p:nvPr/>
        </p:nvSpPr>
        <p:spPr bwMode="white">
          <a:xfrm>
            <a:off x="1826931" y="1021947"/>
            <a:ext cx="2061056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3" name="Locations"/>
          <p:cNvSpPr txBox="1">
            <a:spLocks noChangeArrowheads="1"/>
          </p:cNvSpPr>
          <p:nvPr/>
        </p:nvSpPr>
        <p:spPr bwMode="white">
          <a:xfrm>
            <a:off x="8324941" y="1021947"/>
            <a:ext cx="3513702" cy="159258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b="1" dirty="0"/>
            </a:pPr>
            <a:r>
              <a:t>✅ Include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r>
              <a:t>🚫 Exclude</a:t>
            </a:r>
          </a:p>
          <a:p>
            <a:pPr defTabSz="457200">
              <a:defRPr sz="1100" dirty="0"/>
            </a:pPr>
            <a:r>
              <a:t> - Netskope Egress </a:t>
            </a:r>
          </a:p>
          <a:p>
            <a:pPr defTabSz="457200">
              <a:defRPr sz="1100" dirty="0"/>
            </a:pPr>
            <a:r>
              <a:t> - OCC Proxy Egress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24" name="ClientAppTypes"/>
          <p:cNvSpPr txBox="1">
            <a:spLocks noChangeArrowheads="1"/>
          </p:cNvSpPr>
          <p:nvPr/>
        </p:nvSpPr>
        <p:spPr bwMode="white">
          <a:xfrm>
            <a:off x="3810664" y="1021947"/>
            <a:ext cx="1581599" cy="165343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5" name="DeviceFilters"/>
          <p:cNvSpPr txBox="1">
            <a:spLocks noChangeArrowheads="1"/>
          </p:cNvSpPr>
          <p:nvPr/>
        </p:nvSpPr>
        <p:spPr bwMode="white">
          <a:xfrm>
            <a:off x="5818151" y="1022762"/>
            <a:ext cx="2248808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cxnSp>
        <p:nvCxnSpPr>
          <p:cNvPr id="27" name="Straight Arrow Connector 26" descr="Arrow drawn from user/workload  to the action being performed by the user such as accessing cloud apps."/>
          <p:cNvCxnSpPr/>
          <p:nvPr/>
        </p:nvCxnSpPr>
        <p:spPr bwMode="white">
          <a:xfrm>
            <a:off x="2195232" y="3159047"/>
            <a:ext cx="3959471" cy="1"/>
          </a:xfrm>
          <a:prstGeom prst="straightConnector1">
            <a:avLst/>
          </a:prstGeom>
          <a:ln w="76200"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30" name="IconBlockAccess" descr="Picture with red color stop sign to indicate blocked access"/>
          <p:cNvPicPr>
            <a:picLocks noChangeAspect="1"/>
          </p:cNvPicPr>
          <p:nvPr/>
        </p:nvPicPr>
        <p:blipFill>
          <a:blip r:embed="rId3">
            <a:lum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 bwMode="white">
          <a:xfrm>
            <a:off x="5306633" y="2735805"/>
            <a:ext cx="356616" cy="35661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34" name="GrantLabelBlockAccess"/>
          <p:cNvSpPr txBox="1">
            <a:spLocks noChangeArrowheads="1"/>
          </p:cNvSpPr>
          <p:nvPr/>
        </p:nvSpPr>
        <p:spPr bwMode="white">
          <a:xfrm>
            <a:off x="3936931" y="2734375"/>
            <a:ext cx="1358065" cy="369332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algn="ctr" defTabSz="457200"/>
            <a:r>
              <a:rPr lang="en-US" b="1" dirty="0">
                <a:solidFill>
                  <a:srgbClr val="FF0000"/>
                </a:solidFill>
              </a:rPr>
              <a:t>Block access</a:t>
            </a:r>
          </a:p>
        </p:txBody>
      </p:sp>
      <p:sp>
        <p:nvSpPr>
          <p:cNvPr id="3" name="CloudAppActionIncExc"/>
          <p:cNvSpPr txBox="1">
            <a:spLocks noChangeArrowheads="1"/>
          </p:cNvSpPr>
          <p:nvPr/>
        </p:nvSpPr>
        <p:spPr bwMode="white">
          <a:xfrm>
            <a:off x="6039518" y="3662782"/>
            <a:ext cx="3649518" cy="315161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</p:txBody>
      </p:sp>
      <p:pic>
        <p:nvPicPr>
          <p:cNvPr id="26" name="IconGroupIdentity"/>
          <p:cNvPicPr>
            <a:picLocks noChangeAspect="1"/>
          </p:cNvPicPr>
          <p:nvPr/>
        </p:nvPicPr>
        <p:blipFill>
          <a:blip r:embed="rId5">
            <a:lum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 bwMode="white">
          <a:xfrm>
            <a:off x="327701" y="2839007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36" name="Graphic 35"/>
          <p:cNvPicPr>
            <a:picLocks noChangeAspect="1"/>
          </p:cNvPicPr>
          <p:nvPr/>
        </p:nvPicPr>
        <p:blipFill>
          <a:blip r:embed="rId7">
            <a:lum/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p:blipFill>
        <p:spPr bwMode="white">
          <a:xfrm>
            <a:off x="495610" y="197468"/>
            <a:ext cx="381196" cy="38119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" name="CloudAppAction"/>
          <p:cNvSpPr>
            <a:spLocks/>
          </p:cNvSpPr>
          <p:nvPr/>
        </p:nvSpPr>
        <p:spPr bwMode="auto">
          <a:xfrm>
            <a:off x="6206089" y="2718506"/>
            <a:ext cx="3227026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All cloud apps</a:t>
            </a:r>
          </a:p>
        </p:txBody>
      </p:sp>
      <p:pic>
        <p:nvPicPr>
          <p:cNvPr id="75" name="IconAccessAllCloudApps"/>
          <p:cNvPicPr>
            <a:picLocks noChangeAspect="1"/>
          </p:cNvPicPr>
          <p:nvPr/>
        </p:nvPicPr>
        <p:blipFill>
          <a:blip r:embed="rId9">
            <a:lum/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p:blipFill>
        <p:spPr bwMode="white">
          <a:xfrm>
            <a:off x="6439264" y="2836824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21" name="StateEnabled"/>
          <p:cNvSpPr>
            <a:spLocks/>
          </p:cNvSpPr>
          <p:nvPr/>
        </p:nvSpPr>
        <p:spPr bwMode="white">
          <a:xfrm>
            <a:off x="10842171" y="83487"/>
            <a:ext cx="1260389" cy="264812"/>
          </a:xfrm>
          <a:prstGeom prst="round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r>
              <a:rPr lang="en-US" sz="800" dirty="0"/>
              <a:t>Policy Enabled</a:t>
            </a:r>
          </a:p>
        </p:txBody>
      </p:sp>
      <p:grpSp>
        <p:nvGrpSpPr>
          <p:cNvPr id="10" name="IconRiskyUsers"/>
          <p:cNvGrpSpPr>
            <a:grpSpLocks/>
          </p:cNvGrpSpPr>
          <p:nvPr/>
        </p:nvGrpSpPr>
        <p:grpSpPr bwMode="white">
          <a:xfrm>
            <a:off x="635426" y="738677"/>
            <a:ext cx="1202553" cy="274320"/>
            <a:chOff x="2013768" y="1033956"/>
            <a:chExt cx="1342320" cy="274320"/>
          </a:xfrm>
        </p:grpSpPr>
        <p:pic>
          <p:nvPicPr>
            <p:cNvPr id="46" name="Graphic 1"/>
            <p:cNvPicPr>
              <a:picLocks noChangeAspect="1"/>
            </p:cNvPicPr>
            <p:nvPr/>
          </p:nvPicPr>
          <p:blipFill>
            <a:blip r:embed="rId11">
              <a:lum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013768" y="1033956"/>
              <a:ext cx="274320" cy="27432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5" name="Label 1"/>
            <p:cNvSpPr txBox="1">
              <a:spLocks noChangeArrowheads="1"/>
            </p:cNvSpPr>
            <p:nvPr/>
          </p:nvSpPr>
          <p:spPr bwMode="white">
            <a:xfrm>
              <a:off x="2240077" y="1040706"/>
              <a:ext cx="1116011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Risk</a:t>
              </a:r>
            </a:p>
          </p:txBody>
        </p:sp>
      </p:grpSp>
      <p:grpSp>
        <p:nvGrpSpPr>
          <p:cNvPr id="14" name="IconPlatforms"/>
          <p:cNvGrpSpPr>
            <a:grpSpLocks/>
          </p:cNvGrpSpPr>
          <p:nvPr/>
        </p:nvGrpSpPr>
        <p:grpSpPr bwMode="white">
          <a:xfrm>
            <a:off x="1927788" y="715249"/>
            <a:ext cx="1719285" cy="365760"/>
            <a:chOff x="3262737" y="994835"/>
            <a:chExt cx="1719285" cy="365760"/>
          </a:xfrm>
        </p:grpSpPr>
        <p:pic>
          <p:nvPicPr>
            <p:cNvPr id="29" name="Graphic 1"/>
            <p:cNvPicPr>
              <a:picLocks noChangeAspect="1"/>
            </p:cNvPicPr>
            <p:nvPr/>
          </p:nvPicPr>
          <p:blipFill>
            <a:blip r:embed="rId13">
              <a:lum/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3262737" y="994835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1" name="Label 1"/>
            <p:cNvSpPr txBox="1">
              <a:spLocks noChangeArrowheads="1"/>
            </p:cNvSpPr>
            <p:nvPr/>
          </p:nvSpPr>
          <p:spPr bwMode="white">
            <a:xfrm>
              <a:off x="3582397" y="1027255"/>
              <a:ext cx="1399625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Device platforms</a:t>
              </a:r>
            </a:p>
          </p:txBody>
        </p:sp>
      </p:grpSp>
      <p:grpSp>
        <p:nvGrpSpPr>
          <p:cNvPr id="17" name="IconClientAppTypes"/>
          <p:cNvGrpSpPr>
            <a:grpSpLocks/>
          </p:cNvGrpSpPr>
          <p:nvPr/>
        </p:nvGrpSpPr>
        <p:grpSpPr bwMode="white">
          <a:xfrm>
            <a:off x="3908159" y="670015"/>
            <a:ext cx="1852971" cy="365760"/>
            <a:chOff x="4858970" y="975927"/>
            <a:chExt cx="1852971" cy="365760"/>
          </a:xfrm>
        </p:grpSpPr>
        <p:pic>
          <p:nvPicPr>
            <p:cNvPr id="58" name="Graphic 1"/>
            <p:cNvPicPr>
              <a:picLocks noChangeAspect="1"/>
            </p:cNvPicPr>
            <p:nvPr/>
          </p:nvPicPr>
          <p:blipFill>
            <a:blip r:embed="rId15">
              <a:lum/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858970" y="975927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5" name="Label 1"/>
            <p:cNvSpPr txBox="1">
              <a:spLocks noChangeArrowheads="1"/>
            </p:cNvSpPr>
            <p:nvPr/>
          </p:nvSpPr>
          <p:spPr bwMode="white">
            <a:xfrm>
              <a:off x="5193983" y="1009899"/>
              <a:ext cx="1517958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Client apps</a:t>
              </a:r>
            </a:p>
          </p:txBody>
        </p:sp>
      </p:grpSp>
      <p:grpSp>
        <p:nvGrpSpPr>
          <p:cNvPr id="37" name="IconLocations"/>
          <p:cNvGrpSpPr>
            <a:grpSpLocks/>
          </p:cNvGrpSpPr>
          <p:nvPr/>
        </p:nvGrpSpPr>
        <p:grpSpPr bwMode="white">
          <a:xfrm>
            <a:off x="8411896" y="646848"/>
            <a:ext cx="1850168" cy="388465"/>
            <a:chOff x="2321433" y="3262888"/>
            <a:chExt cx="1850168" cy="388465"/>
          </a:xfrm>
        </p:grpSpPr>
        <p:pic>
          <p:nvPicPr>
            <p:cNvPr id="33" name="Graphic 1"/>
            <p:cNvPicPr>
              <a:picLocks noChangeAspect="1"/>
            </p:cNvPicPr>
            <p:nvPr/>
          </p:nvPicPr>
          <p:blipFill>
            <a:blip r:embed="rId17">
              <a:lum/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321433" y="3262888"/>
              <a:ext cx="388465" cy="388465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28" name="Label 1"/>
            <p:cNvSpPr txBox="1">
              <a:spLocks noChangeArrowheads="1"/>
            </p:cNvSpPr>
            <p:nvPr/>
          </p:nvSpPr>
          <p:spPr bwMode="white">
            <a:xfrm>
              <a:off x="2713321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Locations</a:t>
              </a:r>
              <a:endParaRPr lang="en-US" sz="1100" b="1" dirty="0"/>
            </a:p>
          </p:txBody>
        </p:sp>
      </p:grpSp>
      <p:grpSp>
        <p:nvGrpSpPr>
          <p:cNvPr id="39" name="IconDeviceFilters"/>
          <p:cNvGrpSpPr>
            <a:grpSpLocks/>
          </p:cNvGrpSpPr>
          <p:nvPr/>
        </p:nvGrpSpPr>
        <p:grpSpPr bwMode="white">
          <a:xfrm>
            <a:off x="5472818" y="661958"/>
            <a:ext cx="1839823" cy="364111"/>
            <a:chOff x="4195414" y="3273669"/>
            <a:chExt cx="1839823" cy="364111"/>
          </a:xfrm>
        </p:grpSpPr>
        <p:pic>
          <p:nvPicPr>
            <p:cNvPr id="60" name="Graphic 1"/>
            <p:cNvPicPr>
              <a:picLocks noChangeAspect="1"/>
            </p:cNvPicPr>
            <p:nvPr/>
          </p:nvPicPr>
          <p:blipFill>
            <a:blip r:embed="rId19">
              <a:lum/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195414" y="3273669"/>
              <a:ext cx="364111" cy="364111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31" name="Label 1"/>
            <p:cNvSpPr txBox="1">
              <a:spLocks noChangeArrowheads="1"/>
            </p:cNvSpPr>
            <p:nvPr/>
          </p:nvSpPr>
          <p:spPr bwMode="white">
            <a:xfrm>
              <a:off x="4576957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Filter for devices</a:t>
              </a:r>
              <a:endParaRPr lang="en-US" sz="1100" b="1" dirty="0"/>
            </a:p>
          </p:txBody>
        </p:sp>
      </p:grpSp>
      <p:pic>
        <p:nvPicPr>
          <p:cNvPr id="62" name="IconGrantMultifactorAuthentication"/>
          <p:cNvPicPr>
            <a:picLocks noChangeAspect="1"/>
          </p:cNvPicPr>
          <p:nvPr/>
        </p:nvPicPr>
        <p:blipFill>
          <a:blip r:embed="rId21">
            <a:lum/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>
            <a:fillRect/>
          </a:stretch>
        </p:blipFill>
        <p:spPr bwMode="white">
          <a:xfrm>
            <a:off x="3410647" y="3566863"/>
            <a:ext cx="17145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5" name="IconGrantMultifactorAuthenticationLabel"/>
          <p:cNvSpPr txBox="1">
            <a:spLocks noChangeArrowheads="1"/>
          </p:cNvSpPr>
          <p:nvPr/>
        </p:nvSpPr>
        <p:spPr bwMode="white">
          <a:xfrm>
            <a:off x="3575836" y="3571997"/>
            <a:ext cx="19007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Multifactor authentication</a:t>
            </a:r>
            <a:endParaRPr lang="en-US" sz="1000" dirty="0"/>
          </a:p>
        </p:txBody>
      </p:sp>
      <p:pic>
        <p:nvPicPr>
          <p:cNvPr id="38" name="IconGrantAuthenticationStrength"/>
          <p:cNvPicPr>
            <a:picLocks noChangeAspect="1"/>
          </p:cNvPicPr>
          <p:nvPr/>
        </p:nvPicPr>
        <p:blipFill>
          <a:blip r:embed="rId23">
            <a:lum/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/>
          <a:stretch>
            <a:fillRect/>
          </a:stretch>
        </p:blipFill>
        <p:spPr bwMode="white">
          <a:xfrm>
            <a:off x="3374515" y="3905034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7" name="IconGrantAuthenticationStrengthLabel"/>
          <p:cNvSpPr txBox="1">
            <a:spLocks noChangeArrowheads="1"/>
          </p:cNvSpPr>
          <p:nvPr/>
        </p:nvSpPr>
        <p:spPr bwMode="white">
          <a:xfrm>
            <a:off x="3575836" y="3907323"/>
            <a:ext cx="2185294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Authentication strength</a:t>
            </a:r>
            <a:endParaRPr lang="en-US" sz="1000" dirty="0"/>
          </a:p>
        </p:txBody>
      </p:sp>
      <p:pic>
        <p:nvPicPr>
          <p:cNvPr id="52" name="IconGrantDeviceCompliance"/>
          <p:cNvPicPr>
            <a:picLocks noChangeAspect="1"/>
          </p:cNvPicPr>
          <p:nvPr/>
        </p:nvPicPr>
        <p:blipFill>
          <a:blip r:embed="rId25">
            <a:lum/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/>
          <a:stretch>
            <a:fillRect/>
          </a:stretch>
        </p:blipFill>
        <p:spPr bwMode="white">
          <a:xfrm>
            <a:off x="3374515" y="4243205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9" name="IconGrantDeviceComplianceLabel"/>
          <p:cNvSpPr txBox="1">
            <a:spLocks noChangeArrowheads="1"/>
          </p:cNvSpPr>
          <p:nvPr/>
        </p:nvSpPr>
        <p:spPr bwMode="white">
          <a:xfrm>
            <a:off x="3575836" y="4242649"/>
            <a:ext cx="17378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Compliant device</a:t>
            </a:r>
            <a:endParaRPr lang="en-US" sz="1000" dirty="0"/>
          </a:p>
        </p:txBody>
      </p:sp>
      <p:pic>
        <p:nvPicPr>
          <p:cNvPr id="43" name="IconGrantHybridJoined"/>
          <p:cNvPicPr>
            <a:picLocks noChangeAspect="1"/>
          </p:cNvPicPr>
          <p:nvPr/>
        </p:nvPicPr>
        <p:blipFill>
          <a:blip r:embed="rId27">
            <a:lum/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/>
          <a:stretch>
            <a:fillRect/>
          </a:stretch>
        </p:blipFill>
        <p:spPr bwMode="white">
          <a:xfrm>
            <a:off x="3374515" y="4581376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3" name="IconGrantHybridJoinedLabel"/>
          <p:cNvSpPr txBox="1">
            <a:spLocks noChangeArrowheads="1"/>
          </p:cNvSpPr>
          <p:nvPr/>
        </p:nvSpPr>
        <p:spPr bwMode="white">
          <a:xfrm>
            <a:off x="3575836" y="4577975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Hybrid Azure AD joined device</a:t>
            </a:r>
            <a:endParaRPr lang="en-US" sz="1000" dirty="0"/>
          </a:p>
        </p:txBody>
      </p:sp>
      <p:pic>
        <p:nvPicPr>
          <p:cNvPr id="48" name="IconGrantApprovedClientApp"/>
          <p:cNvPicPr>
            <a:picLocks noChangeAspect="1"/>
          </p:cNvPicPr>
          <p:nvPr/>
        </p:nvPicPr>
        <p:blipFill>
          <a:blip r:embed="rId29">
            <a:lum/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rcRect/>
          <a:stretch>
            <a:fillRect/>
          </a:stretch>
        </p:blipFill>
        <p:spPr bwMode="white">
          <a:xfrm>
            <a:off x="3374515" y="491954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5" name="IconGrantApprovedClientAppLabel"/>
          <p:cNvSpPr txBox="1">
            <a:spLocks noChangeArrowheads="1"/>
          </p:cNvSpPr>
          <p:nvPr/>
        </p:nvSpPr>
        <p:spPr bwMode="white">
          <a:xfrm>
            <a:off x="3575836" y="4913301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Approved client app</a:t>
            </a:r>
            <a:endParaRPr lang="en-US" sz="1000" dirty="0"/>
          </a:p>
        </p:txBody>
      </p:sp>
      <p:pic>
        <p:nvPicPr>
          <p:cNvPr id="42" name="IconGrantCustomAuth"/>
          <p:cNvPicPr>
            <a:picLocks noChangeAspect="1"/>
          </p:cNvPicPr>
          <p:nvPr/>
        </p:nvPicPr>
        <p:blipFill>
          <a:blip r:embed="rId31">
            <a:lum/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rcRect/>
          <a:stretch>
            <a:fillRect/>
          </a:stretch>
        </p:blipFill>
        <p:spPr bwMode="white">
          <a:xfrm>
            <a:off x="3374515" y="593406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9" name="IconGrantCustomAuthLabel"/>
          <p:cNvSpPr txBox="1">
            <a:spLocks noChangeArrowheads="1"/>
          </p:cNvSpPr>
          <p:nvPr/>
        </p:nvSpPr>
        <p:spPr bwMode="white">
          <a:xfrm>
            <a:off x="3575836" y="5919279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Custom authentication factor</a:t>
            </a:r>
            <a:endParaRPr lang="en-US" sz="1000" dirty="0"/>
          </a:p>
        </p:txBody>
      </p:sp>
      <p:pic>
        <p:nvPicPr>
          <p:cNvPr id="40" name="IconGrantTermsOfUse"/>
          <p:cNvPicPr>
            <a:picLocks noChangeAspect="1"/>
          </p:cNvPicPr>
          <p:nvPr/>
        </p:nvPicPr>
        <p:blipFill>
          <a:blip r:embed="rId33">
            <a:lum/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rcRect/>
          <a:stretch>
            <a:fillRect/>
          </a:stretch>
        </p:blipFill>
        <p:spPr bwMode="white">
          <a:xfrm>
            <a:off x="3374515" y="627222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3" name="IconGrantTermsOfUseLabel"/>
          <p:cNvSpPr txBox="1">
            <a:spLocks noChangeArrowheads="1"/>
          </p:cNvSpPr>
          <p:nvPr/>
        </p:nvSpPr>
        <p:spPr bwMode="white">
          <a:xfrm>
            <a:off x="3575836" y="625460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Terms of use</a:t>
            </a:r>
            <a:endParaRPr lang="en-US" sz="1000" dirty="0"/>
          </a:p>
        </p:txBody>
      </p:sp>
      <p:sp>
        <p:nvSpPr>
          <p:cNvPr id="56" name="IconGrantAppProtectionLabel"/>
          <p:cNvSpPr txBox="1">
            <a:spLocks noChangeArrowheads="1"/>
          </p:cNvSpPr>
          <p:nvPr/>
        </p:nvSpPr>
        <p:spPr bwMode="white">
          <a:xfrm>
            <a:off x="3575836" y="524862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 protection policy</a:t>
            </a:r>
            <a:endParaRPr lang="en-US" sz="1000" dirty="0"/>
          </a:p>
        </p:txBody>
      </p:sp>
      <p:pic>
        <p:nvPicPr>
          <p:cNvPr id="65" name="IconGrantAppProtection"/>
          <p:cNvPicPr>
            <a:picLocks noChangeAspect="1"/>
          </p:cNvPicPr>
          <p:nvPr/>
        </p:nvPicPr>
        <p:blipFill>
          <a:blip r:embed="rId35">
            <a:lum/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rcRect/>
          <a:stretch>
            <a:fillRect/>
          </a:stretch>
        </p:blipFill>
        <p:spPr bwMode="white">
          <a:xfrm>
            <a:off x="3374515" y="525771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7" name="IconGrantChangePasswordLabel"/>
          <p:cNvSpPr txBox="1">
            <a:spLocks noChangeArrowheads="1"/>
          </p:cNvSpPr>
          <p:nvPr/>
        </p:nvSpPr>
        <p:spPr bwMode="white">
          <a:xfrm>
            <a:off x="3575836" y="5583953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Change password</a:t>
            </a:r>
            <a:endParaRPr lang="en-US" sz="1000" dirty="0"/>
          </a:p>
        </p:txBody>
      </p:sp>
      <p:pic>
        <p:nvPicPr>
          <p:cNvPr id="67" name="IconGrantChangePassword"/>
          <p:cNvPicPr>
            <a:picLocks noChangeAspect="1"/>
          </p:cNvPicPr>
          <p:nvPr/>
        </p:nvPicPr>
        <p:blipFill>
          <a:blip r:embed="rId37">
            <a:lum/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rcRect/>
          <a:stretch>
            <a:fillRect/>
          </a:stretch>
        </p:blipFill>
        <p:spPr bwMode="white">
          <a:xfrm>
            <a:off x="3374515" y="5595889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4" name="ShadeRisk"/>
          <p:cNvSpPr>
            <a:spLocks/>
          </p:cNvSpPr>
          <p:nvPr/>
        </p:nvSpPr>
        <p:spPr bwMode="white">
          <a:xfrm>
            <a:off x="507564" y="650246"/>
            <a:ext cx="976864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66" name="ShadeDevicePlatforms"/>
          <p:cNvSpPr>
            <a:spLocks/>
          </p:cNvSpPr>
          <p:nvPr/>
        </p:nvSpPr>
        <p:spPr bwMode="white">
          <a:xfrm>
            <a:off x="1863623" y="663409"/>
            <a:ext cx="1773927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78" name="ShadeClientApps"/>
          <p:cNvSpPr>
            <a:spLocks/>
          </p:cNvSpPr>
          <p:nvPr/>
        </p:nvSpPr>
        <p:spPr bwMode="white">
          <a:xfrm>
            <a:off x="3802273" y="650246"/>
            <a:ext cx="1481482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2" name="ShadeFilterForDevices"/>
          <p:cNvSpPr>
            <a:spLocks/>
          </p:cNvSpPr>
          <p:nvPr/>
        </p:nvSpPr>
        <p:spPr bwMode="white">
          <a:xfrm>
            <a:off x="5438955" y="627922"/>
            <a:ext cx="1873685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3" name="ShadeGrantMultifactorAuth"/>
          <p:cNvSpPr>
            <a:spLocks/>
          </p:cNvSpPr>
          <p:nvPr/>
        </p:nvSpPr>
        <p:spPr bwMode="white">
          <a:xfrm>
            <a:off x="3369399" y="3534220"/>
            <a:ext cx="2069555" cy="28330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4" name="ShadeGrantAuthStrength"/>
          <p:cNvSpPr>
            <a:spLocks/>
          </p:cNvSpPr>
          <p:nvPr/>
        </p:nvSpPr>
        <p:spPr bwMode="white">
          <a:xfrm>
            <a:off x="3350256" y="3869846"/>
            <a:ext cx="2069555" cy="27801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5" name="ShadeGrantCompliantDevice"/>
          <p:cNvSpPr>
            <a:spLocks/>
          </p:cNvSpPr>
          <p:nvPr/>
        </p:nvSpPr>
        <p:spPr bwMode="white">
          <a:xfrm>
            <a:off x="3361852" y="4243205"/>
            <a:ext cx="2077102" cy="26110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6" name="ShadeGrantHybridAzureADJoined"/>
          <p:cNvSpPr>
            <a:spLocks/>
          </p:cNvSpPr>
          <p:nvPr/>
        </p:nvSpPr>
        <p:spPr bwMode="white">
          <a:xfrm>
            <a:off x="3353637" y="4552268"/>
            <a:ext cx="2160906" cy="298395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7" name="ShadeGrantApprovedClientApp"/>
          <p:cNvSpPr>
            <a:spLocks/>
          </p:cNvSpPr>
          <p:nvPr/>
        </p:nvSpPr>
        <p:spPr bwMode="white">
          <a:xfrm>
            <a:off x="3331918" y="4876027"/>
            <a:ext cx="2182625" cy="29839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8" name="ShadeGrantAppProtectionPolicy"/>
          <p:cNvSpPr>
            <a:spLocks/>
          </p:cNvSpPr>
          <p:nvPr/>
        </p:nvSpPr>
        <p:spPr bwMode="white">
          <a:xfrm>
            <a:off x="3350256" y="5207226"/>
            <a:ext cx="2122561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9" name="ShadeGrantChangePassword"/>
          <p:cNvSpPr>
            <a:spLocks/>
          </p:cNvSpPr>
          <p:nvPr/>
        </p:nvSpPr>
        <p:spPr bwMode="white">
          <a:xfrm>
            <a:off x="3350257" y="5557021"/>
            <a:ext cx="2042006" cy="287239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0" name="ShadeGrantCustomAuthFactor"/>
          <p:cNvSpPr>
            <a:spLocks/>
          </p:cNvSpPr>
          <p:nvPr/>
        </p:nvSpPr>
        <p:spPr bwMode="white">
          <a:xfrm>
            <a:off x="3331918" y="5899058"/>
            <a:ext cx="2182625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1" name="ShadeGrantTermsOfUse"/>
          <p:cNvSpPr>
            <a:spLocks/>
          </p:cNvSpPr>
          <p:nvPr/>
        </p:nvSpPr>
        <p:spPr bwMode="white">
          <a:xfrm>
            <a:off x="3313823" y="6192350"/>
            <a:ext cx="101602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99" name="Rectangle 98"/>
          <p:cNvSpPr>
            <a:spLocks/>
          </p:cNvSpPr>
          <p:nvPr/>
        </p:nvSpPr>
        <p:spPr bwMode="white">
          <a:xfrm>
            <a:off x="3268757" y="3253404"/>
            <a:ext cx="2357725" cy="3498546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0" name="Rectangle 109"/>
          <p:cNvSpPr>
            <a:spLocks/>
          </p:cNvSpPr>
          <p:nvPr/>
        </p:nvSpPr>
        <p:spPr bwMode="white">
          <a:xfrm>
            <a:off x="9881750" y="3248255"/>
            <a:ext cx="2220808" cy="3510149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7" name="Rectangle 116"/>
          <p:cNvSpPr>
            <a:spLocks/>
          </p:cNvSpPr>
          <p:nvPr/>
        </p:nvSpPr>
        <p:spPr bwMode="white">
          <a:xfrm>
            <a:off x="26741" y="606825"/>
            <a:ext cx="11985015" cy="2063636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2" name="Conditions Label"/>
          <p:cNvSpPr txBox="1">
            <a:spLocks noChangeArrowheads="1"/>
          </p:cNvSpPr>
          <p:nvPr/>
        </p:nvSpPr>
        <p:spPr bwMode="white">
          <a:xfrm rot="16200000">
            <a:off x="-883507" y="1514324"/>
            <a:ext cx="2081441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Conditions</a:t>
            </a:r>
          </a:p>
        </p:txBody>
      </p:sp>
      <p:sp>
        <p:nvSpPr>
          <p:cNvPr id="109" name="Grant Controls"/>
          <p:cNvSpPr txBox="1">
            <a:spLocks noChangeArrowheads="1"/>
          </p:cNvSpPr>
          <p:nvPr/>
        </p:nvSpPr>
        <p:spPr bwMode="white">
          <a:xfrm>
            <a:off x="3252146" y="3244395"/>
            <a:ext cx="2391873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Grant Controls</a:t>
            </a:r>
          </a:p>
        </p:txBody>
      </p:sp>
      <p:sp>
        <p:nvSpPr>
          <p:cNvPr id="111" name="Session Controls"/>
          <p:cNvSpPr txBox="1">
            <a:spLocks noChangeArrowheads="1"/>
          </p:cNvSpPr>
          <p:nvPr/>
        </p:nvSpPr>
        <p:spPr bwMode="white">
          <a:xfrm>
            <a:off x="9864212" y="3243751"/>
            <a:ext cx="2238346" cy="23786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Session Controls</a:t>
            </a:r>
          </a:p>
        </p:txBody>
      </p:sp>
      <p:pic>
        <p:nvPicPr>
          <p:cNvPr id="72" name="Graphic 71"/>
          <p:cNvPicPr>
            <a:picLocks noChangeAspect="1"/>
          </p:cNvPicPr>
          <p:nvPr/>
        </p:nvPicPr>
        <p:blipFill>
          <a:blip r:embed="rId39">
            <a:lum/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rcRect/>
          <a:stretch>
            <a:fillRect/>
          </a:stretch>
        </p:blipFill>
        <p:spPr bwMode="white">
          <a:xfrm>
            <a:off x="9996846" y="356982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4" name="Graphic 93"/>
          <p:cNvPicPr>
            <a:picLocks noChangeAspect="1"/>
          </p:cNvPicPr>
          <p:nvPr/>
        </p:nvPicPr>
        <p:blipFill>
          <a:blip r:embed="rId41">
            <a:lum/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rcRect/>
          <a:stretch>
            <a:fillRect/>
          </a:stretch>
        </p:blipFill>
        <p:spPr bwMode="white">
          <a:xfrm>
            <a:off x="10009443" y="525644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5" name="TextBox 94"/>
          <p:cNvSpPr txBox="1">
            <a:spLocks noChangeArrowheads="1"/>
          </p:cNvSpPr>
          <p:nvPr/>
        </p:nvSpPr>
        <p:spPr bwMode="white">
          <a:xfrm>
            <a:off x="10207481" y="3578463"/>
            <a:ext cx="150554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App enforced restrictions</a:t>
            </a:r>
          </a:p>
        </p:txBody>
      </p:sp>
      <p:sp>
        <p:nvSpPr>
          <p:cNvPr id="96" name="TextBox 95"/>
          <p:cNvSpPr txBox="1">
            <a:spLocks noChangeArrowheads="1"/>
          </p:cNvSpPr>
          <p:nvPr/>
        </p:nvSpPr>
        <p:spPr bwMode="white">
          <a:xfrm>
            <a:off x="10201167" y="3899846"/>
            <a:ext cx="181011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Conditional Access App Control</a:t>
            </a:r>
          </a:p>
        </p:txBody>
      </p:sp>
      <p:sp>
        <p:nvSpPr>
          <p:cNvPr id="97" name="TextBox 96"/>
          <p:cNvSpPr txBox="1">
            <a:spLocks noChangeArrowheads="1"/>
          </p:cNvSpPr>
          <p:nvPr/>
        </p:nvSpPr>
        <p:spPr bwMode="white">
          <a:xfrm>
            <a:off x="10215627" y="4357505"/>
            <a:ext cx="1090363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Sign-in frequency</a:t>
            </a:r>
          </a:p>
        </p:txBody>
      </p:sp>
      <p:sp>
        <p:nvSpPr>
          <p:cNvPr id="98" name="TextBox 97"/>
          <p:cNvSpPr txBox="1">
            <a:spLocks noChangeArrowheads="1"/>
          </p:cNvSpPr>
          <p:nvPr/>
        </p:nvSpPr>
        <p:spPr bwMode="white">
          <a:xfrm>
            <a:off x="10225446" y="4793305"/>
            <a:ext cx="156966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Persistent browser session</a:t>
            </a:r>
          </a:p>
        </p:txBody>
      </p:sp>
      <p:sp>
        <p:nvSpPr>
          <p:cNvPr id="100" name="TextBox 99"/>
          <p:cNvSpPr txBox="1">
            <a:spLocks noChangeArrowheads="1"/>
          </p:cNvSpPr>
          <p:nvPr/>
        </p:nvSpPr>
        <p:spPr bwMode="white">
          <a:xfrm>
            <a:off x="10229552" y="5232376"/>
            <a:ext cx="1717137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Continuous access evaluation</a:t>
            </a:r>
          </a:p>
        </p:txBody>
      </p:sp>
      <p:sp>
        <p:nvSpPr>
          <p:cNvPr id="101" name="TextBox 100"/>
          <p:cNvSpPr txBox="1">
            <a:spLocks noChangeArrowheads="1"/>
          </p:cNvSpPr>
          <p:nvPr/>
        </p:nvSpPr>
        <p:spPr bwMode="white">
          <a:xfrm>
            <a:off x="10259108" y="5658625"/>
            <a:ext cx="153599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Disable resilience defaults</a:t>
            </a:r>
          </a:p>
        </p:txBody>
      </p:sp>
      <p:pic>
        <p:nvPicPr>
          <p:cNvPr id="103" name="Graphic 102"/>
          <p:cNvPicPr>
            <a:picLocks noChangeAspect="1"/>
          </p:cNvPicPr>
          <p:nvPr/>
        </p:nvPicPr>
        <p:blipFill>
          <a:blip r:embed="rId43">
            <a:lum/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rcRect/>
          <a:stretch>
            <a:fillRect/>
          </a:stretch>
        </p:blipFill>
        <p:spPr bwMode="white">
          <a:xfrm>
            <a:off x="9996846" y="479900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5" name="Graphic 104"/>
          <p:cNvPicPr>
            <a:picLocks noChangeAspect="1"/>
          </p:cNvPicPr>
          <p:nvPr/>
        </p:nvPicPr>
        <p:blipFill>
          <a:blip r:embed="rId45">
            <a:lum/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rcRect/>
          <a:stretch>
            <a:fillRect/>
          </a:stretch>
        </p:blipFill>
        <p:spPr bwMode="white">
          <a:xfrm>
            <a:off x="9996846" y="437457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7" name="Graphic 106"/>
          <p:cNvPicPr>
            <a:picLocks noChangeAspect="1"/>
          </p:cNvPicPr>
          <p:nvPr/>
        </p:nvPicPr>
        <p:blipFill>
          <a:blip r:embed="rId7">
            <a:lum/>
            <a:extLst>
              <a:ext uri="{96DAC541-7B7A-43D3-8B79-37D633B846F1}">
                <asvg:svgBlip xmlns:asvg="http://schemas.microsoft.com/office/drawing/2016/SVG/main" r:embed="rId47"/>
              </a:ext>
            </a:extLst>
          </a:blip>
          <a:srcRect/>
          <a:stretch>
            <a:fillRect/>
          </a:stretch>
        </p:blipFill>
        <p:spPr bwMode="white">
          <a:xfrm>
            <a:off x="9996846" y="391529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15" name="SessionSifInterval"/>
          <p:cNvSpPr txBox="1">
            <a:spLocks noChangeArrowheads="1"/>
          </p:cNvSpPr>
          <p:nvPr/>
        </p:nvSpPr>
        <p:spPr bwMode="white">
          <a:xfrm>
            <a:off x="10296745" y="4516775"/>
            <a:ext cx="1249060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Periodic reauthentication</a:t>
            </a:r>
          </a:p>
        </p:txBody>
      </p:sp>
      <p:sp>
        <p:nvSpPr>
          <p:cNvPr id="114" name="SessionCasType"/>
          <p:cNvSpPr txBox="1">
            <a:spLocks noChangeArrowheads="1"/>
          </p:cNvSpPr>
          <p:nvPr/>
        </p:nvSpPr>
        <p:spPr bwMode="white">
          <a:xfrm>
            <a:off x="10296745" y="4075500"/>
            <a:ext cx="95410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App Control Policy</a:t>
            </a:r>
          </a:p>
        </p:txBody>
      </p:sp>
      <p:sp>
        <p:nvSpPr>
          <p:cNvPr id="116" name="SessionPersistenBrowserMode"/>
          <p:cNvSpPr txBox="1">
            <a:spLocks noChangeArrowheads="1"/>
          </p:cNvSpPr>
          <p:nvPr/>
        </p:nvSpPr>
        <p:spPr bwMode="white">
          <a:xfrm>
            <a:off x="10309761" y="4945281"/>
            <a:ext cx="918841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Always persistent</a:t>
            </a:r>
          </a:p>
        </p:txBody>
      </p:sp>
      <p:sp>
        <p:nvSpPr>
          <p:cNvPr id="118" name="SessionCaeMode"/>
          <p:cNvSpPr txBox="1">
            <a:spLocks noChangeArrowheads="1"/>
          </p:cNvSpPr>
          <p:nvPr/>
        </p:nvSpPr>
        <p:spPr bwMode="white">
          <a:xfrm>
            <a:off x="10301386" y="5393378"/>
            <a:ext cx="15359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US" sz="800" dirty="0"/>
              <a:t>Strictly enforce location policies</a:t>
            </a:r>
          </a:p>
        </p:txBody>
      </p:sp>
      <p:sp>
        <p:nvSpPr>
          <p:cNvPr id="119" name="ShadeSessionAppEnforced"/>
          <p:cNvSpPr>
            <a:spLocks/>
          </p:cNvSpPr>
          <p:nvPr/>
        </p:nvSpPr>
        <p:spPr bwMode="white">
          <a:xfrm>
            <a:off x="9959680" y="3548808"/>
            <a:ext cx="2051597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0" name="ShadeSessionCas"/>
          <p:cNvSpPr>
            <a:spLocks/>
          </p:cNvSpPr>
          <p:nvPr/>
        </p:nvSpPr>
        <p:spPr bwMode="white">
          <a:xfrm>
            <a:off x="9978939" y="3884212"/>
            <a:ext cx="2087576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1" name="ShadeSessionSif"/>
          <p:cNvSpPr>
            <a:spLocks/>
          </p:cNvSpPr>
          <p:nvPr/>
        </p:nvSpPr>
        <p:spPr bwMode="white">
          <a:xfrm>
            <a:off x="9940787" y="4320077"/>
            <a:ext cx="2125728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2" name="ShadeSessionPersistentBrowser"/>
          <p:cNvSpPr>
            <a:spLocks/>
          </p:cNvSpPr>
          <p:nvPr/>
        </p:nvSpPr>
        <p:spPr bwMode="white">
          <a:xfrm>
            <a:off x="9938833" y="4746195"/>
            <a:ext cx="207244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" name="Label Secure Sign In Session"/>
          <p:cNvSpPr txBox="1">
            <a:spLocks noChangeArrowheads="1"/>
          </p:cNvSpPr>
          <p:nvPr/>
        </p:nvSpPr>
        <p:spPr bwMode="white">
          <a:xfrm>
            <a:off x="10260000" y="6084874"/>
            <a:ext cx="166584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Token protection for session</a:t>
            </a:r>
          </a:p>
        </p:txBody>
      </p:sp>
      <p:pic>
        <p:nvPicPr>
          <p:cNvPr id="77" name="IconSessionCaeDisable" descr="Close with solid fill"/>
          <p:cNvPicPr>
            <a:picLocks noChangeAspect="1"/>
          </p:cNvPicPr>
          <p:nvPr/>
        </p:nvPicPr>
        <p:blipFill>
          <a:blip r:embed="rId48">
            <a:lum/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rcRect/>
          <a:stretch>
            <a:fillRect/>
          </a:stretch>
        </p:blipFill>
        <p:spPr bwMode="white">
          <a:xfrm>
            <a:off x="9979885" y="5218651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2" name="IconSessionSecureSignInSession 1"/>
          <p:cNvPicPr>
            <a:picLocks noChangeAspect="1"/>
          </p:cNvPicPr>
          <p:nvPr/>
        </p:nvPicPr>
        <p:blipFill>
          <a:blip r:embed="rId50">
            <a:lum/>
            <a:extLst>
              <a:ext uri="{96DAC541-7B7A-43D3-8B79-37D633B846F1}">
                <asvg:svgBlip xmlns:asvg="http://schemas.microsoft.com/office/drawing/2016/SVG/main" r:embed="rId51"/>
              </a:ext>
            </a:extLst>
          </a:blip>
          <a:srcRect/>
          <a:stretch>
            <a:fillRect/>
          </a:stretch>
        </p:blipFill>
        <p:spPr bwMode="white">
          <a:xfrm>
            <a:off x="9997200" y="6085768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3" name="ShadeSessionCae"/>
          <p:cNvSpPr>
            <a:spLocks/>
          </p:cNvSpPr>
          <p:nvPr/>
        </p:nvSpPr>
        <p:spPr bwMode="white">
          <a:xfrm>
            <a:off x="9987595" y="5219780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76" name="ShadeSessionSecureSignIn"/>
          <p:cNvSpPr>
            <a:spLocks/>
          </p:cNvSpPr>
          <p:nvPr/>
        </p:nvSpPr>
        <p:spPr bwMode="white">
          <a:xfrm>
            <a:off x="9996846" y="5986498"/>
            <a:ext cx="2014431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pic>
        <p:nvPicPr>
          <p:cNvPr id="102" name="Graphic 101"/>
          <p:cNvPicPr>
            <a:picLocks noChangeAspect="1"/>
          </p:cNvPicPr>
          <p:nvPr/>
        </p:nvPicPr>
        <p:blipFill>
          <a:blip r:embed="rId52">
            <a:lum/>
            <a:extLst>
              <a:ext uri="{96DAC541-7B7A-43D3-8B79-37D633B846F1}">
                <asvg:svgBlip xmlns:asvg="http://schemas.microsoft.com/office/drawing/2016/SVG/main" r:embed="rId53"/>
              </a:ext>
            </a:extLst>
          </a:blip>
          <a:srcRect/>
          <a:stretch>
            <a:fillRect/>
          </a:stretch>
        </p:blipFill>
        <p:spPr bwMode="white">
          <a:xfrm>
            <a:off x="9997200" y="5663777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80" name="Graphic 79" descr="Close with solid fill"/>
          <p:cNvPicPr>
            <a:picLocks noChangeAspect="1"/>
          </p:cNvPicPr>
          <p:nvPr/>
        </p:nvPicPr>
        <p:blipFill>
          <a:blip r:embed="rId48">
            <a:lum/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rcRect/>
          <a:stretch>
            <a:fillRect/>
          </a:stretch>
        </p:blipFill>
        <p:spPr bwMode="white">
          <a:xfrm>
            <a:off x="9963899" y="5637424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4" name="ShadeSessionDisableResilience"/>
          <p:cNvSpPr>
            <a:spLocks/>
          </p:cNvSpPr>
          <p:nvPr/>
        </p:nvSpPr>
        <p:spPr bwMode="white">
          <a:xfrm>
            <a:off x="9959681" y="5602709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2" name="PolicyName">
            <a:hlinkClick r:id="" action="ppaction://hlinkfile"/>
          </p:cNvPr>
          <p:cNvSpPr>
            <a:spLocks noGrp="1"/>
          </p:cNvSpPr>
          <p:nvPr>
            <p:ph type="title"/>
          </p:nvPr>
        </p:nvSpPr>
        <p:spPr bwMode="white">
          <a:xfrm>
            <a:off x="838200" y="115511"/>
            <a:ext cx="10003967" cy="609565"/>
          </a:xfrm>
          <a:ln>
            <a:headEnd type="none"/>
            <a:tailEnd type="none"/>
          </a:ln>
        </p:spPr>
        <p:txBody>
          <a:bodyPr wrap="square">
            <a:noAutofit/>
          </a:bodyPr>
          <a:lstStyle/>
          <a:p>
            <a:pPr defTabSz="914400"/>
            <a:r>
              <a:rPr lang="en-US" sz="2000" b="1" dirty="0"/>
              <a:t> [All Apps] [SVo365 BI/Tableau] (Block) Service Accounts Login From Non-OCC IPs</a:t>
            </a:r>
          </a:p>
        </p:txBody>
      </p:sp>
      <p:sp>
        <p:nvSpPr>
          <p:cNvPr id="16" name="LastModified"/>
          <p:cNvSpPr txBox="1">
            <a:spLocks noChangeArrowheads="1"/>
          </p:cNvSpPr>
          <p:nvPr/>
        </p:nvSpPr>
        <p:spPr bwMode="white">
          <a:xfrm>
            <a:off x="10556111" y="388376"/>
            <a:ext cx="15483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algn="r" defTabSz="457200"/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Last modified: 2025-07-30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UserWorkload"/>
          <p:cNvSpPr>
            <a:spLocks/>
          </p:cNvSpPr>
          <p:nvPr/>
        </p:nvSpPr>
        <p:spPr bwMode="auto">
          <a:xfrm>
            <a:off x="175820" y="2709769"/>
            <a:ext cx="2202823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Users</a:t>
            </a:r>
          </a:p>
        </p:txBody>
      </p:sp>
      <p:sp>
        <p:nvSpPr>
          <p:cNvPr id="7" name="UserWorkloadIncExc"/>
          <p:cNvSpPr txBox="1">
            <a:spLocks noChangeArrowheads="1"/>
          </p:cNvSpPr>
          <p:nvPr/>
        </p:nvSpPr>
        <p:spPr bwMode="white">
          <a:xfrm>
            <a:off x="125485" y="3698952"/>
            <a:ext cx="3062115" cy="313265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 numCol="1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b="1" dirty="0"/>
            </a:pPr>
            <a:r>
              <a:t> Users</a:t>
            </a:r>
          </a:p>
          <a:p>
            <a:pPr defTabSz="457200">
              <a:defRPr sz="1100" dirty="0"/>
            </a:pPr>
            <a:r>
              <a:t> - SVO365 coc_collibra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19" name="Risks"/>
          <p:cNvSpPr txBox="1">
            <a:spLocks noChangeArrowheads="1"/>
          </p:cNvSpPr>
          <p:nvPr/>
        </p:nvSpPr>
        <p:spPr bwMode="white">
          <a:xfrm>
            <a:off x="524485" y="1021946"/>
            <a:ext cx="1348869" cy="166886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0" name="Platforms"/>
          <p:cNvSpPr txBox="1">
            <a:spLocks noChangeArrowheads="1"/>
          </p:cNvSpPr>
          <p:nvPr/>
        </p:nvSpPr>
        <p:spPr bwMode="white">
          <a:xfrm>
            <a:off x="1826931" y="1021947"/>
            <a:ext cx="2061056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3" name="Locations"/>
          <p:cNvSpPr txBox="1">
            <a:spLocks noChangeArrowheads="1"/>
          </p:cNvSpPr>
          <p:nvPr/>
        </p:nvSpPr>
        <p:spPr bwMode="white">
          <a:xfrm>
            <a:off x="8324941" y="1021947"/>
            <a:ext cx="3513702" cy="159258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b="1" dirty="0"/>
            </a:pPr>
            <a:r>
              <a:t>✅ Include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r>
              <a:t>🚫 Exclude</a:t>
            </a:r>
          </a:p>
          <a:p>
            <a:pPr defTabSz="457200">
              <a:defRPr sz="1100" dirty="0"/>
            </a:pPr>
            <a:r>
              <a:t> - Netskope Egress </a:t>
            </a:r>
          </a:p>
          <a:p>
            <a:pPr defTabSz="457200">
              <a:defRPr sz="1100" dirty="0"/>
            </a:pPr>
            <a:r>
              <a:t> - OCC Collibra IPs </a:t>
            </a:r>
          </a:p>
          <a:p>
            <a:pPr defTabSz="457200">
              <a:defRPr sz="1100" dirty="0"/>
            </a:pPr>
            <a:r>
              <a:t> - OCC Proxy Egress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24" name="ClientAppTypes"/>
          <p:cNvSpPr txBox="1">
            <a:spLocks noChangeArrowheads="1"/>
          </p:cNvSpPr>
          <p:nvPr/>
        </p:nvSpPr>
        <p:spPr bwMode="white">
          <a:xfrm>
            <a:off x="3810664" y="1021947"/>
            <a:ext cx="1581599" cy="165343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5" name="DeviceFilters"/>
          <p:cNvSpPr txBox="1">
            <a:spLocks noChangeArrowheads="1"/>
          </p:cNvSpPr>
          <p:nvPr/>
        </p:nvSpPr>
        <p:spPr bwMode="white">
          <a:xfrm>
            <a:off x="5818151" y="1022762"/>
            <a:ext cx="2248808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cxnSp>
        <p:nvCxnSpPr>
          <p:cNvPr id="27" name="Straight Arrow Connector 26" descr="Arrow drawn from user/workload  to the action being performed by the user such as accessing cloud apps."/>
          <p:cNvCxnSpPr/>
          <p:nvPr/>
        </p:nvCxnSpPr>
        <p:spPr bwMode="white">
          <a:xfrm>
            <a:off x="2195232" y="3159047"/>
            <a:ext cx="3959471" cy="1"/>
          </a:xfrm>
          <a:prstGeom prst="straightConnector1">
            <a:avLst/>
          </a:prstGeom>
          <a:ln w="76200"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30" name="IconBlockAccess" descr="Picture with red color stop sign to indicate blocked access"/>
          <p:cNvPicPr>
            <a:picLocks noChangeAspect="1"/>
          </p:cNvPicPr>
          <p:nvPr/>
        </p:nvPicPr>
        <p:blipFill>
          <a:blip r:embed="rId3">
            <a:lum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 bwMode="white">
          <a:xfrm>
            <a:off x="5306633" y="2735805"/>
            <a:ext cx="356616" cy="35661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34" name="GrantLabelBlockAccess"/>
          <p:cNvSpPr txBox="1">
            <a:spLocks noChangeArrowheads="1"/>
          </p:cNvSpPr>
          <p:nvPr/>
        </p:nvSpPr>
        <p:spPr bwMode="white">
          <a:xfrm>
            <a:off x="3936931" y="2734375"/>
            <a:ext cx="1358065" cy="369332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algn="ctr" defTabSz="457200"/>
            <a:r>
              <a:rPr lang="en-US" b="1" dirty="0">
                <a:solidFill>
                  <a:srgbClr val="FF0000"/>
                </a:solidFill>
              </a:rPr>
              <a:t>Block access</a:t>
            </a:r>
          </a:p>
        </p:txBody>
      </p:sp>
      <p:sp>
        <p:nvSpPr>
          <p:cNvPr id="3" name="CloudAppActionIncExc"/>
          <p:cNvSpPr txBox="1">
            <a:spLocks noChangeArrowheads="1"/>
          </p:cNvSpPr>
          <p:nvPr/>
        </p:nvSpPr>
        <p:spPr bwMode="white">
          <a:xfrm>
            <a:off x="6039518" y="3662782"/>
            <a:ext cx="3649518" cy="315161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</p:txBody>
      </p:sp>
      <p:pic>
        <p:nvPicPr>
          <p:cNvPr id="26" name="IconGroupIdentity"/>
          <p:cNvPicPr>
            <a:picLocks noChangeAspect="1"/>
          </p:cNvPicPr>
          <p:nvPr/>
        </p:nvPicPr>
        <p:blipFill>
          <a:blip r:embed="rId5">
            <a:lum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 bwMode="white">
          <a:xfrm>
            <a:off x="327701" y="2839007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36" name="Graphic 35"/>
          <p:cNvPicPr>
            <a:picLocks noChangeAspect="1"/>
          </p:cNvPicPr>
          <p:nvPr/>
        </p:nvPicPr>
        <p:blipFill>
          <a:blip r:embed="rId7">
            <a:lum/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p:blipFill>
        <p:spPr bwMode="white">
          <a:xfrm>
            <a:off x="495610" y="197468"/>
            <a:ext cx="381196" cy="38119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" name="CloudAppAction"/>
          <p:cNvSpPr>
            <a:spLocks/>
          </p:cNvSpPr>
          <p:nvPr/>
        </p:nvSpPr>
        <p:spPr bwMode="auto">
          <a:xfrm>
            <a:off x="6206089" y="2718506"/>
            <a:ext cx="3227026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All cloud apps</a:t>
            </a:r>
          </a:p>
        </p:txBody>
      </p:sp>
      <p:pic>
        <p:nvPicPr>
          <p:cNvPr id="75" name="IconAccessAllCloudApps"/>
          <p:cNvPicPr>
            <a:picLocks noChangeAspect="1"/>
          </p:cNvPicPr>
          <p:nvPr/>
        </p:nvPicPr>
        <p:blipFill>
          <a:blip r:embed="rId9">
            <a:lum/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p:blipFill>
        <p:spPr bwMode="white">
          <a:xfrm>
            <a:off x="6439264" y="2836824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21" name="StateEnabled"/>
          <p:cNvSpPr>
            <a:spLocks/>
          </p:cNvSpPr>
          <p:nvPr/>
        </p:nvSpPr>
        <p:spPr bwMode="white">
          <a:xfrm>
            <a:off x="10842171" y="83487"/>
            <a:ext cx="1260389" cy="264812"/>
          </a:xfrm>
          <a:prstGeom prst="round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r>
              <a:rPr lang="en-US" sz="800" dirty="0"/>
              <a:t>Policy Enabled</a:t>
            </a:r>
          </a:p>
        </p:txBody>
      </p:sp>
      <p:grpSp>
        <p:nvGrpSpPr>
          <p:cNvPr id="10" name="IconRiskyUsers"/>
          <p:cNvGrpSpPr>
            <a:grpSpLocks/>
          </p:cNvGrpSpPr>
          <p:nvPr/>
        </p:nvGrpSpPr>
        <p:grpSpPr bwMode="white">
          <a:xfrm>
            <a:off x="635426" y="738677"/>
            <a:ext cx="1202553" cy="274320"/>
            <a:chOff x="2013768" y="1033956"/>
            <a:chExt cx="1342320" cy="274320"/>
          </a:xfrm>
        </p:grpSpPr>
        <p:pic>
          <p:nvPicPr>
            <p:cNvPr id="46" name="Graphic 1"/>
            <p:cNvPicPr>
              <a:picLocks noChangeAspect="1"/>
            </p:cNvPicPr>
            <p:nvPr/>
          </p:nvPicPr>
          <p:blipFill>
            <a:blip r:embed="rId11">
              <a:lum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013768" y="1033956"/>
              <a:ext cx="274320" cy="27432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5" name="Label 1"/>
            <p:cNvSpPr txBox="1">
              <a:spLocks noChangeArrowheads="1"/>
            </p:cNvSpPr>
            <p:nvPr/>
          </p:nvSpPr>
          <p:spPr bwMode="white">
            <a:xfrm>
              <a:off x="2240077" y="1040706"/>
              <a:ext cx="1116011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Risk</a:t>
              </a:r>
            </a:p>
          </p:txBody>
        </p:sp>
      </p:grpSp>
      <p:grpSp>
        <p:nvGrpSpPr>
          <p:cNvPr id="14" name="IconPlatforms"/>
          <p:cNvGrpSpPr>
            <a:grpSpLocks/>
          </p:cNvGrpSpPr>
          <p:nvPr/>
        </p:nvGrpSpPr>
        <p:grpSpPr bwMode="white">
          <a:xfrm>
            <a:off x="1927788" y="715249"/>
            <a:ext cx="1719285" cy="365760"/>
            <a:chOff x="3262737" y="994835"/>
            <a:chExt cx="1719285" cy="365760"/>
          </a:xfrm>
        </p:grpSpPr>
        <p:pic>
          <p:nvPicPr>
            <p:cNvPr id="29" name="Graphic 1"/>
            <p:cNvPicPr>
              <a:picLocks noChangeAspect="1"/>
            </p:cNvPicPr>
            <p:nvPr/>
          </p:nvPicPr>
          <p:blipFill>
            <a:blip r:embed="rId13">
              <a:lum/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3262737" y="994835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1" name="Label 1"/>
            <p:cNvSpPr txBox="1">
              <a:spLocks noChangeArrowheads="1"/>
            </p:cNvSpPr>
            <p:nvPr/>
          </p:nvSpPr>
          <p:spPr bwMode="white">
            <a:xfrm>
              <a:off x="3582397" y="1027255"/>
              <a:ext cx="1399625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Device platforms</a:t>
              </a:r>
            </a:p>
          </p:txBody>
        </p:sp>
      </p:grpSp>
      <p:grpSp>
        <p:nvGrpSpPr>
          <p:cNvPr id="17" name="IconClientAppTypes"/>
          <p:cNvGrpSpPr>
            <a:grpSpLocks/>
          </p:cNvGrpSpPr>
          <p:nvPr/>
        </p:nvGrpSpPr>
        <p:grpSpPr bwMode="white">
          <a:xfrm>
            <a:off x="3908159" y="670015"/>
            <a:ext cx="1852971" cy="365760"/>
            <a:chOff x="4858970" y="975927"/>
            <a:chExt cx="1852971" cy="365760"/>
          </a:xfrm>
        </p:grpSpPr>
        <p:pic>
          <p:nvPicPr>
            <p:cNvPr id="58" name="Graphic 1"/>
            <p:cNvPicPr>
              <a:picLocks noChangeAspect="1"/>
            </p:cNvPicPr>
            <p:nvPr/>
          </p:nvPicPr>
          <p:blipFill>
            <a:blip r:embed="rId15">
              <a:lum/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858970" y="975927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5" name="Label 1"/>
            <p:cNvSpPr txBox="1">
              <a:spLocks noChangeArrowheads="1"/>
            </p:cNvSpPr>
            <p:nvPr/>
          </p:nvSpPr>
          <p:spPr bwMode="white">
            <a:xfrm>
              <a:off x="5193983" y="1009899"/>
              <a:ext cx="1517958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Client apps</a:t>
              </a:r>
            </a:p>
          </p:txBody>
        </p:sp>
      </p:grpSp>
      <p:grpSp>
        <p:nvGrpSpPr>
          <p:cNvPr id="37" name="IconLocations"/>
          <p:cNvGrpSpPr>
            <a:grpSpLocks/>
          </p:cNvGrpSpPr>
          <p:nvPr/>
        </p:nvGrpSpPr>
        <p:grpSpPr bwMode="white">
          <a:xfrm>
            <a:off x="8411896" y="646848"/>
            <a:ext cx="1850168" cy="388465"/>
            <a:chOff x="2321433" y="3262888"/>
            <a:chExt cx="1850168" cy="388465"/>
          </a:xfrm>
        </p:grpSpPr>
        <p:pic>
          <p:nvPicPr>
            <p:cNvPr id="33" name="Graphic 1"/>
            <p:cNvPicPr>
              <a:picLocks noChangeAspect="1"/>
            </p:cNvPicPr>
            <p:nvPr/>
          </p:nvPicPr>
          <p:blipFill>
            <a:blip r:embed="rId17">
              <a:lum/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321433" y="3262888"/>
              <a:ext cx="388465" cy="388465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28" name="Label 1"/>
            <p:cNvSpPr txBox="1">
              <a:spLocks noChangeArrowheads="1"/>
            </p:cNvSpPr>
            <p:nvPr/>
          </p:nvSpPr>
          <p:spPr bwMode="white">
            <a:xfrm>
              <a:off x="2713321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Locations</a:t>
              </a:r>
              <a:endParaRPr lang="en-US" sz="1100" b="1" dirty="0"/>
            </a:p>
          </p:txBody>
        </p:sp>
      </p:grpSp>
      <p:grpSp>
        <p:nvGrpSpPr>
          <p:cNvPr id="39" name="IconDeviceFilters"/>
          <p:cNvGrpSpPr>
            <a:grpSpLocks/>
          </p:cNvGrpSpPr>
          <p:nvPr/>
        </p:nvGrpSpPr>
        <p:grpSpPr bwMode="white">
          <a:xfrm>
            <a:off x="5472818" y="661958"/>
            <a:ext cx="1839823" cy="364111"/>
            <a:chOff x="4195414" y="3273669"/>
            <a:chExt cx="1839823" cy="364111"/>
          </a:xfrm>
        </p:grpSpPr>
        <p:pic>
          <p:nvPicPr>
            <p:cNvPr id="60" name="Graphic 1"/>
            <p:cNvPicPr>
              <a:picLocks noChangeAspect="1"/>
            </p:cNvPicPr>
            <p:nvPr/>
          </p:nvPicPr>
          <p:blipFill>
            <a:blip r:embed="rId19">
              <a:lum/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195414" y="3273669"/>
              <a:ext cx="364111" cy="364111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31" name="Label 1"/>
            <p:cNvSpPr txBox="1">
              <a:spLocks noChangeArrowheads="1"/>
            </p:cNvSpPr>
            <p:nvPr/>
          </p:nvSpPr>
          <p:spPr bwMode="white">
            <a:xfrm>
              <a:off x="4576957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Filter for devices</a:t>
              </a:r>
              <a:endParaRPr lang="en-US" sz="1100" b="1" dirty="0"/>
            </a:p>
          </p:txBody>
        </p:sp>
      </p:grpSp>
      <p:pic>
        <p:nvPicPr>
          <p:cNvPr id="62" name="IconGrantMultifactorAuthentication"/>
          <p:cNvPicPr>
            <a:picLocks noChangeAspect="1"/>
          </p:cNvPicPr>
          <p:nvPr/>
        </p:nvPicPr>
        <p:blipFill>
          <a:blip r:embed="rId21">
            <a:lum/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>
            <a:fillRect/>
          </a:stretch>
        </p:blipFill>
        <p:spPr bwMode="white">
          <a:xfrm>
            <a:off x="3410647" y="3566863"/>
            <a:ext cx="17145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5" name="IconGrantMultifactorAuthenticationLabel"/>
          <p:cNvSpPr txBox="1">
            <a:spLocks noChangeArrowheads="1"/>
          </p:cNvSpPr>
          <p:nvPr/>
        </p:nvSpPr>
        <p:spPr bwMode="white">
          <a:xfrm>
            <a:off x="3575836" y="3571997"/>
            <a:ext cx="19007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Multifactor authentication</a:t>
            </a:r>
            <a:endParaRPr lang="en-US" sz="1000" dirty="0"/>
          </a:p>
        </p:txBody>
      </p:sp>
      <p:pic>
        <p:nvPicPr>
          <p:cNvPr id="38" name="IconGrantAuthenticationStrength"/>
          <p:cNvPicPr>
            <a:picLocks noChangeAspect="1"/>
          </p:cNvPicPr>
          <p:nvPr/>
        </p:nvPicPr>
        <p:blipFill>
          <a:blip r:embed="rId23">
            <a:lum/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/>
          <a:stretch>
            <a:fillRect/>
          </a:stretch>
        </p:blipFill>
        <p:spPr bwMode="white">
          <a:xfrm>
            <a:off x="3374515" y="3905034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7" name="IconGrantAuthenticationStrengthLabel"/>
          <p:cNvSpPr txBox="1">
            <a:spLocks noChangeArrowheads="1"/>
          </p:cNvSpPr>
          <p:nvPr/>
        </p:nvSpPr>
        <p:spPr bwMode="white">
          <a:xfrm>
            <a:off x="3575836" y="3907323"/>
            <a:ext cx="2185294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Authentication strength</a:t>
            </a:r>
            <a:endParaRPr lang="en-US" sz="1000" dirty="0"/>
          </a:p>
        </p:txBody>
      </p:sp>
      <p:pic>
        <p:nvPicPr>
          <p:cNvPr id="52" name="IconGrantDeviceCompliance"/>
          <p:cNvPicPr>
            <a:picLocks noChangeAspect="1"/>
          </p:cNvPicPr>
          <p:nvPr/>
        </p:nvPicPr>
        <p:blipFill>
          <a:blip r:embed="rId25">
            <a:lum/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/>
          <a:stretch>
            <a:fillRect/>
          </a:stretch>
        </p:blipFill>
        <p:spPr bwMode="white">
          <a:xfrm>
            <a:off x="3374515" y="4243205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9" name="IconGrantDeviceComplianceLabel"/>
          <p:cNvSpPr txBox="1">
            <a:spLocks noChangeArrowheads="1"/>
          </p:cNvSpPr>
          <p:nvPr/>
        </p:nvSpPr>
        <p:spPr bwMode="white">
          <a:xfrm>
            <a:off x="3575836" y="4242649"/>
            <a:ext cx="17378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Compliant device</a:t>
            </a:r>
            <a:endParaRPr lang="en-US" sz="1000" dirty="0"/>
          </a:p>
        </p:txBody>
      </p:sp>
      <p:pic>
        <p:nvPicPr>
          <p:cNvPr id="43" name="IconGrantHybridJoined"/>
          <p:cNvPicPr>
            <a:picLocks noChangeAspect="1"/>
          </p:cNvPicPr>
          <p:nvPr/>
        </p:nvPicPr>
        <p:blipFill>
          <a:blip r:embed="rId27">
            <a:lum/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/>
          <a:stretch>
            <a:fillRect/>
          </a:stretch>
        </p:blipFill>
        <p:spPr bwMode="white">
          <a:xfrm>
            <a:off x="3374515" y="4581376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3" name="IconGrantHybridJoinedLabel"/>
          <p:cNvSpPr txBox="1">
            <a:spLocks noChangeArrowheads="1"/>
          </p:cNvSpPr>
          <p:nvPr/>
        </p:nvSpPr>
        <p:spPr bwMode="white">
          <a:xfrm>
            <a:off x="3575836" y="4577975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Hybrid Azure AD joined device</a:t>
            </a:r>
            <a:endParaRPr lang="en-US" sz="1000" dirty="0"/>
          </a:p>
        </p:txBody>
      </p:sp>
      <p:pic>
        <p:nvPicPr>
          <p:cNvPr id="48" name="IconGrantApprovedClientApp"/>
          <p:cNvPicPr>
            <a:picLocks noChangeAspect="1"/>
          </p:cNvPicPr>
          <p:nvPr/>
        </p:nvPicPr>
        <p:blipFill>
          <a:blip r:embed="rId29">
            <a:lum/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rcRect/>
          <a:stretch>
            <a:fillRect/>
          </a:stretch>
        </p:blipFill>
        <p:spPr bwMode="white">
          <a:xfrm>
            <a:off x="3374515" y="491954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5" name="IconGrantApprovedClientAppLabel"/>
          <p:cNvSpPr txBox="1">
            <a:spLocks noChangeArrowheads="1"/>
          </p:cNvSpPr>
          <p:nvPr/>
        </p:nvSpPr>
        <p:spPr bwMode="white">
          <a:xfrm>
            <a:off x="3575836" y="4913301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Approved client app</a:t>
            </a:r>
            <a:endParaRPr lang="en-US" sz="1000" dirty="0"/>
          </a:p>
        </p:txBody>
      </p:sp>
      <p:pic>
        <p:nvPicPr>
          <p:cNvPr id="42" name="IconGrantCustomAuth"/>
          <p:cNvPicPr>
            <a:picLocks noChangeAspect="1"/>
          </p:cNvPicPr>
          <p:nvPr/>
        </p:nvPicPr>
        <p:blipFill>
          <a:blip r:embed="rId31">
            <a:lum/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rcRect/>
          <a:stretch>
            <a:fillRect/>
          </a:stretch>
        </p:blipFill>
        <p:spPr bwMode="white">
          <a:xfrm>
            <a:off x="3374515" y="593406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9" name="IconGrantCustomAuthLabel"/>
          <p:cNvSpPr txBox="1">
            <a:spLocks noChangeArrowheads="1"/>
          </p:cNvSpPr>
          <p:nvPr/>
        </p:nvSpPr>
        <p:spPr bwMode="white">
          <a:xfrm>
            <a:off x="3575836" y="5919279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Custom authentication factor</a:t>
            </a:r>
            <a:endParaRPr lang="en-US" sz="1000" dirty="0"/>
          </a:p>
        </p:txBody>
      </p:sp>
      <p:pic>
        <p:nvPicPr>
          <p:cNvPr id="40" name="IconGrantTermsOfUse"/>
          <p:cNvPicPr>
            <a:picLocks noChangeAspect="1"/>
          </p:cNvPicPr>
          <p:nvPr/>
        </p:nvPicPr>
        <p:blipFill>
          <a:blip r:embed="rId33">
            <a:lum/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rcRect/>
          <a:stretch>
            <a:fillRect/>
          </a:stretch>
        </p:blipFill>
        <p:spPr bwMode="white">
          <a:xfrm>
            <a:off x="3374515" y="627222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3" name="IconGrantTermsOfUseLabel"/>
          <p:cNvSpPr txBox="1">
            <a:spLocks noChangeArrowheads="1"/>
          </p:cNvSpPr>
          <p:nvPr/>
        </p:nvSpPr>
        <p:spPr bwMode="white">
          <a:xfrm>
            <a:off x="3575836" y="625460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Terms of use</a:t>
            </a:r>
            <a:endParaRPr lang="en-US" sz="1000" dirty="0"/>
          </a:p>
        </p:txBody>
      </p:sp>
      <p:sp>
        <p:nvSpPr>
          <p:cNvPr id="56" name="IconGrantAppProtectionLabel"/>
          <p:cNvSpPr txBox="1">
            <a:spLocks noChangeArrowheads="1"/>
          </p:cNvSpPr>
          <p:nvPr/>
        </p:nvSpPr>
        <p:spPr bwMode="white">
          <a:xfrm>
            <a:off x="3575836" y="524862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 protection policy</a:t>
            </a:r>
            <a:endParaRPr lang="en-US" sz="1000" dirty="0"/>
          </a:p>
        </p:txBody>
      </p:sp>
      <p:pic>
        <p:nvPicPr>
          <p:cNvPr id="65" name="IconGrantAppProtection"/>
          <p:cNvPicPr>
            <a:picLocks noChangeAspect="1"/>
          </p:cNvPicPr>
          <p:nvPr/>
        </p:nvPicPr>
        <p:blipFill>
          <a:blip r:embed="rId35">
            <a:lum/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rcRect/>
          <a:stretch>
            <a:fillRect/>
          </a:stretch>
        </p:blipFill>
        <p:spPr bwMode="white">
          <a:xfrm>
            <a:off x="3374515" y="525771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7" name="IconGrantChangePasswordLabel"/>
          <p:cNvSpPr txBox="1">
            <a:spLocks noChangeArrowheads="1"/>
          </p:cNvSpPr>
          <p:nvPr/>
        </p:nvSpPr>
        <p:spPr bwMode="white">
          <a:xfrm>
            <a:off x="3575836" y="5583953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Change password</a:t>
            </a:r>
            <a:endParaRPr lang="en-US" sz="1000" dirty="0"/>
          </a:p>
        </p:txBody>
      </p:sp>
      <p:pic>
        <p:nvPicPr>
          <p:cNvPr id="67" name="IconGrantChangePassword"/>
          <p:cNvPicPr>
            <a:picLocks noChangeAspect="1"/>
          </p:cNvPicPr>
          <p:nvPr/>
        </p:nvPicPr>
        <p:blipFill>
          <a:blip r:embed="rId37">
            <a:lum/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rcRect/>
          <a:stretch>
            <a:fillRect/>
          </a:stretch>
        </p:blipFill>
        <p:spPr bwMode="white">
          <a:xfrm>
            <a:off x="3374515" y="5595889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4" name="ShadeRisk"/>
          <p:cNvSpPr>
            <a:spLocks/>
          </p:cNvSpPr>
          <p:nvPr/>
        </p:nvSpPr>
        <p:spPr bwMode="white">
          <a:xfrm>
            <a:off x="507564" y="650246"/>
            <a:ext cx="976864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66" name="ShadeDevicePlatforms"/>
          <p:cNvSpPr>
            <a:spLocks/>
          </p:cNvSpPr>
          <p:nvPr/>
        </p:nvSpPr>
        <p:spPr bwMode="white">
          <a:xfrm>
            <a:off x="1863623" y="663409"/>
            <a:ext cx="1773927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78" name="ShadeClientApps"/>
          <p:cNvSpPr>
            <a:spLocks/>
          </p:cNvSpPr>
          <p:nvPr/>
        </p:nvSpPr>
        <p:spPr bwMode="white">
          <a:xfrm>
            <a:off x="3802273" y="650246"/>
            <a:ext cx="1481482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2" name="ShadeFilterForDevices"/>
          <p:cNvSpPr>
            <a:spLocks/>
          </p:cNvSpPr>
          <p:nvPr/>
        </p:nvSpPr>
        <p:spPr bwMode="white">
          <a:xfrm>
            <a:off x="5438955" y="627922"/>
            <a:ext cx="1873685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3" name="ShadeGrantMultifactorAuth"/>
          <p:cNvSpPr>
            <a:spLocks/>
          </p:cNvSpPr>
          <p:nvPr/>
        </p:nvSpPr>
        <p:spPr bwMode="white">
          <a:xfrm>
            <a:off x="3369399" y="3534220"/>
            <a:ext cx="2069555" cy="28330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4" name="ShadeGrantAuthStrength"/>
          <p:cNvSpPr>
            <a:spLocks/>
          </p:cNvSpPr>
          <p:nvPr/>
        </p:nvSpPr>
        <p:spPr bwMode="white">
          <a:xfrm>
            <a:off x="3350256" y="3869846"/>
            <a:ext cx="2069555" cy="27801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5" name="ShadeGrantCompliantDevice"/>
          <p:cNvSpPr>
            <a:spLocks/>
          </p:cNvSpPr>
          <p:nvPr/>
        </p:nvSpPr>
        <p:spPr bwMode="white">
          <a:xfrm>
            <a:off x="3361852" y="4243205"/>
            <a:ext cx="2077102" cy="26110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6" name="ShadeGrantHybridAzureADJoined"/>
          <p:cNvSpPr>
            <a:spLocks/>
          </p:cNvSpPr>
          <p:nvPr/>
        </p:nvSpPr>
        <p:spPr bwMode="white">
          <a:xfrm>
            <a:off x="3353637" y="4552268"/>
            <a:ext cx="2160906" cy="298395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7" name="ShadeGrantApprovedClientApp"/>
          <p:cNvSpPr>
            <a:spLocks/>
          </p:cNvSpPr>
          <p:nvPr/>
        </p:nvSpPr>
        <p:spPr bwMode="white">
          <a:xfrm>
            <a:off x="3331918" y="4876027"/>
            <a:ext cx="2182625" cy="29839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8" name="ShadeGrantAppProtectionPolicy"/>
          <p:cNvSpPr>
            <a:spLocks/>
          </p:cNvSpPr>
          <p:nvPr/>
        </p:nvSpPr>
        <p:spPr bwMode="white">
          <a:xfrm>
            <a:off x="3350256" y="5207226"/>
            <a:ext cx="2122561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9" name="ShadeGrantChangePassword"/>
          <p:cNvSpPr>
            <a:spLocks/>
          </p:cNvSpPr>
          <p:nvPr/>
        </p:nvSpPr>
        <p:spPr bwMode="white">
          <a:xfrm>
            <a:off x="3350257" y="5557021"/>
            <a:ext cx="2042006" cy="287239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0" name="ShadeGrantCustomAuthFactor"/>
          <p:cNvSpPr>
            <a:spLocks/>
          </p:cNvSpPr>
          <p:nvPr/>
        </p:nvSpPr>
        <p:spPr bwMode="white">
          <a:xfrm>
            <a:off x="3331918" y="5899058"/>
            <a:ext cx="2182625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1" name="ShadeGrantTermsOfUse"/>
          <p:cNvSpPr>
            <a:spLocks/>
          </p:cNvSpPr>
          <p:nvPr/>
        </p:nvSpPr>
        <p:spPr bwMode="white">
          <a:xfrm>
            <a:off x="3313823" y="6192350"/>
            <a:ext cx="101602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99" name="Rectangle 98"/>
          <p:cNvSpPr>
            <a:spLocks/>
          </p:cNvSpPr>
          <p:nvPr/>
        </p:nvSpPr>
        <p:spPr bwMode="white">
          <a:xfrm>
            <a:off x="3268757" y="3253404"/>
            <a:ext cx="2357725" cy="3498546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0" name="Rectangle 109"/>
          <p:cNvSpPr>
            <a:spLocks/>
          </p:cNvSpPr>
          <p:nvPr/>
        </p:nvSpPr>
        <p:spPr bwMode="white">
          <a:xfrm>
            <a:off x="9881750" y="3248255"/>
            <a:ext cx="2220808" cy="3510149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7" name="Rectangle 116"/>
          <p:cNvSpPr>
            <a:spLocks/>
          </p:cNvSpPr>
          <p:nvPr/>
        </p:nvSpPr>
        <p:spPr bwMode="white">
          <a:xfrm>
            <a:off x="26741" y="606825"/>
            <a:ext cx="11985015" cy="2063636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2" name="Conditions Label"/>
          <p:cNvSpPr txBox="1">
            <a:spLocks noChangeArrowheads="1"/>
          </p:cNvSpPr>
          <p:nvPr/>
        </p:nvSpPr>
        <p:spPr bwMode="white">
          <a:xfrm rot="16200000">
            <a:off x="-883507" y="1514324"/>
            <a:ext cx="2081441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Conditions</a:t>
            </a:r>
          </a:p>
        </p:txBody>
      </p:sp>
      <p:sp>
        <p:nvSpPr>
          <p:cNvPr id="109" name="Grant Controls"/>
          <p:cNvSpPr txBox="1">
            <a:spLocks noChangeArrowheads="1"/>
          </p:cNvSpPr>
          <p:nvPr/>
        </p:nvSpPr>
        <p:spPr bwMode="white">
          <a:xfrm>
            <a:off x="3252146" y="3244395"/>
            <a:ext cx="2391873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Grant Controls</a:t>
            </a:r>
          </a:p>
        </p:txBody>
      </p:sp>
      <p:sp>
        <p:nvSpPr>
          <p:cNvPr id="111" name="Session Controls"/>
          <p:cNvSpPr txBox="1">
            <a:spLocks noChangeArrowheads="1"/>
          </p:cNvSpPr>
          <p:nvPr/>
        </p:nvSpPr>
        <p:spPr bwMode="white">
          <a:xfrm>
            <a:off x="9864212" y="3243751"/>
            <a:ext cx="2238346" cy="23786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Session Controls</a:t>
            </a:r>
          </a:p>
        </p:txBody>
      </p:sp>
      <p:pic>
        <p:nvPicPr>
          <p:cNvPr id="72" name="Graphic 71"/>
          <p:cNvPicPr>
            <a:picLocks noChangeAspect="1"/>
          </p:cNvPicPr>
          <p:nvPr/>
        </p:nvPicPr>
        <p:blipFill>
          <a:blip r:embed="rId39">
            <a:lum/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rcRect/>
          <a:stretch>
            <a:fillRect/>
          </a:stretch>
        </p:blipFill>
        <p:spPr bwMode="white">
          <a:xfrm>
            <a:off x="9996846" y="356982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4" name="Graphic 93"/>
          <p:cNvPicPr>
            <a:picLocks noChangeAspect="1"/>
          </p:cNvPicPr>
          <p:nvPr/>
        </p:nvPicPr>
        <p:blipFill>
          <a:blip r:embed="rId41">
            <a:lum/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rcRect/>
          <a:stretch>
            <a:fillRect/>
          </a:stretch>
        </p:blipFill>
        <p:spPr bwMode="white">
          <a:xfrm>
            <a:off x="10009443" y="525644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5" name="TextBox 94"/>
          <p:cNvSpPr txBox="1">
            <a:spLocks noChangeArrowheads="1"/>
          </p:cNvSpPr>
          <p:nvPr/>
        </p:nvSpPr>
        <p:spPr bwMode="white">
          <a:xfrm>
            <a:off x="10207481" y="3578463"/>
            <a:ext cx="150554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App enforced restrictions</a:t>
            </a:r>
          </a:p>
        </p:txBody>
      </p:sp>
      <p:sp>
        <p:nvSpPr>
          <p:cNvPr id="96" name="TextBox 95"/>
          <p:cNvSpPr txBox="1">
            <a:spLocks noChangeArrowheads="1"/>
          </p:cNvSpPr>
          <p:nvPr/>
        </p:nvSpPr>
        <p:spPr bwMode="white">
          <a:xfrm>
            <a:off x="10201167" y="3899846"/>
            <a:ext cx="181011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Conditional Access App Control</a:t>
            </a:r>
          </a:p>
        </p:txBody>
      </p:sp>
      <p:sp>
        <p:nvSpPr>
          <p:cNvPr id="97" name="TextBox 96"/>
          <p:cNvSpPr txBox="1">
            <a:spLocks noChangeArrowheads="1"/>
          </p:cNvSpPr>
          <p:nvPr/>
        </p:nvSpPr>
        <p:spPr bwMode="white">
          <a:xfrm>
            <a:off x="10215627" y="4357505"/>
            <a:ext cx="1090363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Sign-in frequency</a:t>
            </a:r>
          </a:p>
        </p:txBody>
      </p:sp>
      <p:sp>
        <p:nvSpPr>
          <p:cNvPr id="98" name="TextBox 97"/>
          <p:cNvSpPr txBox="1">
            <a:spLocks noChangeArrowheads="1"/>
          </p:cNvSpPr>
          <p:nvPr/>
        </p:nvSpPr>
        <p:spPr bwMode="white">
          <a:xfrm>
            <a:off x="10225446" y="4793305"/>
            <a:ext cx="156966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Persistent browser session</a:t>
            </a:r>
          </a:p>
        </p:txBody>
      </p:sp>
      <p:sp>
        <p:nvSpPr>
          <p:cNvPr id="100" name="TextBox 99"/>
          <p:cNvSpPr txBox="1">
            <a:spLocks noChangeArrowheads="1"/>
          </p:cNvSpPr>
          <p:nvPr/>
        </p:nvSpPr>
        <p:spPr bwMode="white">
          <a:xfrm>
            <a:off x="10229552" y="5232376"/>
            <a:ext cx="1717137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Continuous access evaluation</a:t>
            </a:r>
          </a:p>
        </p:txBody>
      </p:sp>
      <p:sp>
        <p:nvSpPr>
          <p:cNvPr id="101" name="TextBox 100"/>
          <p:cNvSpPr txBox="1">
            <a:spLocks noChangeArrowheads="1"/>
          </p:cNvSpPr>
          <p:nvPr/>
        </p:nvSpPr>
        <p:spPr bwMode="white">
          <a:xfrm>
            <a:off x="10259108" y="5658625"/>
            <a:ext cx="153599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Disable resilience defaults</a:t>
            </a:r>
          </a:p>
        </p:txBody>
      </p:sp>
      <p:pic>
        <p:nvPicPr>
          <p:cNvPr id="103" name="Graphic 102"/>
          <p:cNvPicPr>
            <a:picLocks noChangeAspect="1"/>
          </p:cNvPicPr>
          <p:nvPr/>
        </p:nvPicPr>
        <p:blipFill>
          <a:blip r:embed="rId43">
            <a:lum/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rcRect/>
          <a:stretch>
            <a:fillRect/>
          </a:stretch>
        </p:blipFill>
        <p:spPr bwMode="white">
          <a:xfrm>
            <a:off x="9996846" y="479900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5" name="Graphic 104"/>
          <p:cNvPicPr>
            <a:picLocks noChangeAspect="1"/>
          </p:cNvPicPr>
          <p:nvPr/>
        </p:nvPicPr>
        <p:blipFill>
          <a:blip r:embed="rId45">
            <a:lum/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rcRect/>
          <a:stretch>
            <a:fillRect/>
          </a:stretch>
        </p:blipFill>
        <p:spPr bwMode="white">
          <a:xfrm>
            <a:off x="9996846" y="437457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7" name="Graphic 106"/>
          <p:cNvPicPr>
            <a:picLocks noChangeAspect="1"/>
          </p:cNvPicPr>
          <p:nvPr/>
        </p:nvPicPr>
        <p:blipFill>
          <a:blip r:embed="rId7">
            <a:lum/>
            <a:extLst>
              <a:ext uri="{96DAC541-7B7A-43D3-8B79-37D633B846F1}">
                <asvg:svgBlip xmlns:asvg="http://schemas.microsoft.com/office/drawing/2016/SVG/main" r:embed="rId47"/>
              </a:ext>
            </a:extLst>
          </a:blip>
          <a:srcRect/>
          <a:stretch>
            <a:fillRect/>
          </a:stretch>
        </p:blipFill>
        <p:spPr bwMode="white">
          <a:xfrm>
            <a:off x="9996846" y="391529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15" name="SessionSifInterval"/>
          <p:cNvSpPr txBox="1">
            <a:spLocks noChangeArrowheads="1"/>
          </p:cNvSpPr>
          <p:nvPr/>
        </p:nvSpPr>
        <p:spPr bwMode="white">
          <a:xfrm>
            <a:off x="10296745" y="4516775"/>
            <a:ext cx="1249060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Periodic reauthentication</a:t>
            </a:r>
          </a:p>
        </p:txBody>
      </p:sp>
      <p:sp>
        <p:nvSpPr>
          <p:cNvPr id="114" name="SessionCasType"/>
          <p:cNvSpPr txBox="1">
            <a:spLocks noChangeArrowheads="1"/>
          </p:cNvSpPr>
          <p:nvPr/>
        </p:nvSpPr>
        <p:spPr bwMode="white">
          <a:xfrm>
            <a:off x="10296745" y="4075500"/>
            <a:ext cx="95410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App Control Policy</a:t>
            </a:r>
          </a:p>
        </p:txBody>
      </p:sp>
      <p:sp>
        <p:nvSpPr>
          <p:cNvPr id="116" name="SessionPersistenBrowserMode"/>
          <p:cNvSpPr txBox="1">
            <a:spLocks noChangeArrowheads="1"/>
          </p:cNvSpPr>
          <p:nvPr/>
        </p:nvSpPr>
        <p:spPr bwMode="white">
          <a:xfrm>
            <a:off x="10309761" y="4945281"/>
            <a:ext cx="918841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Always persistent</a:t>
            </a:r>
          </a:p>
        </p:txBody>
      </p:sp>
      <p:sp>
        <p:nvSpPr>
          <p:cNvPr id="118" name="SessionCaeMode"/>
          <p:cNvSpPr txBox="1">
            <a:spLocks noChangeArrowheads="1"/>
          </p:cNvSpPr>
          <p:nvPr/>
        </p:nvSpPr>
        <p:spPr bwMode="white">
          <a:xfrm>
            <a:off x="10301386" y="5393378"/>
            <a:ext cx="15359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US" sz="800" dirty="0"/>
              <a:t>Strictly enforce location policies</a:t>
            </a:r>
          </a:p>
        </p:txBody>
      </p:sp>
      <p:sp>
        <p:nvSpPr>
          <p:cNvPr id="119" name="ShadeSessionAppEnforced"/>
          <p:cNvSpPr>
            <a:spLocks/>
          </p:cNvSpPr>
          <p:nvPr/>
        </p:nvSpPr>
        <p:spPr bwMode="white">
          <a:xfrm>
            <a:off x="9959680" y="3548808"/>
            <a:ext cx="2051597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0" name="ShadeSessionCas"/>
          <p:cNvSpPr>
            <a:spLocks/>
          </p:cNvSpPr>
          <p:nvPr/>
        </p:nvSpPr>
        <p:spPr bwMode="white">
          <a:xfrm>
            <a:off x="9978939" y="3884212"/>
            <a:ext cx="2087576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1" name="ShadeSessionSif"/>
          <p:cNvSpPr>
            <a:spLocks/>
          </p:cNvSpPr>
          <p:nvPr/>
        </p:nvSpPr>
        <p:spPr bwMode="white">
          <a:xfrm>
            <a:off x="9940787" y="4320077"/>
            <a:ext cx="2125728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2" name="ShadeSessionPersistentBrowser"/>
          <p:cNvSpPr>
            <a:spLocks/>
          </p:cNvSpPr>
          <p:nvPr/>
        </p:nvSpPr>
        <p:spPr bwMode="white">
          <a:xfrm>
            <a:off x="9938833" y="4746195"/>
            <a:ext cx="207244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" name="Label Secure Sign In Session"/>
          <p:cNvSpPr txBox="1">
            <a:spLocks noChangeArrowheads="1"/>
          </p:cNvSpPr>
          <p:nvPr/>
        </p:nvSpPr>
        <p:spPr bwMode="white">
          <a:xfrm>
            <a:off x="10260000" y="6084874"/>
            <a:ext cx="166584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Token protection for session</a:t>
            </a:r>
          </a:p>
        </p:txBody>
      </p:sp>
      <p:pic>
        <p:nvPicPr>
          <p:cNvPr id="77" name="IconSessionCaeDisable" descr="Close with solid fill"/>
          <p:cNvPicPr>
            <a:picLocks noChangeAspect="1"/>
          </p:cNvPicPr>
          <p:nvPr/>
        </p:nvPicPr>
        <p:blipFill>
          <a:blip r:embed="rId48">
            <a:lum/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rcRect/>
          <a:stretch>
            <a:fillRect/>
          </a:stretch>
        </p:blipFill>
        <p:spPr bwMode="white">
          <a:xfrm>
            <a:off x="9979885" y="5218651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2" name="IconSessionSecureSignInSession 1"/>
          <p:cNvPicPr>
            <a:picLocks noChangeAspect="1"/>
          </p:cNvPicPr>
          <p:nvPr/>
        </p:nvPicPr>
        <p:blipFill>
          <a:blip r:embed="rId50">
            <a:lum/>
            <a:extLst>
              <a:ext uri="{96DAC541-7B7A-43D3-8B79-37D633B846F1}">
                <asvg:svgBlip xmlns:asvg="http://schemas.microsoft.com/office/drawing/2016/SVG/main" r:embed="rId51"/>
              </a:ext>
            </a:extLst>
          </a:blip>
          <a:srcRect/>
          <a:stretch>
            <a:fillRect/>
          </a:stretch>
        </p:blipFill>
        <p:spPr bwMode="white">
          <a:xfrm>
            <a:off x="9997200" y="6085768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3" name="ShadeSessionCae"/>
          <p:cNvSpPr>
            <a:spLocks/>
          </p:cNvSpPr>
          <p:nvPr/>
        </p:nvSpPr>
        <p:spPr bwMode="white">
          <a:xfrm>
            <a:off x="9987595" y="5219780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76" name="ShadeSessionSecureSignIn"/>
          <p:cNvSpPr>
            <a:spLocks/>
          </p:cNvSpPr>
          <p:nvPr/>
        </p:nvSpPr>
        <p:spPr bwMode="white">
          <a:xfrm>
            <a:off x="9996846" y="5986498"/>
            <a:ext cx="2014431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pic>
        <p:nvPicPr>
          <p:cNvPr id="102" name="Graphic 101"/>
          <p:cNvPicPr>
            <a:picLocks noChangeAspect="1"/>
          </p:cNvPicPr>
          <p:nvPr/>
        </p:nvPicPr>
        <p:blipFill>
          <a:blip r:embed="rId52">
            <a:lum/>
            <a:extLst>
              <a:ext uri="{96DAC541-7B7A-43D3-8B79-37D633B846F1}">
                <asvg:svgBlip xmlns:asvg="http://schemas.microsoft.com/office/drawing/2016/SVG/main" r:embed="rId53"/>
              </a:ext>
            </a:extLst>
          </a:blip>
          <a:srcRect/>
          <a:stretch>
            <a:fillRect/>
          </a:stretch>
        </p:blipFill>
        <p:spPr bwMode="white">
          <a:xfrm>
            <a:off x="9997200" y="5663777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80" name="Graphic 79" descr="Close with solid fill"/>
          <p:cNvPicPr>
            <a:picLocks noChangeAspect="1"/>
          </p:cNvPicPr>
          <p:nvPr/>
        </p:nvPicPr>
        <p:blipFill>
          <a:blip r:embed="rId48">
            <a:lum/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rcRect/>
          <a:stretch>
            <a:fillRect/>
          </a:stretch>
        </p:blipFill>
        <p:spPr bwMode="white">
          <a:xfrm>
            <a:off x="9963899" y="5637424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4" name="ShadeSessionDisableResilience"/>
          <p:cNvSpPr>
            <a:spLocks/>
          </p:cNvSpPr>
          <p:nvPr/>
        </p:nvSpPr>
        <p:spPr bwMode="white">
          <a:xfrm>
            <a:off x="9959681" y="5602709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2" name="PolicyName">
            <a:hlinkClick r:id="" action="ppaction://hlinkfile"/>
          </p:cNvPr>
          <p:cNvSpPr>
            <a:spLocks noGrp="1"/>
          </p:cNvSpPr>
          <p:nvPr>
            <p:ph type="title"/>
          </p:nvPr>
        </p:nvSpPr>
        <p:spPr bwMode="white">
          <a:xfrm>
            <a:off x="838200" y="115511"/>
            <a:ext cx="10003967" cy="609565"/>
          </a:xfrm>
          <a:ln>
            <a:headEnd type="none"/>
            <a:tailEnd type="none"/>
          </a:ln>
        </p:spPr>
        <p:txBody>
          <a:bodyPr wrap="square">
            <a:noAutofit/>
          </a:bodyPr>
          <a:lstStyle/>
          <a:p>
            <a:pPr defTabSz="914400"/>
            <a:r>
              <a:rPr lang="en-US" sz="2000" b="1" dirty="0"/>
              <a:t> [All Apps] [SVo365 Collibra] (Block) Service Accounts Login From Non-OCC IPs </a:t>
            </a:r>
          </a:p>
        </p:txBody>
      </p:sp>
      <p:sp>
        <p:nvSpPr>
          <p:cNvPr id="16" name="LastModified"/>
          <p:cNvSpPr txBox="1">
            <a:spLocks noChangeArrowheads="1"/>
          </p:cNvSpPr>
          <p:nvPr/>
        </p:nvSpPr>
        <p:spPr bwMode="white">
          <a:xfrm>
            <a:off x="10556111" y="388376"/>
            <a:ext cx="15483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algn="r" defTabSz="457200"/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Last modified: 2025-05-22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UserWorkload"/>
          <p:cNvSpPr>
            <a:spLocks/>
          </p:cNvSpPr>
          <p:nvPr/>
        </p:nvSpPr>
        <p:spPr bwMode="auto">
          <a:xfrm>
            <a:off x="175820" y="2709769"/>
            <a:ext cx="2202823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Users</a:t>
            </a:r>
          </a:p>
        </p:txBody>
      </p:sp>
      <p:sp>
        <p:nvSpPr>
          <p:cNvPr id="7" name="UserWorkloadIncExc"/>
          <p:cNvSpPr txBox="1">
            <a:spLocks noChangeArrowheads="1"/>
          </p:cNvSpPr>
          <p:nvPr/>
        </p:nvSpPr>
        <p:spPr bwMode="white">
          <a:xfrm>
            <a:off x="125485" y="3698952"/>
            <a:ext cx="3062115" cy="313265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 numCol="1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b="1" dirty="0"/>
            </a:pPr>
            <a:r>
              <a:t> Users</a:t>
            </a:r>
          </a:p>
          <a:p>
            <a:pPr defTabSz="457200">
              <a:defRPr sz="1100" dirty="0"/>
            </a:pPr>
            <a:r>
              <a:t> - GetHelp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19" name="Risks"/>
          <p:cNvSpPr txBox="1">
            <a:spLocks noChangeArrowheads="1"/>
          </p:cNvSpPr>
          <p:nvPr/>
        </p:nvSpPr>
        <p:spPr bwMode="white">
          <a:xfrm>
            <a:off x="524485" y="1021946"/>
            <a:ext cx="1348869" cy="166886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0" name="Platforms"/>
          <p:cNvSpPr txBox="1">
            <a:spLocks noChangeArrowheads="1"/>
          </p:cNvSpPr>
          <p:nvPr/>
        </p:nvSpPr>
        <p:spPr bwMode="white">
          <a:xfrm>
            <a:off x="1826931" y="1021947"/>
            <a:ext cx="2061056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3" name="Locations"/>
          <p:cNvSpPr txBox="1">
            <a:spLocks noChangeArrowheads="1"/>
          </p:cNvSpPr>
          <p:nvPr/>
        </p:nvSpPr>
        <p:spPr bwMode="white">
          <a:xfrm>
            <a:off x="8324941" y="1021947"/>
            <a:ext cx="3513702" cy="159258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b="1" dirty="0"/>
            </a:pPr>
            <a:r>
              <a:t>✅ Include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r>
              <a:t>🚫 Exclude</a:t>
            </a:r>
          </a:p>
          <a:p>
            <a:pPr defTabSz="457200">
              <a:defRPr sz="1100" dirty="0"/>
            </a:pPr>
            <a:r>
              <a:t> - OCC Proxy Egress</a:t>
            </a:r>
          </a:p>
          <a:p>
            <a:pPr defTabSz="457200">
              <a:defRPr sz="1100" dirty="0"/>
            </a:pPr>
            <a:r>
              <a:t> - OCC ServiceNow IPs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24" name="ClientAppTypes"/>
          <p:cNvSpPr txBox="1">
            <a:spLocks noChangeArrowheads="1"/>
          </p:cNvSpPr>
          <p:nvPr/>
        </p:nvSpPr>
        <p:spPr bwMode="white">
          <a:xfrm>
            <a:off x="3810664" y="1021947"/>
            <a:ext cx="1581599" cy="165343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5" name="DeviceFilters"/>
          <p:cNvSpPr txBox="1">
            <a:spLocks noChangeArrowheads="1"/>
          </p:cNvSpPr>
          <p:nvPr/>
        </p:nvSpPr>
        <p:spPr bwMode="white">
          <a:xfrm>
            <a:off x="5818151" y="1022762"/>
            <a:ext cx="2248808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cxnSp>
        <p:nvCxnSpPr>
          <p:cNvPr id="27" name="Straight Arrow Connector 26" descr="Arrow drawn from user/workload  to the action being performed by the user such as accessing cloud apps."/>
          <p:cNvCxnSpPr/>
          <p:nvPr/>
        </p:nvCxnSpPr>
        <p:spPr bwMode="white">
          <a:xfrm>
            <a:off x="2195232" y="3159047"/>
            <a:ext cx="3959471" cy="1"/>
          </a:xfrm>
          <a:prstGeom prst="straightConnector1">
            <a:avLst/>
          </a:prstGeom>
          <a:ln w="76200"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30" name="IconBlockAccess" descr="Picture with red color stop sign to indicate blocked access"/>
          <p:cNvPicPr>
            <a:picLocks noChangeAspect="1"/>
          </p:cNvPicPr>
          <p:nvPr/>
        </p:nvPicPr>
        <p:blipFill>
          <a:blip r:embed="rId3">
            <a:lum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 bwMode="white">
          <a:xfrm>
            <a:off x="5306633" y="2735805"/>
            <a:ext cx="356616" cy="35661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34" name="GrantLabelBlockAccess"/>
          <p:cNvSpPr txBox="1">
            <a:spLocks noChangeArrowheads="1"/>
          </p:cNvSpPr>
          <p:nvPr/>
        </p:nvSpPr>
        <p:spPr bwMode="white">
          <a:xfrm>
            <a:off x="3936931" y="2734375"/>
            <a:ext cx="1358065" cy="369332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algn="ctr" defTabSz="457200"/>
            <a:r>
              <a:rPr lang="en-US" b="1" dirty="0">
                <a:solidFill>
                  <a:srgbClr val="FF0000"/>
                </a:solidFill>
              </a:rPr>
              <a:t>Block access</a:t>
            </a:r>
          </a:p>
        </p:txBody>
      </p:sp>
      <p:sp>
        <p:nvSpPr>
          <p:cNvPr id="3" name="CloudAppActionIncExc"/>
          <p:cNvSpPr txBox="1">
            <a:spLocks noChangeArrowheads="1"/>
          </p:cNvSpPr>
          <p:nvPr/>
        </p:nvSpPr>
        <p:spPr bwMode="white">
          <a:xfrm>
            <a:off x="6039518" y="3662782"/>
            <a:ext cx="3649518" cy="315161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</p:txBody>
      </p:sp>
      <p:pic>
        <p:nvPicPr>
          <p:cNvPr id="26" name="IconGroupIdentity"/>
          <p:cNvPicPr>
            <a:picLocks noChangeAspect="1"/>
          </p:cNvPicPr>
          <p:nvPr/>
        </p:nvPicPr>
        <p:blipFill>
          <a:blip r:embed="rId5">
            <a:lum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 bwMode="white">
          <a:xfrm>
            <a:off x="327701" y="2839007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36" name="Graphic 35"/>
          <p:cNvPicPr>
            <a:picLocks noChangeAspect="1"/>
          </p:cNvPicPr>
          <p:nvPr/>
        </p:nvPicPr>
        <p:blipFill>
          <a:blip r:embed="rId7">
            <a:lum/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p:blipFill>
        <p:spPr bwMode="white">
          <a:xfrm>
            <a:off x="495610" y="197468"/>
            <a:ext cx="381196" cy="38119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" name="CloudAppAction"/>
          <p:cNvSpPr>
            <a:spLocks/>
          </p:cNvSpPr>
          <p:nvPr/>
        </p:nvSpPr>
        <p:spPr bwMode="auto">
          <a:xfrm>
            <a:off x="6206089" y="2718506"/>
            <a:ext cx="3227026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All cloud apps</a:t>
            </a:r>
          </a:p>
        </p:txBody>
      </p:sp>
      <p:pic>
        <p:nvPicPr>
          <p:cNvPr id="75" name="IconAccessAllCloudApps"/>
          <p:cNvPicPr>
            <a:picLocks noChangeAspect="1"/>
          </p:cNvPicPr>
          <p:nvPr/>
        </p:nvPicPr>
        <p:blipFill>
          <a:blip r:embed="rId9">
            <a:lum/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p:blipFill>
        <p:spPr bwMode="white">
          <a:xfrm>
            <a:off x="6439264" y="2836824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21" name="StateEnabled"/>
          <p:cNvSpPr>
            <a:spLocks/>
          </p:cNvSpPr>
          <p:nvPr/>
        </p:nvSpPr>
        <p:spPr bwMode="white">
          <a:xfrm>
            <a:off x="10842171" y="83487"/>
            <a:ext cx="1260389" cy="264812"/>
          </a:xfrm>
          <a:prstGeom prst="round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r>
              <a:rPr lang="en-US" sz="800" dirty="0"/>
              <a:t>Policy Enabled</a:t>
            </a:r>
          </a:p>
        </p:txBody>
      </p:sp>
      <p:grpSp>
        <p:nvGrpSpPr>
          <p:cNvPr id="10" name="IconRiskyUsers"/>
          <p:cNvGrpSpPr>
            <a:grpSpLocks/>
          </p:cNvGrpSpPr>
          <p:nvPr/>
        </p:nvGrpSpPr>
        <p:grpSpPr bwMode="white">
          <a:xfrm>
            <a:off x="635426" y="738677"/>
            <a:ext cx="1202553" cy="274320"/>
            <a:chOff x="2013768" y="1033956"/>
            <a:chExt cx="1342320" cy="274320"/>
          </a:xfrm>
        </p:grpSpPr>
        <p:pic>
          <p:nvPicPr>
            <p:cNvPr id="46" name="Graphic 1"/>
            <p:cNvPicPr>
              <a:picLocks noChangeAspect="1"/>
            </p:cNvPicPr>
            <p:nvPr/>
          </p:nvPicPr>
          <p:blipFill>
            <a:blip r:embed="rId11">
              <a:lum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013768" y="1033956"/>
              <a:ext cx="274320" cy="27432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5" name="Label 1"/>
            <p:cNvSpPr txBox="1">
              <a:spLocks noChangeArrowheads="1"/>
            </p:cNvSpPr>
            <p:nvPr/>
          </p:nvSpPr>
          <p:spPr bwMode="white">
            <a:xfrm>
              <a:off x="2240077" y="1040706"/>
              <a:ext cx="1116011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Risk</a:t>
              </a:r>
            </a:p>
          </p:txBody>
        </p:sp>
      </p:grpSp>
      <p:grpSp>
        <p:nvGrpSpPr>
          <p:cNvPr id="14" name="IconPlatforms"/>
          <p:cNvGrpSpPr>
            <a:grpSpLocks/>
          </p:cNvGrpSpPr>
          <p:nvPr/>
        </p:nvGrpSpPr>
        <p:grpSpPr bwMode="white">
          <a:xfrm>
            <a:off x="1927788" y="715249"/>
            <a:ext cx="1719285" cy="365760"/>
            <a:chOff x="3262737" y="994835"/>
            <a:chExt cx="1719285" cy="365760"/>
          </a:xfrm>
        </p:grpSpPr>
        <p:pic>
          <p:nvPicPr>
            <p:cNvPr id="29" name="Graphic 1"/>
            <p:cNvPicPr>
              <a:picLocks noChangeAspect="1"/>
            </p:cNvPicPr>
            <p:nvPr/>
          </p:nvPicPr>
          <p:blipFill>
            <a:blip r:embed="rId13">
              <a:lum/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3262737" y="994835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1" name="Label 1"/>
            <p:cNvSpPr txBox="1">
              <a:spLocks noChangeArrowheads="1"/>
            </p:cNvSpPr>
            <p:nvPr/>
          </p:nvSpPr>
          <p:spPr bwMode="white">
            <a:xfrm>
              <a:off x="3582397" y="1027255"/>
              <a:ext cx="1399625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Device platforms</a:t>
              </a:r>
            </a:p>
          </p:txBody>
        </p:sp>
      </p:grpSp>
      <p:grpSp>
        <p:nvGrpSpPr>
          <p:cNvPr id="17" name="IconClientAppTypes"/>
          <p:cNvGrpSpPr>
            <a:grpSpLocks/>
          </p:cNvGrpSpPr>
          <p:nvPr/>
        </p:nvGrpSpPr>
        <p:grpSpPr bwMode="white">
          <a:xfrm>
            <a:off x="3908159" y="670015"/>
            <a:ext cx="1852971" cy="365760"/>
            <a:chOff x="4858970" y="975927"/>
            <a:chExt cx="1852971" cy="365760"/>
          </a:xfrm>
        </p:grpSpPr>
        <p:pic>
          <p:nvPicPr>
            <p:cNvPr id="58" name="Graphic 1"/>
            <p:cNvPicPr>
              <a:picLocks noChangeAspect="1"/>
            </p:cNvPicPr>
            <p:nvPr/>
          </p:nvPicPr>
          <p:blipFill>
            <a:blip r:embed="rId15">
              <a:lum/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858970" y="975927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5" name="Label 1"/>
            <p:cNvSpPr txBox="1">
              <a:spLocks noChangeArrowheads="1"/>
            </p:cNvSpPr>
            <p:nvPr/>
          </p:nvSpPr>
          <p:spPr bwMode="white">
            <a:xfrm>
              <a:off x="5193983" y="1009899"/>
              <a:ext cx="1517958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Client apps</a:t>
              </a:r>
            </a:p>
          </p:txBody>
        </p:sp>
      </p:grpSp>
      <p:grpSp>
        <p:nvGrpSpPr>
          <p:cNvPr id="37" name="IconLocations"/>
          <p:cNvGrpSpPr>
            <a:grpSpLocks/>
          </p:cNvGrpSpPr>
          <p:nvPr/>
        </p:nvGrpSpPr>
        <p:grpSpPr bwMode="white">
          <a:xfrm>
            <a:off x="8411896" y="646848"/>
            <a:ext cx="1850168" cy="388465"/>
            <a:chOff x="2321433" y="3262888"/>
            <a:chExt cx="1850168" cy="388465"/>
          </a:xfrm>
        </p:grpSpPr>
        <p:pic>
          <p:nvPicPr>
            <p:cNvPr id="33" name="Graphic 1"/>
            <p:cNvPicPr>
              <a:picLocks noChangeAspect="1"/>
            </p:cNvPicPr>
            <p:nvPr/>
          </p:nvPicPr>
          <p:blipFill>
            <a:blip r:embed="rId17">
              <a:lum/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321433" y="3262888"/>
              <a:ext cx="388465" cy="388465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28" name="Label 1"/>
            <p:cNvSpPr txBox="1">
              <a:spLocks noChangeArrowheads="1"/>
            </p:cNvSpPr>
            <p:nvPr/>
          </p:nvSpPr>
          <p:spPr bwMode="white">
            <a:xfrm>
              <a:off x="2713321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Locations</a:t>
              </a:r>
              <a:endParaRPr lang="en-US" sz="1100" b="1" dirty="0"/>
            </a:p>
          </p:txBody>
        </p:sp>
      </p:grpSp>
      <p:grpSp>
        <p:nvGrpSpPr>
          <p:cNvPr id="39" name="IconDeviceFilters"/>
          <p:cNvGrpSpPr>
            <a:grpSpLocks/>
          </p:cNvGrpSpPr>
          <p:nvPr/>
        </p:nvGrpSpPr>
        <p:grpSpPr bwMode="white">
          <a:xfrm>
            <a:off x="5472818" y="661958"/>
            <a:ext cx="1839823" cy="364111"/>
            <a:chOff x="4195414" y="3273669"/>
            <a:chExt cx="1839823" cy="364111"/>
          </a:xfrm>
        </p:grpSpPr>
        <p:pic>
          <p:nvPicPr>
            <p:cNvPr id="60" name="Graphic 1"/>
            <p:cNvPicPr>
              <a:picLocks noChangeAspect="1"/>
            </p:cNvPicPr>
            <p:nvPr/>
          </p:nvPicPr>
          <p:blipFill>
            <a:blip r:embed="rId19">
              <a:lum/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195414" y="3273669"/>
              <a:ext cx="364111" cy="364111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31" name="Label 1"/>
            <p:cNvSpPr txBox="1">
              <a:spLocks noChangeArrowheads="1"/>
            </p:cNvSpPr>
            <p:nvPr/>
          </p:nvSpPr>
          <p:spPr bwMode="white">
            <a:xfrm>
              <a:off x="4576957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Filter for devices</a:t>
              </a:r>
              <a:endParaRPr lang="en-US" sz="1100" b="1" dirty="0"/>
            </a:p>
          </p:txBody>
        </p:sp>
      </p:grpSp>
      <p:pic>
        <p:nvPicPr>
          <p:cNvPr id="62" name="IconGrantMultifactorAuthentication"/>
          <p:cNvPicPr>
            <a:picLocks noChangeAspect="1"/>
          </p:cNvPicPr>
          <p:nvPr/>
        </p:nvPicPr>
        <p:blipFill>
          <a:blip r:embed="rId21">
            <a:lum/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>
            <a:fillRect/>
          </a:stretch>
        </p:blipFill>
        <p:spPr bwMode="white">
          <a:xfrm>
            <a:off x="3410647" y="3566863"/>
            <a:ext cx="17145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5" name="IconGrantMultifactorAuthenticationLabel"/>
          <p:cNvSpPr txBox="1">
            <a:spLocks noChangeArrowheads="1"/>
          </p:cNvSpPr>
          <p:nvPr/>
        </p:nvSpPr>
        <p:spPr bwMode="white">
          <a:xfrm>
            <a:off x="3575836" y="3571997"/>
            <a:ext cx="19007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Multifactor authentication</a:t>
            </a:r>
            <a:endParaRPr lang="en-US" sz="1000" dirty="0"/>
          </a:p>
        </p:txBody>
      </p:sp>
      <p:pic>
        <p:nvPicPr>
          <p:cNvPr id="38" name="IconGrantAuthenticationStrength"/>
          <p:cNvPicPr>
            <a:picLocks noChangeAspect="1"/>
          </p:cNvPicPr>
          <p:nvPr/>
        </p:nvPicPr>
        <p:blipFill>
          <a:blip r:embed="rId23">
            <a:lum/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/>
          <a:stretch>
            <a:fillRect/>
          </a:stretch>
        </p:blipFill>
        <p:spPr bwMode="white">
          <a:xfrm>
            <a:off x="3374515" y="3905034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7" name="IconGrantAuthenticationStrengthLabel"/>
          <p:cNvSpPr txBox="1">
            <a:spLocks noChangeArrowheads="1"/>
          </p:cNvSpPr>
          <p:nvPr/>
        </p:nvSpPr>
        <p:spPr bwMode="white">
          <a:xfrm>
            <a:off x="3575836" y="3907323"/>
            <a:ext cx="2185294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Authentication strength</a:t>
            </a:r>
            <a:endParaRPr lang="en-US" sz="1000" dirty="0"/>
          </a:p>
        </p:txBody>
      </p:sp>
      <p:pic>
        <p:nvPicPr>
          <p:cNvPr id="52" name="IconGrantDeviceCompliance"/>
          <p:cNvPicPr>
            <a:picLocks noChangeAspect="1"/>
          </p:cNvPicPr>
          <p:nvPr/>
        </p:nvPicPr>
        <p:blipFill>
          <a:blip r:embed="rId25">
            <a:lum/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/>
          <a:stretch>
            <a:fillRect/>
          </a:stretch>
        </p:blipFill>
        <p:spPr bwMode="white">
          <a:xfrm>
            <a:off x="3374515" y="4243205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9" name="IconGrantDeviceComplianceLabel"/>
          <p:cNvSpPr txBox="1">
            <a:spLocks noChangeArrowheads="1"/>
          </p:cNvSpPr>
          <p:nvPr/>
        </p:nvSpPr>
        <p:spPr bwMode="white">
          <a:xfrm>
            <a:off x="3575836" y="4242649"/>
            <a:ext cx="17378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Compliant device</a:t>
            </a:r>
            <a:endParaRPr lang="en-US" sz="1000" dirty="0"/>
          </a:p>
        </p:txBody>
      </p:sp>
      <p:pic>
        <p:nvPicPr>
          <p:cNvPr id="43" name="IconGrantHybridJoined"/>
          <p:cNvPicPr>
            <a:picLocks noChangeAspect="1"/>
          </p:cNvPicPr>
          <p:nvPr/>
        </p:nvPicPr>
        <p:blipFill>
          <a:blip r:embed="rId27">
            <a:lum/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/>
          <a:stretch>
            <a:fillRect/>
          </a:stretch>
        </p:blipFill>
        <p:spPr bwMode="white">
          <a:xfrm>
            <a:off x="3374515" y="4581376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3" name="IconGrantHybridJoinedLabel"/>
          <p:cNvSpPr txBox="1">
            <a:spLocks noChangeArrowheads="1"/>
          </p:cNvSpPr>
          <p:nvPr/>
        </p:nvSpPr>
        <p:spPr bwMode="white">
          <a:xfrm>
            <a:off x="3575836" y="4577975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Hybrid Azure AD joined device</a:t>
            </a:r>
            <a:endParaRPr lang="en-US" sz="1000" dirty="0"/>
          </a:p>
        </p:txBody>
      </p:sp>
      <p:pic>
        <p:nvPicPr>
          <p:cNvPr id="48" name="IconGrantApprovedClientApp"/>
          <p:cNvPicPr>
            <a:picLocks noChangeAspect="1"/>
          </p:cNvPicPr>
          <p:nvPr/>
        </p:nvPicPr>
        <p:blipFill>
          <a:blip r:embed="rId29">
            <a:lum/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rcRect/>
          <a:stretch>
            <a:fillRect/>
          </a:stretch>
        </p:blipFill>
        <p:spPr bwMode="white">
          <a:xfrm>
            <a:off x="3374515" y="491954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5" name="IconGrantApprovedClientAppLabel"/>
          <p:cNvSpPr txBox="1">
            <a:spLocks noChangeArrowheads="1"/>
          </p:cNvSpPr>
          <p:nvPr/>
        </p:nvSpPr>
        <p:spPr bwMode="white">
          <a:xfrm>
            <a:off x="3575836" y="4913301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Approved client app</a:t>
            </a:r>
            <a:endParaRPr lang="en-US" sz="1000" dirty="0"/>
          </a:p>
        </p:txBody>
      </p:sp>
      <p:pic>
        <p:nvPicPr>
          <p:cNvPr id="42" name="IconGrantCustomAuth"/>
          <p:cNvPicPr>
            <a:picLocks noChangeAspect="1"/>
          </p:cNvPicPr>
          <p:nvPr/>
        </p:nvPicPr>
        <p:blipFill>
          <a:blip r:embed="rId31">
            <a:lum/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rcRect/>
          <a:stretch>
            <a:fillRect/>
          </a:stretch>
        </p:blipFill>
        <p:spPr bwMode="white">
          <a:xfrm>
            <a:off x="3374515" y="593406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9" name="IconGrantCustomAuthLabel"/>
          <p:cNvSpPr txBox="1">
            <a:spLocks noChangeArrowheads="1"/>
          </p:cNvSpPr>
          <p:nvPr/>
        </p:nvSpPr>
        <p:spPr bwMode="white">
          <a:xfrm>
            <a:off x="3575836" y="5919279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Custom authentication factor</a:t>
            </a:r>
            <a:endParaRPr lang="en-US" sz="1000" dirty="0"/>
          </a:p>
        </p:txBody>
      </p:sp>
      <p:pic>
        <p:nvPicPr>
          <p:cNvPr id="40" name="IconGrantTermsOfUse"/>
          <p:cNvPicPr>
            <a:picLocks noChangeAspect="1"/>
          </p:cNvPicPr>
          <p:nvPr/>
        </p:nvPicPr>
        <p:blipFill>
          <a:blip r:embed="rId33">
            <a:lum/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rcRect/>
          <a:stretch>
            <a:fillRect/>
          </a:stretch>
        </p:blipFill>
        <p:spPr bwMode="white">
          <a:xfrm>
            <a:off x="3374515" y="627222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3" name="IconGrantTermsOfUseLabel"/>
          <p:cNvSpPr txBox="1">
            <a:spLocks noChangeArrowheads="1"/>
          </p:cNvSpPr>
          <p:nvPr/>
        </p:nvSpPr>
        <p:spPr bwMode="white">
          <a:xfrm>
            <a:off x="3575836" y="625460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Terms of use</a:t>
            </a:r>
            <a:endParaRPr lang="en-US" sz="1000" dirty="0"/>
          </a:p>
        </p:txBody>
      </p:sp>
      <p:sp>
        <p:nvSpPr>
          <p:cNvPr id="56" name="IconGrantAppProtectionLabel"/>
          <p:cNvSpPr txBox="1">
            <a:spLocks noChangeArrowheads="1"/>
          </p:cNvSpPr>
          <p:nvPr/>
        </p:nvSpPr>
        <p:spPr bwMode="white">
          <a:xfrm>
            <a:off x="3575836" y="524862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 protection policy</a:t>
            </a:r>
            <a:endParaRPr lang="en-US" sz="1000" dirty="0"/>
          </a:p>
        </p:txBody>
      </p:sp>
      <p:pic>
        <p:nvPicPr>
          <p:cNvPr id="65" name="IconGrantAppProtection"/>
          <p:cNvPicPr>
            <a:picLocks noChangeAspect="1"/>
          </p:cNvPicPr>
          <p:nvPr/>
        </p:nvPicPr>
        <p:blipFill>
          <a:blip r:embed="rId35">
            <a:lum/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rcRect/>
          <a:stretch>
            <a:fillRect/>
          </a:stretch>
        </p:blipFill>
        <p:spPr bwMode="white">
          <a:xfrm>
            <a:off x="3374515" y="525771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7" name="IconGrantChangePasswordLabel"/>
          <p:cNvSpPr txBox="1">
            <a:spLocks noChangeArrowheads="1"/>
          </p:cNvSpPr>
          <p:nvPr/>
        </p:nvSpPr>
        <p:spPr bwMode="white">
          <a:xfrm>
            <a:off x="3575836" y="5583953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Change password</a:t>
            </a:r>
            <a:endParaRPr lang="en-US" sz="1000" dirty="0"/>
          </a:p>
        </p:txBody>
      </p:sp>
      <p:pic>
        <p:nvPicPr>
          <p:cNvPr id="67" name="IconGrantChangePassword"/>
          <p:cNvPicPr>
            <a:picLocks noChangeAspect="1"/>
          </p:cNvPicPr>
          <p:nvPr/>
        </p:nvPicPr>
        <p:blipFill>
          <a:blip r:embed="rId37">
            <a:lum/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rcRect/>
          <a:stretch>
            <a:fillRect/>
          </a:stretch>
        </p:blipFill>
        <p:spPr bwMode="white">
          <a:xfrm>
            <a:off x="3374515" y="5595889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4" name="ShadeRisk"/>
          <p:cNvSpPr>
            <a:spLocks/>
          </p:cNvSpPr>
          <p:nvPr/>
        </p:nvSpPr>
        <p:spPr bwMode="white">
          <a:xfrm>
            <a:off x="507564" y="650246"/>
            <a:ext cx="976864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66" name="ShadeDevicePlatforms"/>
          <p:cNvSpPr>
            <a:spLocks/>
          </p:cNvSpPr>
          <p:nvPr/>
        </p:nvSpPr>
        <p:spPr bwMode="white">
          <a:xfrm>
            <a:off x="1863623" y="663409"/>
            <a:ext cx="1773927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78" name="ShadeClientApps"/>
          <p:cNvSpPr>
            <a:spLocks/>
          </p:cNvSpPr>
          <p:nvPr/>
        </p:nvSpPr>
        <p:spPr bwMode="white">
          <a:xfrm>
            <a:off x="3802273" y="650246"/>
            <a:ext cx="1481482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2" name="ShadeFilterForDevices"/>
          <p:cNvSpPr>
            <a:spLocks/>
          </p:cNvSpPr>
          <p:nvPr/>
        </p:nvSpPr>
        <p:spPr bwMode="white">
          <a:xfrm>
            <a:off x="5438955" y="627922"/>
            <a:ext cx="1873685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3" name="ShadeGrantMultifactorAuth"/>
          <p:cNvSpPr>
            <a:spLocks/>
          </p:cNvSpPr>
          <p:nvPr/>
        </p:nvSpPr>
        <p:spPr bwMode="white">
          <a:xfrm>
            <a:off x="3369399" y="3534220"/>
            <a:ext cx="2069555" cy="28330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4" name="ShadeGrantAuthStrength"/>
          <p:cNvSpPr>
            <a:spLocks/>
          </p:cNvSpPr>
          <p:nvPr/>
        </p:nvSpPr>
        <p:spPr bwMode="white">
          <a:xfrm>
            <a:off x="3350256" y="3869846"/>
            <a:ext cx="2069555" cy="27801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5" name="ShadeGrantCompliantDevice"/>
          <p:cNvSpPr>
            <a:spLocks/>
          </p:cNvSpPr>
          <p:nvPr/>
        </p:nvSpPr>
        <p:spPr bwMode="white">
          <a:xfrm>
            <a:off x="3361852" y="4243205"/>
            <a:ext cx="2077102" cy="26110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6" name="ShadeGrantHybridAzureADJoined"/>
          <p:cNvSpPr>
            <a:spLocks/>
          </p:cNvSpPr>
          <p:nvPr/>
        </p:nvSpPr>
        <p:spPr bwMode="white">
          <a:xfrm>
            <a:off x="3353637" y="4552268"/>
            <a:ext cx="2160906" cy="298395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7" name="ShadeGrantApprovedClientApp"/>
          <p:cNvSpPr>
            <a:spLocks/>
          </p:cNvSpPr>
          <p:nvPr/>
        </p:nvSpPr>
        <p:spPr bwMode="white">
          <a:xfrm>
            <a:off x="3331918" y="4876027"/>
            <a:ext cx="2182625" cy="29839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8" name="ShadeGrantAppProtectionPolicy"/>
          <p:cNvSpPr>
            <a:spLocks/>
          </p:cNvSpPr>
          <p:nvPr/>
        </p:nvSpPr>
        <p:spPr bwMode="white">
          <a:xfrm>
            <a:off x="3350256" y="5207226"/>
            <a:ext cx="2122561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9" name="ShadeGrantChangePassword"/>
          <p:cNvSpPr>
            <a:spLocks/>
          </p:cNvSpPr>
          <p:nvPr/>
        </p:nvSpPr>
        <p:spPr bwMode="white">
          <a:xfrm>
            <a:off x="3350257" y="5557021"/>
            <a:ext cx="2042006" cy="287239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0" name="ShadeGrantCustomAuthFactor"/>
          <p:cNvSpPr>
            <a:spLocks/>
          </p:cNvSpPr>
          <p:nvPr/>
        </p:nvSpPr>
        <p:spPr bwMode="white">
          <a:xfrm>
            <a:off x="3331918" y="5899058"/>
            <a:ext cx="2182625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1" name="ShadeGrantTermsOfUse"/>
          <p:cNvSpPr>
            <a:spLocks/>
          </p:cNvSpPr>
          <p:nvPr/>
        </p:nvSpPr>
        <p:spPr bwMode="white">
          <a:xfrm>
            <a:off x="3313823" y="6192350"/>
            <a:ext cx="101602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99" name="Rectangle 98"/>
          <p:cNvSpPr>
            <a:spLocks/>
          </p:cNvSpPr>
          <p:nvPr/>
        </p:nvSpPr>
        <p:spPr bwMode="white">
          <a:xfrm>
            <a:off x="3268757" y="3253404"/>
            <a:ext cx="2357725" cy="3498546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0" name="Rectangle 109"/>
          <p:cNvSpPr>
            <a:spLocks/>
          </p:cNvSpPr>
          <p:nvPr/>
        </p:nvSpPr>
        <p:spPr bwMode="white">
          <a:xfrm>
            <a:off x="9881750" y="3248255"/>
            <a:ext cx="2220808" cy="3510149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7" name="Rectangle 116"/>
          <p:cNvSpPr>
            <a:spLocks/>
          </p:cNvSpPr>
          <p:nvPr/>
        </p:nvSpPr>
        <p:spPr bwMode="white">
          <a:xfrm>
            <a:off x="26741" y="606825"/>
            <a:ext cx="11985015" cy="2063636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2" name="Conditions Label"/>
          <p:cNvSpPr txBox="1">
            <a:spLocks noChangeArrowheads="1"/>
          </p:cNvSpPr>
          <p:nvPr/>
        </p:nvSpPr>
        <p:spPr bwMode="white">
          <a:xfrm rot="16200000">
            <a:off x="-883507" y="1514324"/>
            <a:ext cx="2081441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Conditions</a:t>
            </a:r>
          </a:p>
        </p:txBody>
      </p:sp>
      <p:sp>
        <p:nvSpPr>
          <p:cNvPr id="109" name="Grant Controls"/>
          <p:cNvSpPr txBox="1">
            <a:spLocks noChangeArrowheads="1"/>
          </p:cNvSpPr>
          <p:nvPr/>
        </p:nvSpPr>
        <p:spPr bwMode="white">
          <a:xfrm>
            <a:off x="3252146" y="3244395"/>
            <a:ext cx="2391873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Grant Controls</a:t>
            </a:r>
          </a:p>
        </p:txBody>
      </p:sp>
      <p:sp>
        <p:nvSpPr>
          <p:cNvPr id="111" name="Session Controls"/>
          <p:cNvSpPr txBox="1">
            <a:spLocks noChangeArrowheads="1"/>
          </p:cNvSpPr>
          <p:nvPr/>
        </p:nvSpPr>
        <p:spPr bwMode="white">
          <a:xfrm>
            <a:off x="9864212" y="3243751"/>
            <a:ext cx="2238346" cy="23786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Session Controls</a:t>
            </a:r>
          </a:p>
        </p:txBody>
      </p:sp>
      <p:pic>
        <p:nvPicPr>
          <p:cNvPr id="72" name="Graphic 71"/>
          <p:cNvPicPr>
            <a:picLocks noChangeAspect="1"/>
          </p:cNvPicPr>
          <p:nvPr/>
        </p:nvPicPr>
        <p:blipFill>
          <a:blip r:embed="rId39">
            <a:lum/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rcRect/>
          <a:stretch>
            <a:fillRect/>
          </a:stretch>
        </p:blipFill>
        <p:spPr bwMode="white">
          <a:xfrm>
            <a:off x="9996846" y="356982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4" name="Graphic 93"/>
          <p:cNvPicPr>
            <a:picLocks noChangeAspect="1"/>
          </p:cNvPicPr>
          <p:nvPr/>
        </p:nvPicPr>
        <p:blipFill>
          <a:blip r:embed="rId41">
            <a:lum/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rcRect/>
          <a:stretch>
            <a:fillRect/>
          </a:stretch>
        </p:blipFill>
        <p:spPr bwMode="white">
          <a:xfrm>
            <a:off x="10009443" y="525644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5" name="TextBox 94"/>
          <p:cNvSpPr txBox="1">
            <a:spLocks noChangeArrowheads="1"/>
          </p:cNvSpPr>
          <p:nvPr/>
        </p:nvSpPr>
        <p:spPr bwMode="white">
          <a:xfrm>
            <a:off x="10207481" y="3578463"/>
            <a:ext cx="150554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App enforced restrictions</a:t>
            </a:r>
          </a:p>
        </p:txBody>
      </p:sp>
      <p:sp>
        <p:nvSpPr>
          <p:cNvPr id="96" name="TextBox 95"/>
          <p:cNvSpPr txBox="1">
            <a:spLocks noChangeArrowheads="1"/>
          </p:cNvSpPr>
          <p:nvPr/>
        </p:nvSpPr>
        <p:spPr bwMode="white">
          <a:xfrm>
            <a:off x="10201167" y="3899846"/>
            <a:ext cx="181011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Conditional Access App Control</a:t>
            </a:r>
          </a:p>
        </p:txBody>
      </p:sp>
      <p:sp>
        <p:nvSpPr>
          <p:cNvPr id="97" name="TextBox 96"/>
          <p:cNvSpPr txBox="1">
            <a:spLocks noChangeArrowheads="1"/>
          </p:cNvSpPr>
          <p:nvPr/>
        </p:nvSpPr>
        <p:spPr bwMode="white">
          <a:xfrm>
            <a:off x="10215627" y="4357505"/>
            <a:ext cx="1090363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Sign-in frequency</a:t>
            </a:r>
          </a:p>
        </p:txBody>
      </p:sp>
      <p:sp>
        <p:nvSpPr>
          <p:cNvPr id="98" name="TextBox 97"/>
          <p:cNvSpPr txBox="1">
            <a:spLocks noChangeArrowheads="1"/>
          </p:cNvSpPr>
          <p:nvPr/>
        </p:nvSpPr>
        <p:spPr bwMode="white">
          <a:xfrm>
            <a:off x="10225446" y="4793305"/>
            <a:ext cx="156966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Persistent browser session</a:t>
            </a:r>
          </a:p>
        </p:txBody>
      </p:sp>
      <p:sp>
        <p:nvSpPr>
          <p:cNvPr id="100" name="TextBox 99"/>
          <p:cNvSpPr txBox="1">
            <a:spLocks noChangeArrowheads="1"/>
          </p:cNvSpPr>
          <p:nvPr/>
        </p:nvSpPr>
        <p:spPr bwMode="white">
          <a:xfrm>
            <a:off x="10229552" y="5232376"/>
            <a:ext cx="1717137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Continuous access evaluation</a:t>
            </a:r>
          </a:p>
        </p:txBody>
      </p:sp>
      <p:sp>
        <p:nvSpPr>
          <p:cNvPr id="101" name="TextBox 100"/>
          <p:cNvSpPr txBox="1">
            <a:spLocks noChangeArrowheads="1"/>
          </p:cNvSpPr>
          <p:nvPr/>
        </p:nvSpPr>
        <p:spPr bwMode="white">
          <a:xfrm>
            <a:off x="10259108" y="5658625"/>
            <a:ext cx="153599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Disable resilience defaults</a:t>
            </a:r>
          </a:p>
        </p:txBody>
      </p:sp>
      <p:pic>
        <p:nvPicPr>
          <p:cNvPr id="103" name="Graphic 102"/>
          <p:cNvPicPr>
            <a:picLocks noChangeAspect="1"/>
          </p:cNvPicPr>
          <p:nvPr/>
        </p:nvPicPr>
        <p:blipFill>
          <a:blip r:embed="rId43">
            <a:lum/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rcRect/>
          <a:stretch>
            <a:fillRect/>
          </a:stretch>
        </p:blipFill>
        <p:spPr bwMode="white">
          <a:xfrm>
            <a:off x="9996846" y="479900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5" name="Graphic 104"/>
          <p:cNvPicPr>
            <a:picLocks noChangeAspect="1"/>
          </p:cNvPicPr>
          <p:nvPr/>
        </p:nvPicPr>
        <p:blipFill>
          <a:blip r:embed="rId45">
            <a:lum/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rcRect/>
          <a:stretch>
            <a:fillRect/>
          </a:stretch>
        </p:blipFill>
        <p:spPr bwMode="white">
          <a:xfrm>
            <a:off x="9996846" y="437457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7" name="Graphic 106"/>
          <p:cNvPicPr>
            <a:picLocks noChangeAspect="1"/>
          </p:cNvPicPr>
          <p:nvPr/>
        </p:nvPicPr>
        <p:blipFill>
          <a:blip r:embed="rId7">
            <a:lum/>
            <a:extLst>
              <a:ext uri="{96DAC541-7B7A-43D3-8B79-37D633B846F1}">
                <asvg:svgBlip xmlns:asvg="http://schemas.microsoft.com/office/drawing/2016/SVG/main" r:embed="rId47"/>
              </a:ext>
            </a:extLst>
          </a:blip>
          <a:srcRect/>
          <a:stretch>
            <a:fillRect/>
          </a:stretch>
        </p:blipFill>
        <p:spPr bwMode="white">
          <a:xfrm>
            <a:off x="9996846" y="391529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15" name="SessionSifInterval"/>
          <p:cNvSpPr txBox="1">
            <a:spLocks noChangeArrowheads="1"/>
          </p:cNvSpPr>
          <p:nvPr/>
        </p:nvSpPr>
        <p:spPr bwMode="white">
          <a:xfrm>
            <a:off x="10296745" y="4516775"/>
            <a:ext cx="1249060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Periodic reauthentication</a:t>
            </a:r>
          </a:p>
        </p:txBody>
      </p:sp>
      <p:sp>
        <p:nvSpPr>
          <p:cNvPr id="114" name="SessionCasType"/>
          <p:cNvSpPr txBox="1">
            <a:spLocks noChangeArrowheads="1"/>
          </p:cNvSpPr>
          <p:nvPr/>
        </p:nvSpPr>
        <p:spPr bwMode="white">
          <a:xfrm>
            <a:off x="10296745" y="4075500"/>
            <a:ext cx="95410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App Control Policy</a:t>
            </a:r>
          </a:p>
        </p:txBody>
      </p:sp>
      <p:sp>
        <p:nvSpPr>
          <p:cNvPr id="116" name="SessionPersistenBrowserMode"/>
          <p:cNvSpPr txBox="1">
            <a:spLocks noChangeArrowheads="1"/>
          </p:cNvSpPr>
          <p:nvPr/>
        </p:nvSpPr>
        <p:spPr bwMode="white">
          <a:xfrm>
            <a:off x="10309761" y="4945281"/>
            <a:ext cx="918841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Always persistent</a:t>
            </a:r>
          </a:p>
        </p:txBody>
      </p:sp>
      <p:sp>
        <p:nvSpPr>
          <p:cNvPr id="118" name="SessionCaeMode"/>
          <p:cNvSpPr txBox="1">
            <a:spLocks noChangeArrowheads="1"/>
          </p:cNvSpPr>
          <p:nvPr/>
        </p:nvSpPr>
        <p:spPr bwMode="white">
          <a:xfrm>
            <a:off x="10301386" y="5393378"/>
            <a:ext cx="15359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US" sz="800" dirty="0"/>
              <a:t>Strictly enforce location policies</a:t>
            </a:r>
          </a:p>
        </p:txBody>
      </p:sp>
      <p:sp>
        <p:nvSpPr>
          <p:cNvPr id="119" name="ShadeSessionAppEnforced"/>
          <p:cNvSpPr>
            <a:spLocks/>
          </p:cNvSpPr>
          <p:nvPr/>
        </p:nvSpPr>
        <p:spPr bwMode="white">
          <a:xfrm>
            <a:off x="9959680" y="3548808"/>
            <a:ext cx="2051597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0" name="ShadeSessionCas"/>
          <p:cNvSpPr>
            <a:spLocks/>
          </p:cNvSpPr>
          <p:nvPr/>
        </p:nvSpPr>
        <p:spPr bwMode="white">
          <a:xfrm>
            <a:off x="9978939" y="3884212"/>
            <a:ext cx="2087576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1" name="ShadeSessionSif"/>
          <p:cNvSpPr>
            <a:spLocks/>
          </p:cNvSpPr>
          <p:nvPr/>
        </p:nvSpPr>
        <p:spPr bwMode="white">
          <a:xfrm>
            <a:off x="9940787" y="4320077"/>
            <a:ext cx="2125728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2" name="ShadeSessionPersistentBrowser"/>
          <p:cNvSpPr>
            <a:spLocks/>
          </p:cNvSpPr>
          <p:nvPr/>
        </p:nvSpPr>
        <p:spPr bwMode="white">
          <a:xfrm>
            <a:off x="9938833" y="4746195"/>
            <a:ext cx="207244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" name="Label Secure Sign In Session"/>
          <p:cNvSpPr txBox="1">
            <a:spLocks noChangeArrowheads="1"/>
          </p:cNvSpPr>
          <p:nvPr/>
        </p:nvSpPr>
        <p:spPr bwMode="white">
          <a:xfrm>
            <a:off x="10260000" y="6084874"/>
            <a:ext cx="166584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Token protection for session</a:t>
            </a:r>
          </a:p>
        </p:txBody>
      </p:sp>
      <p:pic>
        <p:nvPicPr>
          <p:cNvPr id="77" name="IconSessionCaeDisable" descr="Close with solid fill"/>
          <p:cNvPicPr>
            <a:picLocks noChangeAspect="1"/>
          </p:cNvPicPr>
          <p:nvPr/>
        </p:nvPicPr>
        <p:blipFill>
          <a:blip r:embed="rId48">
            <a:lum/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rcRect/>
          <a:stretch>
            <a:fillRect/>
          </a:stretch>
        </p:blipFill>
        <p:spPr bwMode="white">
          <a:xfrm>
            <a:off x="9979885" y="5218651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2" name="IconSessionSecureSignInSession 1"/>
          <p:cNvPicPr>
            <a:picLocks noChangeAspect="1"/>
          </p:cNvPicPr>
          <p:nvPr/>
        </p:nvPicPr>
        <p:blipFill>
          <a:blip r:embed="rId50">
            <a:lum/>
            <a:extLst>
              <a:ext uri="{96DAC541-7B7A-43D3-8B79-37D633B846F1}">
                <asvg:svgBlip xmlns:asvg="http://schemas.microsoft.com/office/drawing/2016/SVG/main" r:embed="rId51"/>
              </a:ext>
            </a:extLst>
          </a:blip>
          <a:srcRect/>
          <a:stretch>
            <a:fillRect/>
          </a:stretch>
        </p:blipFill>
        <p:spPr bwMode="white">
          <a:xfrm>
            <a:off x="9997200" y="6085768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3" name="ShadeSessionCae"/>
          <p:cNvSpPr>
            <a:spLocks/>
          </p:cNvSpPr>
          <p:nvPr/>
        </p:nvSpPr>
        <p:spPr bwMode="white">
          <a:xfrm>
            <a:off x="9987595" y="5219780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76" name="ShadeSessionSecureSignIn"/>
          <p:cNvSpPr>
            <a:spLocks/>
          </p:cNvSpPr>
          <p:nvPr/>
        </p:nvSpPr>
        <p:spPr bwMode="white">
          <a:xfrm>
            <a:off x="9996846" y="5986498"/>
            <a:ext cx="2014431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pic>
        <p:nvPicPr>
          <p:cNvPr id="102" name="Graphic 101"/>
          <p:cNvPicPr>
            <a:picLocks noChangeAspect="1"/>
          </p:cNvPicPr>
          <p:nvPr/>
        </p:nvPicPr>
        <p:blipFill>
          <a:blip r:embed="rId52">
            <a:lum/>
            <a:extLst>
              <a:ext uri="{96DAC541-7B7A-43D3-8B79-37D633B846F1}">
                <asvg:svgBlip xmlns:asvg="http://schemas.microsoft.com/office/drawing/2016/SVG/main" r:embed="rId53"/>
              </a:ext>
            </a:extLst>
          </a:blip>
          <a:srcRect/>
          <a:stretch>
            <a:fillRect/>
          </a:stretch>
        </p:blipFill>
        <p:spPr bwMode="white">
          <a:xfrm>
            <a:off x="9997200" y="5663777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80" name="Graphic 79" descr="Close with solid fill"/>
          <p:cNvPicPr>
            <a:picLocks noChangeAspect="1"/>
          </p:cNvPicPr>
          <p:nvPr/>
        </p:nvPicPr>
        <p:blipFill>
          <a:blip r:embed="rId48">
            <a:lum/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rcRect/>
          <a:stretch>
            <a:fillRect/>
          </a:stretch>
        </p:blipFill>
        <p:spPr bwMode="white">
          <a:xfrm>
            <a:off x="9963899" y="5637424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4" name="ShadeSessionDisableResilience"/>
          <p:cNvSpPr>
            <a:spLocks/>
          </p:cNvSpPr>
          <p:nvPr/>
        </p:nvSpPr>
        <p:spPr bwMode="white">
          <a:xfrm>
            <a:off x="9959681" y="5602709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2" name="PolicyName">
            <a:hlinkClick r:id="" action="ppaction://hlinkfile"/>
          </p:cNvPr>
          <p:cNvSpPr>
            <a:spLocks noGrp="1"/>
          </p:cNvSpPr>
          <p:nvPr>
            <p:ph type="title"/>
          </p:nvPr>
        </p:nvSpPr>
        <p:spPr bwMode="white">
          <a:xfrm>
            <a:off x="838200" y="115511"/>
            <a:ext cx="10003967" cy="609565"/>
          </a:xfrm>
          <a:ln>
            <a:headEnd type="none"/>
            <a:tailEnd type="none"/>
          </a:ln>
        </p:spPr>
        <p:txBody>
          <a:bodyPr wrap="square">
            <a:noAutofit/>
          </a:bodyPr>
          <a:lstStyle/>
          <a:p>
            <a:pPr defTabSz="914400"/>
            <a:r>
              <a:rPr lang="en-US" sz="2000" b="1" dirty="0"/>
              <a:t> [All Apps] [SVo365 GetHelp] (Block) Service Account Login From Non-Approved IPs </a:t>
            </a:r>
          </a:p>
        </p:txBody>
      </p:sp>
      <p:sp>
        <p:nvSpPr>
          <p:cNvPr id="16" name="LastModified"/>
          <p:cNvSpPr txBox="1">
            <a:spLocks noChangeArrowheads="1"/>
          </p:cNvSpPr>
          <p:nvPr/>
        </p:nvSpPr>
        <p:spPr bwMode="white">
          <a:xfrm>
            <a:off x="10556111" y="388376"/>
            <a:ext cx="15483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algn="r" defTabSz="457200"/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Last modified: 2025-05-29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UserWorkload"/>
          <p:cNvSpPr>
            <a:spLocks/>
          </p:cNvSpPr>
          <p:nvPr/>
        </p:nvSpPr>
        <p:spPr bwMode="auto">
          <a:xfrm>
            <a:off x="175820" y="2709769"/>
            <a:ext cx="2202823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Users</a:t>
            </a:r>
          </a:p>
        </p:txBody>
      </p:sp>
      <p:sp>
        <p:nvSpPr>
          <p:cNvPr id="7" name="UserWorkloadIncExc"/>
          <p:cNvSpPr txBox="1">
            <a:spLocks noChangeArrowheads="1"/>
          </p:cNvSpPr>
          <p:nvPr/>
        </p:nvSpPr>
        <p:spPr bwMode="white">
          <a:xfrm>
            <a:off x="125485" y="3698952"/>
            <a:ext cx="3062115" cy="313265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 numCol="1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b="1" dirty="0"/>
            </a:pPr>
            <a:r>
              <a:t> Users</a:t>
            </a:r>
          </a:p>
          <a:p>
            <a:pPr defTabSz="457200">
              <a:defRPr sz="1100" dirty="0"/>
            </a:pPr>
            <a:r>
              <a:t> - SVO365.PowerRPA-ACES</a:t>
            </a:r>
          </a:p>
          <a:p>
            <a:pPr defTabSz="457200">
              <a:defRPr sz="1100" dirty="0"/>
            </a:pPr>
            <a:r>
              <a:t> - SVO365 PowerRPA-ACES-Dev</a:t>
            </a:r>
          </a:p>
          <a:p>
            <a:pPr defTabSz="457200">
              <a:defRPr sz="1100" dirty="0"/>
            </a:pPr>
            <a:r>
              <a:t> - SVO365 PowerRPA-ACES-Test</a:t>
            </a:r>
          </a:p>
          <a:p>
            <a:pPr defTabSz="457200">
              <a:defRPr sz="1100" dirty="0"/>
            </a:pPr>
            <a:r>
              <a:t> - SVO365.PowerRPA-Graph-Read</a:t>
            </a:r>
          </a:p>
          <a:p>
            <a:pPr defTabSz="457200">
              <a:defRPr sz="1100" dirty="0"/>
            </a:pPr>
            <a:r>
              <a:t> - SVO365.PowerRPA-ACES-PMR-Test</a:t>
            </a:r>
          </a:p>
          <a:p>
            <a:pPr defTabSz="457200">
              <a:defRPr sz="1100" dirty="0"/>
            </a:pPr>
            <a:r>
              <a:t> - SVO365.PowerRPA-ACES-PMR-Prod</a:t>
            </a:r>
          </a:p>
          <a:p>
            <a:pPr defTabSz="457200">
              <a:defRPr sz="1100" dirty="0"/>
            </a:pPr>
            <a:r>
              <a:t> - SVO365.PowerRPA-ACES-FinCEN-prod</a:t>
            </a:r>
          </a:p>
          <a:p>
            <a:pPr defTabSz="457200">
              <a:defRPr sz="1100" dirty="0"/>
            </a:pPr>
            <a:r>
              <a:t> - SVO365.PowerDG-Prod</a:t>
            </a:r>
          </a:p>
          <a:p>
            <a:pPr defTabSz="457200">
              <a:defRPr sz="1100" dirty="0"/>
            </a:pPr>
            <a:r>
              <a:t> - SVO365.PowerApps-ACES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19" name="Risks"/>
          <p:cNvSpPr txBox="1">
            <a:spLocks noChangeArrowheads="1"/>
          </p:cNvSpPr>
          <p:nvPr/>
        </p:nvSpPr>
        <p:spPr bwMode="white">
          <a:xfrm>
            <a:off x="524485" y="1021946"/>
            <a:ext cx="1348869" cy="166886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0" name="Platforms"/>
          <p:cNvSpPr txBox="1">
            <a:spLocks noChangeArrowheads="1"/>
          </p:cNvSpPr>
          <p:nvPr/>
        </p:nvSpPr>
        <p:spPr bwMode="white">
          <a:xfrm>
            <a:off x="1826931" y="1021947"/>
            <a:ext cx="2061056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3" name="Locations"/>
          <p:cNvSpPr txBox="1">
            <a:spLocks noChangeArrowheads="1"/>
          </p:cNvSpPr>
          <p:nvPr/>
        </p:nvSpPr>
        <p:spPr bwMode="white">
          <a:xfrm>
            <a:off x="8324941" y="1021947"/>
            <a:ext cx="3513702" cy="159258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b="1" dirty="0"/>
            </a:pPr>
            <a:r>
              <a:t>✅ Include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r>
              <a:t>🚫 Exclude</a:t>
            </a:r>
          </a:p>
          <a:p>
            <a:pPr defTabSz="457200">
              <a:defRPr sz="1100" dirty="0"/>
            </a:pPr>
            <a:r>
              <a:t> - Netskope Egress </a:t>
            </a:r>
          </a:p>
          <a:p>
            <a:pPr defTabSz="457200">
              <a:defRPr sz="1100" dirty="0"/>
            </a:pPr>
            <a:r>
              <a:t> - OCC Proxy Egress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24" name="ClientAppTypes"/>
          <p:cNvSpPr txBox="1">
            <a:spLocks noChangeArrowheads="1"/>
          </p:cNvSpPr>
          <p:nvPr/>
        </p:nvSpPr>
        <p:spPr bwMode="white">
          <a:xfrm>
            <a:off x="3810664" y="1021947"/>
            <a:ext cx="1581599" cy="165343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5" name="DeviceFilters"/>
          <p:cNvSpPr txBox="1">
            <a:spLocks noChangeArrowheads="1"/>
          </p:cNvSpPr>
          <p:nvPr/>
        </p:nvSpPr>
        <p:spPr bwMode="white">
          <a:xfrm>
            <a:off x="5818151" y="1022762"/>
            <a:ext cx="2248808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cxnSp>
        <p:nvCxnSpPr>
          <p:cNvPr id="27" name="Straight Arrow Connector 26" descr="Arrow drawn from user/workload  to the action being performed by the user such as accessing cloud apps."/>
          <p:cNvCxnSpPr/>
          <p:nvPr/>
        </p:nvCxnSpPr>
        <p:spPr bwMode="white">
          <a:xfrm>
            <a:off x="2195232" y="3159047"/>
            <a:ext cx="3959471" cy="1"/>
          </a:xfrm>
          <a:prstGeom prst="straightConnector1">
            <a:avLst/>
          </a:prstGeom>
          <a:ln w="76200"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30" name="IconBlockAccess" descr="Picture with red color stop sign to indicate blocked access"/>
          <p:cNvPicPr>
            <a:picLocks noChangeAspect="1"/>
          </p:cNvPicPr>
          <p:nvPr/>
        </p:nvPicPr>
        <p:blipFill>
          <a:blip r:embed="rId3">
            <a:lum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 bwMode="white">
          <a:xfrm>
            <a:off x="5306633" y="2735805"/>
            <a:ext cx="356616" cy="35661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34" name="GrantLabelBlockAccess"/>
          <p:cNvSpPr txBox="1">
            <a:spLocks noChangeArrowheads="1"/>
          </p:cNvSpPr>
          <p:nvPr/>
        </p:nvSpPr>
        <p:spPr bwMode="white">
          <a:xfrm>
            <a:off x="3936931" y="2734375"/>
            <a:ext cx="1358065" cy="369332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algn="ctr" defTabSz="457200"/>
            <a:r>
              <a:rPr lang="en-US" b="1" dirty="0">
                <a:solidFill>
                  <a:srgbClr val="FF0000"/>
                </a:solidFill>
              </a:rPr>
              <a:t>Block access</a:t>
            </a:r>
          </a:p>
        </p:txBody>
      </p:sp>
      <p:sp>
        <p:nvSpPr>
          <p:cNvPr id="3" name="CloudAppActionIncExc"/>
          <p:cNvSpPr txBox="1">
            <a:spLocks noChangeArrowheads="1"/>
          </p:cNvSpPr>
          <p:nvPr/>
        </p:nvSpPr>
        <p:spPr bwMode="white">
          <a:xfrm>
            <a:off x="6039518" y="3662782"/>
            <a:ext cx="3649518" cy="315161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</p:txBody>
      </p:sp>
      <p:pic>
        <p:nvPicPr>
          <p:cNvPr id="26" name="IconGroupIdentity"/>
          <p:cNvPicPr>
            <a:picLocks noChangeAspect="1"/>
          </p:cNvPicPr>
          <p:nvPr/>
        </p:nvPicPr>
        <p:blipFill>
          <a:blip r:embed="rId5">
            <a:lum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 bwMode="white">
          <a:xfrm>
            <a:off x="327701" y="2839007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36" name="Graphic 35"/>
          <p:cNvPicPr>
            <a:picLocks noChangeAspect="1"/>
          </p:cNvPicPr>
          <p:nvPr/>
        </p:nvPicPr>
        <p:blipFill>
          <a:blip r:embed="rId7">
            <a:lum/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p:blipFill>
        <p:spPr bwMode="white">
          <a:xfrm>
            <a:off x="495610" y="197468"/>
            <a:ext cx="381196" cy="38119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" name="CloudAppAction"/>
          <p:cNvSpPr>
            <a:spLocks/>
          </p:cNvSpPr>
          <p:nvPr/>
        </p:nvSpPr>
        <p:spPr bwMode="auto">
          <a:xfrm>
            <a:off x="6206089" y="2718506"/>
            <a:ext cx="3227026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All cloud apps</a:t>
            </a:r>
          </a:p>
        </p:txBody>
      </p:sp>
      <p:pic>
        <p:nvPicPr>
          <p:cNvPr id="75" name="IconAccessAllCloudApps"/>
          <p:cNvPicPr>
            <a:picLocks noChangeAspect="1"/>
          </p:cNvPicPr>
          <p:nvPr/>
        </p:nvPicPr>
        <p:blipFill>
          <a:blip r:embed="rId9">
            <a:lum/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p:blipFill>
        <p:spPr bwMode="white">
          <a:xfrm>
            <a:off x="6439264" y="2836824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21" name="StateEnabled"/>
          <p:cNvSpPr>
            <a:spLocks/>
          </p:cNvSpPr>
          <p:nvPr/>
        </p:nvSpPr>
        <p:spPr bwMode="white">
          <a:xfrm>
            <a:off x="10842171" y="83487"/>
            <a:ext cx="1260389" cy="264812"/>
          </a:xfrm>
          <a:prstGeom prst="round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r>
              <a:rPr lang="en-US" sz="800" dirty="0"/>
              <a:t>Policy Enabled</a:t>
            </a:r>
          </a:p>
        </p:txBody>
      </p:sp>
      <p:grpSp>
        <p:nvGrpSpPr>
          <p:cNvPr id="10" name="IconRiskyUsers"/>
          <p:cNvGrpSpPr>
            <a:grpSpLocks/>
          </p:cNvGrpSpPr>
          <p:nvPr/>
        </p:nvGrpSpPr>
        <p:grpSpPr bwMode="white">
          <a:xfrm>
            <a:off x="635426" y="738677"/>
            <a:ext cx="1202553" cy="274320"/>
            <a:chOff x="2013768" y="1033956"/>
            <a:chExt cx="1342320" cy="274320"/>
          </a:xfrm>
        </p:grpSpPr>
        <p:pic>
          <p:nvPicPr>
            <p:cNvPr id="46" name="Graphic 1"/>
            <p:cNvPicPr>
              <a:picLocks noChangeAspect="1"/>
            </p:cNvPicPr>
            <p:nvPr/>
          </p:nvPicPr>
          <p:blipFill>
            <a:blip r:embed="rId11">
              <a:lum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013768" y="1033956"/>
              <a:ext cx="274320" cy="27432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5" name="Label 1"/>
            <p:cNvSpPr txBox="1">
              <a:spLocks noChangeArrowheads="1"/>
            </p:cNvSpPr>
            <p:nvPr/>
          </p:nvSpPr>
          <p:spPr bwMode="white">
            <a:xfrm>
              <a:off x="2240077" y="1040706"/>
              <a:ext cx="1116011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Risk</a:t>
              </a:r>
            </a:p>
          </p:txBody>
        </p:sp>
      </p:grpSp>
      <p:grpSp>
        <p:nvGrpSpPr>
          <p:cNvPr id="14" name="IconPlatforms"/>
          <p:cNvGrpSpPr>
            <a:grpSpLocks/>
          </p:cNvGrpSpPr>
          <p:nvPr/>
        </p:nvGrpSpPr>
        <p:grpSpPr bwMode="white">
          <a:xfrm>
            <a:off x="1927788" y="715249"/>
            <a:ext cx="1719285" cy="365760"/>
            <a:chOff x="3262737" y="994835"/>
            <a:chExt cx="1719285" cy="365760"/>
          </a:xfrm>
        </p:grpSpPr>
        <p:pic>
          <p:nvPicPr>
            <p:cNvPr id="29" name="Graphic 1"/>
            <p:cNvPicPr>
              <a:picLocks noChangeAspect="1"/>
            </p:cNvPicPr>
            <p:nvPr/>
          </p:nvPicPr>
          <p:blipFill>
            <a:blip r:embed="rId13">
              <a:lum/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3262737" y="994835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1" name="Label 1"/>
            <p:cNvSpPr txBox="1">
              <a:spLocks noChangeArrowheads="1"/>
            </p:cNvSpPr>
            <p:nvPr/>
          </p:nvSpPr>
          <p:spPr bwMode="white">
            <a:xfrm>
              <a:off x="3582397" y="1027255"/>
              <a:ext cx="1399625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Device platforms</a:t>
              </a:r>
            </a:p>
          </p:txBody>
        </p:sp>
      </p:grpSp>
      <p:grpSp>
        <p:nvGrpSpPr>
          <p:cNvPr id="17" name="IconClientAppTypes"/>
          <p:cNvGrpSpPr>
            <a:grpSpLocks/>
          </p:cNvGrpSpPr>
          <p:nvPr/>
        </p:nvGrpSpPr>
        <p:grpSpPr bwMode="white">
          <a:xfrm>
            <a:off x="3908159" y="670015"/>
            <a:ext cx="1852971" cy="365760"/>
            <a:chOff x="4858970" y="975927"/>
            <a:chExt cx="1852971" cy="365760"/>
          </a:xfrm>
        </p:grpSpPr>
        <p:pic>
          <p:nvPicPr>
            <p:cNvPr id="58" name="Graphic 1"/>
            <p:cNvPicPr>
              <a:picLocks noChangeAspect="1"/>
            </p:cNvPicPr>
            <p:nvPr/>
          </p:nvPicPr>
          <p:blipFill>
            <a:blip r:embed="rId15">
              <a:lum/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858970" y="975927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5" name="Label 1"/>
            <p:cNvSpPr txBox="1">
              <a:spLocks noChangeArrowheads="1"/>
            </p:cNvSpPr>
            <p:nvPr/>
          </p:nvSpPr>
          <p:spPr bwMode="white">
            <a:xfrm>
              <a:off x="5193983" y="1009899"/>
              <a:ext cx="1517958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Client apps</a:t>
              </a:r>
            </a:p>
          </p:txBody>
        </p:sp>
      </p:grpSp>
      <p:grpSp>
        <p:nvGrpSpPr>
          <p:cNvPr id="37" name="IconLocations"/>
          <p:cNvGrpSpPr>
            <a:grpSpLocks/>
          </p:cNvGrpSpPr>
          <p:nvPr/>
        </p:nvGrpSpPr>
        <p:grpSpPr bwMode="white">
          <a:xfrm>
            <a:off x="8411896" y="646848"/>
            <a:ext cx="1850168" cy="388465"/>
            <a:chOff x="2321433" y="3262888"/>
            <a:chExt cx="1850168" cy="388465"/>
          </a:xfrm>
        </p:grpSpPr>
        <p:pic>
          <p:nvPicPr>
            <p:cNvPr id="33" name="Graphic 1"/>
            <p:cNvPicPr>
              <a:picLocks noChangeAspect="1"/>
            </p:cNvPicPr>
            <p:nvPr/>
          </p:nvPicPr>
          <p:blipFill>
            <a:blip r:embed="rId17">
              <a:lum/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321433" y="3262888"/>
              <a:ext cx="388465" cy="388465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28" name="Label 1"/>
            <p:cNvSpPr txBox="1">
              <a:spLocks noChangeArrowheads="1"/>
            </p:cNvSpPr>
            <p:nvPr/>
          </p:nvSpPr>
          <p:spPr bwMode="white">
            <a:xfrm>
              <a:off x="2713321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Locations</a:t>
              </a:r>
              <a:endParaRPr lang="en-US" sz="1100" b="1" dirty="0"/>
            </a:p>
          </p:txBody>
        </p:sp>
      </p:grpSp>
      <p:grpSp>
        <p:nvGrpSpPr>
          <p:cNvPr id="39" name="IconDeviceFilters"/>
          <p:cNvGrpSpPr>
            <a:grpSpLocks/>
          </p:cNvGrpSpPr>
          <p:nvPr/>
        </p:nvGrpSpPr>
        <p:grpSpPr bwMode="white">
          <a:xfrm>
            <a:off x="5472818" y="661958"/>
            <a:ext cx="1839823" cy="364111"/>
            <a:chOff x="4195414" y="3273669"/>
            <a:chExt cx="1839823" cy="364111"/>
          </a:xfrm>
        </p:grpSpPr>
        <p:pic>
          <p:nvPicPr>
            <p:cNvPr id="60" name="Graphic 1"/>
            <p:cNvPicPr>
              <a:picLocks noChangeAspect="1"/>
            </p:cNvPicPr>
            <p:nvPr/>
          </p:nvPicPr>
          <p:blipFill>
            <a:blip r:embed="rId19">
              <a:lum/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195414" y="3273669"/>
              <a:ext cx="364111" cy="364111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31" name="Label 1"/>
            <p:cNvSpPr txBox="1">
              <a:spLocks noChangeArrowheads="1"/>
            </p:cNvSpPr>
            <p:nvPr/>
          </p:nvSpPr>
          <p:spPr bwMode="white">
            <a:xfrm>
              <a:off x="4576957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Filter for devices</a:t>
              </a:r>
              <a:endParaRPr lang="en-US" sz="1100" b="1" dirty="0"/>
            </a:p>
          </p:txBody>
        </p:sp>
      </p:grpSp>
      <p:pic>
        <p:nvPicPr>
          <p:cNvPr id="62" name="IconGrantMultifactorAuthentication"/>
          <p:cNvPicPr>
            <a:picLocks noChangeAspect="1"/>
          </p:cNvPicPr>
          <p:nvPr/>
        </p:nvPicPr>
        <p:blipFill>
          <a:blip r:embed="rId21">
            <a:lum/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>
            <a:fillRect/>
          </a:stretch>
        </p:blipFill>
        <p:spPr bwMode="white">
          <a:xfrm>
            <a:off x="3410647" y="3566863"/>
            <a:ext cx="17145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5" name="IconGrantMultifactorAuthenticationLabel"/>
          <p:cNvSpPr txBox="1">
            <a:spLocks noChangeArrowheads="1"/>
          </p:cNvSpPr>
          <p:nvPr/>
        </p:nvSpPr>
        <p:spPr bwMode="white">
          <a:xfrm>
            <a:off x="3575836" y="3571997"/>
            <a:ext cx="19007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Multifactor authentication</a:t>
            </a:r>
            <a:endParaRPr lang="en-US" sz="1000" dirty="0"/>
          </a:p>
        </p:txBody>
      </p:sp>
      <p:pic>
        <p:nvPicPr>
          <p:cNvPr id="38" name="IconGrantAuthenticationStrength"/>
          <p:cNvPicPr>
            <a:picLocks noChangeAspect="1"/>
          </p:cNvPicPr>
          <p:nvPr/>
        </p:nvPicPr>
        <p:blipFill>
          <a:blip r:embed="rId23">
            <a:lum/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/>
          <a:stretch>
            <a:fillRect/>
          </a:stretch>
        </p:blipFill>
        <p:spPr bwMode="white">
          <a:xfrm>
            <a:off x="3374515" y="3905034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7" name="IconGrantAuthenticationStrengthLabel"/>
          <p:cNvSpPr txBox="1">
            <a:spLocks noChangeArrowheads="1"/>
          </p:cNvSpPr>
          <p:nvPr/>
        </p:nvSpPr>
        <p:spPr bwMode="white">
          <a:xfrm>
            <a:off x="3575836" y="3907323"/>
            <a:ext cx="2185294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Authentication strength</a:t>
            </a:r>
            <a:endParaRPr lang="en-US" sz="1000" dirty="0"/>
          </a:p>
        </p:txBody>
      </p:sp>
      <p:pic>
        <p:nvPicPr>
          <p:cNvPr id="52" name="IconGrantDeviceCompliance"/>
          <p:cNvPicPr>
            <a:picLocks noChangeAspect="1"/>
          </p:cNvPicPr>
          <p:nvPr/>
        </p:nvPicPr>
        <p:blipFill>
          <a:blip r:embed="rId25">
            <a:lum/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/>
          <a:stretch>
            <a:fillRect/>
          </a:stretch>
        </p:blipFill>
        <p:spPr bwMode="white">
          <a:xfrm>
            <a:off x="3374515" y="4243205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9" name="IconGrantDeviceComplianceLabel"/>
          <p:cNvSpPr txBox="1">
            <a:spLocks noChangeArrowheads="1"/>
          </p:cNvSpPr>
          <p:nvPr/>
        </p:nvSpPr>
        <p:spPr bwMode="white">
          <a:xfrm>
            <a:off x="3575836" y="4242649"/>
            <a:ext cx="17378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Compliant device</a:t>
            </a:r>
            <a:endParaRPr lang="en-US" sz="1000" dirty="0"/>
          </a:p>
        </p:txBody>
      </p:sp>
      <p:pic>
        <p:nvPicPr>
          <p:cNvPr id="43" name="IconGrantHybridJoined"/>
          <p:cNvPicPr>
            <a:picLocks noChangeAspect="1"/>
          </p:cNvPicPr>
          <p:nvPr/>
        </p:nvPicPr>
        <p:blipFill>
          <a:blip r:embed="rId27">
            <a:lum/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/>
          <a:stretch>
            <a:fillRect/>
          </a:stretch>
        </p:blipFill>
        <p:spPr bwMode="white">
          <a:xfrm>
            <a:off x="3374515" y="4581376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3" name="IconGrantHybridJoinedLabel"/>
          <p:cNvSpPr txBox="1">
            <a:spLocks noChangeArrowheads="1"/>
          </p:cNvSpPr>
          <p:nvPr/>
        </p:nvSpPr>
        <p:spPr bwMode="white">
          <a:xfrm>
            <a:off x="3575836" y="4577975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Hybrid Azure AD joined device</a:t>
            </a:r>
            <a:endParaRPr lang="en-US" sz="1000" dirty="0"/>
          </a:p>
        </p:txBody>
      </p:sp>
      <p:pic>
        <p:nvPicPr>
          <p:cNvPr id="48" name="IconGrantApprovedClientApp"/>
          <p:cNvPicPr>
            <a:picLocks noChangeAspect="1"/>
          </p:cNvPicPr>
          <p:nvPr/>
        </p:nvPicPr>
        <p:blipFill>
          <a:blip r:embed="rId29">
            <a:lum/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rcRect/>
          <a:stretch>
            <a:fillRect/>
          </a:stretch>
        </p:blipFill>
        <p:spPr bwMode="white">
          <a:xfrm>
            <a:off x="3374515" y="491954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5" name="IconGrantApprovedClientAppLabel"/>
          <p:cNvSpPr txBox="1">
            <a:spLocks noChangeArrowheads="1"/>
          </p:cNvSpPr>
          <p:nvPr/>
        </p:nvSpPr>
        <p:spPr bwMode="white">
          <a:xfrm>
            <a:off x="3575836" y="4913301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Approved client app</a:t>
            </a:r>
            <a:endParaRPr lang="en-US" sz="1000" dirty="0"/>
          </a:p>
        </p:txBody>
      </p:sp>
      <p:pic>
        <p:nvPicPr>
          <p:cNvPr id="42" name="IconGrantCustomAuth"/>
          <p:cNvPicPr>
            <a:picLocks noChangeAspect="1"/>
          </p:cNvPicPr>
          <p:nvPr/>
        </p:nvPicPr>
        <p:blipFill>
          <a:blip r:embed="rId31">
            <a:lum/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rcRect/>
          <a:stretch>
            <a:fillRect/>
          </a:stretch>
        </p:blipFill>
        <p:spPr bwMode="white">
          <a:xfrm>
            <a:off x="3374515" y="593406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9" name="IconGrantCustomAuthLabel"/>
          <p:cNvSpPr txBox="1">
            <a:spLocks noChangeArrowheads="1"/>
          </p:cNvSpPr>
          <p:nvPr/>
        </p:nvSpPr>
        <p:spPr bwMode="white">
          <a:xfrm>
            <a:off x="3575836" y="5919279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Custom authentication factor</a:t>
            </a:r>
            <a:endParaRPr lang="en-US" sz="1000" dirty="0"/>
          </a:p>
        </p:txBody>
      </p:sp>
      <p:pic>
        <p:nvPicPr>
          <p:cNvPr id="40" name="IconGrantTermsOfUse"/>
          <p:cNvPicPr>
            <a:picLocks noChangeAspect="1"/>
          </p:cNvPicPr>
          <p:nvPr/>
        </p:nvPicPr>
        <p:blipFill>
          <a:blip r:embed="rId33">
            <a:lum/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rcRect/>
          <a:stretch>
            <a:fillRect/>
          </a:stretch>
        </p:blipFill>
        <p:spPr bwMode="white">
          <a:xfrm>
            <a:off x="3374515" y="627222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3" name="IconGrantTermsOfUseLabel"/>
          <p:cNvSpPr txBox="1">
            <a:spLocks noChangeArrowheads="1"/>
          </p:cNvSpPr>
          <p:nvPr/>
        </p:nvSpPr>
        <p:spPr bwMode="white">
          <a:xfrm>
            <a:off x="3575836" y="625460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Terms of use</a:t>
            </a:r>
            <a:endParaRPr lang="en-US" sz="1000" dirty="0"/>
          </a:p>
        </p:txBody>
      </p:sp>
      <p:sp>
        <p:nvSpPr>
          <p:cNvPr id="56" name="IconGrantAppProtectionLabel"/>
          <p:cNvSpPr txBox="1">
            <a:spLocks noChangeArrowheads="1"/>
          </p:cNvSpPr>
          <p:nvPr/>
        </p:nvSpPr>
        <p:spPr bwMode="white">
          <a:xfrm>
            <a:off x="3575836" y="524862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 protection policy</a:t>
            </a:r>
            <a:endParaRPr lang="en-US" sz="1000" dirty="0"/>
          </a:p>
        </p:txBody>
      </p:sp>
      <p:pic>
        <p:nvPicPr>
          <p:cNvPr id="65" name="IconGrantAppProtection"/>
          <p:cNvPicPr>
            <a:picLocks noChangeAspect="1"/>
          </p:cNvPicPr>
          <p:nvPr/>
        </p:nvPicPr>
        <p:blipFill>
          <a:blip r:embed="rId35">
            <a:lum/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rcRect/>
          <a:stretch>
            <a:fillRect/>
          </a:stretch>
        </p:blipFill>
        <p:spPr bwMode="white">
          <a:xfrm>
            <a:off x="3374515" y="525771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7" name="IconGrantChangePasswordLabel"/>
          <p:cNvSpPr txBox="1">
            <a:spLocks noChangeArrowheads="1"/>
          </p:cNvSpPr>
          <p:nvPr/>
        </p:nvSpPr>
        <p:spPr bwMode="white">
          <a:xfrm>
            <a:off x="3575836" y="5583953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Change password</a:t>
            </a:r>
            <a:endParaRPr lang="en-US" sz="1000" dirty="0"/>
          </a:p>
        </p:txBody>
      </p:sp>
      <p:pic>
        <p:nvPicPr>
          <p:cNvPr id="67" name="IconGrantChangePassword"/>
          <p:cNvPicPr>
            <a:picLocks noChangeAspect="1"/>
          </p:cNvPicPr>
          <p:nvPr/>
        </p:nvPicPr>
        <p:blipFill>
          <a:blip r:embed="rId37">
            <a:lum/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rcRect/>
          <a:stretch>
            <a:fillRect/>
          </a:stretch>
        </p:blipFill>
        <p:spPr bwMode="white">
          <a:xfrm>
            <a:off x="3374515" y="5595889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4" name="ShadeRisk"/>
          <p:cNvSpPr>
            <a:spLocks/>
          </p:cNvSpPr>
          <p:nvPr/>
        </p:nvSpPr>
        <p:spPr bwMode="white">
          <a:xfrm>
            <a:off x="507564" y="650246"/>
            <a:ext cx="976864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66" name="ShadeDevicePlatforms"/>
          <p:cNvSpPr>
            <a:spLocks/>
          </p:cNvSpPr>
          <p:nvPr/>
        </p:nvSpPr>
        <p:spPr bwMode="white">
          <a:xfrm>
            <a:off x="1863623" y="663409"/>
            <a:ext cx="1773927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78" name="ShadeClientApps"/>
          <p:cNvSpPr>
            <a:spLocks/>
          </p:cNvSpPr>
          <p:nvPr/>
        </p:nvSpPr>
        <p:spPr bwMode="white">
          <a:xfrm>
            <a:off x="3802273" y="650246"/>
            <a:ext cx="1481482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2" name="ShadeFilterForDevices"/>
          <p:cNvSpPr>
            <a:spLocks/>
          </p:cNvSpPr>
          <p:nvPr/>
        </p:nvSpPr>
        <p:spPr bwMode="white">
          <a:xfrm>
            <a:off x="5438955" y="627922"/>
            <a:ext cx="1873685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3" name="ShadeGrantMultifactorAuth"/>
          <p:cNvSpPr>
            <a:spLocks/>
          </p:cNvSpPr>
          <p:nvPr/>
        </p:nvSpPr>
        <p:spPr bwMode="white">
          <a:xfrm>
            <a:off x="3369399" y="3534220"/>
            <a:ext cx="2069555" cy="28330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4" name="ShadeGrantAuthStrength"/>
          <p:cNvSpPr>
            <a:spLocks/>
          </p:cNvSpPr>
          <p:nvPr/>
        </p:nvSpPr>
        <p:spPr bwMode="white">
          <a:xfrm>
            <a:off x="3350256" y="3869846"/>
            <a:ext cx="2069555" cy="27801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5" name="ShadeGrantCompliantDevice"/>
          <p:cNvSpPr>
            <a:spLocks/>
          </p:cNvSpPr>
          <p:nvPr/>
        </p:nvSpPr>
        <p:spPr bwMode="white">
          <a:xfrm>
            <a:off x="3361852" y="4243205"/>
            <a:ext cx="2077102" cy="26110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6" name="ShadeGrantHybridAzureADJoined"/>
          <p:cNvSpPr>
            <a:spLocks/>
          </p:cNvSpPr>
          <p:nvPr/>
        </p:nvSpPr>
        <p:spPr bwMode="white">
          <a:xfrm>
            <a:off x="3353637" y="4552268"/>
            <a:ext cx="2160906" cy="298395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7" name="ShadeGrantApprovedClientApp"/>
          <p:cNvSpPr>
            <a:spLocks/>
          </p:cNvSpPr>
          <p:nvPr/>
        </p:nvSpPr>
        <p:spPr bwMode="white">
          <a:xfrm>
            <a:off x="3331918" y="4876027"/>
            <a:ext cx="2182625" cy="29839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8" name="ShadeGrantAppProtectionPolicy"/>
          <p:cNvSpPr>
            <a:spLocks/>
          </p:cNvSpPr>
          <p:nvPr/>
        </p:nvSpPr>
        <p:spPr bwMode="white">
          <a:xfrm>
            <a:off x="3350256" y="5207226"/>
            <a:ext cx="2122561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9" name="ShadeGrantChangePassword"/>
          <p:cNvSpPr>
            <a:spLocks/>
          </p:cNvSpPr>
          <p:nvPr/>
        </p:nvSpPr>
        <p:spPr bwMode="white">
          <a:xfrm>
            <a:off x="3350257" y="5557021"/>
            <a:ext cx="2042006" cy="287239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0" name="ShadeGrantCustomAuthFactor"/>
          <p:cNvSpPr>
            <a:spLocks/>
          </p:cNvSpPr>
          <p:nvPr/>
        </p:nvSpPr>
        <p:spPr bwMode="white">
          <a:xfrm>
            <a:off x="3331918" y="5899058"/>
            <a:ext cx="2182625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1" name="ShadeGrantTermsOfUse"/>
          <p:cNvSpPr>
            <a:spLocks/>
          </p:cNvSpPr>
          <p:nvPr/>
        </p:nvSpPr>
        <p:spPr bwMode="white">
          <a:xfrm>
            <a:off x="3313823" y="6192350"/>
            <a:ext cx="101602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99" name="Rectangle 98"/>
          <p:cNvSpPr>
            <a:spLocks/>
          </p:cNvSpPr>
          <p:nvPr/>
        </p:nvSpPr>
        <p:spPr bwMode="white">
          <a:xfrm>
            <a:off x="3268757" y="3253404"/>
            <a:ext cx="2357725" cy="3498546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0" name="Rectangle 109"/>
          <p:cNvSpPr>
            <a:spLocks/>
          </p:cNvSpPr>
          <p:nvPr/>
        </p:nvSpPr>
        <p:spPr bwMode="white">
          <a:xfrm>
            <a:off x="9881750" y="3248255"/>
            <a:ext cx="2220808" cy="3510149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7" name="Rectangle 116"/>
          <p:cNvSpPr>
            <a:spLocks/>
          </p:cNvSpPr>
          <p:nvPr/>
        </p:nvSpPr>
        <p:spPr bwMode="white">
          <a:xfrm>
            <a:off x="26741" y="606825"/>
            <a:ext cx="11985015" cy="2063636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2" name="Conditions Label"/>
          <p:cNvSpPr txBox="1">
            <a:spLocks noChangeArrowheads="1"/>
          </p:cNvSpPr>
          <p:nvPr/>
        </p:nvSpPr>
        <p:spPr bwMode="white">
          <a:xfrm rot="16200000">
            <a:off x="-883507" y="1514324"/>
            <a:ext cx="2081441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Conditions</a:t>
            </a:r>
          </a:p>
        </p:txBody>
      </p:sp>
      <p:sp>
        <p:nvSpPr>
          <p:cNvPr id="109" name="Grant Controls"/>
          <p:cNvSpPr txBox="1">
            <a:spLocks noChangeArrowheads="1"/>
          </p:cNvSpPr>
          <p:nvPr/>
        </p:nvSpPr>
        <p:spPr bwMode="white">
          <a:xfrm>
            <a:off x="3252146" y="3244395"/>
            <a:ext cx="2391873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Grant Controls</a:t>
            </a:r>
          </a:p>
        </p:txBody>
      </p:sp>
      <p:sp>
        <p:nvSpPr>
          <p:cNvPr id="111" name="Session Controls"/>
          <p:cNvSpPr txBox="1">
            <a:spLocks noChangeArrowheads="1"/>
          </p:cNvSpPr>
          <p:nvPr/>
        </p:nvSpPr>
        <p:spPr bwMode="white">
          <a:xfrm>
            <a:off x="9864212" y="3243751"/>
            <a:ext cx="2238346" cy="23786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Session Controls</a:t>
            </a:r>
          </a:p>
        </p:txBody>
      </p:sp>
      <p:pic>
        <p:nvPicPr>
          <p:cNvPr id="72" name="Graphic 71"/>
          <p:cNvPicPr>
            <a:picLocks noChangeAspect="1"/>
          </p:cNvPicPr>
          <p:nvPr/>
        </p:nvPicPr>
        <p:blipFill>
          <a:blip r:embed="rId39">
            <a:lum/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rcRect/>
          <a:stretch>
            <a:fillRect/>
          </a:stretch>
        </p:blipFill>
        <p:spPr bwMode="white">
          <a:xfrm>
            <a:off x="9996846" y="356982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4" name="Graphic 93"/>
          <p:cNvPicPr>
            <a:picLocks noChangeAspect="1"/>
          </p:cNvPicPr>
          <p:nvPr/>
        </p:nvPicPr>
        <p:blipFill>
          <a:blip r:embed="rId41">
            <a:lum/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rcRect/>
          <a:stretch>
            <a:fillRect/>
          </a:stretch>
        </p:blipFill>
        <p:spPr bwMode="white">
          <a:xfrm>
            <a:off x="10009443" y="525644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5" name="TextBox 94"/>
          <p:cNvSpPr txBox="1">
            <a:spLocks noChangeArrowheads="1"/>
          </p:cNvSpPr>
          <p:nvPr/>
        </p:nvSpPr>
        <p:spPr bwMode="white">
          <a:xfrm>
            <a:off x="10207481" y="3578463"/>
            <a:ext cx="150554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App enforced restrictions</a:t>
            </a:r>
          </a:p>
        </p:txBody>
      </p:sp>
      <p:sp>
        <p:nvSpPr>
          <p:cNvPr id="96" name="TextBox 95"/>
          <p:cNvSpPr txBox="1">
            <a:spLocks noChangeArrowheads="1"/>
          </p:cNvSpPr>
          <p:nvPr/>
        </p:nvSpPr>
        <p:spPr bwMode="white">
          <a:xfrm>
            <a:off x="10201167" y="3899846"/>
            <a:ext cx="181011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Conditional Access App Control</a:t>
            </a:r>
          </a:p>
        </p:txBody>
      </p:sp>
      <p:sp>
        <p:nvSpPr>
          <p:cNvPr id="97" name="TextBox 96"/>
          <p:cNvSpPr txBox="1">
            <a:spLocks noChangeArrowheads="1"/>
          </p:cNvSpPr>
          <p:nvPr/>
        </p:nvSpPr>
        <p:spPr bwMode="white">
          <a:xfrm>
            <a:off x="10215627" y="4357505"/>
            <a:ext cx="1090363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Sign-in frequency</a:t>
            </a:r>
          </a:p>
        </p:txBody>
      </p:sp>
      <p:sp>
        <p:nvSpPr>
          <p:cNvPr id="98" name="TextBox 97"/>
          <p:cNvSpPr txBox="1">
            <a:spLocks noChangeArrowheads="1"/>
          </p:cNvSpPr>
          <p:nvPr/>
        </p:nvSpPr>
        <p:spPr bwMode="white">
          <a:xfrm>
            <a:off x="10225446" y="4793305"/>
            <a:ext cx="156966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Persistent browser session</a:t>
            </a:r>
          </a:p>
        </p:txBody>
      </p:sp>
      <p:sp>
        <p:nvSpPr>
          <p:cNvPr id="100" name="TextBox 99"/>
          <p:cNvSpPr txBox="1">
            <a:spLocks noChangeArrowheads="1"/>
          </p:cNvSpPr>
          <p:nvPr/>
        </p:nvSpPr>
        <p:spPr bwMode="white">
          <a:xfrm>
            <a:off x="10229552" y="5232376"/>
            <a:ext cx="1717137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Continuous access evaluation</a:t>
            </a:r>
          </a:p>
        </p:txBody>
      </p:sp>
      <p:sp>
        <p:nvSpPr>
          <p:cNvPr id="101" name="TextBox 100"/>
          <p:cNvSpPr txBox="1">
            <a:spLocks noChangeArrowheads="1"/>
          </p:cNvSpPr>
          <p:nvPr/>
        </p:nvSpPr>
        <p:spPr bwMode="white">
          <a:xfrm>
            <a:off x="10259108" y="5658625"/>
            <a:ext cx="153599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Disable resilience defaults</a:t>
            </a:r>
          </a:p>
        </p:txBody>
      </p:sp>
      <p:pic>
        <p:nvPicPr>
          <p:cNvPr id="103" name="Graphic 102"/>
          <p:cNvPicPr>
            <a:picLocks noChangeAspect="1"/>
          </p:cNvPicPr>
          <p:nvPr/>
        </p:nvPicPr>
        <p:blipFill>
          <a:blip r:embed="rId43">
            <a:lum/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rcRect/>
          <a:stretch>
            <a:fillRect/>
          </a:stretch>
        </p:blipFill>
        <p:spPr bwMode="white">
          <a:xfrm>
            <a:off x="9996846" y="479900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5" name="Graphic 104"/>
          <p:cNvPicPr>
            <a:picLocks noChangeAspect="1"/>
          </p:cNvPicPr>
          <p:nvPr/>
        </p:nvPicPr>
        <p:blipFill>
          <a:blip r:embed="rId45">
            <a:lum/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rcRect/>
          <a:stretch>
            <a:fillRect/>
          </a:stretch>
        </p:blipFill>
        <p:spPr bwMode="white">
          <a:xfrm>
            <a:off x="9996846" y="437457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7" name="Graphic 106"/>
          <p:cNvPicPr>
            <a:picLocks noChangeAspect="1"/>
          </p:cNvPicPr>
          <p:nvPr/>
        </p:nvPicPr>
        <p:blipFill>
          <a:blip r:embed="rId7">
            <a:lum/>
            <a:extLst>
              <a:ext uri="{96DAC541-7B7A-43D3-8B79-37D633B846F1}">
                <asvg:svgBlip xmlns:asvg="http://schemas.microsoft.com/office/drawing/2016/SVG/main" r:embed="rId47"/>
              </a:ext>
            </a:extLst>
          </a:blip>
          <a:srcRect/>
          <a:stretch>
            <a:fillRect/>
          </a:stretch>
        </p:blipFill>
        <p:spPr bwMode="white">
          <a:xfrm>
            <a:off x="9996846" y="391529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15" name="SessionSifInterval"/>
          <p:cNvSpPr txBox="1">
            <a:spLocks noChangeArrowheads="1"/>
          </p:cNvSpPr>
          <p:nvPr/>
        </p:nvSpPr>
        <p:spPr bwMode="white">
          <a:xfrm>
            <a:off x="10296745" y="4516775"/>
            <a:ext cx="1249060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Periodic reauthentication</a:t>
            </a:r>
          </a:p>
        </p:txBody>
      </p:sp>
      <p:sp>
        <p:nvSpPr>
          <p:cNvPr id="114" name="SessionCasType"/>
          <p:cNvSpPr txBox="1">
            <a:spLocks noChangeArrowheads="1"/>
          </p:cNvSpPr>
          <p:nvPr/>
        </p:nvSpPr>
        <p:spPr bwMode="white">
          <a:xfrm>
            <a:off x="10296745" y="4075500"/>
            <a:ext cx="95410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App Control Policy</a:t>
            </a:r>
          </a:p>
        </p:txBody>
      </p:sp>
      <p:sp>
        <p:nvSpPr>
          <p:cNvPr id="116" name="SessionPersistenBrowserMode"/>
          <p:cNvSpPr txBox="1">
            <a:spLocks noChangeArrowheads="1"/>
          </p:cNvSpPr>
          <p:nvPr/>
        </p:nvSpPr>
        <p:spPr bwMode="white">
          <a:xfrm>
            <a:off x="10309761" y="4945281"/>
            <a:ext cx="918841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Always persistent</a:t>
            </a:r>
          </a:p>
        </p:txBody>
      </p:sp>
      <p:sp>
        <p:nvSpPr>
          <p:cNvPr id="118" name="SessionCaeMode"/>
          <p:cNvSpPr txBox="1">
            <a:spLocks noChangeArrowheads="1"/>
          </p:cNvSpPr>
          <p:nvPr/>
        </p:nvSpPr>
        <p:spPr bwMode="white">
          <a:xfrm>
            <a:off x="10301386" y="5393378"/>
            <a:ext cx="15359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US" sz="800" dirty="0"/>
              <a:t>Strictly enforce location policies</a:t>
            </a:r>
          </a:p>
        </p:txBody>
      </p:sp>
      <p:sp>
        <p:nvSpPr>
          <p:cNvPr id="119" name="ShadeSessionAppEnforced"/>
          <p:cNvSpPr>
            <a:spLocks/>
          </p:cNvSpPr>
          <p:nvPr/>
        </p:nvSpPr>
        <p:spPr bwMode="white">
          <a:xfrm>
            <a:off x="9959680" y="3548808"/>
            <a:ext cx="2051597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0" name="ShadeSessionCas"/>
          <p:cNvSpPr>
            <a:spLocks/>
          </p:cNvSpPr>
          <p:nvPr/>
        </p:nvSpPr>
        <p:spPr bwMode="white">
          <a:xfrm>
            <a:off x="9978939" y="3884212"/>
            <a:ext cx="2087576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1" name="ShadeSessionSif"/>
          <p:cNvSpPr>
            <a:spLocks/>
          </p:cNvSpPr>
          <p:nvPr/>
        </p:nvSpPr>
        <p:spPr bwMode="white">
          <a:xfrm>
            <a:off x="9940787" y="4320077"/>
            <a:ext cx="2125728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2" name="ShadeSessionPersistentBrowser"/>
          <p:cNvSpPr>
            <a:spLocks/>
          </p:cNvSpPr>
          <p:nvPr/>
        </p:nvSpPr>
        <p:spPr bwMode="white">
          <a:xfrm>
            <a:off x="9938833" y="4746195"/>
            <a:ext cx="207244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" name="Label Secure Sign In Session"/>
          <p:cNvSpPr txBox="1">
            <a:spLocks noChangeArrowheads="1"/>
          </p:cNvSpPr>
          <p:nvPr/>
        </p:nvSpPr>
        <p:spPr bwMode="white">
          <a:xfrm>
            <a:off x="10260000" y="6084874"/>
            <a:ext cx="166584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Token protection for session</a:t>
            </a:r>
          </a:p>
        </p:txBody>
      </p:sp>
      <p:pic>
        <p:nvPicPr>
          <p:cNvPr id="77" name="IconSessionCaeDisable" descr="Close with solid fill"/>
          <p:cNvPicPr>
            <a:picLocks noChangeAspect="1"/>
          </p:cNvPicPr>
          <p:nvPr/>
        </p:nvPicPr>
        <p:blipFill>
          <a:blip r:embed="rId48">
            <a:lum/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rcRect/>
          <a:stretch>
            <a:fillRect/>
          </a:stretch>
        </p:blipFill>
        <p:spPr bwMode="white">
          <a:xfrm>
            <a:off x="9979885" y="5218651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2" name="IconSessionSecureSignInSession 1"/>
          <p:cNvPicPr>
            <a:picLocks noChangeAspect="1"/>
          </p:cNvPicPr>
          <p:nvPr/>
        </p:nvPicPr>
        <p:blipFill>
          <a:blip r:embed="rId50">
            <a:lum/>
            <a:extLst>
              <a:ext uri="{96DAC541-7B7A-43D3-8B79-37D633B846F1}">
                <asvg:svgBlip xmlns:asvg="http://schemas.microsoft.com/office/drawing/2016/SVG/main" r:embed="rId51"/>
              </a:ext>
            </a:extLst>
          </a:blip>
          <a:srcRect/>
          <a:stretch>
            <a:fillRect/>
          </a:stretch>
        </p:blipFill>
        <p:spPr bwMode="white">
          <a:xfrm>
            <a:off x="9997200" y="6085768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3" name="ShadeSessionCae"/>
          <p:cNvSpPr>
            <a:spLocks/>
          </p:cNvSpPr>
          <p:nvPr/>
        </p:nvSpPr>
        <p:spPr bwMode="white">
          <a:xfrm>
            <a:off x="9987595" y="5219780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76" name="ShadeSessionSecureSignIn"/>
          <p:cNvSpPr>
            <a:spLocks/>
          </p:cNvSpPr>
          <p:nvPr/>
        </p:nvSpPr>
        <p:spPr bwMode="white">
          <a:xfrm>
            <a:off x="9996846" y="5986498"/>
            <a:ext cx="2014431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pic>
        <p:nvPicPr>
          <p:cNvPr id="102" name="Graphic 101"/>
          <p:cNvPicPr>
            <a:picLocks noChangeAspect="1"/>
          </p:cNvPicPr>
          <p:nvPr/>
        </p:nvPicPr>
        <p:blipFill>
          <a:blip r:embed="rId52">
            <a:lum/>
            <a:extLst>
              <a:ext uri="{96DAC541-7B7A-43D3-8B79-37D633B846F1}">
                <asvg:svgBlip xmlns:asvg="http://schemas.microsoft.com/office/drawing/2016/SVG/main" r:embed="rId53"/>
              </a:ext>
            </a:extLst>
          </a:blip>
          <a:srcRect/>
          <a:stretch>
            <a:fillRect/>
          </a:stretch>
        </p:blipFill>
        <p:spPr bwMode="white">
          <a:xfrm>
            <a:off x="9997200" y="5663777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80" name="Graphic 79" descr="Close with solid fill"/>
          <p:cNvPicPr>
            <a:picLocks noChangeAspect="1"/>
          </p:cNvPicPr>
          <p:nvPr/>
        </p:nvPicPr>
        <p:blipFill>
          <a:blip r:embed="rId48">
            <a:lum/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rcRect/>
          <a:stretch>
            <a:fillRect/>
          </a:stretch>
        </p:blipFill>
        <p:spPr bwMode="white">
          <a:xfrm>
            <a:off x="9963899" y="5637424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4" name="ShadeSessionDisableResilience"/>
          <p:cNvSpPr>
            <a:spLocks/>
          </p:cNvSpPr>
          <p:nvPr/>
        </p:nvSpPr>
        <p:spPr bwMode="white">
          <a:xfrm>
            <a:off x="9959681" y="5602709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2" name="PolicyName">
            <a:hlinkClick r:id="" action="ppaction://hlinkfile"/>
          </p:cNvPr>
          <p:cNvSpPr>
            <a:spLocks noGrp="1"/>
          </p:cNvSpPr>
          <p:nvPr>
            <p:ph type="title"/>
          </p:nvPr>
        </p:nvSpPr>
        <p:spPr bwMode="white">
          <a:xfrm>
            <a:off x="838200" y="115511"/>
            <a:ext cx="10003967" cy="609565"/>
          </a:xfrm>
          <a:ln>
            <a:headEnd type="none"/>
            <a:tailEnd type="none"/>
          </a:ln>
        </p:spPr>
        <p:txBody>
          <a:bodyPr wrap="square">
            <a:noAutofit/>
          </a:bodyPr>
          <a:lstStyle/>
          <a:p>
            <a:pPr defTabSz="914400"/>
            <a:r>
              <a:rPr lang="en-US" sz="2000" b="1" dirty="0"/>
              <a:t> [All Apps] [SVo365 PowerRPA] (Block) Service Accounts Login From Non-OCC IPs</a:t>
            </a:r>
          </a:p>
        </p:txBody>
      </p:sp>
      <p:sp>
        <p:nvSpPr>
          <p:cNvPr id="16" name="LastModified"/>
          <p:cNvSpPr txBox="1">
            <a:spLocks noChangeArrowheads="1"/>
          </p:cNvSpPr>
          <p:nvPr/>
        </p:nvSpPr>
        <p:spPr bwMode="white">
          <a:xfrm>
            <a:off x="10556111" y="388376"/>
            <a:ext cx="15483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algn="r" defTabSz="457200"/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Last modified: 2025-05-29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UserWorkload"/>
          <p:cNvSpPr>
            <a:spLocks/>
          </p:cNvSpPr>
          <p:nvPr/>
        </p:nvSpPr>
        <p:spPr bwMode="auto">
          <a:xfrm>
            <a:off x="175820" y="2709769"/>
            <a:ext cx="2202823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Users</a:t>
            </a:r>
          </a:p>
        </p:txBody>
      </p:sp>
      <p:sp>
        <p:nvSpPr>
          <p:cNvPr id="7" name="UserWorkloadIncExc"/>
          <p:cNvSpPr txBox="1">
            <a:spLocks noChangeArrowheads="1"/>
          </p:cNvSpPr>
          <p:nvPr/>
        </p:nvSpPr>
        <p:spPr bwMode="white">
          <a:xfrm>
            <a:off x="125485" y="3698952"/>
            <a:ext cx="3062115" cy="313265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 numCol="1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b="1" dirty="0"/>
            </a:pPr>
            <a:r>
              <a:t> Users</a:t>
            </a:r>
          </a:p>
          <a:p>
            <a:pPr defTabSz="457200">
              <a:defRPr sz="1100" dirty="0"/>
            </a:pPr>
            <a:r>
              <a:t> - SVO365 SPFlowCreate</a:t>
            </a:r>
          </a:p>
          <a:p>
            <a:pPr defTabSz="457200">
              <a:defRPr sz="1100" dirty="0"/>
            </a:pPr>
            <a:r>
              <a:t> - SVO365 SPFlowDeploy</a:t>
            </a:r>
          </a:p>
          <a:p>
            <a:pPr defTabSz="457200">
              <a:defRPr sz="1100" dirty="0"/>
            </a:pPr>
            <a:r>
              <a:t> - SVO365 ContentMatrix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19" name="Risks"/>
          <p:cNvSpPr txBox="1">
            <a:spLocks noChangeArrowheads="1"/>
          </p:cNvSpPr>
          <p:nvPr/>
        </p:nvSpPr>
        <p:spPr bwMode="white">
          <a:xfrm>
            <a:off x="524485" y="1021946"/>
            <a:ext cx="1348869" cy="166886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0" name="Platforms"/>
          <p:cNvSpPr txBox="1">
            <a:spLocks noChangeArrowheads="1"/>
          </p:cNvSpPr>
          <p:nvPr/>
        </p:nvSpPr>
        <p:spPr bwMode="white">
          <a:xfrm>
            <a:off x="1826931" y="1021947"/>
            <a:ext cx="2061056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3" name="Locations"/>
          <p:cNvSpPr txBox="1">
            <a:spLocks noChangeArrowheads="1"/>
          </p:cNvSpPr>
          <p:nvPr/>
        </p:nvSpPr>
        <p:spPr bwMode="white">
          <a:xfrm>
            <a:off x="8324941" y="1021947"/>
            <a:ext cx="3513702" cy="159258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b="1" dirty="0"/>
            </a:pPr>
            <a:r>
              <a:t>✅ Include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r>
              <a:t>🚫 Exclude</a:t>
            </a:r>
          </a:p>
          <a:p>
            <a:pPr defTabSz="457200">
              <a:defRPr sz="1100" dirty="0"/>
            </a:pPr>
            <a:r>
              <a:t> - Netskope Egress </a:t>
            </a:r>
          </a:p>
          <a:p>
            <a:pPr defTabSz="457200">
              <a:defRPr sz="1100" dirty="0"/>
            </a:pPr>
            <a:r>
              <a:t> - OCC Proxy Egress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24" name="ClientAppTypes"/>
          <p:cNvSpPr txBox="1">
            <a:spLocks noChangeArrowheads="1"/>
          </p:cNvSpPr>
          <p:nvPr/>
        </p:nvSpPr>
        <p:spPr bwMode="white">
          <a:xfrm>
            <a:off x="3810664" y="1021947"/>
            <a:ext cx="1581599" cy="165343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5" name="DeviceFilters"/>
          <p:cNvSpPr txBox="1">
            <a:spLocks noChangeArrowheads="1"/>
          </p:cNvSpPr>
          <p:nvPr/>
        </p:nvSpPr>
        <p:spPr bwMode="white">
          <a:xfrm>
            <a:off x="5818151" y="1022762"/>
            <a:ext cx="2248808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cxnSp>
        <p:nvCxnSpPr>
          <p:cNvPr id="27" name="Straight Arrow Connector 26" descr="Arrow drawn from user/workload  to the action being performed by the user such as accessing cloud apps."/>
          <p:cNvCxnSpPr/>
          <p:nvPr/>
        </p:nvCxnSpPr>
        <p:spPr bwMode="white">
          <a:xfrm>
            <a:off x="2195232" y="3159047"/>
            <a:ext cx="3959471" cy="1"/>
          </a:xfrm>
          <a:prstGeom prst="straightConnector1">
            <a:avLst/>
          </a:prstGeom>
          <a:ln w="76200"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30" name="IconBlockAccess" descr="Picture with red color stop sign to indicate blocked access"/>
          <p:cNvPicPr>
            <a:picLocks noChangeAspect="1"/>
          </p:cNvPicPr>
          <p:nvPr/>
        </p:nvPicPr>
        <p:blipFill>
          <a:blip r:embed="rId3">
            <a:lum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 bwMode="white">
          <a:xfrm>
            <a:off x="5306633" y="2735805"/>
            <a:ext cx="356616" cy="35661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34" name="GrantLabelBlockAccess"/>
          <p:cNvSpPr txBox="1">
            <a:spLocks noChangeArrowheads="1"/>
          </p:cNvSpPr>
          <p:nvPr/>
        </p:nvSpPr>
        <p:spPr bwMode="white">
          <a:xfrm>
            <a:off x="3936931" y="2734375"/>
            <a:ext cx="1358065" cy="369332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algn="ctr" defTabSz="457200"/>
            <a:r>
              <a:rPr lang="en-US" b="1" dirty="0">
                <a:solidFill>
                  <a:srgbClr val="FF0000"/>
                </a:solidFill>
              </a:rPr>
              <a:t>Block access</a:t>
            </a:r>
          </a:p>
        </p:txBody>
      </p:sp>
      <p:sp>
        <p:nvSpPr>
          <p:cNvPr id="3" name="CloudAppActionIncExc"/>
          <p:cNvSpPr txBox="1">
            <a:spLocks noChangeArrowheads="1"/>
          </p:cNvSpPr>
          <p:nvPr/>
        </p:nvSpPr>
        <p:spPr bwMode="white">
          <a:xfrm>
            <a:off x="6039518" y="3662782"/>
            <a:ext cx="3649518" cy="315161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</p:txBody>
      </p:sp>
      <p:pic>
        <p:nvPicPr>
          <p:cNvPr id="26" name="IconGroupIdentity"/>
          <p:cNvPicPr>
            <a:picLocks noChangeAspect="1"/>
          </p:cNvPicPr>
          <p:nvPr/>
        </p:nvPicPr>
        <p:blipFill>
          <a:blip r:embed="rId5">
            <a:lum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 bwMode="white">
          <a:xfrm>
            <a:off x="327701" y="2839007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36" name="Graphic 35"/>
          <p:cNvPicPr>
            <a:picLocks noChangeAspect="1"/>
          </p:cNvPicPr>
          <p:nvPr/>
        </p:nvPicPr>
        <p:blipFill>
          <a:blip r:embed="rId7">
            <a:lum/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p:blipFill>
        <p:spPr bwMode="white">
          <a:xfrm>
            <a:off x="495610" y="197468"/>
            <a:ext cx="381196" cy="38119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" name="CloudAppAction"/>
          <p:cNvSpPr>
            <a:spLocks/>
          </p:cNvSpPr>
          <p:nvPr/>
        </p:nvSpPr>
        <p:spPr bwMode="auto">
          <a:xfrm>
            <a:off x="6206089" y="2718506"/>
            <a:ext cx="3227026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All cloud apps</a:t>
            </a:r>
          </a:p>
        </p:txBody>
      </p:sp>
      <p:pic>
        <p:nvPicPr>
          <p:cNvPr id="75" name="IconAccessAllCloudApps"/>
          <p:cNvPicPr>
            <a:picLocks noChangeAspect="1"/>
          </p:cNvPicPr>
          <p:nvPr/>
        </p:nvPicPr>
        <p:blipFill>
          <a:blip r:embed="rId9">
            <a:lum/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p:blipFill>
        <p:spPr bwMode="white">
          <a:xfrm>
            <a:off x="6439264" y="2836824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21" name="StateEnabled"/>
          <p:cNvSpPr>
            <a:spLocks/>
          </p:cNvSpPr>
          <p:nvPr/>
        </p:nvSpPr>
        <p:spPr bwMode="white">
          <a:xfrm>
            <a:off x="10842171" y="83487"/>
            <a:ext cx="1260389" cy="264812"/>
          </a:xfrm>
          <a:prstGeom prst="round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r>
              <a:rPr lang="en-US" sz="800" dirty="0"/>
              <a:t>Policy Enabled</a:t>
            </a:r>
          </a:p>
        </p:txBody>
      </p:sp>
      <p:grpSp>
        <p:nvGrpSpPr>
          <p:cNvPr id="10" name="IconRiskyUsers"/>
          <p:cNvGrpSpPr>
            <a:grpSpLocks/>
          </p:cNvGrpSpPr>
          <p:nvPr/>
        </p:nvGrpSpPr>
        <p:grpSpPr bwMode="white">
          <a:xfrm>
            <a:off x="635426" y="738677"/>
            <a:ext cx="1202553" cy="274320"/>
            <a:chOff x="2013768" y="1033956"/>
            <a:chExt cx="1342320" cy="274320"/>
          </a:xfrm>
        </p:grpSpPr>
        <p:pic>
          <p:nvPicPr>
            <p:cNvPr id="46" name="Graphic 1"/>
            <p:cNvPicPr>
              <a:picLocks noChangeAspect="1"/>
            </p:cNvPicPr>
            <p:nvPr/>
          </p:nvPicPr>
          <p:blipFill>
            <a:blip r:embed="rId11">
              <a:lum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013768" y="1033956"/>
              <a:ext cx="274320" cy="27432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5" name="Label 1"/>
            <p:cNvSpPr txBox="1">
              <a:spLocks noChangeArrowheads="1"/>
            </p:cNvSpPr>
            <p:nvPr/>
          </p:nvSpPr>
          <p:spPr bwMode="white">
            <a:xfrm>
              <a:off x="2240077" y="1040706"/>
              <a:ext cx="1116011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Risk</a:t>
              </a:r>
            </a:p>
          </p:txBody>
        </p:sp>
      </p:grpSp>
      <p:grpSp>
        <p:nvGrpSpPr>
          <p:cNvPr id="14" name="IconPlatforms"/>
          <p:cNvGrpSpPr>
            <a:grpSpLocks/>
          </p:cNvGrpSpPr>
          <p:nvPr/>
        </p:nvGrpSpPr>
        <p:grpSpPr bwMode="white">
          <a:xfrm>
            <a:off x="1927788" y="715249"/>
            <a:ext cx="1719285" cy="365760"/>
            <a:chOff x="3262737" y="994835"/>
            <a:chExt cx="1719285" cy="365760"/>
          </a:xfrm>
        </p:grpSpPr>
        <p:pic>
          <p:nvPicPr>
            <p:cNvPr id="29" name="Graphic 1"/>
            <p:cNvPicPr>
              <a:picLocks noChangeAspect="1"/>
            </p:cNvPicPr>
            <p:nvPr/>
          </p:nvPicPr>
          <p:blipFill>
            <a:blip r:embed="rId13">
              <a:lum/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3262737" y="994835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1" name="Label 1"/>
            <p:cNvSpPr txBox="1">
              <a:spLocks noChangeArrowheads="1"/>
            </p:cNvSpPr>
            <p:nvPr/>
          </p:nvSpPr>
          <p:spPr bwMode="white">
            <a:xfrm>
              <a:off x="3582397" y="1027255"/>
              <a:ext cx="1399625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Device platforms</a:t>
              </a:r>
            </a:p>
          </p:txBody>
        </p:sp>
      </p:grpSp>
      <p:grpSp>
        <p:nvGrpSpPr>
          <p:cNvPr id="17" name="IconClientAppTypes"/>
          <p:cNvGrpSpPr>
            <a:grpSpLocks/>
          </p:cNvGrpSpPr>
          <p:nvPr/>
        </p:nvGrpSpPr>
        <p:grpSpPr bwMode="white">
          <a:xfrm>
            <a:off x="3908159" y="670015"/>
            <a:ext cx="1852971" cy="365760"/>
            <a:chOff x="4858970" y="975927"/>
            <a:chExt cx="1852971" cy="365760"/>
          </a:xfrm>
        </p:grpSpPr>
        <p:pic>
          <p:nvPicPr>
            <p:cNvPr id="58" name="Graphic 1"/>
            <p:cNvPicPr>
              <a:picLocks noChangeAspect="1"/>
            </p:cNvPicPr>
            <p:nvPr/>
          </p:nvPicPr>
          <p:blipFill>
            <a:blip r:embed="rId15">
              <a:lum/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858970" y="975927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5" name="Label 1"/>
            <p:cNvSpPr txBox="1">
              <a:spLocks noChangeArrowheads="1"/>
            </p:cNvSpPr>
            <p:nvPr/>
          </p:nvSpPr>
          <p:spPr bwMode="white">
            <a:xfrm>
              <a:off x="5193983" y="1009899"/>
              <a:ext cx="1517958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Client apps</a:t>
              </a:r>
            </a:p>
          </p:txBody>
        </p:sp>
      </p:grpSp>
      <p:grpSp>
        <p:nvGrpSpPr>
          <p:cNvPr id="37" name="IconLocations"/>
          <p:cNvGrpSpPr>
            <a:grpSpLocks/>
          </p:cNvGrpSpPr>
          <p:nvPr/>
        </p:nvGrpSpPr>
        <p:grpSpPr bwMode="white">
          <a:xfrm>
            <a:off x="8411896" y="646848"/>
            <a:ext cx="1850168" cy="388465"/>
            <a:chOff x="2321433" y="3262888"/>
            <a:chExt cx="1850168" cy="388465"/>
          </a:xfrm>
        </p:grpSpPr>
        <p:pic>
          <p:nvPicPr>
            <p:cNvPr id="33" name="Graphic 1"/>
            <p:cNvPicPr>
              <a:picLocks noChangeAspect="1"/>
            </p:cNvPicPr>
            <p:nvPr/>
          </p:nvPicPr>
          <p:blipFill>
            <a:blip r:embed="rId17">
              <a:lum/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321433" y="3262888"/>
              <a:ext cx="388465" cy="388465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28" name="Label 1"/>
            <p:cNvSpPr txBox="1">
              <a:spLocks noChangeArrowheads="1"/>
            </p:cNvSpPr>
            <p:nvPr/>
          </p:nvSpPr>
          <p:spPr bwMode="white">
            <a:xfrm>
              <a:off x="2713321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Locations</a:t>
              </a:r>
              <a:endParaRPr lang="en-US" sz="1100" b="1" dirty="0"/>
            </a:p>
          </p:txBody>
        </p:sp>
      </p:grpSp>
      <p:grpSp>
        <p:nvGrpSpPr>
          <p:cNvPr id="39" name="IconDeviceFilters"/>
          <p:cNvGrpSpPr>
            <a:grpSpLocks/>
          </p:cNvGrpSpPr>
          <p:nvPr/>
        </p:nvGrpSpPr>
        <p:grpSpPr bwMode="white">
          <a:xfrm>
            <a:off x="5472818" y="661958"/>
            <a:ext cx="1839823" cy="364111"/>
            <a:chOff x="4195414" y="3273669"/>
            <a:chExt cx="1839823" cy="364111"/>
          </a:xfrm>
        </p:grpSpPr>
        <p:pic>
          <p:nvPicPr>
            <p:cNvPr id="60" name="Graphic 1"/>
            <p:cNvPicPr>
              <a:picLocks noChangeAspect="1"/>
            </p:cNvPicPr>
            <p:nvPr/>
          </p:nvPicPr>
          <p:blipFill>
            <a:blip r:embed="rId19">
              <a:lum/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195414" y="3273669"/>
              <a:ext cx="364111" cy="364111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31" name="Label 1"/>
            <p:cNvSpPr txBox="1">
              <a:spLocks noChangeArrowheads="1"/>
            </p:cNvSpPr>
            <p:nvPr/>
          </p:nvSpPr>
          <p:spPr bwMode="white">
            <a:xfrm>
              <a:off x="4576957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Filter for devices</a:t>
              </a:r>
              <a:endParaRPr lang="en-US" sz="1100" b="1" dirty="0"/>
            </a:p>
          </p:txBody>
        </p:sp>
      </p:grpSp>
      <p:pic>
        <p:nvPicPr>
          <p:cNvPr id="62" name="IconGrantMultifactorAuthentication"/>
          <p:cNvPicPr>
            <a:picLocks noChangeAspect="1"/>
          </p:cNvPicPr>
          <p:nvPr/>
        </p:nvPicPr>
        <p:blipFill>
          <a:blip r:embed="rId21">
            <a:lum/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>
            <a:fillRect/>
          </a:stretch>
        </p:blipFill>
        <p:spPr bwMode="white">
          <a:xfrm>
            <a:off x="3410647" y="3566863"/>
            <a:ext cx="17145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5" name="IconGrantMultifactorAuthenticationLabel"/>
          <p:cNvSpPr txBox="1">
            <a:spLocks noChangeArrowheads="1"/>
          </p:cNvSpPr>
          <p:nvPr/>
        </p:nvSpPr>
        <p:spPr bwMode="white">
          <a:xfrm>
            <a:off x="3575836" y="3571997"/>
            <a:ext cx="19007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Multifactor authentication</a:t>
            </a:r>
            <a:endParaRPr lang="en-US" sz="1000" dirty="0"/>
          </a:p>
        </p:txBody>
      </p:sp>
      <p:pic>
        <p:nvPicPr>
          <p:cNvPr id="38" name="IconGrantAuthenticationStrength"/>
          <p:cNvPicPr>
            <a:picLocks noChangeAspect="1"/>
          </p:cNvPicPr>
          <p:nvPr/>
        </p:nvPicPr>
        <p:blipFill>
          <a:blip r:embed="rId23">
            <a:lum/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/>
          <a:stretch>
            <a:fillRect/>
          </a:stretch>
        </p:blipFill>
        <p:spPr bwMode="white">
          <a:xfrm>
            <a:off x="3374515" y="3905034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7" name="IconGrantAuthenticationStrengthLabel"/>
          <p:cNvSpPr txBox="1">
            <a:spLocks noChangeArrowheads="1"/>
          </p:cNvSpPr>
          <p:nvPr/>
        </p:nvSpPr>
        <p:spPr bwMode="white">
          <a:xfrm>
            <a:off x="3575836" y="3907323"/>
            <a:ext cx="2185294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Authentication strength</a:t>
            </a:r>
            <a:endParaRPr lang="en-US" sz="1000" dirty="0"/>
          </a:p>
        </p:txBody>
      </p:sp>
      <p:pic>
        <p:nvPicPr>
          <p:cNvPr id="52" name="IconGrantDeviceCompliance"/>
          <p:cNvPicPr>
            <a:picLocks noChangeAspect="1"/>
          </p:cNvPicPr>
          <p:nvPr/>
        </p:nvPicPr>
        <p:blipFill>
          <a:blip r:embed="rId25">
            <a:lum/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/>
          <a:stretch>
            <a:fillRect/>
          </a:stretch>
        </p:blipFill>
        <p:spPr bwMode="white">
          <a:xfrm>
            <a:off x="3374515" y="4243205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9" name="IconGrantDeviceComplianceLabel"/>
          <p:cNvSpPr txBox="1">
            <a:spLocks noChangeArrowheads="1"/>
          </p:cNvSpPr>
          <p:nvPr/>
        </p:nvSpPr>
        <p:spPr bwMode="white">
          <a:xfrm>
            <a:off x="3575836" y="4242649"/>
            <a:ext cx="17378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Compliant device</a:t>
            </a:r>
            <a:endParaRPr lang="en-US" sz="1000" dirty="0"/>
          </a:p>
        </p:txBody>
      </p:sp>
      <p:pic>
        <p:nvPicPr>
          <p:cNvPr id="43" name="IconGrantHybridJoined"/>
          <p:cNvPicPr>
            <a:picLocks noChangeAspect="1"/>
          </p:cNvPicPr>
          <p:nvPr/>
        </p:nvPicPr>
        <p:blipFill>
          <a:blip r:embed="rId27">
            <a:lum/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/>
          <a:stretch>
            <a:fillRect/>
          </a:stretch>
        </p:blipFill>
        <p:spPr bwMode="white">
          <a:xfrm>
            <a:off x="3374515" y="4581376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3" name="IconGrantHybridJoinedLabel"/>
          <p:cNvSpPr txBox="1">
            <a:spLocks noChangeArrowheads="1"/>
          </p:cNvSpPr>
          <p:nvPr/>
        </p:nvSpPr>
        <p:spPr bwMode="white">
          <a:xfrm>
            <a:off x="3575836" y="4577975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Hybrid Azure AD joined device</a:t>
            </a:r>
            <a:endParaRPr lang="en-US" sz="1000" dirty="0"/>
          </a:p>
        </p:txBody>
      </p:sp>
      <p:pic>
        <p:nvPicPr>
          <p:cNvPr id="48" name="IconGrantApprovedClientApp"/>
          <p:cNvPicPr>
            <a:picLocks noChangeAspect="1"/>
          </p:cNvPicPr>
          <p:nvPr/>
        </p:nvPicPr>
        <p:blipFill>
          <a:blip r:embed="rId29">
            <a:lum/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rcRect/>
          <a:stretch>
            <a:fillRect/>
          </a:stretch>
        </p:blipFill>
        <p:spPr bwMode="white">
          <a:xfrm>
            <a:off x="3374515" y="491954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5" name="IconGrantApprovedClientAppLabel"/>
          <p:cNvSpPr txBox="1">
            <a:spLocks noChangeArrowheads="1"/>
          </p:cNvSpPr>
          <p:nvPr/>
        </p:nvSpPr>
        <p:spPr bwMode="white">
          <a:xfrm>
            <a:off x="3575836" y="4913301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Approved client app</a:t>
            </a:r>
            <a:endParaRPr lang="en-US" sz="1000" dirty="0"/>
          </a:p>
        </p:txBody>
      </p:sp>
      <p:pic>
        <p:nvPicPr>
          <p:cNvPr id="42" name="IconGrantCustomAuth"/>
          <p:cNvPicPr>
            <a:picLocks noChangeAspect="1"/>
          </p:cNvPicPr>
          <p:nvPr/>
        </p:nvPicPr>
        <p:blipFill>
          <a:blip r:embed="rId31">
            <a:lum/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rcRect/>
          <a:stretch>
            <a:fillRect/>
          </a:stretch>
        </p:blipFill>
        <p:spPr bwMode="white">
          <a:xfrm>
            <a:off x="3374515" y="593406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9" name="IconGrantCustomAuthLabel"/>
          <p:cNvSpPr txBox="1">
            <a:spLocks noChangeArrowheads="1"/>
          </p:cNvSpPr>
          <p:nvPr/>
        </p:nvSpPr>
        <p:spPr bwMode="white">
          <a:xfrm>
            <a:off x="3575836" y="5919279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Custom authentication factor</a:t>
            </a:r>
            <a:endParaRPr lang="en-US" sz="1000" dirty="0"/>
          </a:p>
        </p:txBody>
      </p:sp>
      <p:pic>
        <p:nvPicPr>
          <p:cNvPr id="40" name="IconGrantTermsOfUse"/>
          <p:cNvPicPr>
            <a:picLocks noChangeAspect="1"/>
          </p:cNvPicPr>
          <p:nvPr/>
        </p:nvPicPr>
        <p:blipFill>
          <a:blip r:embed="rId33">
            <a:lum/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rcRect/>
          <a:stretch>
            <a:fillRect/>
          </a:stretch>
        </p:blipFill>
        <p:spPr bwMode="white">
          <a:xfrm>
            <a:off x="3374515" y="627222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3" name="IconGrantTermsOfUseLabel"/>
          <p:cNvSpPr txBox="1">
            <a:spLocks noChangeArrowheads="1"/>
          </p:cNvSpPr>
          <p:nvPr/>
        </p:nvSpPr>
        <p:spPr bwMode="white">
          <a:xfrm>
            <a:off x="3575836" y="625460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Terms of use</a:t>
            </a:r>
            <a:endParaRPr lang="en-US" sz="1000" dirty="0"/>
          </a:p>
        </p:txBody>
      </p:sp>
      <p:sp>
        <p:nvSpPr>
          <p:cNvPr id="56" name="IconGrantAppProtectionLabel"/>
          <p:cNvSpPr txBox="1">
            <a:spLocks noChangeArrowheads="1"/>
          </p:cNvSpPr>
          <p:nvPr/>
        </p:nvSpPr>
        <p:spPr bwMode="white">
          <a:xfrm>
            <a:off x="3575836" y="524862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 protection policy</a:t>
            </a:r>
            <a:endParaRPr lang="en-US" sz="1000" dirty="0"/>
          </a:p>
        </p:txBody>
      </p:sp>
      <p:pic>
        <p:nvPicPr>
          <p:cNvPr id="65" name="IconGrantAppProtection"/>
          <p:cNvPicPr>
            <a:picLocks noChangeAspect="1"/>
          </p:cNvPicPr>
          <p:nvPr/>
        </p:nvPicPr>
        <p:blipFill>
          <a:blip r:embed="rId35">
            <a:lum/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rcRect/>
          <a:stretch>
            <a:fillRect/>
          </a:stretch>
        </p:blipFill>
        <p:spPr bwMode="white">
          <a:xfrm>
            <a:off x="3374515" y="525771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7" name="IconGrantChangePasswordLabel"/>
          <p:cNvSpPr txBox="1">
            <a:spLocks noChangeArrowheads="1"/>
          </p:cNvSpPr>
          <p:nvPr/>
        </p:nvSpPr>
        <p:spPr bwMode="white">
          <a:xfrm>
            <a:off x="3575836" y="5583953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Change password</a:t>
            </a:r>
            <a:endParaRPr lang="en-US" sz="1000" dirty="0"/>
          </a:p>
        </p:txBody>
      </p:sp>
      <p:pic>
        <p:nvPicPr>
          <p:cNvPr id="67" name="IconGrantChangePassword"/>
          <p:cNvPicPr>
            <a:picLocks noChangeAspect="1"/>
          </p:cNvPicPr>
          <p:nvPr/>
        </p:nvPicPr>
        <p:blipFill>
          <a:blip r:embed="rId37">
            <a:lum/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rcRect/>
          <a:stretch>
            <a:fillRect/>
          </a:stretch>
        </p:blipFill>
        <p:spPr bwMode="white">
          <a:xfrm>
            <a:off x="3374515" y="5595889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4" name="ShadeRisk"/>
          <p:cNvSpPr>
            <a:spLocks/>
          </p:cNvSpPr>
          <p:nvPr/>
        </p:nvSpPr>
        <p:spPr bwMode="white">
          <a:xfrm>
            <a:off x="507564" y="650246"/>
            <a:ext cx="976864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66" name="ShadeDevicePlatforms"/>
          <p:cNvSpPr>
            <a:spLocks/>
          </p:cNvSpPr>
          <p:nvPr/>
        </p:nvSpPr>
        <p:spPr bwMode="white">
          <a:xfrm>
            <a:off x="1863623" y="663409"/>
            <a:ext cx="1773927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78" name="ShadeClientApps"/>
          <p:cNvSpPr>
            <a:spLocks/>
          </p:cNvSpPr>
          <p:nvPr/>
        </p:nvSpPr>
        <p:spPr bwMode="white">
          <a:xfrm>
            <a:off x="3802273" y="650246"/>
            <a:ext cx="1481482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2" name="ShadeFilterForDevices"/>
          <p:cNvSpPr>
            <a:spLocks/>
          </p:cNvSpPr>
          <p:nvPr/>
        </p:nvSpPr>
        <p:spPr bwMode="white">
          <a:xfrm>
            <a:off x="5438955" y="627922"/>
            <a:ext cx="1873685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3" name="ShadeGrantMultifactorAuth"/>
          <p:cNvSpPr>
            <a:spLocks/>
          </p:cNvSpPr>
          <p:nvPr/>
        </p:nvSpPr>
        <p:spPr bwMode="white">
          <a:xfrm>
            <a:off x="3369399" y="3534220"/>
            <a:ext cx="2069555" cy="28330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4" name="ShadeGrantAuthStrength"/>
          <p:cNvSpPr>
            <a:spLocks/>
          </p:cNvSpPr>
          <p:nvPr/>
        </p:nvSpPr>
        <p:spPr bwMode="white">
          <a:xfrm>
            <a:off x="3350256" y="3869846"/>
            <a:ext cx="2069555" cy="27801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5" name="ShadeGrantCompliantDevice"/>
          <p:cNvSpPr>
            <a:spLocks/>
          </p:cNvSpPr>
          <p:nvPr/>
        </p:nvSpPr>
        <p:spPr bwMode="white">
          <a:xfrm>
            <a:off x="3361852" y="4243205"/>
            <a:ext cx="2077102" cy="26110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6" name="ShadeGrantHybridAzureADJoined"/>
          <p:cNvSpPr>
            <a:spLocks/>
          </p:cNvSpPr>
          <p:nvPr/>
        </p:nvSpPr>
        <p:spPr bwMode="white">
          <a:xfrm>
            <a:off x="3353637" y="4552268"/>
            <a:ext cx="2160906" cy="298395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7" name="ShadeGrantApprovedClientApp"/>
          <p:cNvSpPr>
            <a:spLocks/>
          </p:cNvSpPr>
          <p:nvPr/>
        </p:nvSpPr>
        <p:spPr bwMode="white">
          <a:xfrm>
            <a:off x="3331918" y="4876027"/>
            <a:ext cx="2182625" cy="29839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8" name="ShadeGrantAppProtectionPolicy"/>
          <p:cNvSpPr>
            <a:spLocks/>
          </p:cNvSpPr>
          <p:nvPr/>
        </p:nvSpPr>
        <p:spPr bwMode="white">
          <a:xfrm>
            <a:off x="3350256" y="5207226"/>
            <a:ext cx="2122561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9" name="ShadeGrantChangePassword"/>
          <p:cNvSpPr>
            <a:spLocks/>
          </p:cNvSpPr>
          <p:nvPr/>
        </p:nvSpPr>
        <p:spPr bwMode="white">
          <a:xfrm>
            <a:off x="3350257" y="5557021"/>
            <a:ext cx="2042006" cy="287239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0" name="ShadeGrantCustomAuthFactor"/>
          <p:cNvSpPr>
            <a:spLocks/>
          </p:cNvSpPr>
          <p:nvPr/>
        </p:nvSpPr>
        <p:spPr bwMode="white">
          <a:xfrm>
            <a:off x="3331918" y="5899058"/>
            <a:ext cx="2182625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1" name="ShadeGrantTermsOfUse"/>
          <p:cNvSpPr>
            <a:spLocks/>
          </p:cNvSpPr>
          <p:nvPr/>
        </p:nvSpPr>
        <p:spPr bwMode="white">
          <a:xfrm>
            <a:off x="3313823" y="6192350"/>
            <a:ext cx="101602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99" name="Rectangle 98"/>
          <p:cNvSpPr>
            <a:spLocks/>
          </p:cNvSpPr>
          <p:nvPr/>
        </p:nvSpPr>
        <p:spPr bwMode="white">
          <a:xfrm>
            <a:off x="3268757" y="3253404"/>
            <a:ext cx="2357725" cy="3498546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0" name="Rectangle 109"/>
          <p:cNvSpPr>
            <a:spLocks/>
          </p:cNvSpPr>
          <p:nvPr/>
        </p:nvSpPr>
        <p:spPr bwMode="white">
          <a:xfrm>
            <a:off x="9881750" y="3248255"/>
            <a:ext cx="2220808" cy="3510149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7" name="Rectangle 116"/>
          <p:cNvSpPr>
            <a:spLocks/>
          </p:cNvSpPr>
          <p:nvPr/>
        </p:nvSpPr>
        <p:spPr bwMode="white">
          <a:xfrm>
            <a:off x="26741" y="606825"/>
            <a:ext cx="11985015" cy="2063636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2" name="Conditions Label"/>
          <p:cNvSpPr txBox="1">
            <a:spLocks noChangeArrowheads="1"/>
          </p:cNvSpPr>
          <p:nvPr/>
        </p:nvSpPr>
        <p:spPr bwMode="white">
          <a:xfrm rot="16200000">
            <a:off x="-883507" y="1514324"/>
            <a:ext cx="2081441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Conditions</a:t>
            </a:r>
          </a:p>
        </p:txBody>
      </p:sp>
      <p:sp>
        <p:nvSpPr>
          <p:cNvPr id="109" name="Grant Controls"/>
          <p:cNvSpPr txBox="1">
            <a:spLocks noChangeArrowheads="1"/>
          </p:cNvSpPr>
          <p:nvPr/>
        </p:nvSpPr>
        <p:spPr bwMode="white">
          <a:xfrm>
            <a:off x="3252146" y="3244395"/>
            <a:ext cx="2391873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Grant Controls</a:t>
            </a:r>
          </a:p>
        </p:txBody>
      </p:sp>
      <p:sp>
        <p:nvSpPr>
          <p:cNvPr id="111" name="Session Controls"/>
          <p:cNvSpPr txBox="1">
            <a:spLocks noChangeArrowheads="1"/>
          </p:cNvSpPr>
          <p:nvPr/>
        </p:nvSpPr>
        <p:spPr bwMode="white">
          <a:xfrm>
            <a:off x="9864212" y="3243751"/>
            <a:ext cx="2238346" cy="23786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Session Controls</a:t>
            </a:r>
          </a:p>
        </p:txBody>
      </p:sp>
      <p:pic>
        <p:nvPicPr>
          <p:cNvPr id="72" name="Graphic 71"/>
          <p:cNvPicPr>
            <a:picLocks noChangeAspect="1"/>
          </p:cNvPicPr>
          <p:nvPr/>
        </p:nvPicPr>
        <p:blipFill>
          <a:blip r:embed="rId39">
            <a:lum/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rcRect/>
          <a:stretch>
            <a:fillRect/>
          </a:stretch>
        </p:blipFill>
        <p:spPr bwMode="white">
          <a:xfrm>
            <a:off x="9996846" y="356982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4" name="Graphic 93"/>
          <p:cNvPicPr>
            <a:picLocks noChangeAspect="1"/>
          </p:cNvPicPr>
          <p:nvPr/>
        </p:nvPicPr>
        <p:blipFill>
          <a:blip r:embed="rId41">
            <a:lum/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rcRect/>
          <a:stretch>
            <a:fillRect/>
          </a:stretch>
        </p:blipFill>
        <p:spPr bwMode="white">
          <a:xfrm>
            <a:off x="10009443" y="525644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5" name="TextBox 94"/>
          <p:cNvSpPr txBox="1">
            <a:spLocks noChangeArrowheads="1"/>
          </p:cNvSpPr>
          <p:nvPr/>
        </p:nvSpPr>
        <p:spPr bwMode="white">
          <a:xfrm>
            <a:off x="10207481" y="3578463"/>
            <a:ext cx="150554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App enforced restrictions</a:t>
            </a:r>
          </a:p>
        </p:txBody>
      </p:sp>
      <p:sp>
        <p:nvSpPr>
          <p:cNvPr id="96" name="TextBox 95"/>
          <p:cNvSpPr txBox="1">
            <a:spLocks noChangeArrowheads="1"/>
          </p:cNvSpPr>
          <p:nvPr/>
        </p:nvSpPr>
        <p:spPr bwMode="white">
          <a:xfrm>
            <a:off x="10201167" y="3899846"/>
            <a:ext cx="181011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Conditional Access App Control</a:t>
            </a:r>
          </a:p>
        </p:txBody>
      </p:sp>
      <p:sp>
        <p:nvSpPr>
          <p:cNvPr id="97" name="TextBox 96"/>
          <p:cNvSpPr txBox="1">
            <a:spLocks noChangeArrowheads="1"/>
          </p:cNvSpPr>
          <p:nvPr/>
        </p:nvSpPr>
        <p:spPr bwMode="white">
          <a:xfrm>
            <a:off x="10215627" y="4357505"/>
            <a:ext cx="1090363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Sign-in frequency</a:t>
            </a:r>
          </a:p>
        </p:txBody>
      </p:sp>
      <p:sp>
        <p:nvSpPr>
          <p:cNvPr id="98" name="TextBox 97"/>
          <p:cNvSpPr txBox="1">
            <a:spLocks noChangeArrowheads="1"/>
          </p:cNvSpPr>
          <p:nvPr/>
        </p:nvSpPr>
        <p:spPr bwMode="white">
          <a:xfrm>
            <a:off x="10225446" y="4793305"/>
            <a:ext cx="156966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Persistent browser session</a:t>
            </a:r>
          </a:p>
        </p:txBody>
      </p:sp>
      <p:sp>
        <p:nvSpPr>
          <p:cNvPr id="100" name="TextBox 99"/>
          <p:cNvSpPr txBox="1">
            <a:spLocks noChangeArrowheads="1"/>
          </p:cNvSpPr>
          <p:nvPr/>
        </p:nvSpPr>
        <p:spPr bwMode="white">
          <a:xfrm>
            <a:off x="10229552" y="5232376"/>
            <a:ext cx="1717137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Continuous access evaluation</a:t>
            </a:r>
          </a:p>
        </p:txBody>
      </p:sp>
      <p:sp>
        <p:nvSpPr>
          <p:cNvPr id="101" name="TextBox 100"/>
          <p:cNvSpPr txBox="1">
            <a:spLocks noChangeArrowheads="1"/>
          </p:cNvSpPr>
          <p:nvPr/>
        </p:nvSpPr>
        <p:spPr bwMode="white">
          <a:xfrm>
            <a:off x="10259108" y="5658625"/>
            <a:ext cx="153599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Disable resilience defaults</a:t>
            </a:r>
          </a:p>
        </p:txBody>
      </p:sp>
      <p:pic>
        <p:nvPicPr>
          <p:cNvPr id="103" name="Graphic 102"/>
          <p:cNvPicPr>
            <a:picLocks noChangeAspect="1"/>
          </p:cNvPicPr>
          <p:nvPr/>
        </p:nvPicPr>
        <p:blipFill>
          <a:blip r:embed="rId43">
            <a:lum/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rcRect/>
          <a:stretch>
            <a:fillRect/>
          </a:stretch>
        </p:blipFill>
        <p:spPr bwMode="white">
          <a:xfrm>
            <a:off x="9996846" y="479900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5" name="Graphic 104"/>
          <p:cNvPicPr>
            <a:picLocks noChangeAspect="1"/>
          </p:cNvPicPr>
          <p:nvPr/>
        </p:nvPicPr>
        <p:blipFill>
          <a:blip r:embed="rId45">
            <a:lum/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rcRect/>
          <a:stretch>
            <a:fillRect/>
          </a:stretch>
        </p:blipFill>
        <p:spPr bwMode="white">
          <a:xfrm>
            <a:off x="9996846" y="437457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7" name="Graphic 106"/>
          <p:cNvPicPr>
            <a:picLocks noChangeAspect="1"/>
          </p:cNvPicPr>
          <p:nvPr/>
        </p:nvPicPr>
        <p:blipFill>
          <a:blip r:embed="rId7">
            <a:lum/>
            <a:extLst>
              <a:ext uri="{96DAC541-7B7A-43D3-8B79-37D633B846F1}">
                <asvg:svgBlip xmlns:asvg="http://schemas.microsoft.com/office/drawing/2016/SVG/main" r:embed="rId47"/>
              </a:ext>
            </a:extLst>
          </a:blip>
          <a:srcRect/>
          <a:stretch>
            <a:fillRect/>
          </a:stretch>
        </p:blipFill>
        <p:spPr bwMode="white">
          <a:xfrm>
            <a:off x="9996846" y="391529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15" name="SessionSifInterval"/>
          <p:cNvSpPr txBox="1">
            <a:spLocks noChangeArrowheads="1"/>
          </p:cNvSpPr>
          <p:nvPr/>
        </p:nvSpPr>
        <p:spPr bwMode="white">
          <a:xfrm>
            <a:off x="10296745" y="4516775"/>
            <a:ext cx="1249060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Periodic reauthentication</a:t>
            </a:r>
          </a:p>
        </p:txBody>
      </p:sp>
      <p:sp>
        <p:nvSpPr>
          <p:cNvPr id="114" name="SessionCasType"/>
          <p:cNvSpPr txBox="1">
            <a:spLocks noChangeArrowheads="1"/>
          </p:cNvSpPr>
          <p:nvPr/>
        </p:nvSpPr>
        <p:spPr bwMode="white">
          <a:xfrm>
            <a:off x="10296745" y="4075500"/>
            <a:ext cx="95410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App Control Policy</a:t>
            </a:r>
          </a:p>
        </p:txBody>
      </p:sp>
      <p:sp>
        <p:nvSpPr>
          <p:cNvPr id="116" name="SessionPersistenBrowserMode"/>
          <p:cNvSpPr txBox="1">
            <a:spLocks noChangeArrowheads="1"/>
          </p:cNvSpPr>
          <p:nvPr/>
        </p:nvSpPr>
        <p:spPr bwMode="white">
          <a:xfrm>
            <a:off x="10309761" y="4945281"/>
            <a:ext cx="918841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Always persistent</a:t>
            </a:r>
          </a:p>
        </p:txBody>
      </p:sp>
      <p:sp>
        <p:nvSpPr>
          <p:cNvPr id="118" name="SessionCaeMode"/>
          <p:cNvSpPr txBox="1">
            <a:spLocks noChangeArrowheads="1"/>
          </p:cNvSpPr>
          <p:nvPr/>
        </p:nvSpPr>
        <p:spPr bwMode="white">
          <a:xfrm>
            <a:off x="10301386" y="5393378"/>
            <a:ext cx="15359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US" sz="800" dirty="0"/>
              <a:t>Strictly enforce location policies</a:t>
            </a:r>
          </a:p>
        </p:txBody>
      </p:sp>
      <p:sp>
        <p:nvSpPr>
          <p:cNvPr id="119" name="ShadeSessionAppEnforced"/>
          <p:cNvSpPr>
            <a:spLocks/>
          </p:cNvSpPr>
          <p:nvPr/>
        </p:nvSpPr>
        <p:spPr bwMode="white">
          <a:xfrm>
            <a:off x="9959680" y="3548808"/>
            <a:ext cx="2051597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0" name="ShadeSessionCas"/>
          <p:cNvSpPr>
            <a:spLocks/>
          </p:cNvSpPr>
          <p:nvPr/>
        </p:nvSpPr>
        <p:spPr bwMode="white">
          <a:xfrm>
            <a:off x="9978939" y="3884212"/>
            <a:ext cx="2087576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1" name="ShadeSessionSif"/>
          <p:cNvSpPr>
            <a:spLocks/>
          </p:cNvSpPr>
          <p:nvPr/>
        </p:nvSpPr>
        <p:spPr bwMode="white">
          <a:xfrm>
            <a:off x="9940787" y="4320077"/>
            <a:ext cx="2125728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2" name="ShadeSessionPersistentBrowser"/>
          <p:cNvSpPr>
            <a:spLocks/>
          </p:cNvSpPr>
          <p:nvPr/>
        </p:nvSpPr>
        <p:spPr bwMode="white">
          <a:xfrm>
            <a:off x="9938833" y="4746195"/>
            <a:ext cx="207244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" name="Label Secure Sign In Session"/>
          <p:cNvSpPr txBox="1">
            <a:spLocks noChangeArrowheads="1"/>
          </p:cNvSpPr>
          <p:nvPr/>
        </p:nvSpPr>
        <p:spPr bwMode="white">
          <a:xfrm>
            <a:off x="10260000" y="6084874"/>
            <a:ext cx="166584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Token protection for session</a:t>
            </a:r>
          </a:p>
        </p:txBody>
      </p:sp>
      <p:pic>
        <p:nvPicPr>
          <p:cNvPr id="77" name="IconSessionCaeDisable" descr="Close with solid fill"/>
          <p:cNvPicPr>
            <a:picLocks noChangeAspect="1"/>
          </p:cNvPicPr>
          <p:nvPr/>
        </p:nvPicPr>
        <p:blipFill>
          <a:blip r:embed="rId48">
            <a:lum/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rcRect/>
          <a:stretch>
            <a:fillRect/>
          </a:stretch>
        </p:blipFill>
        <p:spPr bwMode="white">
          <a:xfrm>
            <a:off x="9979885" y="5218651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2" name="IconSessionSecureSignInSession 1"/>
          <p:cNvPicPr>
            <a:picLocks noChangeAspect="1"/>
          </p:cNvPicPr>
          <p:nvPr/>
        </p:nvPicPr>
        <p:blipFill>
          <a:blip r:embed="rId50">
            <a:lum/>
            <a:extLst>
              <a:ext uri="{96DAC541-7B7A-43D3-8B79-37D633B846F1}">
                <asvg:svgBlip xmlns:asvg="http://schemas.microsoft.com/office/drawing/2016/SVG/main" r:embed="rId51"/>
              </a:ext>
            </a:extLst>
          </a:blip>
          <a:srcRect/>
          <a:stretch>
            <a:fillRect/>
          </a:stretch>
        </p:blipFill>
        <p:spPr bwMode="white">
          <a:xfrm>
            <a:off x="9997200" y="6085768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3" name="ShadeSessionCae"/>
          <p:cNvSpPr>
            <a:spLocks/>
          </p:cNvSpPr>
          <p:nvPr/>
        </p:nvSpPr>
        <p:spPr bwMode="white">
          <a:xfrm>
            <a:off x="9987595" y="5219780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76" name="ShadeSessionSecureSignIn"/>
          <p:cNvSpPr>
            <a:spLocks/>
          </p:cNvSpPr>
          <p:nvPr/>
        </p:nvSpPr>
        <p:spPr bwMode="white">
          <a:xfrm>
            <a:off x="9996846" y="5986498"/>
            <a:ext cx="2014431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pic>
        <p:nvPicPr>
          <p:cNvPr id="102" name="Graphic 101"/>
          <p:cNvPicPr>
            <a:picLocks noChangeAspect="1"/>
          </p:cNvPicPr>
          <p:nvPr/>
        </p:nvPicPr>
        <p:blipFill>
          <a:blip r:embed="rId52">
            <a:lum/>
            <a:extLst>
              <a:ext uri="{96DAC541-7B7A-43D3-8B79-37D633B846F1}">
                <asvg:svgBlip xmlns:asvg="http://schemas.microsoft.com/office/drawing/2016/SVG/main" r:embed="rId53"/>
              </a:ext>
            </a:extLst>
          </a:blip>
          <a:srcRect/>
          <a:stretch>
            <a:fillRect/>
          </a:stretch>
        </p:blipFill>
        <p:spPr bwMode="white">
          <a:xfrm>
            <a:off x="9997200" y="5663777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80" name="Graphic 79" descr="Close with solid fill"/>
          <p:cNvPicPr>
            <a:picLocks noChangeAspect="1"/>
          </p:cNvPicPr>
          <p:nvPr/>
        </p:nvPicPr>
        <p:blipFill>
          <a:blip r:embed="rId48">
            <a:lum/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rcRect/>
          <a:stretch>
            <a:fillRect/>
          </a:stretch>
        </p:blipFill>
        <p:spPr bwMode="white">
          <a:xfrm>
            <a:off x="9963899" y="5637424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4" name="ShadeSessionDisableResilience"/>
          <p:cNvSpPr>
            <a:spLocks/>
          </p:cNvSpPr>
          <p:nvPr/>
        </p:nvSpPr>
        <p:spPr bwMode="white">
          <a:xfrm>
            <a:off x="9959681" y="5602709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2" name="PolicyName">
            <a:hlinkClick r:id="" action="ppaction://hlinkfile"/>
          </p:cNvPr>
          <p:cNvSpPr>
            <a:spLocks noGrp="1"/>
          </p:cNvSpPr>
          <p:nvPr>
            <p:ph type="title"/>
          </p:nvPr>
        </p:nvSpPr>
        <p:spPr bwMode="white">
          <a:xfrm>
            <a:off x="838200" y="115511"/>
            <a:ext cx="10003967" cy="609565"/>
          </a:xfrm>
          <a:ln>
            <a:headEnd type="none"/>
            <a:tailEnd type="none"/>
          </a:ln>
        </p:spPr>
        <p:txBody>
          <a:bodyPr wrap="square">
            <a:noAutofit/>
          </a:bodyPr>
          <a:lstStyle/>
          <a:p>
            <a:pPr defTabSz="914400"/>
            <a:r>
              <a:rPr lang="en-US" sz="2000" b="1" dirty="0"/>
              <a:t> [All Apps] [SVo365 SharePoint] (Block) Service Accounts Login From Non-OCC IPs</a:t>
            </a:r>
          </a:p>
        </p:txBody>
      </p:sp>
      <p:sp>
        <p:nvSpPr>
          <p:cNvPr id="16" name="LastModified"/>
          <p:cNvSpPr txBox="1">
            <a:spLocks noChangeArrowheads="1"/>
          </p:cNvSpPr>
          <p:nvPr/>
        </p:nvSpPr>
        <p:spPr bwMode="white">
          <a:xfrm>
            <a:off x="10556111" y="388376"/>
            <a:ext cx="15483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algn="r" defTabSz="457200"/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Last modified: 2025-06-12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UserWorkload"/>
          <p:cNvSpPr>
            <a:spLocks/>
          </p:cNvSpPr>
          <p:nvPr/>
        </p:nvSpPr>
        <p:spPr bwMode="auto">
          <a:xfrm>
            <a:off x="175820" y="2709769"/>
            <a:ext cx="2202823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Users</a:t>
            </a:r>
          </a:p>
        </p:txBody>
      </p:sp>
      <p:sp>
        <p:nvSpPr>
          <p:cNvPr id="7" name="UserWorkloadIncExc"/>
          <p:cNvSpPr txBox="1">
            <a:spLocks noChangeArrowheads="1"/>
          </p:cNvSpPr>
          <p:nvPr/>
        </p:nvSpPr>
        <p:spPr bwMode="white">
          <a:xfrm>
            <a:off x="125485" y="3698952"/>
            <a:ext cx="3062115" cy="313265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 numCol="1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b="1" dirty="0"/>
            </a:pPr>
            <a:r>
              <a:t> Directory roles</a:t>
            </a:r>
          </a:p>
          <a:p>
            <a:pPr defTabSz="457200">
              <a:defRPr sz="1100" dirty="0"/>
            </a:pPr>
            <a:r>
              <a:t> - Application Administrator</a:t>
            </a:r>
          </a:p>
          <a:p>
            <a:pPr defTabSz="457200">
              <a:defRPr sz="1100" dirty="0"/>
            </a:pPr>
            <a:r>
              <a:t> - Attribute Definition Administrator</a:t>
            </a:r>
          </a:p>
          <a:p>
            <a:pPr defTabSz="457200">
              <a:defRPr sz="1100" dirty="0"/>
            </a:pPr>
            <a:r>
              <a:t> - Attribute Assignment Administrator</a:t>
            </a:r>
          </a:p>
          <a:p>
            <a:pPr defTabSz="457200">
              <a:defRPr sz="1100" dirty="0"/>
            </a:pPr>
            <a:r>
              <a:t> - Authentication Administrator</a:t>
            </a:r>
          </a:p>
          <a:p>
            <a:pPr defTabSz="457200">
              <a:defRPr sz="1100" dirty="0"/>
            </a:pPr>
            <a:r>
              <a:t> - Authentication Policy Administrator</a:t>
            </a:r>
          </a:p>
          <a:p>
            <a:pPr defTabSz="457200">
              <a:defRPr sz="1100" dirty="0"/>
            </a:pPr>
            <a:r>
              <a:t> - Azure DevOps Administrator</a:t>
            </a:r>
          </a:p>
          <a:p>
            <a:pPr defTabSz="457200">
              <a:defRPr sz="1100" dirty="0"/>
            </a:pPr>
            <a:r>
              <a:t> - Billing Administrator</a:t>
            </a:r>
          </a:p>
          <a:p>
            <a:pPr defTabSz="457200">
              <a:defRPr sz="1100" dirty="0"/>
            </a:pPr>
            <a:r>
              <a:t> - Cloud App Security Administrator</a:t>
            </a:r>
          </a:p>
          <a:p>
            <a:pPr defTabSz="457200">
              <a:defRPr sz="1100" dirty="0"/>
            </a:pPr>
            <a:r>
              <a:t> - Cloud Application Administrator</a:t>
            </a:r>
          </a:p>
          <a:p>
            <a:pPr defTabSz="457200">
              <a:defRPr sz="1100" dirty="0"/>
            </a:pPr>
            <a:r>
              <a:t> - Cloud Device Administrator</a:t>
            </a:r>
          </a:p>
          <a:p>
            <a:pPr defTabSz="457200">
              <a:defRPr sz="1100" dirty="0"/>
            </a:pPr>
            <a:r>
              <a:t> - Compliance Administrator</a:t>
            </a:r>
          </a:p>
          <a:p>
            <a:pPr defTabSz="457200">
              <a:defRPr sz="1100" dirty="0"/>
            </a:pPr>
            <a:r>
              <a:t> - Compliance Data Administrator</a:t>
            </a:r>
          </a:p>
          <a:p>
            <a:pPr defTabSz="457200">
              <a:defRPr sz="1100" dirty="0"/>
            </a:pPr>
            <a:r>
              <a:t> - Conditional Access Administrator</a:t>
            </a:r>
          </a:p>
          <a:p>
            <a:pPr defTabSz="457200">
              <a:defRPr sz="1100" dirty="0"/>
            </a:pPr>
            <a:r>
              <a:t> - Desktop Analytics Administrator</a:t>
            </a:r>
          </a:p>
          <a:p>
            <a:pPr defTabSz="457200">
              <a:defRPr sz="1100" dirty="0"/>
            </a:pPr>
            <a:r>
              <a:t> - Domain Name Administrator</a:t>
            </a:r>
          </a:p>
          <a:p>
            <a:pPr defTabSz="457200">
              <a:defRPr sz="1100" dirty="0"/>
            </a:pPr>
            <a:r>
              <a:t> - Dynamics 365 Administrator</a:t>
            </a:r>
          </a:p>
          <a:p>
            <a:pPr defTabSz="457200">
              <a:defRPr sz="1100" dirty="0"/>
            </a:pPr>
            <a:r>
              <a:t> - Edge Administrator</a:t>
            </a:r>
          </a:p>
          <a:p>
            <a:pPr defTabSz="457200">
              <a:defRPr sz="1100" dirty="0"/>
            </a:pPr>
            <a:r>
              <a:t> - Exchange Administrator</a:t>
            </a:r>
          </a:p>
          <a:p>
            <a:pPr defTabSz="457200">
              <a:defRPr sz="1100" dirty="0"/>
            </a:pPr>
            <a:r>
              <a:t> - Exchange Recipient Administrator</a:t>
            </a:r>
          </a:p>
          <a:p>
            <a:pPr defTabSz="457200">
              <a:defRPr sz="1100" dirty="0"/>
            </a:pPr>
            <a:r>
              <a:t> - Extended Directory User Administrator</a:t>
            </a:r>
          </a:p>
          <a:p>
            <a:pPr defTabSz="457200">
              <a:defRPr sz="1100" dirty="0"/>
            </a:pPr>
            <a:r>
              <a:t> - External ID User Flow Administrator</a:t>
            </a:r>
          </a:p>
          <a:p>
            <a:pPr defTabSz="457200">
              <a:defRPr sz="1100" dirty="0"/>
            </a:pPr>
            <a:r>
              <a:t> - External ID User Flow Attribute Administrator</a:t>
            </a:r>
          </a:p>
          <a:p>
            <a:pPr defTabSz="457200">
              <a:defRPr sz="1100" dirty="0"/>
            </a:pPr>
            <a:r>
              <a:t> - External Identity Provider Administrator</a:t>
            </a:r>
          </a:p>
          <a:p>
            <a:pPr defTabSz="457200">
              <a:defRPr sz="1100" dirty="0"/>
            </a:pPr>
            <a:r>
              <a:t> - Fabric Administrator</a:t>
            </a:r>
          </a:p>
          <a:p>
            <a:pPr defTabSz="457200">
              <a:defRPr sz="1100" dirty="0"/>
            </a:pPr>
            <a:r>
              <a:t> - Global Administrator</a:t>
            </a:r>
          </a:p>
          <a:p>
            <a:pPr defTabSz="457200">
              <a:defRPr sz="1100" dirty="0"/>
            </a:pPr>
            <a:r>
              <a:t> - Global Secure Access Administrator</a:t>
            </a:r>
          </a:p>
          <a:p>
            <a:pPr defTabSz="457200">
              <a:defRPr sz="1100" dirty="0"/>
            </a:pPr>
            <a:r>
              <a:t> - Groups Administrator</a:t>
            </a:r>
          </a:p>
          <a:p>
            <a:pPr defTabSz="457200">
              <a:defRPr sz="1100" dirty="0"/>
            </a:pPr>
            <a:r>
              <a:t> - Helpdesk Administrator</a:t>
            </a:r>
          </a:p>
          <a:p>
            <a:pPr defTabSz="457200">
              <a:defRPr sz="1100" dirty="0"/>
            </a:pPr>
            <a:r>
              <a:t> - Hybrid Identity Administrator</a:t>
            </a:r>
          </a:p>
          <a:p>
            <a:pPr defTabSz="457200">
              <a:defRPr sz="1100" dirty="0"/>
            </a:pPr>
            <a:r>
              <a:t> - Identity Governance Administrator</a:t>
            </a:r>
          </a:p>
          <a:p>
            <a:pPr defTabSz="457200">
              <a:defRPr sz="1100" dirty="0"/>
            </a:pPr>
            <a:r>
              <a:t> - Insights Administrator</a:t>
            </a:r>
          </a:p>
          <a:p>
            <a:pPr defTabSz="457200">
              <a:defRPr sz="1100" dirty="0"/>
            </a:pPr>
            <a:r>
              <a:t> - Intune Administrator</a:t>
            </a:r>
          </a:p>
          <a:p>
            <a:pPr defTabSz="457200">
              <a:defRPr sz="1100" dirty="0"/>
            </a:pPr>
            <a:r>
              <a:t> - Kaizala Administrator</a:t>
            </a:r>
          </a:p>
          <a:p>
            <a:pPr defTabSz="457200">
              <a:defRPr sz="1100" dirty="0"/>
            </a:pPr>
            <a:r>
              <a:t> - Knowledge Administrator</a:t>
            </a:r>
          </a:p>
          <a:p>
            <a:pPr defTabSz="457200">
              <a:defRPr sz="1100" dirty="0"/>
            </a:pPr>
            <a:r>
              <a:t> - License Administrator</a:t>
            </a:r>
          </a:p>
          <a:p>
            <a:pPr defTabSz="457200">
              <a:defRPr sz="1100" dirty="0"/>
            </a:pPr>
            <a:r>
              <a:t> - Lifecycle Workflows Administrator</a:t>
            </a:r>
          </a:p>
          <a:p>
            <a:pPr defTabSz="457200">
              <a:defRPr sz="1100" dirty="0"/>
            </a:pPr>
            <a:r>
              <a:t> - Microsoft 365 Backup Administrator</a:t>
            </a:r>
          </a:p>
          <a:p>
            <a:pPr defTabSz="457200">
              <a:defRPr sz="1100" dirty="0"/>
            </a:pPr>
            <a:r>
              <a:t> - Microsoft 365 Migration Administrator</a:t>
            </a:r>
          </a:p>
          <a:p>
            <a:pPr defTabSz="457200">
              <a:defRPr sz="1100" dirty="0"/>
            </a:pPr>
            <a:r>
              <a:t> - Microsoft Hardware Warranty Administrator</a:t>
            </a:r>
          </a:p>
          <a:p>
            <a:pPr defTabSz="457200">
              <a:defRPr sz="1100" dirty="0"/>
            </a:pPr>
            <a:r>
              <a:t> - Microsoft Hardware Warranty Specialist</a:t>
            </a:r>
          </a:p>
          <a:p>
            <a:pPr defTabSz="457200">
              <a:defRPr sz="1100" dirty="0"/>
            </a:pPr>
            <a:r>
              <a:t> - Azure AD Joined Device Local Administrator</a:t>
            </a:r>
          </a:p>
          <a:p>
            <a:pPr defTabSz="457200">
              <a:defRPr sz="1100" dirty="0"/>
            </a:pPr>
            <a:r>
              <a:t> - Network Administrator</a:t>
            </a:r>
          </a:p>
          <a:p>
            <a:pPr defTabSz="457200">
              <a:defRPr sz="1100" dirty="0"/>
            </a:pPr>
            <a:r>
              <a:t> - Office Apps Administrator</a:t>
            </a:r>
          </a:p>
          <a:p>
            <a:pPr defTabSz="457200">
              <a:defRPr sz="1100" dirty="0"/>
            </a:pPr>
            <a:r>
              <a:t> - Organizational Branding Administrator</a:t>
            </a:r>
          </a:p>
          <a:p>
            <a:pPr defTabSz="457200">
              <a:defRPr sz="1100" dirty="0"/>
            </a:pPr>
            <a:r>
              <a:t> - Password Administrator</a:t>
            </a:r>
          </a:p>
          <a:p>
            <a:pPr defTabSz="457200">
              <a:defRPr sz="1100" dirty="0"/>
            </a:pPr>
            <a:r>
              <a:t> - Permissions Management Administrator</a:t>
            </a:r>
          </a:p>
          <a:p>
            <a:pPr defTabSz="457200">
              <a:defRPr sz="1100" dirty="0"/>
            </a:pPr>
            <a:r>
              <a:t> - Power Platform Administrator</a:t>
            </a:r>
          </a:p>
          <a:p>
            <a:pPr defTabSz="457200">
              <a:defRPr sz="1100" dirty="0"/>
            </a:pPr>
            <a:r>
              <a:t> - Printer Administrator</a:t>
            </a:r>
          </a:p>
          <a:p>
            <a:pPr defTabSz="457200">
              <a:defRPr sz="1100" dirty="0"/>
            </a:pPr>
            <a:r>
              <a:t> - Privileged Authentication Administrator</a:t>
            </a:r>
          </a:p>
          <a:p>
            <a:pPr defTabSz="457200">
              <a:defRPr sz="1100" dirty="0"/>
            </a:pPr>
            <a:r>
              <a:t> - Privileged Role Administrator</a:t>
            </a:r>
          </a:p>
          <a:p>
            <a:pPr defTabSz="457200">
              <a:defRPr sz="1100" dirty="0"/>
            </a:pPr>
            <a:r>
              <a:t> - Search Administrator</a:t>
            </a:r>
          </a:p>
          <a:p>
            <a:pPr defTabSz="457200">
              <a:defRPr sz="1100" dirty="0"/>
            </a:pPr>
            <a:r>
              <a:t> - Security Administrator</a:t>
            </a:r>
          </a:p>
          <a:p>
            <a:pPr defTabSz="457200">
              <a:defRPr sz="1100" dirty="0"/>
            </a:pPr>
            <a:r>
              <a:t> - Service Support Administrator</a:t>
            </a:r>
          </a:p>
          <a:p>
            <a:pPr defTabSz="457200">
              <a:defRPr sz="1100" dirty="0"/>
            </a:pPr>
            <a:r>
              <a:t> - SharePoint Administrator</a:t>
            </a:r>
          </a:p>
          <a:p>
            <a:pPr defTabSz="457200">
              <a:defRPr sz="1100" dirty="0"/>
            </a:pPr>
            <a:r>
              <a:t> - SharePoint Embedded Administrator</a:t>
            </a:r>
          </a:p>
          <a:p>
            <a:pPr defTabSz="457200">
              <a:defRPr sz="1100" dirty="0"/>
            </a:pPr>
            <a:r>
              <a:t> - Skype for Business Administrator</a:t>
            </a:r>
          </a:p>
          <a:p>
            <a:pPr defTabSz="457200">
              <a:defRPr sz="1100" dirty="0"/>
            </a:pPr>
            <a:r>
              <a:t> - Teams Administrator</a:t>
            </a:r>
          </a:p>
          <a:p>
            <a:pPr defTabSz="457200">
              <a:defRPr sz="1100" dirty="0"/>
            </a:pPr>
            <a:r>
              <a:t> - User Administrator</a:t>
            </a:r>
          </a:p>
          <a:p>
            <a:pPr defTabSz="457200">
              <a:defRPr sz="1100" dirty="0"/>
            </a:pPr>
            <a:r>
              <a:t> - Yammer Administrator</a:t>
            </a:r>
          </a:p>
          <a:p>
            <a:pPr defTabSz="457200">
              <a:defRPr sz="1100" dirty="0"/>
            </a:pPr>
            <a:r>
              <a:t> - Windows Update Deployment Administrator</a:t>
            </a:r>
          </a:p>
          <a:p>
            <a:pPr defTabSz="457200">
              <a:defRPr sz="1100" dirty="0"/>
            </a:pPr>
            <a:r>
              <a:t> - Windows 365 Administrator</a:t>
            </a:r>
          </a:p>
          <a:p>
            <a:pPr defTabSz="457200">
              <a:defRPr sz="1100" dirty="0"/>
            </a:pPr>
            <a:r>
              <a:t> - Viva Pulse Administrator</a:t>
            </a:r>
          </a:p>
          <a:p>
            <a:pPr defTabSz="457200">
              <a:defRPr sz="1100" dirty="0"/>
            </a:pPr>
            <a:r>
              <a:t> - Viva Goals Administrator</a:t>
            </a:r>
          </a:p>
          <a:p>
            <a:pPr defTabSz="457200">
              <a:defRPr sz="1100" dirty="0"/>
            </a:pPr>
            <a:r>
              <a:t> - Virtual Visits Administrator</a:t>
            </a:r>
          </a:p>
          <a:p>
            <a:pPr defTabSz="457200">
              <a:defRPr sz="1100" dirty="0"/>
            </a:pPr>
            <a:r>
              <a:t> - Teams Devices Administrator</a:t>
            </a:r>
          </a:p>
          <a:p>
            <a:pPr defTabSz="457200">
              <a:defRPr sz="1100" dirty="0"/>
            </a:pPr>
            <a:r>
              <a:t> - Teams Telephony Administrator</a:t>
            </a:r>
          </a:p>
          <a:p>
            <a:pPr defTabSz="457200">
              <a:defRPr sz="1100" dirty="0"/>
            </a:pPr>
            <a:r>
              <a:t> - Teams Communications Administrator</a:t>
            </a:r>
          </a:p>
          <a:p>
            <a:pPr defTabSz="457200">
              <a:defRPr sz="1100" dirty="0"/>
            </a:pPr>
            <a:r>
              <a:t> - Dynamics 365 Business Central Administrator</a:t>
            </a:r>
          </a:p>
          <a:p>
            <a:pPr defTabSz="457200">
              <a:defRPr sz="1100" dirty="0"/>
            </a:pPr>
            <a:r>
              <a:t> - Azure Information Protection Administrator</a:t>
            </a:r>
          </a:p>
          <a:p>
            <a:pPr defTabSz="457200">
              <a:defRPr sz="1100" dirty="0"/>
            </a:pPr>
            <a:r>
              <a:t> - B2C IEF Keyset Administrator</a:t>
            </a:r>
          </a:p>
          <a:p>
            <a:pPr defTabSz="457200">
              <a:defRPr sz="1100" dirty="0"/>
            </a:pPr>
            <a:r>
              <a:t> - B2C IEF Policy Administrator</a:t>
            </a:r>
          </a:p>
          <a:p>
            <a:pPr defTabSz="457200">
              <a:defRPr sz="1100" dirty="0"/>
            </a:pPr>
            <a:r>
              <a:t> - Authentication Extensibility Administrator</a:t>
            </a:r>
          </a:p>
          <a:p>
            <a:pPr defTabSz="457200">
              <a:defRPr sz="1100" dirty="0"/>
            </a:pPr>
            <a:r>
              <a:t> - Attribute Provisioning Administrator</a:t>
            </a:r>
          </a:p>
          <a:p>
            <a:pPr defTabSz="457200">
              <a:defRPr sz="1100" dirty="0"/>
            </a:pPr>
            <a:r>
              <a:t> - Attribute Log Administrator</a:t>
            </a:r>
          </a:p>
          <a:p>
            <a:pPr defTabSz="457200">
              <a:defRPr sz="1100" dirty="0"/>
            </a:pPr>
            <a:r>
              <a:t> - Attack Simulation Administrator</a:t>
            </a:r>
          </a:p>
          <a:p>
            <a:pPr defTabSz="457200">
              <a:defRPr sz="1100" dirty="0"/>
            </a:pPr>
            <a:r>
              <a:t> - AI Administrator</a:t>
            </a:r>
          </a:p>
          <a:p>
            <a:pPr defTabSz="457200">
              <a:defRPr sz="1100" dirty="0"/>
            </a:pPr>
            <a:r>
              <a:t> - People Administrator</a:t>
            </a:r>
          </a:p>
          <a:p>
            <a:pPr defTabSz="457200">
              <a:defRPr sz="1100" b="1" dirty="0"/>
            </a:pPr>
            <a:r>
              <a:t> Groups</a:t>
            </a:r>
          </a:p>
          <a:p>
            <a:pPr defTabSz="457200">
              <a:defRPr sz="1100" dirty="0"/>
            </a:pPr>
            <a:r>
              <a:t> - OCC-Cloud-Admins (186)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r>
              <a:t>🚫 Exclude:</a:t>
            </a:r>
          </a:p>
          <a:p>
            <a:pPr defTabSz="457200">
              <a:defRPr sz="1100" b="1" dirty="0"/>
            </a:pPr>
            <a:r>
              <a:t> Users</a:t>
            </a:r>
          </a:p>
          <a:p>
            <a:pPr defTabSz="457200">
              <a:defRPr sz="1100" dirty="0"/>
            </a:pPr>
            <a:r>
              <a:t> - BGA OCC01</a:t>
            </a:r>
          </a:p>
          <a:p>
            <a:pPr defTabSz="457200">
              <a:defRPr sz="1100" dirty="0"/>
            </a:pPr>
            <a:r>
              <a:t> - BGA OCC02</a:t>
            </a:r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19" name="Risks"/>
          <p:cNvSpPr txBox="1">
            <a:spLocks noChangeArrowheads="1"/>
          </p:cNvSpPr>
          <p:nvPr/>
        </p:nvSpPr>
        <p:spPr bwMode="white">
          <a:xfrm>
            <a:off x="524485" y="1021946"/>
            <a:ext cx="1348869" cy="166886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0" name="Platforms"/>
          <p:cNvSpPr txBox="1">
            <a:spLocks noChangeArrowheads="1"/>
          </p:cNvSpPr>
          <p:nvPr/>
        </p:nvSpPr>
        <p:spPr bwMode="white">
          <a:xfrm>
            <a:off x="1826931" y="1021947"/>
            <a:ext cx="2061056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b="1" dirty="0"/>
            </a:pPr>
            <a:r>
              <a:t>✅ Include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23" name="Locations"/>
          <p:cNvSpPr txBox="1">
            <a:spLocks noChangeArrowheads="1"/>
          </p:cNvSpPr>
          <p:nvPr/>
        </p:nvSpPr>
        <p:spPr bwMode="white">
          <a:xfrm>
            <a:off x="8324941" y="1021947"/>
            <a:ext cx="3513702" cy="159258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b="1" dirty="0"/>
            </a:pPr>
            <a:r>
              <a:t>✅ Include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r>
              <a:t>🚫 Exclude</a:t>
            </a:r>
          </a:p>
          <a:p>
            <a:pPr defTabSz="457200">
              <a:defRPr sz="1100" dirty="0"/>
            </a:pPr>
            <a:r>
              <a:t> - AllTrusted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24" name="ClientAppTypes"/>
          <p:cNvSpPr txBox="1">
            <a:spLocks noChangeArrowheads="1"/>
          </p:cNvSpPr>
          <p:nvPr/>
        </p:nvSpPr>
        <p:spPr bwMode="white">
          <a:xfrm>
            <a:off x="3810664" y="1021947"/>
            <a:ext cx="1581599" cy="165343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5" name="DeviceFilters"/>
          <p:cNvSpPr txBox="1">
            <a:spLocks noChangeArrowheads="1"/>
          </p:cNvSpPr>
          <p:nvPr/>
        </p:nvSpPr>
        <p:spPr bwMode="white">
          <a:xfrm>
            <a:off x="5818151" y="1022762"/>
            <a:ext cx="2248808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dirty="0"/>
            </a:pPr>
            <a:r>
              <a:t>Exclude when</a:t>
            </a:r>
          </a:p>
          <a:p>
            <a:pPr defTabSz="457200">
              <a:defRPr sz="1100" dirty="0"/>
            </a:pPr>
            <a:r>
              <a:t>device.trustType -eq "AzureAD" -or device.trustType -eq "ServerAD" -or device.trustType -eq "Workplace"</a:t>
            </a:r>
          </a:p>
          <a:p>
            <a:pPr defTabSz="457200">
              <a:defRPr sz="1100" dirty="0"/>
            </a:pPr>
            <a:endParaRPr/>
          </a:p>
        </p:txBody>
      </p:sp>
      <p:cxnSp>
        <p:nvCxnSpPr>
          <p:cNvPr id="27" name="Straight Arrow Connector 26" descr="Arrow drawn from user/workload  to the action being performed by the user such as accessing cloud apps."/>
          <p:cNvCxnSpPr/>
          <p:nvPr/>
        </p:nvCxnSpPr>
        <p:spPr bwMode="white">
          <a:xfrm>
            <a:off x="2195232" y="3159047"/>
            <a:ext cx="3959471" cy="1"/>
          </a:xfrm>
          <a:prstGeom prst="straightConnector1">
            <a:avLst/>
          </a:prstGeom>
          <a:ln w="76200"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30" name="IconBlockAccess" descr="Picture with red color stop sign to indicate blocked access"/>
          <p:cNvPicPr>
            <a:picLocks noChangeAspect="1"/>
          </p:cNvPicPr>
          <p:nvPr/>
        </p:nvPicPr>
        <p:blipFill>
          <a:blip r:embed="rId3">
            <a:lum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 bwMode="white">
          <a:xfrm>
            <a:off x="5306633" y="2735805"/>
            <a:ext cx="356616" cy="35661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34" name="GrantLabelBlockAccess"/>
          <p:cNvSpPr txBox="1">
            <a:spLocks noChangeArrowheads="1"/>
          </p:cNvSpPr>
          <p:nvPr/>
        </p:nvSpPr>
        <p:spPr bwMode="white">
          <a:xfrm>
            <a:off x="3936931" y="2734375"/>
            <a:ext cx="1358065" cy="369332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algn="ctr" defTabSz="457200"/>
            <a:r>
              <a:rPr lang="en-US" b="1" dirty="0">
                <a:solidFill>
                  <a:srgbClr val="FF0000"/>
                </a:solidFill>
              </a:rPr>
              <a:t>Block access</a:t>
            </a:r>
          </a:p>
        </p:txBody>
      </p:sp>
      <p:sp>
        <p:nvSpPr>
          <p:cNvPr id="3" name="CloudAppActionIncExc"/>
          <p:cNvSpPr txBox="1">
            <a:spLocks noChangeArrowheads="1"/>
          </p:cNvSpPr>
          <p:nvPr/>
        </p:nvSpPr>
        <p:spPr bwMode="white">
          <a:xfrm>
            <a:off x="6039518" y="3662782"/>
            <a:ext cx="3649518" cy="315161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</p:txBody>
      </p:sp>
      <p:pic>
        <p:nvPicPr>
          <p:cNvPr id="26" name="IconGroupIdentity"/>
          <p:cNvPicPr>
            <a:picLocks noChangeAspect="1"/>
          </p:cNvPicPr>
          <p:nvPr/>
        </p:nvPicPr>
        <p:blipFill>
          <a:blip r:embed="rId5">
            <a:lum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 bwMode="white">
          <a:xfrm>
            <a:off x="327701" y="2839007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36" name="Graphic 35"/>
          <p:cNvPicPr>
            <a:picLocks noChangeAspect="1"/>
          </p:cNvPicPr>
          <p:nvPr/>
        </p:nvPicPr>
        <p:blipFill>
          <a:blip r:embed="rId7">
            <a:lum/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p:blipFill>
        <p:spPr bwMode="white">
          <a:xfrm>
            <a:off x="495610" y="197468"/>
            <a:ext cx="381196" cy="38119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" name="CloudAppAction"/>
          <p:cNvSpPr>
            <a:spLocks/>
          </p:cNvSpPr>
          <p:nvPr/>
        </p:nvSpPr>
        <p:spPr bwMode="auto">
          <a:xfrm>
            <a:off x="6206089" y="2718506"/>
            <a:ext cx="3227026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All cloud apps</a:t>
            </a:r>
          </a:p>
        </p:txBody>
      </p:sp>
      <p:pic>
        <p:nvPicPr>
          <p:cNvPr id="75" name="IconAccessAllCloudApps"/>
          <p:cNvPicPr>
            <a:picLocks noChangeAspect="1"/>
          </p:cNvPicPr>
          <p:nvPr/>
        </p:nvPicPr>
        <p:blipFill>
          <a:blip r:embed="rId9">
            <a:lum/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p:blipFill>
        <p:spPr bwMode="white">
          <a:xfrm>
            <a:off x="6439264" y="2836824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21" name="StateEnabled"/>
          <p:cNvSpPr>
            <a:spLocks/>
          </p:cNvSpPr>
          <p:nvPr/>
        </p:nvSpPr>
        <p:spPr bwMode="white">
          <a:xfrm>
            <a:off x="10842171" y="83487"/>
            <a:ext cx="1260389" cy="264812"/>
          </a:xfrm>
          <a:prstGeom prst="round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r>
              <a:rPr lang="en-US" sz="800" dirty="0"/>
              <a:t>Policy Enabled</a:t>
            </a:r>
          </a:p>
        </p:txBody>
      </p:sp>
      <p:grpSp>
        <p:nvGrpSpPr>
          <p:cNvPr id="10" name="IconRiskyUsers"/>
          <p:cNvGrpSpPr>
            <a:grpSpLocks/>
          </p:cNvGrpSpPr>
          <p:nvPr/>
        </p:nvGrpSpPr>
        <p:grpSpPr bwMode="white">
          <a:xfrm>
            <a:off x="635426" y="738677"/>
            <a:ext cx="1202553" cy="274320"/>
            <a:chOff x="2013768" y="1033956"/>
            <a:chExt cx="1342320" cy="274320"/>
          </a:xfrm>
        </p:grpSpPr>
        <p:pic>
          <p:nvPicPr>
            <p:cNvPr id="46" name="Graphic 1"/>
            <p:cNvPicPr>
              <a:picLocks noChangeAspect="1"/>
            </p:cNvPicPr>
            <p:nvPr/>
          </p:nvPicPr>
          <p:blipFill>
            <a:blip r:embed="rId11">
              <a:lum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013768" y="1033956"/>
              <a:ext cx="274320" cy="27432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5" name="Label 1"/>
            <p:cNvSpPr txBox="1">
              <a:spLocks noChangeArrowheads="1"/>
            </p:cNvSpPr>
            <p:nvPr/>
          </p:nvSpPr>
          <p:spPr bwMode="white">
            <a:xfrm>
              <a:off x="2240077" y="1040706"/>
              <a:ext cx="1116011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Risk</a:t>
              </a:r>
            </a:p>
          </p:txBody>
        </p:sp>
      </p:grpSp>
      <p:grpSp>
        <p:nvGrpSpPr>
          <p:cNvPr id="14" name="IconPlatforms"/>
          <p:cNvGrpSpPr>
            <a:grpSpLocks/>
          </p:cNvGrpSpPr>
          <p:nvPr/>
        </p:nvGrpSpPr>
        <p:grpSpPr bwMode="white">
          <a:xfrm>
            <a:off x="1927788" y="715249"/>
            <a:ext cx="1719285" cy="365760"/>
            <a:chOff x="3262737" y="994835"/>
            <a:chExt cx="1719285" cy="365760"/>
          </a:xfrm>
        </p:grpSpPr>
        <p:pic>
          <p:nvPicPr>
            <p:cNvPr id="29" name="Graphic 1"/>
            <p:cNvPicPr>
              <a:picLocks noChangeAspect="1"/>
            </p:cNvPicPr>
            <p:nvPr/>
          </p:nvPicPr>
          <p:blipFill>
            <a:blip r:embed="rId13">
              <a:lum/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3262737" y="994835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1" name="Label 1"/>
            <p:cNvSpPr txBox="1">
              <a:spLocks noChangeArrowheads="1"/>
            </p:cNvSpPr>
            <p:nvPr/>
          </p:nvSpPr>
          <p:spPr bwMode="white">
            <a:xfrm>
              <a:off x="3582397" y="1027255"/>
              <a:ext cx="1399625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Device platforms</a:t>
              </a:r>
            </a:p>
          </p:txBody>
        </p:sp>
      </p:grpSp>
      <p:grpSp>
        <p:nvGrpSpPr>
          <p:cNvPr id="17" name="IconClientAppTypes"/>
          <p:cNvGrpSpPr>
            <a:grpSpLocks/>
          </p:cNvGrpSpPr>
          <p:nvPr/>
        </p:nvGrpSpPr>
        <p:grpSpPr bwMode="white">
          <a:xfrm>
            <a:off x="3908159" y="670015"/>
            <a:ext cx="1852971" cy="365760"/>
            <a:chOff x="4858970" y="975927"/>
            <a:chExt cx="1852971" cy="365760"/>
          </a:xfrm>
        </p:grpSpPr>
        <p:pic>
          <p:nvPicPr>
            <p:cNvPr id="58" name="Graphic 1"/>
            <p:cNvPicPr>
              <a:picLocks noChangeAspect="1"/>
            </p:cNvPicPr>
            <p:nvPr/>
          </p:nvPicPr>
          <p:blipFill>
            <a:blip r:embed="rId15">
              <a:lum/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858970" y="975927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5" name="Label 1"/>
            <p:cNvSpPr txBox="1">
              <a:spLocks noChangeArrowheads="1"/>
            </p:cNvSpPr>
            <p:nvPr/>
          </p:nvSpPr>
          <p:spPr bwMode="white">
            <a:xfrm>
              <a:off x="5193983" y="1009899"/>
              <a:ext cx="1517958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Client apps</a:t>
              </a:r>
            </a:p>
          </p:txBody>
        </p:sp>
      </p:grpSp>
      <p:grpSp>
        <p:nvGrpSpPr>
          <p:cNvPr id="37" name="IconLocations"/>
          <p:cNvGrpSpPr>
            <a:grpSpLocks/>
          </p:cNvGrpSpPr>
          <p:nvPr/>
        </p:nvGrpSpPr>
        <p:grpSpPr bwMode="white">
          <a:xfrm>
            <a:off x="8411896" y="646848"/>
            <a:ext cx="1850168" cy="388465"/>
            <a:chOff x="2321433" y="3262888"/>
            <a:chExt cx="1850168" cy="388465"/>
          </a:xfrm>
        </p:grpSpPr>
        <p:pic>
          <p:nvPicPr>
            <p:cNvPr id="33" name="Graphic 1"/>
            <p:cNvPicPr>
              <a:picLocks noChangeAspect="1"/>
            </p:cNvPicPr>
            <p:nvPr/>
          </p:nvPicPr>
          <p:blipFill>
            <a:blip r:embed="rId17">
              <a:lum/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321433" y="3262888"/>
              <a:ext cx="388465" cy="388465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28" name="Label 1"/>
            <p:cNvSpPr txBox="1">
              <a:spLocks noChangeArrowheads="1"/>
            </p:cNvSpPr>
            <p:nvPr/>
          </p:nvSpPr>
          <p:spPr bwMode="white">
            <a:xfrm>
              <a:off x="2713321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Locations</a:t>
              </a:r>
              <a:endParaRPr lang="en-US" sz="1100" b="1" dirty="0"/>
            </a:p>
          </p:txBody>
        </p:sp>
      </p:grpSp>
      <p:grpSp>
        <p:nvGrpSpPr>
          <p:cNvPr id="39" name="IconDeviceFilters"/>
          <p:cNvGrpSpPr>
            <a:grpSpLocks/>
          </p:cNvGrpSpPr>
          <p:nvPr/>
        </p:nvGrpSpPr>
        <p:grpSpPr bwMode="white">
          <a:xfrm>
            <a:off x="5472818" y="661958"/>
            <a:ext cx="1839823" cy="364111"/>
            <a:chOff x="4195414" y="3273669"/>
            <a:chExt cx="1839823" cy="364111"/>
          </a:xfrm>
        </p:grpSpPr>
        <p:pic>
          <p:nvPicPr>
            <p:cNvPr id="60" name="Graphic 1"/>
            <p:cNvPicPr>
              <a:picLocks noChangeAspect="1"/>
            </p:cNvPicPr>
            <p:nvPr/>
          </p:nvPicPr>
          <p:blipFill>
            <a:blip r:embed="rId19">
              <a:lum/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195414" y="3273669"/>
              <a:ext cx="364111" cy="364111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31" name="Label 1"/>
            <p:cNvSpPr txBox="1">
              <a:spLocks noChangeArrowheads="1"/>
            </p:cNvSpPr>
            <p:nvPr/>
          </p:nvSpPr>
          <p:spPr bwMode="white">
            <a:xfrm>
              <a:off x="4576957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Filter for devices</a:t>
              </a:r>
              <a:endParaRPr lang="en-US" sz="1100" b="1" dirty="0"/>
            </a:p>
          </p:txBody>
        </p:sp>
      </p:grpSp>
      <p:pic>
        <p:nvPicPr>
          <p:cNvPr id="62" name="IconGrantMultifactorAuthentication"/>
          <p:cNvPicPr>
            <a:picLocks noChangeAspect="1"/>
          </p:cNvPicPr>
          <p:nvPr/>
        </p:nvPicPr>
        <p:blipFill>
          <a:blip r:embed="rId21">
            <a:lum/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>
            <a:fillRect/>
          </a:stretch>
        </p:blipFill>
        <p:spPr bwMode="white">
          <a:xfrm>
            <a:off x="3410647" y="3566863"/>
            <a:ext cx="17145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5" name="IconGrantMultifactorAuthenticationLabel"/>
          <p:cNvSpPr txBox="1">
            <a:spLocks noChangeArrowheads="1"/>
          </p:cNvSpPr>
          <p:nvPr/>
        </p:nvSpPr>
        <p:spPr bwMode="white">
          <a:xfrm>
            <a:off x="3575836" y="3571997"/>
            <a:ext cx="19007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Multifactor authentication</a:t>
            </a:r>
            <a:endParaRPr lang="en-US" sz="1000" dirty="0"/>
          </a:p>
        </p:txBody>
      </p:sp>
      <p:pic>
        <p:nvPicPr>
          <p:cNvPr id="38" name="IconGrantAuthenticationStrength"/>
          <p:cNvPicPr>
            <a:picLocks noChangeAspect="1"/>
          </p:cNvPicPr>
          <p:nvPr/>
        </p:nvPicPr>
        <p:blipFill>
          <a:blip r:embed="rId23">
            <a:lum/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/>
          <a:stretch>
            <a:fillRect/>
          </a:stretch>
        </p:blipFill>
        <p:spPr bwMode="white">
          <a:xfrm>
            <a:off x="3374515" y="3905034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7" name="IconGrantAuthenticationStrengthLabel"/>
          <p:cNvSpPr txBox="1">
            <a:spLocks noChangeArrowheads="1"/>
          </p:cNvSpPr>
          <p:nvPr/>
        </p:nvSpPr>
        <p:spPr bwMode="white">
          <a:xfrm>
            <a:off x="3575836" y="3907323"/>
            <a:ext cx="2185294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Authentication strength</a:t>
            </a:r>
            <a:endParaRPr lang="en-US" sz="1000" dirty="0"/>
          </a:p>
        </p:txBody>
      </p:sp>
      <p:pic>
        <p:nvPicPr>
          <p:cNvPr id="52" name="IconGrantDeviceCompliance"/>
          <p:cNvPicPr>
            <a:picLocks noChangeAspect="1"/>
          </p:cNvPicPr>
          <p:nvPr/>
        </p:nvPicPr>
        <p:blipFill>
          <a:blip r:embed="rId25">
            <a:lum/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/>
          <a:stretch>
            <a:fillRect/>
          </a:stretch>
        </p:blipFill>
        <p:spPr bwMode="white">
          <a:xfrm>
            <a:off x="3374515" y="4243205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9" name="IconGrantDeviceComplianceLabel"/>
          <p:cNvSpPr txBox="1">
            <a:spLocks noChangeArrowheads="1"/>
          </p:cNvSpPr>
          <p:nvPr/>
        </p:nvSpPr>
        <p:spPr bwMode="white">
          <a:xfrm>
            <a:off x="3575836" y="4242649"/>
            <a:ext cx="17378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Compliant device</a:t>
            </a:r>
            <a:endParaRPr lang="en-US" sz="1000" dirty="0"/>
          </a:p>
        </p:txBody>
      </p:sp>
      <p:pic>
        <p:nvPicPr>
          <p:cNvPr id="43" name="IconGrantHybridJoined"/>
          <p:cNvPicPr>
            <a:picLocks noChangeAspect="1"/>
          </p:cNvPicPr>
          <p:nvPr/>
        </p:nvPicPr>
        <p:blipFill>
          <a:blip r:embed="rId27">
            <a:lum/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/>
          <a:stretch>
            <a:fillRect/>
          </a:stretch>
        </p:blipFill>
        <p:spPr bwMode="white">
          <a:xfrm>
            <a:off x="3374515" y="4581376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3" name="IconGrantHybridJoinedLabel"/>
          <p:cNvSpPr txBox="1">
            <a:spLocks noChangeArrowheads="1"/>
          </p:cNvSpPr>
          <p:nvPr/>
        </p:nvSpPr>
        <p:spPr bwMode="white">
          <a:xfrm>
            <a:off x="3575836" y="4577975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Hybrid Azure AD joined device</a:t>
            </a:r>
            <a:endParaRPr lang="en-US" sz="1000" dirty="0"/>
          </a:p>
        </p:txBody>
      </p:sp>
      <p:pic>
        <p:nvPicPr>
          <p:cNvPr id="48" name="IconGrantApprovedClientApp"/>
          <p:cNvPicPr>
            <a:picLocks noChangeAspect="1"/>
          </p:cNvPicPr>
          <p:nvPr/>
        </p:nvPicPr>
        <p:blipFill>
          <a:blip r:embed="rId29">
            <a:lum/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rcRect/>
          <a:stretch>
            <a:fillRect/>
          </a:stretch>
        </p:blipFill>
        <p:spPr bwMode="white">
          <a:xfrm>
            <a:off x="3374515" y="491954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5" name="IconGrantApprovedClientAppLabel"/>
          <p:cNvSpPr txBox="1">
            <a:spLocks noChangeArrowheads="1"/>
          </p:cNvSpPr>
          <p:nvPr/>
        </p:nvSpPr>
        <p:spPr bwMode="white">
          <a:xfrm>
            <a:off x="3575836" y="4913301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Approved client app</a:t>
            </a:r>
            <a:endParaRPr lang="en-US" sz="1000" dirty="0"/>
          </a:p>
        </p:txBody>
      </p:sp>
      <p:pic>
        <p:nvPicPr>
          <p:cNvPr id="42" name="IconGrantCustomAuth"/>
          <p:cNvPicPr>
            <a:picLocks noChangeAspect="1"/>
          </p:cNvPicPr>
          <p:nvPr/>
        </p:nvPicPr>
        <p:blipFill>
          <a:blip r:embed="rId31">
            <a:lum/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rcRect/>
          <a:stretch>
            <a:fillRect/>
          </a:stretch>
        </p:blipFill>
        <p:spPr bwMode="white">
          <a:xfrm>
            <a:off x="3374515" y="593406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9" name="IconGrantCustomAuthLabel"/>
          <p:cNvSpPr txBox="1">
            <a:spLocks noChangeArrowheads="1"/>
          </p:cNvSpPr>
          <p:nvPr/>
        </p:nvSpPr>
        <p:spPr bwMode="white">
          <a:xfrm>
            <a:off x="3575836" y="5919279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Custom authentication factor</a:t>
            </a:r>
            <a:endParaRPr lang="en-US" sz="1000" dirty="0"/>
          </a:p>
        </p:txBody>
      </p:sp>
      <p:pic>
        <p:nvPicPr>
          <p:cNvPr id="40" name="IconGrantTermsOfUse"/>
          <p:cNvPicPr>
            <a:picLocks noChangeAspect="1"/>
          </p:cNvPicPr>
          <p:nvPr/>
        </p:nvPicPr>
        <p:blipFill>
          <a:blip r:embed="rId33">
            <a:lum/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rcRect/>
          <a:stretch>
            <a:fillRect/>
          </a:stretch>
        </p:blipFill>
        <p:spPr bwMode="white">
          <a:xfrm>
            <a:off x="3374515" y="627222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3" name="IconGrantTermsOfUseLabel"/>
          <p:cNvSpPr txBox="1">
            <a:spLocks noChangeArrowheads="1"/>
          </p:cNvSpPr>
          <p:nvPr/>
        </p:nvSpPr>
        <p:spPr bwMode="white">
          <a:xfrm>
            <a:off x="3575836" y="625460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Terms of use</a:t>
            </a:r>
            <a:endParaRPr lang="en-US" sz="1000" dirty="0"/>
          </a:p>
        </p:txBody>
      </p:sp>
      <p:sp>
        <p:nvSpPr>
          <p:cNvPr id="56" name="IconGrantAppProtectionLabel"/>
          <p:cNvSpPr txBox="1">
            <a:spLocks noChangeArrowheads="1"/>
          </p:cNvSpPr>
          <p:nvPr/>
        </p:nvSpPr>
        <p:spPr bwMode="white">
          <a:xfrm>
            <a:off x="3575836" y="524862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 protection policy</a:t>
            </a:r>
            <a:endParaRPr lang="en-US" sz="1000" dirty="0"/>
          </a:p>
        </p:txBody>
      </p:sp>
      <p:pic>
        <p:nvPicPr>
          <p:cNvPr id="65" name="IconGrantAppProtection"/>
          <p:cNvPicPr>
            <a:picLocks noChangeAspect="1"/>
          </p:cNvPicPr>
          <p:nvPr/>
        </p:nvPicPr>
        <p:blipFill>
          <a:blip r:embed="rId35">
            <a:lum/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rcRect/>
          <a:stretch>
            <a:fillRect/>
          </a:stretch>
        </p:blipFill>
        <p:spPr bwMode="white">
          <a:xfrm>
            <a:off x="3374515" y="525771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7" name="IconGrantChangePasswordLabel"/>
          <p:cNvSpPr txBox="1">
            <a:spLocks noChangeArrowheads="1"/>
          </p:cNvSpPr>
          <p:nvPr/>
        </p:nvSpPr>
        <p:spPr bwMode="white">
          <a:xfrm>
            <a:off x="3575836" y="5583953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Change password</a:t>
            </a:r>
            <a:endParaRPr lang="en-US" sz="1000" dirty="0"/>
          </a:p>
        </p:txBody>
      </p:sp>
      <p:pic>
        <p:nvPicPr>
          <p:cNvPr id="67" name="IconGrantChangePassword"/>
          <p:cNvPicPr>
            <a:picLocks noChangeAspect="1"/>
          </p:cNvPicPr>
          <p:nvPr/>
        </p:nvPicPr>
        <p:blipFill>
          <a:blip r:embed="rId37">
            <a:lum/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rcRect/>
          <a:stretch>
            <a:fillRect/>
          </a:stretch>
        </p:blipFill>
        <p:spPr bwMode="white">
          <a:xfrm>
            <a:off x="3374515" y="5595889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4" name="ShadeRisk"/>
          <p:cNvSpPr>
            <a:spLocks/>
          </p:cNvSpPr>
          <p:nvPr/>
        </p:nvSpPr>
        <p:spPr bwMode="white">
          <a:xfrm>
            <a:off x="507564" y="650246"/>
            <a:ext cx="976864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78" name="ShadeClientApps"/>
          <p:cNvSpPr>
            <a:spLocks/>
          </p:cNvSpPr>
          <p:nvPr/>
        </p:nvSpPr>
        <p:spPr bwMode="white">
          <a:xfrm>
            <a:off x="3802273" y="650246"/>
            <a:ext cx="1481482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3" name="ShadeGrantMultifactorAuth"/>
          <p:cNvSpPr>
            <a:spLocks/>
          </p:cNvSpPr>
          <p:nvPr/>
        </p:nvSpPr>
        <p:spPr bwMode="white">
          <a:xfrm>
            <a:off x="3369399" y="3534220"/>
            <a:ext cx="2069555" cy="28330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4" name="ShadeGrantAuthStrength"/>
          <p:cNvSpPr>
            <a:spLocks/>
          </p:cNvSpPr>
          <p:nvPr/>
        </p:nvSpPr>
        <p:spPr bwMode="white">
          <a:xfrm>
            <a:off x="3350256" y="3869846"/>
            <a:ext cx="2069555" cy="27801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5" name="ShadeGrantCompliantDevice"/>
          <p:cNvSpPr>
            <a:spLocks/>
          </p:cNvSpPr>
          <p:nvPr/>
        </p:nvSpPr>
        <p:spPr bwMode="white">
          <a:xfrm>
            <a:off x="3361852" y="4243205"/>
            <a:ext cx="2077102" cy="26110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6" name="ShadeGrantHybridAzureADJoined"/>
          <p:cNvSpPr>
            <a:spLocks/>
          </p:cNvSpPr>
          <p:nvPr/>
        </p:nvSpPr>
        <p:spPr bwMode="white">
          <a:xfrm>
            <a:off x="3353637" y="4552268"/>
            <a:ext cx="2160906" cy="298395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7" name="ShadeGrantApprovedClientApp"/>
          <p:cNvSpPr>
            <a:spLocks/>
          </p:cNvSpPr>
          <p:nvPr/>
        </p:nvSpPr>
        <p:spPr bwMode="white">
          <a:xfrm>
            <a:off x="3331918" y="4876027"/>
            <a:ext cx="2182625" cy="29839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8" name="ShadeGrantAppProtectionPolicy"/>
          <p:cNvSpPr>
            <a:spLocks/>
          </p:cNvSpPr>
          <p:nvPr/>
        </p:nvSpPr>
        <p:spPr bwMode="white">
          <a:xfrm>
            <a:off x="3350256" y="5207226"/>
            <a:ext cx="2122561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9" name="ShadeGrantChangePassword"/>
          <p:cNvSpPr>
            <a:spLocks/>
          </p:cNvSpPr>
          <p:nvPr/>
        </p:nvSpPr>
        <p:spPr bwMode="white">
          <a:xfrm>
            <a:off x="3350257" y="5557021"/>
            <a:ext cx="2042006" cy="287239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0" name="ShadeGrantCustomAuthFactor"/>
          <p:cNvSpPr>
            <a:spLocks/>
          </p:cNvSpPr>
          <p:nvPr/>
        </p:nvSpPr>
        <p:spPr bwMode="white">
          <a:xfrm>
            <a:off x="3331918" y="5899058"/>
            <a:ext cx="2182625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1" name="ShadeGrantTermsOfUse"/>
          <p:cNvSpPr>
            <a:spLocks/>
          </p:cNvSpPr>
          <p:nvPr/>
        </p:nvSpPr>
        <p:spPr bwMode="white">
          <a:xfrm>
            <a:off x="3313823" y="6192350"/>
            <a:ext cx="101602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99" name="Rectangle 98"/>
          <p:cNvSpPr>
            <a:spLocks/>
          </p:cNvSpPr>
          <p:nvPr/>
        </p:nvSpPr>
        <p:spPr bwMode="white">
          <a:xfrm>
            <a:off x="3268757" y="3253404"/>
            <a:ext cx="2357725" cy="3498546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0" name="Rectangle 109"/>
          <p:cNvSpPr>
            <a:spLocks/>
          </p:cNvSpPr>
          <p:nvPr/>
        </p:nvSpPr>
        <p:spPr bwMode="white">
          <a:xfrm>
            <a:off x="9881750" y="3248255"/>
            <a:ext cx="2220808" cy="3510149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7" name="Rectangle 116"/>
          <p:cNvSpPr>
            <a:spLocks/>
          </p:cNvSpPr>
          <p:nvPr/>
        </p:nvSpPr>
        <p:spPr bwMode="white">
          <a:xfrm>
            <a:off x="26741" y="606825"/>
            <a:ext cx="11985015" cy="2063636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2" name="Conditions Label"/>
          <p:cNvSpPr txBox="1">
            <a:spLocks noChangeArrowheads="1"/>
          </p:cNvSpPr>
          <p:nvPr/>
        </p:nvSpPr>
        <p:spPr bwMode="white">
          <a:xfrm rot="16200000">
            <a:off x="-883507" y="1514324"/>
            <a:ext cx="2081441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Conditions</a:t>
            </a:r>
          </a:p>
        </p:txBody>
      </p:sp>
      <p:sp>
        <p:nvSpPr>
          <p:cNvPr id="109" name="Grant Controls"/>
          <p:cNvSpPr txBox="1">
            <a:spLocks noChangeArrowheads="1"/>
          </p:cNvSpPr>
          <p:nvPr/>
        </p:nvSpPr>
        <p:spPr bwMode="white">
          <a:xfrm>
            <a:off x="3252146" y="3244395"/>
            <a:ext cx="2391873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Grant Controls</a:t>
            </a:r>
          </a:p>
        </p:txBody>
      </p:sp>
      <p:sp>
        <p:nvSpPr>
          <p:cNvPr id="111" name="Session Controls"/>
          <p:cNvSpPr txBox="1">
            <a:spLocks noChangeArrowheads="1"/>
          </p:cNvSpPr>
          <p:nvPr/>
        </p:nvSpPr>
        <p:spPr bwMode="white">
          <a:xfrm>
            <a:off x="9864212" y="3243751"/>
            <a:ext cx="2238346" cy="23786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Session Controls</a:t>
            </a:r>
          </a:p>
        </p:txBody>
      </p:sp>
      <p:pic>
        <p:nvPicPr>
          <p:cNvPr id="72" name="Graphic 71"/>
          <p:cNvPicPr>
            <a:picLocks noChangeAspect="1"/>
          </p:cNvPicPr>
          <p:nvPr/>
        </p:nvPicPr>
        <p:blipFill>
          <a:blip r:embed="rId39">
            <a:lum/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rcRect/>
          <a:stretch>
            <a:fillRect/>
          </a:stretch>
        </p:blipFill>
        <p:spPr bwMode="white">
          <a:xfrm>
            <a:off x="9996846" y="356982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4" name="Graphic 93"/>
          <p:cNvPicPr>
            <a:picLocks noChangeAspect="1"/>
          </p:cNvPicPr>
          <p:nvPr/>
        </p:nvPicPr>
        <p:blipFill>
          <a:blip r:embed="rId41">
            <a:lum/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rcRect/>
          <a:stretch>
            <a:fillRect/>
          </a:stretch>
        </p:blipFill>
        <p:spPr bwMode="white">
          <a:xfrm>
            <a:off x="10009443" y="525644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5" name="TextBox 94"/>
          <p:cNvSpPr txBox="1">
            <a:spLocks noChangeArrowheads="1"/>
          </p:cNvSpPr>
          <p:nvPr/>
        </p:nvSpPr>
        <p:spPr bwMode="white">
          <a:xfrm>
            <a:off x="10207481" y="3578463"/>
            <a:ext cx="150554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App enforced restrictions</a:t>
            </a:r>
          </a:p>
        </p:txBody>
      </p:sp>
      <p:sp>
        <p:nvSpPr>
          <p:cNvPr id="96" name="TextBox 95"/>
          <p:cNvSpPr txBox="1">
            <a:spLocks noChangeArrowheads="1"/>
          </p:cNvSpPr>
          <p:nvPr/>
        </p:nvSpPr>
        <p:spPr bwMode="white">
          <a:xfrm>
            <a:off x="10201167" y="3899846"/>
            <a:ext cx="181011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Conditional Access App Control</a:t>
            </a:r>
          </a:p>
        </p:txBody>
      </p:sp>
      <p:sp>
        <p:nvSpPr>
          <p:cNvPr id="97" name="TextBox 96"/>
          <p:cNvSpPr txBox="1">
            <a:spLocks noChangeArrowheads="1"/>
          </p:cNvSpPr>
          <p:nvPr/>
        </p:nvSpPr>
        <p:spPr bwMode="white">
          <a:xfrm>
            <a:off x="10215627" y="4357505"/>
            <a:ext cx="1090363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Sign-in frequency</a:t>
            </a:r>
          </a:p>
        </p:txBody>
      </p:sp>
      <p:sp>
        <p:nvSpPr>
          <p:cNvPr id="98" name="TextBox 97"/>
          <p:cNvSpPr txBox="1">
            <a:spLocks noChangeArrowheads="1"/>
          </p:cNvSpPr>
          <p:nvPr/>
        </p:nvSpPr>
        <p:spPr bwMode="white">
          <a:xfrm>
            <a:off x="10225446" y="4793305"/>
            <a:ext cx="156966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Persistent browser session</a:t>
            </a:r>
          </a:p>
        </p:txBody>
      </p:sp>
      <p:sp>
        <p:nvSpPr>
          <p:cNvPr id="100" name="TextBox 99"/>
          <p:cNvSpPr txBox="1">
            <a:spLocks noChangeArrowheads="1"/>
          </p:cNvSpPr>
          <p:nvPr/>
        </p:nvSpPr>
        <p:spPr bwMode="white">
          <a:xfrm>
            <a:off x="10229552" y="5232376"/>
            <a:ext cx="1717137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Continuous access evaluation</a:t>
            </a:r>
          </a:p>
        </p:txBody>
      </p:sp>
      <p:sp>
        <p:nvSpPr>
          <p:cNvPr id="101" name="TextBox 100"/>
          <p:cNvSpPr txBox="1">
            <a:spLocks noChangeArrowheads="1"/>
          </p:cNvSpPr>
          <p:nvPr/>
        </p:nvSpPr>
        <p:spPr bwMode="white">
          <a:xfrm>
            <a:off x="10259108" y="5658625"/>
            <a:ext cx="153599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Disable resilience defaults</a:t>
            </a:r>
          </a:p>
        </p:txBody>
      </p:sp>
      <p:pic>
        <p:nvPicPr>
          <p:cNvPr id="103" name="Graphic 102"/>
          <p:cNvPicPr>
            <a:picLocks noChangeAspect="1"/>
          </p:cNvPicPr>
          <p:nvPr/>
        </p:nvPicPr>
        <p:blipFill>
          <a:blip r:embed="rId43">
            <a:lum/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rcRect/>
          <a:stretch>
            <a:fillRect/>
          </a:stretch>
        </p:blipFill>
        <p:spPr bwMode="white">
          <a:xfrm>
            <a:off x="9996846" y="479900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5" name="Graphic 104"/>
          <p:cNvPicPr>
            <a:picLocks noChangeAspect="1"/>
          </p:cNvPicPr>
          <p:nvPr/>
        </p:nvPicPr>
        <p:blipFill>
          <a:blip r:embed="rId45">
            <a:lum/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rcRect/>
          <a:stretch>
            <a:fillRect/>
          </a:stretch>
        </p:blipFill>
        <p:spPr bwMode="white">
          <a:xfrm>
            <a:off x="9996846" y="437457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7" name="Graphic 106"/>
          <p:cNvPicPr>
            <a:picLocks noChangeAspect="1"/>
          </p:cNvPicPr>
          <p:nvPr/>
        </p:nvPicPr>
        <p:blipFill>
          <a:blip r:embed="rId7">
            <a:lum/>
            <a:extLst>
              <a:ext uri="{96DAC541-7B7A-43D3-8B79-37D633B846F1}">
                <asvg:svgBlip xmlns:asvg="http://schemas.microsoft.com/office/drawing/2016/SVG/main" r:embed="rId47"/>
              </a:ext>
            </a:extLst>
          </a:blip>
          <a:srcRect/>
          <a:stretch>
            <a:fillRect/>
          </a:stretch>
        </p:blipFill>
        <p:spPr bwMode="white">
          <a:xfrm>
            <a:off x="9996846" y="391529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15" name="SessionSifInterval"/>
          <p:cNvSpPr txBox="1">
            <a:spLocks noChangeArrowheads="1"/>
          </p:cNvSpPr>
          <p:nvPr/>
        </p:nvSpPr>
        <p:spPr bwMode="white">
          <a:xfrm>
            <a:off x="10296745" y="4516775"/>
            <a:ext cx="1249060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Periodic reauthentication</a:t>
            </a:r>
          </a:p>
        </p:txBody>
      </p:sp>
      <p:sp>
        <p:nvSpPr>
          <p:cNvPr id="114" name="SessionCasType"/>
          <p:cNvSpPr txBox="1">
            <a:spLocks noChangeArrowheads="1"/>
          </p:cNvSpPr>
          <p:nvPr/>
        </p:nvSpPr>
        <p:spPr bwMode="white">
          <a:xfrm>
            <a:off x="10296745" y="4075500"/>
            <a:ext cx="95410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App Control Policy</a:t>
            </a:r>
          </a:p>
        </p:txBody>
      </p:sp>
      <p:sp>
        <p:nvSpPr>
          <p:cNvPr id="116" name="SessionPersistenBrowserMode"/>
          <p:cNvSpPr txBox="1">
            <a:spLocks noChangeArrowheads="1"/>
          </p:cNvSpPr>
          <p:nvPr/>
        </p:nvSpPr>
        <p:spPr bwMode="white">
          <a:xfrm>
            <a:off x="10309761" y="4945281"/>
            <a:ext cx="918841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Always persistent</a:t>
            </a:r>
          </a:p>
        </p:txBody>
      </p:sp>
      <p:sp>
        <p:nvSpPr>
          <p:cNvPr id="118" name="SessionCaeMode"/>
          <p:cNvSpPr txBox="1">
            <a:spLocks noChangeArrowheads="1"/>
          </p:cNvSpPr>
          <p:nvPr/>
        </p:nvSpPr>
        <p:spPr bwMode="white">
          <a:xfrm>
            <a:off x="10301386" y="5393378"/>
            <a:ext cx="15359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US" sz="800" dirty="0"/>
              <a:t>Strictly enforce location policies</a:t>
            </a:r>
          </a:p>
        </p:txBody>
      </p:sp>
      <p:sp>
        <p:nvSpPr>
          <p:cNvPr id="119" name="ShadeSessionAppEnforced"/>
          <p:cNvSpPr>
            <a:spLocks/>
          </p:cNvSpPr>
          <p:nvPr/>
        </p:nvSpPr>
        <p:spPr bwMode="white">
          <a:xfrm>
            <a:off x="9959680" y="3548808"/>
            <a:ext cx="2051597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0" name="ShadeSessionCas"/>
          <p:cNvSpPr>
            <a:spLocks/>
          </p:cNvSpPr>
          <p:nvPr/>
        </p:nvSpPr>
        <p:spPr bwMode="white">
          <a:xfrm>
            <a:off x="9978939" y="3884212"/>
            <a:ext cx="2087576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1" name="ShadeSessionSif"/>
          <p:cNvSpPr>
            <a:spLocks/>
          </p:cNvSpPr>
          <p:nvPr/>
        </p:nvSpPr>
        <p:spPr bwMode="white">
          <a:xfrm>
            <a:off x="9940787" y="4320077"/>
            <a:ext cx="2125728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2" name="ShadeSessionPersistentBrowser"/>
          <p:cNvSpPr>
            <a:spLocks/>
          </p:cNvSpPr>
          <p:nvPr/>
        </p:nvSpPr>
        <p:spPr bwMode="white">
          <a:xfrm>
            <a:off x="9938833" y="4746195"/>
            <a:ext cx="207244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pic>
        <p:nvPicPr>
          <p:cNvPr id="70" name="IconAssignedToRole"/>
          <p:cNvPicPr>
            <a:picLocks noChangeAspect="1"/>
          </p:cNvPicPr>
          <p:nvPr/>
        </p:nvPicPr>
        <p:blipFill>
          <a:blip r:embed="rId48">
            <a:lum/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rcRect/>
          <a:stretch>
            <a:fillRect/>
          </a:stretch>
        </p:blipFill>
        <p:spPr bwMode="white">
          <a:xfrm>
            <a:off x="2391841" y="3225674"/>
            <a:ext cx="365760" cy="36576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" name="Label Secure Sign In Session"/>
          <p:cNvSpPr txBox="1">
            <a:spLocks noChangeArrowheads="1"/>
          </p:cNvSpPr>
          <p:nvPr/>
        </p:nvSpPr>
        <p:spPr bwMode="white">
          <a:xfrm>
            <a:off x="10260000" y="6084874"/>
            <a:ext cx="166584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Token protection for session</a:t>
            </a:r>
          </a:p>
        </p:txBody>
      </p:sp>
      <p:pic>
        <p:nvPicPr>
          <p:cNvPr id="77" name="IconSessionCaeDisable" descr="Close with solid fill"/>
          <p:cNvPicPr>
            <a:picLocks noChangeAspect="1"/>
          </p:cNvPicPr>
          <p:nvPr/>
        </p:nvPicPr>
        <p:blipFill>
          <a:blip r:embed="rId50">
            <a:lum/>
            <a:extLst>
              <a:ext uri="{96DAC541-7B7A-43D3-8B79-37D633B846F1}">
                <asvg:svgBlip xmlns:asvg="http://schemas.microsoft.com/office/drawing/2016/SVG/main" r:embed="rId51"/>
              </a:ext>
            </a:extLst>
          </a:blip>
          <a:srcRect/>
          <a:stretch>
            <a:fillRect/>
          </a:stretch>
        </p:blipFill>
        <p:spPr bwMode="white">
          <a:xfrm>
            <a:off x="9979885" y="5218651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2" name="IconSessionSecureSignInSession 1"/>
          <p:cNvPicPr>
            <a:picLocks noChangeAspect="1"/>
          </p:cNvPicPr>
          <p:nvPr/>
        </p:nvPicPr>
        <p:blipFill>
          <a:blip r:embed="rId52">
            <a:lum/>
            <a:extLst>
              <a:ext uri="{96DAC541-7B7A-43D3-8B79-37D633B846F1}">
                <asvg:svgBlip xmlns:asvg="http://schemas.microsoft.com/office/drawing/2016/SVG/main" r:embed="rId53"/>
              </a:ext>
            </a:extLst>
          </a:blip>
          <a:srcRect/>
          <a:stretch>
            <a:fillRect/>
          </a:stretch>
        </p:blipFill>
        <p:spPr bwMode="white">
          <a:xfrm>
            <a:off x="9997200" y="6085768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3" name="ShadeSessionCae"/>
          <p:cNvSpPr>
            <a:spLocks/>
          </p:cNvSpPr>
          <p:nvPr/>
        </p:nvSpPr>
        <p:spPr bwMode="white">
          <a:xfrm>
            <a:off x="9987595" y="5219780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76" name="ShadeSessionSecureSignIn"/>
          <p:cNvSpPr>
            <a:spLocks/>
          </p:cNvSpPr>
          <p:nvPr/>
        </p:nvSpPr>
        <p:spPr bwMode="white">
          <a:xfrm>
            <a:off x="9996846" y="5986498"/>
            <a:ext cx="2014431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pic>
        <p:nvPicPr>
          <p:cNvPr id="102" name="Graphic 101"/>
          <p:cNvPicPr>
            <a:picLocks noChangeAspect="1"/>
          </p:cNvPicPr>
          <p:nvPr/>
        </p:nvPicPr>
        <p:blipFill>
          <a:blip r:embed="rId54">
            <a:lum/>
            <a:extLst>
              <a:ext uri="{96DAC541-7B7A-43D3-8B79-37D633B846F1}">
                <asvg:svgBlip xmlns:asvg="http://schemas.microsoft.com/office/drawing/2016/SVG/main" r:embed="rId55"/>
              </a:ext>
            </a:extLst>
          </a:blip>
          <a:srcRect/>
          <a:stretch>
            <a:fillRect/>
          </a:stretch>
        </p:blipFill>
        <p:spPr bwMode="white">
          <a:xfrm>
            <a:off x="9997200" y="5663777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80" name="Graphic 79" descr="Close with solid fill"/>
          <p:cNvPicPr>
            <a:picLocks noChangeAspect="1"/>
          </p:cNvPicPr>
          <p:nvPr/>
        </p:nvPicPr>
        <p:blipFill>
          <a:blip r:embed="rId50">
            <a:lum/>
            <a:extLst>
              <a:ext uri="{96DAC541-7B7A-43D3-8B79-37D633B846F1}">
                <asvg:svgBlip xmlns:asvg="http://schemas.microsoft.com/office/drawing/2016/SVG/main" r:embed="rId51"/>
              </a:ext>
            </a:extLst>
          </a:blip>
          <a:srcRect/>
          <a:stretch>
            <a:fillRect/>
          </a:stretch>
        </p:blipFill>
        <p:spPr bwMode="white">
          <a:xfrm>
            <a:off x="9963899" y="5637424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4" name="ShadeSessionDisableResilience"/>
          <p:cNvSpPr>
            <a:spLocks/>
          </p:cNvSpPr>
          <p:nvPr/>
        </p:nvSpPr>
        <p:spPr bwMode="white">
          <a:xfrm>
            <a:off x="9959681" y="5602709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2" name="PolicyName">
            <a:hlinkClick r:id="" action="ppaction://hlinkfile"/>
          </p:cNvPr>
          <p:cNvSpPr>
            <a:spLocks noGrp="1"/>
          </p:cNvSpPr>
          <p:nvPr>
            <p:ph type="title"/>
          </p:nvPr>
        </p:nvSpPr>
        <p:spPr bwMode="white">
          <a:xfrm>
            <a:off x="838200" y="115511"/>
            <a:ext cx="10003967" cy="609565"/>
          </a:xfrm>
          <a:ln>
            <a:headEnd type="none"/>
            <a:tailEnd type="none"/>
          </a:ln>
        </p:spPr>
        <p:txBody>
          <a:bodyPr wrap="square">
            <a:noAutofit/>
          </a:bodyPr>
          <a:lstStyle/>
          <a:p>
            <a:pPr defTabSz="914400"/>
            <a:r>
              <a:rPr lang="en-US" sz="2000" b="1" dirty="0"/>
              <a:t>[All Apps] [All Admins] (Block) Access from non-OCC Devices or IP addresses</a:t>
            </a:r>
          </a:p>
        </p:txBody>
      </p:sp>
      <p:sp>
        <p:nvSpPr>
          <p:cNvPr id="16" name="LastModified"/>
          <p:cNvSpPr txBox="1">
            <a:spLocks noChangeArrowheads="1"/>
          </p:cNvSpPr>
          <p:nvPr/>
        </p:nvSpPr>
        <p:spPr bwMode="white">
          <a:xfrm>
            <a:off x="10556111" y="388376"/>
            <a:ext cx="15483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algn="r" defTabSz="457200"/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Last modified: 2025-05-23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UserWorkload"/>
          <p:cNvSpPr>
            <a:spLocks/>
          </p:cNvSpPr>
          <p:nvPr/>
        </p:nvSpPr>
        <p:spPr bwMode="auto">
          <a:xfrm>
            <a:off x="175820" y="2709769"/>
            <a:ext cx="2202823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Users</a:t>
            </a:r>
          </a:p>
        </p:txBody>
      </p:sp>
      <p:sp>
        <p:nvSpPr>
          <p:cNvPr id="7" name="UserWorkloadIncExc"/>
          <p:cNvSpPr txBox="1">
            <a:spLocks noChangeArrowheads="1"/>
          </p:cNvSpPr>
          <p:nvPr/>
        </p:nvSpPr>
        <p:spPr bwMode="white">
          <a:xfrm>
            <a:off x="125485" y="3698952"/>
            <a:ext cx="3062115" cy="313265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 numCol="1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b="1" dirty="0"/>
            </a:pPr>
            <a:r>
              <a:t> Directory roles</a:t>
            </a:r>
          </a:p>
          <a:p>
            <a:pPr defTabSz="457200">
              <a:defRPr sz="1100" dirty="0"/>
            </a:pPr>
            <a:r>
              <a:t> - Application Administrator</a:t>
            </a:r>
          </a:p>
          <a:p>
            <a:pPr defTabSz="457200">
              <a:defRPr sz="1100" dirty="0"/>
            </a:pPr>
            <a:r>
              <a:t> - Attack Simulation Administrator</a:t>
            </a:r>
          </a:p>
          <a:p>
            <a:pPr defTabSz="457200">
              <a:defRPr sz="1100" dirty="0"/>
            </a:pPr>
            <a:r>
              <a:t> - Attribute Assignment Administrator</a:t>
            </a:r>
          </a:p>
          <a:p>
            <a:pPr defTabSz="457200">
              <a:defRPr sz="1100" dirty="0"/>
            </a:pPr>
            <a:r>
              <a:t> - Attribute Definition Administrator</a:t>
            </a:r>
          </a:p>
          <a:p>
            <a:pPr defTabSz="457200">
              <a:defRPr sz="1100" dirty="0"/>
            </a:pPr>
            <a:r>
              <a:t> - Attribute Log Administrator</a:t>
            </a:r>
          </a:p>
          <a:p>
            <a:pPr defTabSz="457200">
              <a:defRPr sz="1100" dirty="0"/>
            </a:pPr>
            <a:r>
              <a:t> - Authentication Administrator</a:t>
            </a:r>
          </a:p>
          <a:p>
            <a:pPr defTabSz="457200">
              <a:defRPr sz="1100" dirty="0"/>
            </a:pPr>
            <a:r>
              <a:t> - Authentication Extensibility Administrator</a:t>
            </a:r>
          </a:p>
          <a:p>
            <a:pPr defTabSz="457200">
              <a:defRPr sz="1100" dirty="0"/>
            </a:pPr>
            <a:r>
              <a:t> - Authentication Policy Administrator</a:t>
            </a:r>
          </a:p>
          <a:p>
            <a:pPr defTabSz="457200">
              <a:defRPr sz="1100" dirty="0"/>
            </a:pPr>
            <a:r>
              <a:t> - Azure DevOps Administrator</a:t>
            </a:r>
          </a:p>
          <a:p>
            <a:pPr defTabSz="457200">
              <a:defRPr sz="1100" dirty="0"/>
            </a:pPr>
            <a:r>
              <a:t> - Azure Information Protection Administrator</a:t>
            </a:r>
          </a:p>
          <a:p>
            <a:pPr defTabSz="457200">
              <a:defRPr sz="1100" dirty="0"/>
            </a:pPr>
            <a:r>
              <a:t> - B2C IEF Keyset Administrator</a:t>
            </a:r>
          </a:p>
          <a:p>
            <a:pPr defTabSz="457200">
              <a:defRPr sz="1100" dirty="0"/>
            </a:pPr>
            <a:r>
              <a:t> - B2C IEF Policy Administrator</a:t>
            </a:r>
          </a:p>
          <a:p>
            <a:pPr defTabSz="457200">
              <a:defRPr sz="1100" dirty="0"/>
            </a:pPr>
            <a:r>
              <a:t> - Billing Administrator</a:t>
            </a:r>
          </a:p>
          <a:p>
            <a:pPr defTabSz="457200">
              <a:defRPr sz="1100" dirty="0"/>
            </a:pPr>
            <a:r>
              <a:t> - Cloud App Security Administrator</a:t>
            </a:r>
          </a:p>
          <a:p>
            <a:pPr defTabSz="457200">
              <a:defRPr sz="1100" dirty="0"/>
            </a:pPr>
            <a:r>
              <a:t> - Cloud Application Administrator</a:t>
            </a:r>
          </a:p>
          <a:p>
            <a:pPr defTabSz="457200">
              <a:defRPr sz="1100" dirty="0"/>
            </a:pPr>
            <a:r>
              <a:t> - Cloud Device Administrator</a:t>
            </a:r>
          </a:p>
          <a:p>
            <a:pPr defTabSz="457200">
              <a:defRPr sz="1100" dirty="0"/>
            </a:pPr>
            <a:r>
              <a:t> - Compliance Administrator</a:t>
            </a:r>
          </a:p>
          <a:p>
            <a:pPr defTabSz="457200">
              <a:defRPr sz="1100" dirty="0"/>
            </a:pPr>
            <a:r>
              <a:t> - Compliance Data Administrator</a:t>
            </a:r>
          </a:p>
          <a:p>
            <a:pPr defTabSz="457200">
              <a:defRPr sz="1100" dirty="0"/>
            </a:pPr>
            <a:r>
              <a:t> - Conditional Access Administrator</a:t>
            </a:r>
          </a:p>
          <a:p>
            <a:pPr defTabSz="457200">
              <a:defRPr sz="1100" dirty="0"/>
            </a:pPr>
            <a:r>
              <a:t> - Customer LockBox Access Approver</a:t>
            </a:r>
          </a:p>
          <a:p>
            <a:pPr defTabSz="457200">
              <a:defRPr sz="1100" dirty="0"/>
            </a:pPr>
            <a:r>
              <a:t> - Desktop Analytics Administrator</a:t>
            </a:r>
          </a:p>
          <a:p>
            <a:pPr defTabSz="457200">
              <a:defRPr sz="1100" dirty="0"/>
            </a:pPr>
            <a:r>
              <a:t> - Domain Name Administrator</a:t>
            </a:r>
          </a:p>
          <a:p>
            <a:pPr defTabSz="457200">
              <a:defRPr sz="1100" dirty="0"/>
            </a:pPr>
            <a:r>
              <a:t> - Dynamics 365 Administrator</a:t>
            </a:r>
          </a:p>
          <a:p>
            <a:pPr defTabSz="457200">
              <a:defRPr sz="1100" dirty="0"/>
            </a:pPr>
            <a:r>
              <a:t> - Dynamics 365 Business Central Administrator</a:t>
            </a:r>
          </a:p>
          <a:p>
            <a:pPr defTabSz="457200">
              <a:defRPr sz="1100" dirty="0"/>
            </a:pPr>
            <a:r>
              <a:t> - Edge Administrator</a:t>
            </a:r>
          </a:p>
          <a:p>
            <a:pPr defTabSz="457200">
              <a:defRPr sz="1100" dirty="0"/>
            </a:pPr>
            <a:r>
              <a:t> - Exchange Administrator</a:t>
            </a:r>
          </a:p>
          <a:p>
            <a:pPr defTabSz="457200">
              <a:defRPr sz="1100" dirty="0"/>
            </a:pPr>
            <a:r>
              <a:t> - Exchange Recipient Administrator</a:t>
            </a:r>
          </a:p>
          <a:p>
            <a:pPr defTabSz="457200">
              <a:defRPr sz="1100" dirty="0"/>
            </a:pPr>
            <a:r>
              <a:t> - Extended Directory User Administrator</a:t>
            </a:r>
          </a:p>
          <a:p>
            <a:pPr defTabSz="457200">
              <a:defRPr sz="1100" dirty="0"/>
            </a:pPr>
            <a:r>
              <a:t> - External ID User Flow Administrator</a:t>
            </a:r>
          </a:p>
          <a:p>
            <a:pPr defTabSz="457200">
              <a:defRPr sz="1100" dirty="0"/>
            </a:pPr>
            <a:r>
              <a:t> - External ID User Flow Attribute Administrator</a:t>
            </a:r>
          </a:p>
          <a:p>
            <a:pPr defTabSz="457200">
              <a:defRPr sz="1100" dirty="0"/>
            </a:pPr>
            <a:r>
              <a:t> - External Identity Provider Administrator</a:t>
            </a:r>
          </a:p>
          <a:p>
            <a:pPr defTabSz="457200">
              <a:defRPr sz="1100" dirty="0"/>
            </a:pPr>
            <a:r>
              <a:t> - Fabric Administrator</a:t>
            </a:r>
          </a:p>
          <a:p>
            <a:pPr defTabSz="457200">
              <a:defRPr sz="1100" dirty="0"/>
            </a:pPr>
            <a:r>
              <a:t> - Global Administrator</a:t>
            </a:r>
          </a:p>
          <a:p>
            <a:pPr defTabSz="457200">
              <a:defRPr sz="1100" dirty="0"/>
            </a:pPr>
            <a:r>
              <a:t> - Global Secure Access Administrator</a:t>
            </a:r>
          </a:p>
          <a:p>
            <a:pPr defTabSz="457200">
              <a:defRPr sz="1100" dirty="0"/>
            </a:pPr>
            <a:r>
              <a:t> - Groups Administrator</a:t>
            </a:r>
          </a:p>
          <a:p>
            <a:pPr defTabSz="457200">
              <a:defRPr sz="1100" dirty="0"/>
            </a:pPr>
            <a:r>
              <a:t> - Helpdesk Administrator</a:t>
            </a:r>
          </a:p>
          <a:p>
            <a:pPr defTabSz="457200">
              <a:defRPr sz="1100" dirty="0"/>
            </a:pPr>
            <a:r>
              <a:t> - Hybrid Identity Administrator</a:t>
            </a:r>
          </a:p>
          <a:p>
            <a:pPr defTabSz="457200">
              <a:defRPr sz="1100" dirty="0"/>
            </a:pPr>
            <a:r>
              <a:t> - Identity Governance Administrator</a:t>
            </a:r>
          </a:p>
          <a:p>
            <a:pPr defTabSz="457200">
              <a:defRPr sz="1100" dirty="0"/>
            </a:pPr>
            <a:r>
              <a:t> - Insights Administrator</a:t>
            </a:r>
          </a:p>
          <a:p>
            <a:pPr defTabSz="457200">
              <a:defRPr sz="1100" dirty="0"/>
            </a:pPr>
            <a:r>
              <a:t> - Intune Administrator</a:t>
            </a:r>
          </a:p>
          <a:p>
            <a:pPr defTabSz="457200">
              <a:defRPr sz="1100" dirty="0"/>
            </a:pPr>
            <a:r>
              <a:t> - Kaizala Administrator</a:t>
            </a:r>
          </a:p>
          <a:p>
            <a:pPr defTabSz="457200">
              <a:defRPr sz="1100" dirty="0"/>
            </a:pPr>
            <a:r>
              <a:t> - Knowledge Administrator</a:t>
            </a:r>
          </a:p>
          <a:p>
            <a:pPr defTabSz="457200">
              <a:defRPr sz="1100" dirty="0"/>
            </a:pPr>
            <a:r>
              <a:t> - License Administrator</a:t>
            </a:r>
          </a:p>
          <a:p>
            <a:pPr defTabSz="457200">
              <a:defRPr sz="1100" dirty="0"/>
            </a:pPr>
            <a:r>
              <a:t> - Lifecycle Workflows Administrator</a:t>
            </a:r>
          </a:p>
          <a:p>
            <a:pPr defTabSz="457200">
              <a:defRPr sz="1100" dirty="0"/>
            </a:pPr>
            <a:r>
              <a:t> - Microsoft 365 Migration Administrator</a:t>
            </a:r>
          </a:p>
          <a:p>
            <a:pPr defTabSz="457200">
              <a:defRPr sz="1100" dirty="0"/>
            </a:pPr>
            <a:r>
              <a:t> - Azure AD Joined Device Local Administrator</a:t>
            </a:r>
          </a:p>
          <a:p>
            <a:pPr defTabSz="457200">
              <a:defRPr sz="1100" dirty="0"/>
            </a:pPr>
            <a:r>
              <a:t> - Microsoft Hardware Warranty Administrator</a:t>
            </a:r>
          </a:p>
          <a:p>
            <a:pPr defTabSz="457200">
              <a:defRPr sz="1100" dirty="0"/>
            </a:pPr>
            <a:r>
              <a:t> - Office Apps Administrator</a:t>
            </a:r>
          </a:p>
          <a:p>
            <a:pPr defTabSz="457200">
              <a:defRPr sz="1100" dirty="0"/>
            </a:pPr>
            <a:r>
              <a:t> - Network Administrator</a:t>
            </a:r>
          </a:p>
          <a:p>
            <a:pPr defTabSz="457200">
              <a:defRPr sz="1100" dirty="0"/>
            </a:pPr>
            <a:r>
              <a:t> - Organizational Branding Administrator</a:t>
            </a:r>
          </a:p>
          <a:p>
            <a:pPr defTabSz="457200">
              <a:defRPr sz="1100" dirty="0"/>
            </a:pPr>
            <a:r>
              <a:t> - Password Administrator</a:t>
            </a:r>
          </a:p>
          <a:p>
            <a:pPr defTabSz="457200">
              <a:defRPr sz="1100" dirty="0"/>
            </a:pPr>
            <a:r>
              <a:t> - Permissions Management Administrator</a:t>
            </a:r>
          </a:p>
          <a:p>
            <a:pPr defTabSz="457200">
              <a:defRPr sz="1100" dirty="0"/>
            </a:pPr>
            <a:r>
              <a:t> - Power Platform Administrator</a:t>
            </a:r>
          </a:p>
          <a:p>
            <a:pPr defTabSz="457200">
              <a:defRPr sz="1100" dirty="0"/>
            </a:pPr>
            <a:r>
              <a:t> - Printer Administrator</a:t>
            </a:r>
          </a:p>
          <a:p>
            <a:pPr defTabSz="457200">
              <a:defRPr sz="1100" dirty="0"/>
            </a:pPr>
            <a:r>
              <a:t> - Privileged Authentication Administrator</a:t>
            </a:r>
          </a:p>
          <a:p>
            <a:pPr defTabSz="457200">
              <a:defRPr sz="1100" dirty="0"/>
            </a:pPr>
            <a:r>
              <a:t> - Privileged Role Administrator</a:t>
            </a:r>
          </a:p>
          <a:p>
            <a:pPr defTabSz="457200">
              <a:defRPr sz="1100" dirty="0"/>
            </a:pPr>
            <a:r>
              <a:t> - Search Administrator</a:t>
            </a:r>
          </a:p>
          <a:p>
            <a:pPr defTabSz="457200">
              <a:defRPr sz="1100" dirty="0"/>
            </a:pPr>
            <a:r>
              <a:t> - Security Administrator</a:t>
            </a:r>
          </a:p>
          <a:p>
            <a:pPr defTabSz="457200">
              <a:defRPr sz="1100" dirty="0"/>
            </a:pPr>
            <a:r>
              <a:t> - Service Support Administrator</a:t>
            </a:r>
          </a:p>
          <a:p>
            <a:pPr defTabSz="457200">
              <a:defRPr sz="1100" dirty="0"/>
            </a:pPr>
            <a:r>
              <a:t> - SharePoint Administrator</a:t>
            </a:r>
          </a:p>
          <a:p>
            <a:pPr defTabSz="457200">
              <a:defRPr sz="1100" dirty="0"/>
            </a:pPr>
            <a:r>
              <a:t> - SharePoint Embedded Administrator</a:t>
            </a:r>
          </a:p>
          <a:p>
            <a:pPr defTabSz="457200">
              <a:defRPr sz="1100" dirty="0"/>
            </a:pPr>
            <a:r>
              <a:t> - Skype for Business Administrator</a:t>
            </a:r>
          </a:p>
          <a:p>
            <a:pPr defTabSz="457200">
              <a:defRPr sz="1100" dirty="0"/>
            </a:pPr>
            <a:r>
              <a:t> - Teams Administrator</a:t>
            </a:r>
          </a:p>
          <a:p>
            <a:pPr defTabSz="457200">
              <a:defRPr sz="1100" dirty="0"/>
            </a:pPr>
            <a:r>
              <a:t> - Teams Communications Administrator</a:t>
            </a:r>
          </a:p>
          <a:p>
            <a:pPr defTabSz="457200">
              <a:defRPr sz="1100" dirty="0"/>
            </a:pPr>
            <a:r>
              <a:t> - Teams Devices Administrator</a:t>
            </a:r>
          </a:p>
          <a:p>
            <a:pPr defTabSz="457200">
              <a:defRPr sz="1100" dirty="0"/>
            </a:pPr>
            <a:r>
              <a:t> - Teams Telephony Administrator</a:t>
            </a:r>
          </a:p>
          <a:p>
            <a:pPr defTabSz="457200">
              <a:defRPr sz="1100" dirty="0"/>
            </a:pPr>
            <a:r>
              <a:t> - User Administrator</a:t>
            </a:r>
          </a:p>
          <a:p>
            <a:pPr defTabSz="457200">
              <a:defRPr sz="1100" dirty="0"/>
            </a:pPr>
            <a:r>
              <a:t> - Virtual Visits Administrator</a:t>
            </a:r>
          </a:p>
          <a:p>
            <a:pPr defTabSz="457200">
              <a:defRPr sz="1100" dirty="0"/>
            </a:pPr>
            <a:r>
              <a:t> - Viva Goals Administrator</a:t>
            </a:r>
          </a:p>
          <a:p>
            <a:pPr defTabSz="457200">
              <a:defRPr sz="1100" dirty="0"/>
            </a:pPr>
            <a:r>
              <a:t> - Viva Pulse Administrator</a:t>
            </a:r>
          </a:p>
          <a:p>
            <a:pPr defTabSz="457200">
              <a:defRPr sz="1100" dirty="0"/>
            </a:pPr>
            <a:r>
              <a:t> - Windows 365 Administrator</a:t>
            </a:r>
          </a:p>
          <a:p>
            <a:pPr defTabSz="457200">
              <a:defRPr sz="1100" dirty="0"/>
            </a:pPr>
            <a:r>
              <a:t> - Windows Update Deployment Administrator</a:t>
            </a:r>
          </a:p>
          <a:p>
            <a:pPr defTabSz="457200">
              <a:defRPr sz="1100" dirty="0"/>
            </a:pPr>
            <a:r>
              <a:t> - Yammer Administrator</a:t>
            </a:r>
          </a:p>
          <a:p>
            <a:pPr defTabSz="457200">
              <a:defRPr sz="1100" dirty="0"/>
            </a:pPr>
            <a:r>
              <a:t> - AI Administrator</a:t>
            </a:r>
          </a:p>
          <a:p>
            <a:pPr defTabSz="457200">
              <a:defRPr sz="1100" dirty="0"/>
            </a:pPr>
            <a:r>
              <a:t> - Attribute Provisioning Administrator</a:t>
            </a:r>
          </a:p>
          <a:p>
            <a:pPr defTabSz="457200">
              <a:defRPr sz="1100" dirty="0"/>
            </a:pPr>
            <a:r>
              <a:t> - People Administrator</a:t>
            </a:r>
          </a:p>
          <a:p>
            <a:pPr defTabSz="457200">
              <a:defRPr sz="1100" dirty="0"/>
            </a:pPr>
            <a:r>
              <a:t> - IoT Device Administrator</a:t>
            </a:r>
          </a:p>
          <a:p>
            <a:pPr defTabSz="457200">
              <a:defRPr sz="1100" b="1" dirty="0"/>
            </a:pPr>
            <a:r>
              <a:t> Groups</a:t>
            </a:r>
          </a:p>
          <a:p>
            <a:pPr defTabSz="457200">
              <a:defRPr sz="1100" dirty="0"/>
            </a:pPr>
            <a:r>
              <a:t> - OCC-Cloud-Admins (186)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r>
              <a:t>🚫 Exclude:</a:t>
            </a:r>
          </a:p>
          <a:p>
            <a:pPr defTabSz="457200">
              <a:defRPr sz="1100" b="1" dirty="0"/>
            </a:pPr>
            <a:r>
              <a:t> Users</a:t>
            </a:r>
          </a:p>
          <a:p>
            <a:pPr defTabSz="457200">
              <a:defRPr sz="1100" dirty="0"/>
            </a:pPr>
            <a:r>
              <a:t> - SVO365 SPFlowCreate</a:t>
            </a:r>
          </a:p>
          <a:p>
            <a:pPr defTabSz="457200">
              <a:defRPr sz="1100" dirty="0"/>
            </a:pPr>
            <a:r>
              <a:t> - SVO365 ContentMatrix</a:t>
            </a:r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19" name="Risks"/>
          <p:cNvSpPr txBox="1">
            <a:spLocks noChangeArrowheads="1"/>
          </p:cNvSpPr>
          <p:nvPr/>
        </p:nvSpPr>
        <p:spPr bwMode="white">
          <a:xfrm>
            <a:off x="524485" y="1021946"/>
            <a:ext cx="1348869" cy="166886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0" name="Platforms"/>
          <p:cNvSpPr txBox="1">
            <a:spLocks noChangeArrowheads="1"/>
          </p:cNvSpPr>
          <p:nvPr/>
        </p:nvSpPr>
        <p:spPr bwMode="white">
          <a:xfrm>
            <a:off x="1826931" y="1021947"/>
            <a:ext cx="2061056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b="1" dirty="0"/>
            </a:pPr>
            <a:r>
              <a:t>✅ Include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23" name="Locations"/>
          <p:cNvSpPr txBox="1">
            <a:spLocks noChangeArrowheads="1"/>
          </p:cNvSpPr>
          <p:nvPr/>
        </p:nvSpPr>
        <p:spPr bwMode="white">
          <a:xfrm>
            <a:off x="8324941" y="1021947"/>
            <a:ext cx="3513702" cy="159258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b="1" dirty="0"/>
            </a:pPr>
            <a:r>
              <a:t>✅ Include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24" name="ClientAppTypes"/>
          <p:cNvSpPr txBox="1">
            <a:spLocks noChangeArrowheads="1"/>
          </p:cNvSpPr>
          <p:nvPr/>
        </p:nvSpPr>
        <p:spPr bwMode="white">
          <a:xfrm>
            <a:off x="3810664" y="1021947"/>
            <a:ext cx="1581599" cy="165343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dirty="0"/>
            </a:pPr>
            <a:r>
              <a:t> - Exchange ActiveSync clients</a:t>
            </a:r>
          </a:p>
          <a:p>
            <a:pPr defTabSz="457200">
              <a:defRPr sz="1100" dirty="0"/>
            </a:pPr>
            <a:r>
              <a:t> - Browser</a:t>
            </a:r>
          </a:p>
          <a:p>
            <a:pPr defTabSz="457200">
              <a:defRPr sz="1100" dirty="0"/>
            </a:pPr>
            <a:r>
              <a:t> - Mobile app and desktop clients</a:t>
            </a:r>
          </a:p>
          <a:p>
            <a:pPr defTabSz="457200">
              <a:defRPr sz="1100" dirty="0"/>
            </a:pPr>
            <a:r>
              <a:t> - Other legacy clients</a:t>
            </a:r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25" name="DeviceFilters"/>
          <p:cNvSpPr txBox="1">
            <a:spLocks noChangeArrowheads="1"/>
          </p:cNvSpPr>
          <p:nvPr/>
        </p:nvSpPr>
        <p:spPr bwMode="white">
          <a:xfrm>
            <a:off x="5818151" y="1022762"/>
            <a:ext cx="2248808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cxnSp>
        <p:nvCxnSpPr>
          <p:cNvPr id="27" name="Straight Arrow Connector 26" descr="Arrow drawn from user/workload  to the action being performed by the user such as accessing cloud apps."/>
          <p:cNvCxnSpPr/>
          <p:nvPr/>
        </p:nvCxnSpPr>
        <p:spPr bwMode="white">
          <a:xfrm>
            <a:off x="2195232" y="3159047"/>
            <a:ext cx="3959471" cy="1"/>
          </a:xfrm>
          <a:prstGeom prst="straightConnector1">
            <a:avLst/>
          </a:prstGeom>
          <a:ln w="76200"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2" name="GrantLabelGrantAccess"/>
          <p:cNvSpPr txBox="1">
            <a:spLocks noChangeArrowheads="1"/>
          </p:cNvSpPr>
          <p:nvPr/>
        </p:nvSpPr>
        <p:spPr bwMode="white">
          <a:xfrm>
            <a:off x="3928464" y="2723089"/>
            <a:ext cx="1381340" cy="369332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algn="ctr" defTabSz="457200"/>
            <a:r>
              <a:rPr lang="en-US" b="1" dirty="0">
                <a:solidFill>
                  <a:srgbClr val="00B050"/>
                </a:solidFill>
              </a:rPr>
              <a:t>Grant access</a:t>
            </a:r>
          </a:p>
        </p:txBody>
      </p:sp>
      <p:pic>
        <p:nvPicPr>
          <p:cNvPr id="35" name="IconGrantAccess" descr="Picture with gren tick sign to indicate access was granted"/>
          <p:cNvPicPr>
            <a:picLocks noChangeAspect="1"/>
          </p:cNvPicPr>
          <p:nvPr/>
        </p:nvPicPr>
        <p:blipFill>
          <a:blip r:embed="rId3">
            <a:lum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 bwMode="white">
          <a:xfrm>
            <a:off x="5309361" y="2730170"/>
            <a:ext cx="356616" cy="35661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3" name="CloudAppActionIncExc"/>
          <p:cNvSpPr txBox="1">
            <a:spLocks noChangeArrowheads="1"/>
          </p:cNvSpPr>
          <p:nvPr/>
        </p:nvSpPr>
        <p:spPr bwMode="white">
          <a:xfrm>
            <a:off x="6039518" y="3662782"/>
            <a:ext cx="3649518" cy="315161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</p:txBody>
      </p:sp>
      <p:pic>
        <p:nvPicPr>
          <p:cNvPr id="26" name="IconGroupIdentity"/>
          <p:cNvPicPr>
            <a:picLocks noChangeAspect="1"/>
          </p:cNvPicPr>
          <p:nvPr/>
        </p:nvPicPr>
        <p:blipFill>
          <a:blip r:embed="rId5">
            <a:lum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 bwMode="white">
          <a:xfrm>
            <a:off x="327701" y="2839007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36" name="Graphic 35"/>
          <p:cNvPicPr>
            <a:picLocks noChangeAspect="1"/>
          </p:cNvPicPr>
          <p:nvPr/>
        </p:nvPicPr>
        <p:blipFill>
          <a:blip r:embed="rId7">
            <a:lum/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p:blipFill>
        <p:spPr bwMode="white">
          <a:xfrm>
            <a:off x="495610" y="197468"/>
            <a:ext cx="381196" cy="38119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" name="CloudAppAction"/>
          <p:cNvSpPr>
            <a:spLocks/>
          </p:cNvSpPr>
          <p:nvPr/>
        </p:nvSpPr>
        <p:spPr bwMode="auto">
          <a:xfrm>
            <a:off x="6206089" y="2718506"/>
            <a:ext cx="3227026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All cloud apps</a:t>
            </a:r>
          </a:p>
        </p:txBody>
      </p:sp>
      <p:pic>
        <p:nvPicPr>
          <p:cNvPr id="75" name="IconAccessAllCloudApps"/>
          <p:cNvPicPr>
            <a:picLocks noChangeAspect="1"/>
          </p:cNvPicPr>
          <p:nvPr/>
        </p:nvPicPr>
        <p:blipFill>
          <a:blip r:embed="rId9">
            <a:lum/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p:blipFill>
        <p:spPr bwMode="white">
          <a:xfrm>
            <a:off x="6439264" y="2836824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21" name="StateEnabled"/>
          <p:cNvSpPr>
            <a:spLocks/>
          </p:cNvSpPr>
          <p:nvPr/>
        </p:nvSpPr>
        <p:spPr bwMode="white">
          <a:xfrm>
            <a:off x="10842171" y="83487"/>
            <a:ext cx="1260389" cy="264812"/>
          </a:xfrm>
          <a:prstGeom prst="round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r>
              <a:rPr lang="en-US" sz="800" dirty="0"/>
              <a:t>Policy Enabled</a:t>
            </a:r>
          </a:p>
        </p:txBody>
      </p:sp>
      <p:grpSp>
        <p:nvGrpSpPr>
          <p:cNvPr id="10" name="IconRiskyUsers"/>
          <p:cNvGrpSpPr>
            <a:grpSpLocks/>
          </p:cNvGrpSpPr>
          <p:nvPr/>
        </p:nvGrpSpPr>
        <p:grpSpPr bwMode="white">
          <a:xfrm>
            <a:off x="635426" y="738677"/>
            <a:ext cx="1202553" cy="274320"/>
            <a:chOff x="2013768" y="1033956"/>
            <a:chExt cx="1342320" cy="274320"/>
          </a:xfrm>
        </p:grpSpPr>
        <p:pic>
          <p:nvPicPr>
            <p:cNvPr id="46" name="Graphic 1"/>
            <p:cNvPicPr>
              <a:picLocks noChangeAspect="1"/>
            </p:cNvPicPr>
            <p:nvPr/>
          </p:nvPicPr>
          <p:blipFill>
            <a:blip r:embed="rId11">
              <a:lum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013768" y="1033956"/>
              <a:ext cx="274320" cy="27432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5" name="Label 1"/>
            <p:cNvSpPr txBox="1">
              <a:spLocks noChangeArrowheads="1"/>
            </p:cNvSpPr>
            <p:nvPr/>
          </p:nvSpPr>
          <p:spPr bwMode="white">
            <a:xfrm>
              <a:off x="2240077" y="1040706"/>
              <a:ext cx="1116011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Risk</a:t>
              </a:r>
            </a:p>
          </p:txBody>
        </p:sp>
      </p:grpSp>
      <p:grpSp>
        <p:nvGrpSpPr>
          <p:cNvPr id="14" name="IconPlatforms"/>
          <p:cNvGrpSpPr>
            <a:grpSpLocks/>
          </p:cNvGrpSpPr>
          <p:nvPr/>
        </p:nvGrpSpPr>
        <p:grpSpPr bwMode="white">
          <a:xfrm>
            <a:off x="1927788" y="715249"/>
            <a:ext cx="1719285" cy="365760"/>
            <a:chOff x="3262737" y="994835"/>
            <a:chExt cx="1719285" cy="365760"/>
          </a:xfrm>
        </p:grpSpPr>
        <p:pic>
          <p:nvPicPr>
            <p:cNvPr id="29" name="Graphic 1"/>
            <p:cNvPicPr>
              <a:picLocks noChangeAspect="1"/>
            </p:cNvPicPr>
            <p:nvPr/>
          </p:nvPicPr>
          <p:blipFill>
            <a:blip r:embed="rId13">
              <a:lum/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3262737" y="994835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1" name="Label 1"/>
            <p:cNvSpPr txBox="1">
              <a:spLocks noChangeArrowheads="1"/>
            </p:cNvSpPr>
            <p:nvPr/>
          </p:nvSpPr>
          <p:spPr bwMode="white">
            <a:xfrm>
              <a:off x="3582397" y="1027255"/>
              <a:ext cx="1399625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Device platforms</a:t>
              </a:r>
            </a:p>
          </p:txBody>
        </p:sp>
      </p:grpSp>
      <p:grpSp>
        <p:nvGrpSpPr>
          <p:cNvPr id="17" name="IconClientAppTypes"/>
          <p:cNvGrpSpPr>
            <a:grpSpLocks/>
          </p:cNvGrpSpPr>
          <p:nvPr/>
        </p:nvGrpSpPr>
        <p:grpSpPr bwMode="white">
          <a:xfrm>
            <a:off x="3908159" y="670015"/>
            <a:ext cx="1852971" cy="365760"/>
            <a:chOff x="4858970" y="975927"/>
            <a:chExt cx="1852971" cy="365760"/>
          </a:xfrm>
        </p:grpSpPr>
        <p:pic>
          <p:nvPicPr>
            <p:cNvPr id="58" name="Graphic 1"/>
            <p:cNvPicPr>
              <a:picLocks noChangeAspect="1"/>
            </p:cNvPicPr>
            <p:nvPr/>
          </p:nvPicPr>
          <p:blipFill>
            <a:blip r:embed="rId15">
              <a:lum/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858970" y="975927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5" name="Label 1"/>
            <p:cNvSpPr txBox="1">
              <a:spLocks noChangeArrowheads="1"/>
            </p:cNvSpPr>
            <p:nvPr/>
          </p:nvSpPr>
          <p:spPr bwMode="white">
            <a:xfrm>
              <a:off x="5193983" y="1009899"/>
              <a:ext cx="1517958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Client apps</a:t>
              </a:r>
            </a:p>
          </p:txBody>
        </p:sp>
      </p:grpSp>
      <p:grpSp>
        <p:nvGrpSpPr>
          <p:cNvPr id="37" name="IconLocations"/>
          <p:cNvGrpSpPr>
            <a:grpSpLocks/>
          </p:cNvGrpSpPr>
          <p:nvPr/>
        </p:nvGrpSpPr>
        <p:grpSpPr bwMode="white">
          <a:xfrm>
            <a:off x="8411896" y="646848"/>
            <a:ext cx="1850168" cy="388465"/>
            <a:chOff x="2321433" y="3262888"/>
            <a:chExt cx="1850168" cy="388465"/>
          </a:xfrm>
        </p:grpSpPr>
        <p:pic>
          <p:nvPicPr>
            <p:cNvPr id="33" name="Graphic 1"/>
            <p:cNvPicPr>
              <a:picLocks noChangeAspect="1"/>
            </p:cNvPicPr>
            <p:nvPr/>
          </p:nvPicPr>
          <p:blipFill>
            <a:blip r:embed="rId17">
              <a:lum/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321433" y="3262888"/>
              <a:ext cx="388465" cy="388465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28" name="Label 1"/>
            <p:cNvSpPr txBox="1">
              <a:spLocks noChangeArrowheads="1"/>
            </p:cNvSpPr>
            <p:nvPr/>
          </p:nvSpPr>
          <p:spPr bwMode="white">
            <a:xfrm>
              <a:off x="2713321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Locations</a:t>
              </a:r>
              <a:endParaRPr lang="en-US" sz="1100" b="1" dirty="0"/>
            </a:p>
          </p:txBody>
        </p:sp>
      </p:grpSp>
      <p:grpSp>
        <p:nvGrpSpPr>
          <p:cNvPr id="39" name="IconDeviceFilters"/>
          <p:cNvGrpSpPr>
            <a:grpSpLocks/>
          </p:cNvGrpSpPr>
          <p:nvPr/>
        </p:nvGrpSpPr>
        <p:grpSpPr bwMode="white">
          <a:xfrm>
            <a:off x="5472818" y="661958"/>
            <a:ext cx="1839823" cy="364111"/>
            <a:chOff x="4195414" y="3273669"/>
            <a:chExt cx="1839823" cy="364111"/>
          </a:xfrm>
        </p:grpSpPr>
        <p:pic>
          <p:nvPicPr>
            <p:cNvPr id="60" name="Graphic 1"/>
            <p:cNvPicPr>
              <a:picLocks noChangeAspect="1"/>
            </p:cNvPicPr>
            <p:nvPr/>
          </p:nvPicPr>
          <p:blipFill>
            <a:blip r:embed="rId19">
              <a:lum/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195414" y="3273669"/>
              <a:ext cx="364111" cy="364111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31" name="Label 1"/>
            <p:cNvSpPr txBox="1">
              <a:spLocks noChangeArrowheads="1"/>
            </p:cNvSpPr>
            <p:nvPr/>
          </p:nvSpPr>
          <p:spPr bwMode="white">
            <a:xfrm>
              <a:off x="4576957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Filter for devices</a:t>
              </a:r>
              <a:endParaRPr lang="en-US" sz="1100" b="1" dirty="0"/>
            </a:p>
          </p:txBody>
        </p:sp>
      </p:grpSp>
      <p:pic>
        <p:nvPicPr>
          <p:cNvPr id="62" name="IconGrantMultifactorAuthentication"/>
          <p:cNvPicPr>
            <a:picLocks noChangeAspect="1"/>
          </p:cNvPicPr>
          <p:nvPr/>
        </p:nvPicPr>
        <p:blipFill>
          <a:blip r:embed="rId21">
            <a:lum/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>
            <a:fillRect/>
          </a:stretch>
        </p:blipFill>
        <p:spPr bwMode="white">
          <a:xfrm>
            <a:off x="3410647" y="3566863"/>
            <a:ext cx="17145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5" name="IconGrantMultifactorAuthenticationLabel"/>
          <p:cNvSpPr txBox="1">
            <a:spLocks noChangeArrowheads="1"/>
          </p:cNvSpPr>
          <p:nvPr/>
        </p:nvSpPr>
        <p:spPr bwMode="white">
          <a:xfrm>
            <a:off x="3575836" y="3571997"/>
            <a:ext cx="19007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Multifactor authentication</a:t>
            </a:r>
            <a:endParaRPr lang="en-US" sz="1000" dirty="0"/>
          </a:p>
        </p:txBody>
      </p:sp>
      <p:pic>
        <p:nvPicPr>
          <p:cNvPr id="38" name="IconGrantAuthenticationStrength"/>
          <p:cNvPicPr>
            <a:picLocks noChangeAspect="1"/>
          </p:cNvPicPr>
          <p:nvPr/>
        </p:nvPicPr>
        <p:blipFill>
          <a:blip r:embed="rId23">
            <a:lum/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/>
          <a:stretch>
            <a:fillRect/>
          </a:stretch>
        </p:blipFill>
        <p:spPr bwMode="white">
          <a:xfrm>
            <a:off x="3374515" y="3905034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7" name="IconGrantAuthenticationStrengthLabel"/>
          <p:cNvSpPr txBox="1">
            <a:spLocks noChangeArrowheads="1"/>
          </p:cNvSpPr>
          <p:nvPr/>
        </p:nvSpPr>
        <p:spPr bwMode="white">
          <a:xfrm>
            <a:off x="3575836" y="3907323"/>
            <a:ext cx="2185294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Auth strength:Phishing-resistant MFA</a:t>
            </a:r>
            <a:endParaRPr lang="en-US" sz="1000" dirty="0"/>
          </a:p>
        </p:txBody>
      </p:sp>
      <p:pic>
        <p:nvPicPr>
          <p:cNvPr id="52" name="IconGrantDeviceCompliance"/>
          <p:cNvPicPr>
            <a:picLocks noChangeAspect="1"/>
          </p:cNvPicPr>
          <p:nvPr/>
        </p:nvPicPr>
        <p:blipFill>
          <a:blip r:embed="rId25">
            <a:lum/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/>
          <a:stretch>
            <a:fillRect/>
          </a:stretch>
        </p:blipFill>
        <p:spPr bwMode="white">
          <a:xfrm>
            <a:off x="3374515" y="4243205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9" name="IconGrantDeviceComplianceLabel"/>
          <p:cNvSpPr txBox="1">
            <a:spLocks noChangeArrowheads="1"/>
          </p:cNvSpPr>
          <p:nvPr/>
        </p:nvSpPr>
        <p:spPr bwMode="white">
          <a:xfrm>
            <a:off x="3575836" y="4242649"/>
            <a:ext cx="17378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Compliant device</a:t>
            </a:r>
            <a:endParaRPr lang="en-US" sz="1000" dirty="0"/>
          </a:p>
        </p:txBody>
      </p:sp>
      <p:pic>
        <p:nvPicPr>
          <p:cNvPr id="43" name="IconGrantHybridJoined"/>
          <p:cNvPicPr>
            <a:picLocks noChangeAspect="1"/>
          </p:cNvPicPr>
          <p:nvPr/>
        </p:nvPicPr>
        <p:blipFill>
          <a:blip r:embed="rId27">
            <a:lum/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/>
          <a:stretch>
            <a:fillRect/>
          </a:stretch>
        </p:blipFill>
        <p:spPr bwMode="white">
          <a:xfrm>
            <a:off x="3374515" y="4581376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3" name="IconGrantHybridJoinedLabel"/>
          <p:cNvSpPr txBox="1">
            <a:spLocks noChangeArrowheads="1"/>
          </p:cNvSpPr>
          <p:nvPr/>
        </p:nvSpPr>
        <p:spPr bwMode="white">
          <a:xfrm>
            <a:off x="3575836" y="4577975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Hybrid Azure AD joined device</a:t>
            </a:r>
            <a:endParaRPr lang="en-US" sz="1000" dirty="0"/>
          </a:p>
        </p:txBody>
      </p:sp>
      <p:pic>
        <p:nvPicPr>
          <p:cNvPr id="48" name="IconGrantApprovedClientApp"/>
          <p:cNvPicPr>
            <a:picLocks noChangeAspect="1"/>
          </p:cNvPicPr>
          <p:nvPr/>
        </p:nvPicPr>
        <p:blipFill>
          <a:blip r:embed="rId29">
            <a:lum/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rcRect/>
          <a:stretch>
            <a:fillRect/>
          </a:stretch>
        </p:blipFill>
        <p:spPr bwMode="white">
          <a:xfrm>
            <a:off x="3374515" y="491954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5" name="IconGrantApprovedClientAppLabel"/>
          <p:cNvSpPr txBox="1">
            <a:spLocks noChangeArrowheads="1"/>
          </p:cNvSpPr>
          <p:nvPr/>
        </p:nvSpPr>
        <p:spPr bwMode="white">
          <a:xfrm>
            <a:off x="3575836" y="4913301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Approved client app</a:t>
            </a:r>
            <a:endParaRPr lang="en-US" sz="1000" dirty="0"/>
          </a:p>
        </p:txBody>
      </p:sp>
      <p:pic>
        <p:nvPicPr>
          <p:cNvPr id="42" name="IconGrantCustomAuth"/>
          <p:cNvPicPr>
            <a:picLocks noChangeAspect="1"/>
          </p:cNvPicPr>
          <p:nvPr/>
        </p:nvPicPr>
        <p:blipFill>
          <a:blip r:embed="rId31">
            <a:lum/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rcRect/>
          <a:stretch>
            <a:fillRect/>
          </a:stretch>
        </p:blipFill>
        <p:spPr bwMode="white">
          <a:xfrm>
            <a:off x="3374515" y="593406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9" name="IconGrantCustomAuthLabel"/>
          <p:cNvSpPr txBox="1">
            <a:spLocks noChangeArrowheads="1"/>
          </p:cNvSpPr>
          <p:nvPr/>
        </p:nvSpPr>
        <p:spPr bwMode="white">
          <a:xfrm>
            <a:off x="3575836" y="5919279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Custom authentication factor</a:t>
            </a:r>
            <a:endParaRPr lang="en-US" sz="1000" dirty="0"/>
          </a:p>
        </p:txBody>
      </p:sp>
      <p:pic>
        <p:nvPicPr>
          <p:cNvPr id="40" name="IconGrantTermsOfUse"/>
          <p:cNvPicPr>
            <a:picLocks noChangeAspect="1"/>
          </p:cNvPicPr>
          <p:nvPr/>
        </p:nvPicPr>
        <p:blipFill>
          <a:blip r:embed="rId33">
            <a:lum/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rcRect/>
          <a:stretch>
            <a:fillRect/>
          </a:stretch>
        </p:blipFill>
        <p:spPr bwMode="white">
          <a:xfrm>
            <a:off x="3374515" y="627222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3" name="IconGrantTermsOfUseLabel"/>
          <p:cNvSpPr txBox="1">
            <a:spLocks noChangeArrowheads="1"/>
          </p:cNvSpPr>
          <p:nvPr/>
        </p:nvSpPr>
        <p:spPr bwMode="white">
          <a:xfrm>
            <a:off x="3575836" y="625460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Terms of use</a:t>
            </a:r>
            <a:endParaRPr lang="en-US" sz="1000" dirty="0"/>
          </a:p>
        </p:txBody>
      </p:sp>
      <p:sp>
        <p:nvSpPr>
          <p:cNvPr id="56" name="IconGrantAppProtectionLabel"/>
          <p:cNvSpPr txBox="1">
            <a:spLocks noChangeArrowheads="1"/>
          </p:cNvSpPr>
          <p:nvPr/>
        </p:nvSpPr>
        <p:spPr bwMode="white">
          <a:xfrm>
            <a:off x="3575836" y="524862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 protection policy</a:t>
            </a:r>
            <a:endParaRPr lang="en-US" sz="1000" dirty="0"/>
          </a:p>
        </p:txBody>
      </p:sp>
      <p:pic>
        <p:nvPicPr>
          <p:cNvPr id="65" name="IconGrantAppProtection"/>
          <p:cNvPicPr>
            <a:picLocks noChangeAspect="1"/>
          </p:cNvPicPr>
          <p:nvPr/>
        </p:nvPicPr>
        <p:blipFill>
          <a:blip r:embed="rId35">
            <a:lum/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rcRect/>
          <a:stretch>
            <a:fillRect/>
          </a:stretch>
        </p:blipFill>
        <p:spPr bwMode="white">
          <a:xfrm>
            <a:off x="3374515" y="525771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7" name="IconGrantChangePasswordLabel"/>
          <p:cNvSpPr txBox="1">
            <a:spLocks noChangeArrowheads="1"/>
          </p:cNvSpPr>
          <p:nvPr/>
        </p:nvSpPr>
        <p:spPr bwMode="white">
          <a:xfrm>
            <a:off x="3575836" y="5583953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Change password</a:t>
            </a:r>
            <a:endParaRPr lang="en-US" sz="1000" dirty="0"/>
          </a:p>
        </p:txBody>
      </p:sp>
      <p:pic>
        <p:nvPicPr>
          <p:cNvPr id="67" name="IconGrantChangePassword"/>
          <p:cNvPicPr>
            <a:picLocks noChangeAspect="1"/>
          </p:cNvPicPr>
          <p:nvPr/>
        </p:nvPicPr>
        <p:blipFill>
          <a:blip r:embed="rId37">
            <a:lum/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rcRect/>
          <a:stretch>
            <a:fillRect/>
          </a:stretch>
        </p:blipFill>
        <p:spPr bwMode="white">
          <a:xfrm>
            <a:off x="3374515" y="5595889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4" name="ShadeRisk"/>
          <p:cNvSpPr>
            <a:spLocks/>
          </p:cNvSpPr>
          <p:nvPr/>
        </p:nvSpPr>
        <p:spPr bwMode="white">
          <a:xfrm>
            <a:off x="507564" y="650246"/>
            <a:ext cx="976864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2" name="ShadeFilterForDevices"/>
          <p:cNvSpPr>
            <a:spLocks/>
          </p:cNvSpPr>
          <p:nvPr/>
        </p:nvSpPr>
        <p:spPr bwMode="white">
          <a:xfrm>
            <a:off x="5438955" y="627922"/>
            <a:ext cx="1873685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3" name="ShadeGrantMultifactorAuth"/>
          <p:cNvSpPr>
            <a:spLocks/>
          </p:cNvSpPr>
          <p:nvPr/>
        </p:nvSpPr>
        <p:spPr bwMode="white">
          <a:xfrm>
            <a:off x="3369399" y="3534220"/>
            <a:ext cx="2069555" cy="28330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5" name="ShadeGrantCompliantDevice"/>
          <p:cNvSpPr>
            <a:spLocks/>
          </p:cNvSpPr>
          <p:nvPr/>
        </p:nvSpPr>
        <p:spPr bwMode="white">
          <a:xfrm>
            <a:off x="3361852" y="4243205"/>
            <a:ext cx="2077102" cy="26110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6" name="ShadeGrantHybridAzureADJoined"/>
          <p:cNvSpPr>
            <a:spLocks/>
          </p:cNvSpPr>
          <p:nvPr/>
        </p:nvSpPr>
        <p:spPr bwMode="white">
          <a:xfrm>
            <a:off x="3353637" y="4552268"/>
            <a:ext cx="2160906" cy="298395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7" name="ShadeGrantApprovedClientApp"/>
          <p:cNvSpPr>
            <a:spLocks/>
          </p:cNvSpPr>
          <p:nvPr/>
        </p:nvSpPr>
        <p:spPr bwMode="white">
          <a:xfrm>
            <a:off x="3331918" y="4876027"/>
            <a:ext cx="2182625" cy="29839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8" name="ShadeGrantAppProtectionPolicy"/>
          <p:cNvSpPr>
            <a:spLocks/>
          </p:cNvSpPr>
          <p:nvPr/>
        </p:nvSpPr>
        <p:spPr bwMode="white">
          <a:xfrm>
            <a:off x="3350256" y="5207226"/>
            <a:ext cx="2122561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9" name="ShadeGrantChangePassword"/>
          <p:cNvSpPr>
            <a:spLocks/>
          </p:cNvSpPr>
          <p:nvPr/>
        </p:nvSpPr>
        <p:spPr bwMode="white">
          <a:xfrm>
            <a:off x="3350257" y="5557021"/>
            <a:ext cx="2042006" cy="287239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0" name="ShadeGrantCustomAuthFactor"/>
          <p:cNvSpPr>
            <a:spLocks/>
          </p:cNvSpPr>
          <p:nvPr/>
        </p:nvSpPr>
        <p:spPr bwMode="white">
          <a:xfrm>
            <a:off x="3331918" y="5899058"/>
            <a:ext cx="2182625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1" name="ShadeGrantTermsOfUse"/>
          <p:cNvSpPr>
            <a:spLocks/>
          </p:cNvSpPr>
          <p:nvPr/>
        </p:nvSpPr>
        <p:spPr bwMode="white">
          <a:xfrm>
            <a:off x="3313823" y="6192350"/>
            <a:ext cx="101602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99" name="Rectangle 98"/>
          <p:cNvSpPr>
            <a:spLocks/>
          </p:cNvSpPr>
          <p:nvPr/>
        </p:nvSpPr>
        <p:spPr bwMode="white">
          <a:xfrm>
            <a:off x="3268757" y="3253404"/>
            <a:ext cx="2357725" cy="3498546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0" name="Rectangle 109"/>
          <p:cNvSpPr>
            <a:spLocks/>
          </p:cNvSpPr>
          <p:nvPr/>
        </p:nvSpPr>
        <p:spPr bwMode="white">
          <a:xfrm>
            <a:off x="9881750" y="3248255"/>
            <a:ext cx="2220808" cy="3510149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7" name="Rectangle 116"/>
          <p:cNvSpPr>
            <a:spLocks/>
          </p:cNvSpPr>
          <p:nvPr/>
        </p:nvSpPr>
        <p:spPr bwMode="white">
          <a:xfrm>
            <a:off x="26741" y="606825"/>
            <a:ext cx="11985015" cy="2063636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2" name="Conditions Label"/>
          <p:cNvSpPr txBox="1">
            <a:spLocks noChangeArrowheads="1"/>
          </p:cNvSpPr>
          <p:nvPr/>
        </p:nvSpPr>
        <p:spPr bwMode="white">
          <a:xfrm rot="16200000">
            <a:off x="-883507" y="1514324"/>
            <a:ext cx="2081441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Conditions</a:t>
            </a:r>
          </a:p>
        </p:txBody>
      </p:sp>
      <p:sp>
        <p:nvSpPr>
          <p:cNvPr id="109" name="Grant Controls"/>
          <p:cNvSpPr txBox="1">
            <a:spLocks noChangeArrowheads="1"/>
          </p:cNvSpPr>
          <p:nvPr/>
        </p:nvSpPr>
        <p:spPr bwMode="white">
          <a:xfrm>
            <a:off x="3252146" y="3244395"/>
            <a:ext cx="2391873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Grant Controls</a:t>
            </a:r>
          </a:p>
        </p:txBody>
      </p:sp>
      <p:sp>
        <p:nvSpPr>
          <p:cNvPr id="111" name="Session Controls"/>
          <p:cNvSpPr txBox="1">
            <a:spLocks noChangeArrowheads="1"/>
          </p:cNvSpPr>
          <p:nvPr/>
        </p:nvSpPr>
        <p:spPr bwMode="white">
          <a:xfrm>
            <a:off x="9864212" y="3243751"/>
            <a:ext cx="2238346" cy="23786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Session Controls</a:t>
            </a:r>
          </a:p>
        </p:txBody>
      </p:sp>
      <p:pic>
        <p:nvPicPr>
          <p:cNvPr id="72" name="Graphic 71"/>
          <p:cNvPicPr>
            <a:picLocks noChangeAspect="1"/>
          </p:cNvPicPr>
          <p:nvPr/>
        </p:nvPicPr>
        <p:blipFill>
          <a:blip r:embed="rId39">
            <a:lum/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rcRect/>
          <a:stretch>
            <a:fillRect/>
          </a:stretch>
        </p:blipFill>
        <p:spPr bwMode="white">
          <a:xfrm>
            <a:off x="9996846" y="356982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4" name="Graphic 93"/>
          <p:cNvPicPr>
            <a:picLocks noChangeAspect="1"/>
          </p:cNvPicPr>
          <p:nvPr/>
        </p:nvPicPr>
        <p:blipFill>
          <a:blip r:embed="rId41">
            <a:lum/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rcRect/>
          <a:stretch>
            <a:fillRect/>
          </a:stretch>
        </p:blipFill>
        <p:spPr bwMode="white">
          <a:xfrm>
            <a:off x="10009443" y="525644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5" name="TextBox 94"/>
          <p:cNvSpPr txBox="1">
            <a:spLocks noChangeArrowheads="1"/>
          </p:cNvSpPr>
          <p:nvPr/>
        </p:nvSpPr>
        <p:spPr bwMode="white">
          <a:xfrm>
            <a:off x="10207481" y="3578463"/>
            <a:ext cx="150554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App enforced restrictions</a:t>
            </a:r>
          </a:p>
        </p:txBody>
      </p:sp>
      <p:sp>
        <p:nvSpPr>
          <p:cNvPr id="96" name="TextBox 95"/>
          <p:cNvSpPr txBox="1">
            <a:spLocks noChangeArrowheads="1"/>
          </p:cNvSpPr>
          <p:nvPr/>
        </p:nvSpPr>
        <p:spPr bwMode="white">
          <a:xfrm>
            <a:off x="10201167" y="3899846"/>
            <a:ext cx="181011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Conditional Access App Control</a:t>
            </a:r>
          </a:p>
        </p:txBody>
      </p:sp>
      <p:sp>
        <p:nvSpPr>
          <p:cNvPr id="97" name="TextBox 96"/>
          <p:cNvSpPr txBox="1">
            <a:spLocks noChangeArrowheads="1"/>
          </p:cNvSpPr>
          <p:nvPr/>
        </p:nvSpPr>
        <p:spPr bwMode="white">
          <a:xfrm>
            <a:off x="10215627" y="4357505"/>
            <a:ext cx="1090363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Sign-in frequency</a:t>
            </a:r>
          </a:p>
        </p:txBody>
      </p:sp>
      <p:sp>
        <p:nvSpPr>
          <p:cNvPr id="98" name="TextBox 97"/>
          <p:cNvSpPr txBox="1">
            <a:spLocks noChangeArrowheads="1"/>
          </p:cNvSpPr>
          <p:nvPr/>
        </p:nvSpPr>
        <p:spPr bwMode="white">
          <a:xfrm>
            <a:off x="10225446" y="4793305"/>
            <a:ext cx="156966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Persistent browser session</a:t>
            </a:r>
          </a:p>
        </p:txBody>
      </p:sp>
      <p:sp>
        <p:nvSpPr>
          <p:cNvPr id="100" name="TextBox 99"/>
          <p:cNvSpPr txBox="1">
            <a:spLocks noChangeArrowheads="1"/>
          </p:cNvSpPr>
          <p:nvPr/>
        </p:nvSpPr>
        <p:spPr bwMode="white">
          <a:xfrm>
            <a:off x="10229552" y="5232376"/>
            <a:ext cx="1717137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Continuous access evaluation</a:t>
            </a:r>
          </a:p>
        </p:txBody>
      </p:sp>
      <p:sp>
        <p:nvSpPr>
          <p:cNvPr id="101" name="TextBox 100"/>
          <p:cNvSpPr txBox="1">
            <a:spLocks noChangeArrowheads="1"/>
          </p:cNvSpPr>
          <p:nvPr/>
        </p:nvSpPr>
        <p:spPr bwMode="white">
          <a:xfrm>
            <a:off x="10259108" y="5658625"/>
            <a:ext cx="153599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Disable resilience defaults</a:t>
            </a:r>
          </a:p>
        </p:txBody>
      </p:sp>
      <p:pic>
        <p:nvPicPr>
          <p:cNvPr id="103" name="Graphic 102"/>
          <p:cNvPicPr>
            <a:picLocks noChangeAspect="1"/>
          </p:cNvPicPr>
          <p:nvPr/>
        </p:nvPicPr>
        <p:blipFill>
          <a:blip r:embed="rId43">
            <a:lum/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rcRect/>
          <a:stretch>
            <a:fillRect/>
          </a:stretch>
        </p:blipFill>
        <p:spPr bwMode="white">
          <a:xfrm>
            <a:off x="9996846" y="479900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5" name="Graphic 104"/>
          <p:cNvPicPr>
            <a:picLocks noChangeAspect="1"/>
          </p:cNvPicPr>
          <p:nvPr/>
        </p:nvPicPr>
        <p:blipFill>
          <a:blip r:embed="rId45">
            <a:lum/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rcRect/>
          <a:stretch>
            <a:fillRect/>
          </a:stretch>
        </p:blipFill>
        <p:spPr bwMode="white">
          <a:xfrm>
            <a:off x="9996846" y="437457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7" name="Graphic 106"/>
          <p:cNvPicPr>
            <a:picLocks noChangeAspect="1"/>
          </p:cNvPicPr>
          <p:nvPr/>
        </p:nvPicPr>
        <p:blipFill>
          <a:blip r:embed="rId7">
            <a:lum/>
            <a:extLst>
              <a:ext uri="{96DAC541-7B7A-43D3-8B79-37D633B846F1}">
                <asvg:svgBlip xmlns:asvg="http://schemas.microsoft.com/office/drawing/2016/SVG/main" r:embed="rId47"/>
              </a:ext>
            </a:extLst>
          </a:blip>
          <a:srcRect/>
          <a:stretch>
            <a:fillRect/>
          </a:stretch>
        </p:blipFill>
        <p:spPr bwMode="white">
          <a:xfrm>
            <a:off x="9996846" y="391529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15" name="SessionSifInterval"/>
          <p:cNvSpPr txBox="1">
            <a:spLocks noChangeArrowheads="1"/>
          </p:cNvSpPr>
          <p:nvPr/>
        </p:nvSpPr>
        <p:spPr bwMode="white">
          <a:xfrm>
            <a:off x="10296745" y="4516775"/>
            <a:ext cx="1249060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8 hours</a:t>
            </a:r>
          </a:p>
        </p:txBody>
      </p:sp>
      <p:sp>
        <p:nvSpPr>
          <p:cNvPr id="114" name="SessionCasType"/>
          <p:cNvSpPr txBox="1">
            <a:spLocks noChangeArrowheads="1"/>
          </p:cNvSpPr>
          <p:nvPr/>
        </p:nvSpPr>
        <p:spPr bwMode="white">
          <a:xfrm>
            <a:off x="10296745" y="4075500"/>
            <a:ext cx="95410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App Control Policy</a:t>
            </a:r>
          </a:p>
        </p:txBody>
      </p:sp>
      <p:sp>
        <p:nvSpPr>
          <p:cNvPr id="116" name="SessionPersistenBrowserMode"/>
          <p:cNvSpPr txBox="1">
            <a:spLocks noChangeArrowheads="1"/>
          </p:cNvSpPr>
          <p:nvPr/>
        </p:nvSpPr>
        <p:spPr bwMode="white">
          <a:xfrm>
            <a:off x="10309761" y="4945281"/>
            <a:ext cx="918841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Always persistent</a:t>
            </a:r>
          </a:p>
        </p:txBody>
      </p:sp>
      <p:sp>
        <p:nvSpPr>
          <p:cNvPr id="118" name="SessionCaeMode"/>
          <p:cNvSpPr txBox="1">
            <a:spLocks noChangeArrowheads="1"/>
          </p:cNvSpPr>
          <p:nvPr/>
        </p:nvSpPr>
        <p:spPr bwMode="white">
          <a:xfrm>
            <a:off x="10301386" y="5393378"/>
            <a:ext cx="15359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US" sz="800" dirty="0"/>
              <a:t>Strictly enforce location policies</a:t>
            </a:r>
          </a:p>
        </p:txBody>
      </p:sp>
      <p:sp>
        <p:nvSpPr>
          <p:cNvPr id="119" name="ShadeSessionAppEnforced"/>
          <p:cNvSpPr>
            <a:spLocks/>
          </p:cNvSpPr>
          <p:nvPr/>
        </p:nvSpPr>
        <p:spPr bwMode="white">
          <a:xfrm>
            <a:off x="9959680" y="3548808"/>
            <a:ext cx="2051597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0" name="ShadeSessionCas"/>
          <p:cNvSpPr>
            <a:spLocks/>
          </p:cNvSpPr>
          <p:nvPr/>
        </p:nvSpPr>
        <p:spPr bwMode="white">
          <a:xfrm>
            <a:off x="9978939" y="3884212"/>
            <a:ext cx="2087576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2" name="ShadeSessionPersistentBrowser"/>
          <p:cNvSpPr>
            <a:spLocks/>
          </p:cNvSpPr>
          <p:nvPr/>
        </p:nvSpPr>
        <p:spPr bwMode="white">
          <a:xfrm>
            <a:off x="9938833" y="4746195"/>
            <a:ext cx="207244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pic>
        <p:nvPicPr>
          <p:cNvPr id="70" name="IconAssignedToRole"/>
          <p:cNvPicPr>
            <a:picLocks noChangeAspect="1"/>
          </p:cNvPicPr>
          <p:nvPr/>
        </p:nvPicPr>
        <p:blipFill>
          <a:blip r:embed="rId48">
            <a:lum/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rcRect/>
          <a:stretch>
            <a:fillRect/>
          </a:stretch>
        </p:blipFill>
        <p:spPr bwMode="white">
          <a:xfrm>
            <a:off x="2391841" y="3225674"/>
            <a:ext cx="365760" cy="36576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" name="Label Secure Sign In Session"/>
          <p:cNvSpPr txBox="1">
            <a:spLocks noChangeArrowheads="1"/>
          </p:cNvSpPr>
          <p:nvPr/>
        </p:nvSpPr>
        <p:spPr bwMode="white">
          <a:xfrm>
            <a:off x="10260000" y="6084874"/>
            <a:ext cx="166584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Token protection for session</a:t>
            </a:r>
          </a:p>
        </p:txBody>
      </p:sp>
      <p:pic>
        <p:nvPicPr>
          <p:cNvPr id="77" name="IconSessionCaeDisable" descr="Close with solid fill"/>
          <p:cNvPicPr>
            <a:picLocks noChangeAspect="1"/>
          </p:cNvPicPr>
          <p:nvPr/>
        </p:nvPicPr>
        <p:blipFill>
          <a:blip r:embed="rId50">
            <a:lum/>
            <a:extLst>
              <a:ext uri="{96DAC541-7B7A-43D3-8B79-37D633B846F1}">
                <asvg:svgBlip xmlns:asvg="http://schemas.microsoft.com/office/drawing/2016/SVG/main" r:embed="rId51"/>
              </a:ext>
            </a:extLst>
          </a:blip>
          <a:srcRect/>
          <a:stretch>
            <a:fillRect/>
          </a:stretch>
        </p:blipFill>
        <p:spPr bwMode="white">
          <a:xfrm>
            <a:off x="9979885" y="5218651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2" name="IconSessionSecureSignInSession 1"/>
          <p:cNvPicPr>
            <a:picLocks noChangeAspect="1"/>
          </p:cNvPicPr>
          <p:nvPr/>
        </p:nvPicPr>
        <p:blipFill>
          <a:blip r:embed="rId52">
            <a:lum/>
            <a:extLst>
              <a:ext uri="{96DAC541-7B7A-43D3-8B79-37D633B846F1}">
                <asvg:svgBlip xmlns:asvg="http://schemas.microsoft.com/office/drawing/2016/SVG/main" r:embed="rId53"/>
              </a:ext>
            </a:extLst>
          </a:blip>
          <a:srcRect/>
          <a:stretch>
            <a:fillRect/>
          </a:stretch>
        </p:blipFill>
        <p:spPr bwMode="white">
          <a:xfrm>
            <a:off x="9997200" y="6085768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3" name="ShadeSessionCae"/>
          <p:cNvSpPr>
            <a:spLocks/>
          </p:cNvSpPr>
          <p:nvPr/>
        </p:nvSpPr>
        <p:spPr bwMode="white">
          <a:xfrm>
            <a:off x="9987595" y="5219780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76" name="ShadeSessionSecureSignIn"/>
          <p:cNvSpPr>
            <a:spLocks/>
          </p:cNvSpPr>
          <p:nvPr/>
        </p:nvSpPr>
        <p:spPr bwMode="white">
          <a:xfrm>
            <a:off x="9996846" y="5986498"/>
            <a:ext cx="2014431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pic>
        <p:nvPicPr>
          <p:cNvPr id="102" name="Graphic 101"/>
          <p:cNvPicPr>
            <a:picLocks noChangeAspect="1"/>
          </p:cNvPicPr>
          <p:nvPr/>
        </p:nvPicPr>
        <p:blipFill>
          <a:blip r:embed="rId54">
            <a:lum/>
            <a:extLst>
              <a:ext uri="{96DAC541-7B7A-43D3-8B79-37D633B846F1}">
                <asvg:svgBlip xmlns:asvg="http://schemas.microsoft.com/office/drawing/2016/SVG/main" r:embed="rId55"/>
              </a:ext>
            </a:extLst>
          </a:blip>
          <a:srcRect/>
          <a:stretch>
            <a:fillRect/>
          </a:stretch>
        </p:blipFill>
        <p:spPr bwMode="white">
          <a:xfrm>
            <a:off x="9997200" y="5663777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80" name="Graphic 79" descr="Close with solid fill"/>
          <p:cNvPicPr>
            <a:picLocks noChangeAspect="1"/>
          </p:cNvPicPr>
          <p:nvPr/>
        </p:nvPicPr>
        <p:blipFill>
          <a:blip r:embed="rId50">
            <a:lum/>
            <a:extLst>
              <a:ext uri="{96DAC541-7B7A-43D3-8B79-37D633B846F1}">
                <asvg:svgBlip xmlns:asvg="http://schemas.microsoft.com/office/drawing/2016/SVG/main" r:embed="rId51"/>
              </a:ext>
            </a:extLst>
          </a:blip>
          <a:srcRect/>
          <a:stretch>
            <a:fillRect/>
          </a:stretch>
        </p:blipFill>
        <p:spPr bwMode="white">
          <a:xfrm>
            <a:off x="9963899" y="5637424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4" name="ShadeSessionDisableResilience"/>
          <p:cNvSpPr>
            <a:spLocks/>
          </p:cNvSpPr>
          <p:nvPr/>
        </p:nvSpPr>
        <p:spPr bwMode="white">
          <a:xfrm>
            <a:off x="9959681" y="5602709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2" name="PolicyName">
            <a:hlinkClick r:id="" action="ppaction://hlinkfile"/>
          </p:cNvPr>
          <p:cNvSpPr>
            <a:spLocks noGrp="1"/>
          </p:cNvSpPr>
          <p:nvPr>
            <p:ph type="title"/>
          </p:nvPr>
        </p:nvSpPr>
        <p:spPr bwMode="white">
          <a:xfrm>
            <a:off x="838200" y="115511"/>
            <a:ext cx="10003967" cy="609565"/>
          </a:xfrm>
          <a:ln>
            <a:headEnd type="none"/>
            <a:tailEnd type="none"/>
          </a:ln>
        </p:spPr>
        <p:txBody>
          <a:bodyPr wrap="square">
            <a:noAutofit/>
          </a:bodyPr>
          <a:lstStyle/>
          <a:p>
            <a:pPr defTabSz="914400"/>
            <a:r>
              <a:rPr lang="en-US" sz="2000" b="1" dirty="0"/>
              <a:t>[All Apps] [All Admins] {MFA} All Admin Accounts (SiF=8)</a:t>
            </a:r>
          </a:p>
        </p:txBody>
      </p:sp>
      <p:sp>
        <p:nvSpPr>
          <p:cNvPr id="16" name="LastModified"/>
          <p:cNvSpPr txBox="1">
            <a:spLocks noChangeArrowheads="1"/>
          </p:cNvSpPr>
          <p:nvPr/>
        </p:nvSpPr>
        <p:spPr bwMode="white">
          <a:xfrm>
            <a:off x="10556111" y="388376"/>
            <a:ext cx="15483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algn="r" defTabSz="457200"/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Last modified: 2025-05-14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UserWorkload"/>
          <p:cNvSpPr>
            <a:spLocks/>
          </p:cNvSpPr>
          <p:nvPr/>
        </p:nvSpPr>
        <p:spPr bwMode="auto">
          <a:xfrm>
            <a:off x="175820" y="2709769"/>
            <a:ext cx="2202823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Users</a:t>
            </a:r>
          </a:p>
        </p:txBody>
      </p:sp>
      <p:sp>
        <p:nvSpPr>
          <p:cNvPr id="7" name="UserWorkloadIncExc"/>
          <p:cNvSpPr txBox="1">
            <a:spLocks noChangeArrowheads="1"/>
          </p:cNvSpPr>
          <p:nvPr/>
        </p:nvSpPr>
        <p:spPr bwMode="white">
          <a:xfrm>
            <a:off x="125485" y="3698952"/>
            <a:ext cx="3062115" cy="313265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 numCol="1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b="1" dirty="0"/>
            </a:pPr>
            <a:r>
              <a:t> Users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r>
              <a:t>🚫 Exclude:</a:t>
            </a:r>
          </a:p>
          <a:p>
            <a:pPr defTabSz="457200">
              <a:defRPr sz="1100" b="1" dirty="0"/>
            </a:pPr>
            <a:r>
              <a:t> Groups</a:t>
            </a:r>
          </a:p>
          <a:p>
            <a:pPr defTabSz="457200">
              <a:defRPr sz="1100" dirty="0"/>
            </a:pPr>
            <a:r>
              <a:t> - CO_SVO365ServiceAccounts (25)</a:t>
            </a:r>
          </a:p>
          <a:p>
            <a:pPr defTabSz="457200">
              <a:defRPr sz="1100" b="1" dirty="0"/>
            </a:pPr>
            <a:r>
              <a:t> Users</a:t>
            </a:r>
          </a:p>
          <a:p>
            <a:pPr defTabSz="457200">
              <a:defRPr sz="1100" dirty="0"/>
            </a:pPr>
            <a:r>
              <a:t> - BGA OCC01</a:t>
            </a:r>
          </a:p>
          <a:p>
            <a:pPr defTabSz="457200">
              <a:defRPr sz="1100" dirty="0"/>
            </a:pPr>
            <a:r>
              <a:t> - BGA OCC02</a:t>
            </a:r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19" name="Risks"/>
          <p:cNvSpPr txBox="1">
            <a:spLocks noChangeArrowheads="1"/>
          </p:cNvSpPr>
          <p:nvPr/>
        </p:nvSpPr>
        <p:spPr bwMode="white">
          <a:xfrm>
            <a:off x="524485" y="1021946"/>
            <a:ext cx="1348869" cy="166886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0" name="Platforms"/>
          <p:cNvSpPr txBox="1">
            <a:spLocks noChangeArrowheads="1"/>
          </p:cNvSpPr>
          <p:nvPr/>
        </p:nvSpPr>
        <p:spPr bwMode="white">
          <a:xfrm>
            <a:off x="1826931" y="1021947"/>
            <a:ext cx="2061056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b="1" dirty="0"/>
            </a:pPr>
            <a:r>
              <a:t>✅ Include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r>
              <a:t>🚫 Exclude</a:t>
            </a:r>
          </a:p>
          <a:p>
            <a:pPr defTabSz="457200">
              <a:defRPr sz="1100" dirty="0"/>
            </a:pPr>
            <a:r>
              <a:t> - 📱Android</a:t>
            </a:r>
          </a:p>
          <a:p>
            <a:pPr defTabSz="457200">
              <a:defRPr sz="1100" dirty="0"/>
            </a:pPr>
            <a:r>
              <a:t> - 📱 iOS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23" name="Locations"/>
          <p:cNvSpPr txBox="1">
            <a:spLocks noChangeArrowheads="1"/>
          </p:cNvSpPr>
          <p:nvPr/>
        </p:nvSpPr>
        <p:spPr bwMode="white">
          <a:xfrm>
            <a:off x="8324941" y="1021947"/>
            <a:ext cx="3513702" cy="159258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b="1" dirty="0"/>
            </a:pPr>
            <a:r>
              <a:t>✅ Include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r>
              <a:t>🚫 Exclude</a:t>
            </a:r>
          </a:p>
          <a:p>
            <a:pPr defTabSz="457200">
              <a:defRPr sz="1100" dirty="0"/>
            </a:pPr>
            <a:r>
              <a:t> - Crowdstrike</a:t>
            </a:r>
          </a:p>
          <a:p>
            <a:pPr defTabSz="457200">
              <a:defRPr sz="1100" dirty="0"/>
            </a:pPr>
            <a:r>
              <a:t> - Netskope Egress </a:t>
            </a:r>
          </a:p>
          <a:p>
            <a:pPr defTabSz="457200">
              <a:defRPr sz="1100" dirty="0"/>
            </a:pPr>
            <a:r>
              <a:t> - OCC AVD Sign In</a:t>
            </a:r>
          </a:p>
          <a:p>
            <a:pPr defTabSz="457200">
              <a:defRPr sz="1100" dirty="0"/>
            </a:pPr>
            <a:r>
              <a:t> - OCC Proxy Egress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24" name="ClientAppTypes"/>
          <p:cNvSpPr txBox="1">
            <a:spLocks noChangeArrowheads="1"/>
          </p:cNvSpPr>
          <p:nvPr/>
        </p:nvSpPr>
        <p:spPr bwMode="white">
          <a:xfrm>
            <a:off x="3810664" y="1021947"/>
            <a:ext cx="1581599" cy="165343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5" name="DeviceFilters"/>
          <p:cNvSpPr txBox="1">
            <a:spLocks noChangeArrowheads="1"/>
          </p:cNvSpPr>
          <p:nvPr/>
        </p:nvSpPr>
        <p:spPr bwMode="white">
          <a:xfrm>
            <a:off x="5818151" y="1022762"/>
            <a:ext cx="2248808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cxnSp>
        <p:nvCxnSpPr>
          <p:cNvPr id="27" name="Straight Arrow Connector 26" descr="Arrow drawn from user/workload  to the action being performed by the user such as accessing cloud apps."/>
          <p:cNvCxnSpPr/>
          <p:nvPr/>
        </p:nvCxnSpPr>
        <p:spPr bwMode="white">
          <a:xfrm>
            <a:off x="2195232" y="3159047"/>
            <a:ext cx="3959471" cy="1"/>
          </a:xfrm>
          <a:prstGeom prst="straightConnector1">
            <a:avLst/>
          </a:prstGeom>
          <a:ln w="76200"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30" name="IconBlockAccess" descr="Picture with red color stop sign to indicate blocked access"/>
          <p:cNvPicPr>
            <a:picLocks noChangeAspect="1"/>
          </p:cNvPicPr>
          <p:nvPr/>
        </p:nvPicPr>
        <p:blipFill>
          <a:blip r:embed="rId3">
            <a:lum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 bwMode="white">
          <a:xfrm>
            <a:off x="5306633" y="2735805"/>
            <a:ext cx="356616" cy="35661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34" name="GrantLabelBlockAccess"/>
          <p:cNvSpPr txBox="1">
            <a:spLocks noChangeArrowheads="1"/>
          </p:cNvSpPr>
          <p:nvPr/>
        </p:nvSpPr>
        <p:spPr bwMode="white">
          <a:xfrm>
            <a:off x="3936931" y="2734375"/>
            <a:ext cx="1358065" cy="369332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algn="ctr" defTabSz="457200"/>
            <a:r>
              <a:rPr lang="en-US" b="1" dirty="0">
                <a:solidFill>
                  <a:srgbClr val="FF0000"/>
                </a:solidFill>
              </a:rPr>
              <a:t>Block access</a:t>
            </a:r>
          </a:p>
        </p:txBody>
      </p:sp>
      <p:sp>
        <p:nvSpPr>
          <p:cNvPr id="3" name="CloudAppActionIncExc"/>
          <p:cNvSpPr txBox="1">
            <a:spLocks noChangeArrowheads="1"/>
          </p:cNvSpPr>
          <p:nvPr/>
        </p:nvSpPr>
        <p:spPr bwMode="white">
          <a:xfrm>
            <a:off x="6039518" y="3662782"/>
            <a:ext cx="3649518" cy="315161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r>
              <a:t>🚫 Exclude:</a:t>
            </a:r>
          </a:p>
          <a:p>
            <a:pPr defTabSz="457200">
              <a:defRPr sz="1100" dirty="0"/>
            </a:pPr>
            <a:r>
              <a:t> - Windows 365</a:t>
            </a:r>
          </a:p>
          <a:p>
            <a:pPr defTabSz="457200">
              <a:defRPr sz="1100" dirty="0"/>
            </a:pPr>
            <a:r>
              <a:t> - Device Registration Service</a:t>
            </a:r>
          </a:p>
          <a:p>
            <a:pPr defTabSz="457200">
              <a:defRPr sz="1100" dirty="0"/>
            </a:pPr>
            <a:r>
              <a:t> - Microsoft Intune</a:t>
            </a:r>
          </a:p>
          <a:p>
            <a:pPr defTabSz="457200">
              <a:defRPr sz="1100" dirty="0"/>
            </a:pPr>
            <a:r>
              <a:t> - Microsoft Intune Enrollment</a:t>
            </a:r>
          </a:p>
          <a:p>
            <a:pPr defTabSz="457200">
              <a:defRPr sz="1100" dirty="0"/>
            </a:pPr>
            <a:r>
              <a:t> - Citrix Gateway</a:t>
            </a:r>
          </a:p>
          <a:p>
            <a:pPr defTabSz="457200">
              <a:defRPr sz="1100" dirty="0"/>
            </a:pPr>
            <a:r>
              <a:t> - Microsoft Remote Desktop</a:t>
            </a:r>
          </a:p>
          <a:p>
            <a:pPr defTabSz="457200">
              <a:defRPr sz="1100" dirty="0"/>
            </a:pPr>
            <a:r>
              <a:t> - Windows Cloud Login</a:t>
            </a:r>
          </a:p>
          <a:p>
            <a:pPr defTabSz="457200">
              <a:defRPr sz="1100" dirty="0"/>
            </a:pPr>
            <a:r>
              <a:t> - Azure Virtual Desktop</a:t>
            </a:r>
          </a:p>
          <a:p>
            <a:pPr defTabSz="457200">
              <a:defRPr sz="1100" dirty="0"/>
            </a:pPr>
            <a:r>
              <a:t> - Office365</a:t>
            </a:r>
          </a:p>
          <a:p>
            <a:pPr defTabSz="457200">
              <a:defRPr sz="1100" b="1" dirty="0"/>
            </a:pPr>
            <a:endParaRPr/>
          </a:p>
        </p:txBody>
      </p:sp>
      <p:pic>
        <p:nvPicPr>
          <p:cNvPr id="26" name="IconGroupIdentity"/>
          <p:cNvPicPr>
            <a:picLocks noChangeAspect="1"/>
          </p:cNvPicPr>
          <p:nvPr/>
        </p:nvPicPr>
        <p:blipFill>
          <a:blip r:embed="rId5">
            <a:lum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 bwMode="white">
          <a:xfrm>
            <a:off x="327701" y="2839007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36" name="Graphic 35"/>
          <p:cNvPicPr>
            <a:picLocks noChangeAspect="1"/>
          </p:cNvPicPr>
          <p:nvPr/>
        </p:nvPicPr>
        <p:blipFill>
          <a:blip r:embed="rId7">
            <a:lum/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p:blipFill>
        <p:spPr bwMode="white">
          <a:xfrm>
            <a:off x="495610" y="197468"/>
            <a:ext cx="381196" cy="38119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" name="CloudAppAction"/>
          <p:cNvSpPr>
            <a:spLocks/>
          </p:cNvSpPr>
          <p:nvPr/>
        </p:nvSpPr>
        <p:spPr bwMode="auto">
          <a:xfrm>
            <a:off x="6206089" y="2718506"/>
            <a:ext cx="3227026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All cloud apps</a:t>
            </a:r>
          </a:p>
        </p:txBody>
      </p:sp>
      <p:pic>
        <p:nvPicPr>
          <p:cNvPr id="75" name="IconAccessAllCloudApps"/>
          <p:cNvPicPr>
            <a:picLocks noChangeAspect="1"/>
          </p:cNvPicPr>
          <p:nvPr/>
        </p:nvPicPr>
        <p:blipFill>
          <a:blip r:embed="rId9">
            <a:lum/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p:blipFill>
        <p:spPr bwMode="white">
          <a:xfrm>
            <a:off x="6439264" y="2836824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21" name="StateEnabled"/>
          <p:cNvSpPr>
            <a:spLocks/>
          </p:cNvSpPr>
          <p:nvPr/>
        </p:nvSpPr>
        <p:spPr bwMode="white">
          <a:xfrm>
            <a:off x="10842171" y="83487"/>
            <a:ext cx="1260389" cy="264812"/>
          </a:xfrm>
          <a:prstGeom prst="round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r>
              <a:rPr lang="en-US" sz="800" dirty="0"/>
              <a:t>Policy Enabled</a:t>
            </a:r>
          </a:p>
        </p:txBody>
      </p:sp>
      <p:grpSp>
        <p:nvGrpSpPr>
          <p:cNvPr id="10" name="IconRiskyUsers"/>
          <p:cNvGrpSpPr>
            <a:grpSpLocks/>
          </p:cNvGrpSpPr>
          <p:nvPr/>
        </p:nvGrpSpPr>
        <p:grpSpPr bwMode="white">
          <a:xfrm>
            <a:off x="635426" y="738677"/>
            <a:ext cx="1202553" cy="274320"/>
            <a:chOff x="2013768" y="1033956"/>
            <a:chExt cx="1342320" cy="274320"/>
          </a:xfrm>
        </p:grpSpPr>
        <p:pic>
          <p:nvPicPr>
            <p:cNvPr id="46" name="Graphic 1"/>
            <p:cNvPicPr>
              <a:picLocks noChangeAspect="1"/>
            </p:cNvPicPr>
            <p:nvPr/>
          </p:nvPicPr>
          <p:blipFill>
            <a:blip r:embed="rId11">
              <a:lum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013768" y="1033956"/>
              <a:ext cx="274320" cy="27432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5" name="Label 1"/>
            <p:cNvSpPr txBox="1">
              <a:spLocks noChangeArrowheads="1"/>
            </p:cNvSpPr>
            <p:nvPr/>
          </p:nvSpPr>
          <p:spPr bwMode="white">
            <a:xfrm>
              <a:off x="2240077" y="1040706"/>
              <a:ext cx="1116011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Risk</a:t>
              </a:r>
            </a:p>
          </p:txBody>
        </p:sp>
      </p:grpSp>
      <p:grpSp>
        <p:nvGrpSpPr>
          <p:cNvPr id="14" name="IconPlatforms"/>
          <p:cNvGrpSpPr>
            <a:grpSpLocks/>
          </p:cNvGrpSpPr>
          <p:nvPr/>
        </p:nvGrpSpPr>
        <p:grpSpPr bwMode="white">
          <a:xfrm>
            <a:off x="1927788" y="715249"/>
            <a:ext cx="1719285" cy="365760"/>
            <a:chOff x="3262737" y="994835"/>
            <a:chExt cx="1719285" cy="365760"/>
          </a:xfrm>
        </p:grpSpPr>
        <p:pic>
          <p:nvPicPr>
            <p:cNvPr id="29" name="Graphic 1"/>
            <p:cNvPicPr>
              <a:picLocks noChangeAspect="1"/>
            </p:cNvPicPr>
            <p:nvPr/>
          </p:nvPicPr>
          <p:blipFill>
            <a:blip r:embed="rId13">
              <a:lum/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3262737" y="994835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1" name="Label 1"/>
            <p:cNvSpPr txBox="1">
              <a:spLocks noChangeArrowheads="1"/>
            </p:cNvSpPr>
            <p:nvPr/>
          </p:nvSpPr>
          <p:spPr bwMode="white">
            <a:xfrm>
              <a:off x="3582397" y="1027255"/>
              <a:ext cx="1399625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Device platforms</a:t>
              </a:r>
            </a:p>
          </p:txBody>
        </p:sp>
      </p:grpSp>
      <p:grpSp>
        <p:nvGrpSpPr>
          <p:cNvPr id="17" name="IconClientAppTypes"/>
          <p:cNvGrpSpPr>
            <a:grpSpLocks/>
          </p:cNvGrpSpPr>
          <p:nvPr/>
        </p:nvGrpSpPr>
        <p:grpSpPr bwMode="white">
          <a:xfrm>
            <a:off x="3908159" y="670015"/>
            <a:ext cx="1852971" cy="365760"/>
            <a:chOff x="4858970" y="975927"/>
            <a:chExt cx="1852971" cy="365760"/>
          </a:xfrm>
        </p:grpSpPr>
        <p:pic>
          <p:nvPicPr>
            <p:cNvPr id="58" name="Graphic 1"/>
            <p:cNvPicPr>
              <a:picLocks noChangeAspect="1"/>
            </p:cNvPicPr>
            <p:nvPr/>
          </p:nvPicPr>
          <p:blipFill>
            <a:blip r:embed="rId15">
              <a:lum/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858970" y="975927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5" name="Label 1"/>
            <p:cNvSpPr txBox="1">
              <a:spLocks noChangeArrowheads="1"/>
            </p:cNvSpPr>
            <p:nvPr/>
          </p:nvSpPr>
          <p:spPr bwMode="white">
            <a:xfrm>
              <a:off x="5193983" y="1009899"/>
              <a:ext cx="1517958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Client apps</a:t>
              </a:r>
            </a:p>
          </p:txBody>
        </p:sp>
      </p:grpSp>
      <p:grpSp>
        <p:nvGrpSpPr>
          <p:cNvPr id="37" name="IconLocations"/>
          <p:cNvGrpSpPr>
            <a:grpSpLocks/>
          </p:cNvGrpSpPr>
          <p:nvPr/>
        </p:nvGrpSpPr>
        <p:grpSpPr bwMode="white">
          <a:xfrm>
            <a:off x="8411896" y="646848"/>
            <a:ext cx="1850168" cy="388465"/>
            <a:chOff x="2321433" y="3262888"/>
            <a:chExt cx="1850168" cy="388465"/>
          </a:xfrm>
        </p:grpSpPr>
        <p:pic>
          <p:nvPicPr>
            <p:cNvPr id="33" name="Graphic 1"/>
            <p:cNvPicPr>
              <a:picLocks noChangeAspect="1"/>
            </p:cNvPicPr>
            <p:nvPr/>
          </p:nvPicPr>
          <p:blipFill>
            <a:blip r:embed="rId17">
              <a:lum/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321433" y="3262888"/>
              <a:ext cx="388465" cy="388465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28" name="Label 1"/>
            <p:cNvSpPr txBox="1">
              <a:spLocks noChangeArrowheads="1"/>
            </p:cNvSpPr>
            <p:nvPr/>
          </p:nvSpPr>
          <p:spPr bwMode="white">
            <a:xfrm>
              <a:off x="2713321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Locations</a:t>
              </a:r>
              <a:endParaRPr lang="en-US" sz="1100" b="1" dirty="0"/>
            </a:p>
          </p:txBody>
        </p:sp>
      </p:grpSp>
      <p:grpSp>
        <p:nvGrpSpPr>
          <p:cNvPr id="39" name="IconDeviceFilters"/>
          <p:cNvGrpSpPr>
            <a:grpSpLocks/>
          </p:cNvGrpSpPr>
          <p:nvPr/>
        </p:nvGrpSpPr>
        <p:grpSpPr bwMode="white">
          <a:xfrm>
            <a:off x="5472818" y="661958"/>
            <a:ext cx="1839823" cy="364111"/>
            <a:chOff x="4195414" y="3273669"/>
            <a:chExt cx="1839823" cy="364111"/>
          </a:xfrm>
        </p:grpSpPr>
        <p:pic>
          <p:nvPicPr>
            <p:cNvPr id="60" name="Graphic 1"/>
            <p:cNvPicPr>
              <a:picLocks noChangeAspect="1"/>
            </p:cNvPicPr>
            <p:nvPr/>
          </p:nvPicPr>
          <p:blipFill>
            <a:blip r:embed="rId19">
              <a:lum/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195414" y="3273669"/>
              <a:ext cx="364111" cy="364111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31" name="Label 1"/>
            <p:cNvSpPr txBox="1">
              <a:spLocks noChangeArrowheads="1"/>
            </p:cNvSpPr>
            <p:nvPr/>
          </p:nvSpPr>
          <p:spPr bwMode="white">
            <a:xfrm>
              <a:off x="4576957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Filter for devices</a:t>
              </a:r>
              <a:endParaRPr lang="en-US" sz="1100" b="1" dirty="0"/>
            </a:p>
          </p:txBody>
        </p:sp>
      </p:grpSp>
      <p:pic>
        <p:nvPicPr>
          <p:cNvPr id="62" name="IconGrantMultifactorAuthentication"/>
          <p:cNvPicPr>
            <a:picLocks noChangeAspect="1"/>
          </p:cNvPicPr>
          <p:nvPr/>
        </p:nvPicPr>
        <p:blipFill>
          <a:blip r:embed="rId21">
            <a:lum/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>
            <a:fillRect/>
          </a:stretch>
        </p:blipFill>
        <p:spPr bwMode="white">
          <a:xfrm>
            <a:off x="3410647" y="3566863"/>
            <a:ext cx="17145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5" name="IconGrantMultifactorAuthenticationLabel"/>
          <p:cNvSpPr txBox="1">
            <a:spLocks noChangeArrowheads="1"/>
          </p:cNvSpPr>
          <p:nvPr/>
        </p:nvSpPr>
        <p:spPr bwMode="white">
          <a:xfrm>
            <a:off x="3575836" y="3571997"/>
            <a:ext cx="19007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Multifactor authentication</a:t>
            </a:r>
            <a:endParaRPr lang="en-US" sz="1000" dirty="0"/>
          </a:p>
        </p:txBody>
      </p:sp>
      <p:pic>
        <p:nvPicPr>
          <p:cNvPr id="38" name="IconGrantAuthenticationStrength"/>
          <p:cNvPicPr>
            <a:picLocks noChangeAspect="1"/>
          </p:cNvPicPr>
          <p:nvPr/>
        </p:nvPicPr>
        <p:blipFill>
          <a:blip r:embed="rId23">
            <a:lum/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/>
          <a:stretch>
            <a:fillRect/>
          </a:stretch>
        </p:blipFill>
        <p:spPr bwMode="white">
          <a:xfrm>
            <a:off x="3374515" y="3905034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7" name="IconGrantAuthenticationStrengthLabel"/>
          <p:cNvSpPr txBox="1">
            <a:spLocks noChangeArrowheads="1"/>
          </p:cNvSpPr>
          <p:nvPr/>
        </p:nvSpPr>
        <p:spPr bwMode="white">
          <a:xfrm>
            <a:off x="3575836" y="3907323"/>
            <a:ext cx="2185294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Authentication strength</a:t>
            </a:r>
            <a:endParaRPr lang="en-US" sz="1000" dirty="0"/>
          </a:p>
        </p:txBody>
      </p:sp>
      <p:pic>
        <p:nvPicPr>
          <p:cNvPr id="52" name="IconGrantDeviceCompliance"/>
          <p:cNvPicPr>
            <a:picLocks noChangeAspect="1"/>
          </p:cNvPicPr>
          <p:nvPr/>
        </p:nvPicPr>
        <p:blipFill>
          <a:blip r:embed="rId25">
            <a:lum/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/>
          <a:stretch>
            <a:fillRect/>
          </a:stretch>
        </p:blipFill>
        <p:spPr bwMode="white">
          <a:xfrm>
            <a:off x="3374515" y="4243205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9" name="IconGrantDeviceComplianceLabel"/>
          <p:cNvSpPr txBox="1">
            <a:spLocks noChangeArrowheads="1"/>
          </p:cNvSpPr>
          <p:nvPr/>
        </p:nvSpPr>
        <p:spPr bwMode="white">
          <a:xfrm>
            <a:off x="3575836" y="4242649"/>
            <a:ext cx="17378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Compliant device</a:t>
            </a:r>
            <a:endParaRPr lang="en-US" sz="1000" dirty="0"/>
          </a:p>
        </p:txBody>
      </p:sp>
      <p:pic>
        <p:nvPicPr>
          <p:cNvPr id="43" name="IconGrantHybridJoined"/>
          <p:cNvPicPr>
            <a:picLocks noChangeAspect="1"/>
          </p:cNvPicPr>
          <p:nvPr/>
        </p:nvPicPr>
        <p:blipFill>
          <a:blip r:embed="rId27">
            <a:lum/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/>
          <a:stretch>
            <a:fillRect/>
          </a:stretch>
        </p:blipFill>
        <p:spPr bwMode="white">
          <a:xfrm>
            <a:off x="3374515" y="4581376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3" name="IconGrantHybridJoinedLabel"/>
          <p:cNvSpPr txBox="1">
            <a:spLocks noChangeArrowheads="1"/>
          </p:cNvSpPr>
          <p:nvPr/>
        </p:nvSpPr>
        <p:spPr bwMode="white">
          <a:xfrm>
            <a:off x="3575836" y="4577975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Hybrid Azure AD joined device</a:t>
            </a:r>
            <a:endParaRPr lang="en-US" sz="1000" dirty="0"/>
          </a:p>
        </p:txBody>
      </p:sp>
      <p:pic>
        <p:nvPicPr>
          <p:cNvPr id="48" name="IconGrantApprovedClientApp"/>
          <p:cNvPicPr>
            <a:picLocks noChangeAspect="1"/>
          </p:cNvPicPr>
          <p:nvPr/>
        </p:nvPicPr>
        <p:blipFill>
          <a:blip r:embed="rId29">
            <a:lum/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rcRect/>
          <a:stretch>
            <a:fillRect/>
          </a:stretch>
        </p:blipFill>
        <p:spPr bwMode="white">
          <a:xfrm>
            <a:off x="3374515" y="491954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5" name="IconGrantApprovedClientAppLabel"/>
          <p:cNvSpPr txBox="1">
            <a:spLocks noChangeArrowheads="1"/>
          </p:cNvSpPr>
          <p:nvPr/>
        </p:nvSpPr>
        <p:spPr bwMode="white">
          <a:xfrm>
            <a:off x="3575836" y="4913301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Approved client app</a:t>
            </a:r>
            <a:endParaRPr lang="en-US" sz="1000" dirty="0"/>
          </a:p>
        </p:txBody>
      </p:sp>
      <p:pic>
        <p:nvPicPr>
          <p:cNvPr id="42" name="IconGrantCustomAuth"/>
          <p:cNvPicPr>
            <a:picLocks noChangeAspect="1"/>
          </p:cNvPicPr>
          <p:nvPr/>
        </p:nvPicPr>
        <p:blipFill>
          <a:blip r:embed="rId31">
            <a:lum/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rcRect/>
          <a:stretch>
            <a:fillRect/>
          </a:stretch>
        </p:blipFill>
        <p:spPr bwMode="white">
          <a:xfrm>
            <a:off x="3374515" y="593406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9" name="IconGrantCustomAuthLabel"/>
          <p:cNvSpPr txBox="1">
            <a:spLocks noChangeArrowheads="1"/>
          </p:cNvSpPr>
          <p:nvPr/>
        </p:nvSpPr>
        <p:spPr bwMode="white">
          <a:xfrm>
            <a:off x="3575836" y="5919279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Custom authentication factor</a:t>
            </a:r>
            <a:endParaRPr lang="en-US" sz="1000" dirty="0"/>
          </a:p>
        </p:txBody>
      </p:sp>
      <p:pic>
        <p:nvPicPr>
          <p:cNvPr id="40" name="IconGrantTermsOfUse"/>
          <p:cNvPicPr>
            <a:picLocks noChangeAspect="1"/>
          </p:cNvPicPr>
          <p:nvPr/>
        </p:nvPicPr>
        <p:blipFill>
          <a:blip r:embed="rId33">
            <a:lum/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rcRect/>
          <a:stretch>
            <a:fillRect/>
          </a:stretch>
        </p:blipFill>
        <p:spPr bwMode="white">
          <a:xfrm>
            <a:off x="3374515" y="627222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3" name="IconGrantTermsOfUseLabel"/>
          <p:cNvSpPr txBox="1">
            <a:spLocks noChangeArrowheads="1"/>
          </p:cNvSpPr>
          <p:nvPr/>
        </p:nvSpPr>
        <p:spPr bwMode="white">
          <a:xfrm>
            <a:off x="3575836" y="625460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Terms of use</a:t>
            </a:r>
            <a:endParaRPr lang="en-US" sz="1000" dirty="0"/>
          </a:p>
        </p:txBody>
      </p:sp>
      <p:sp>
        <p:nvSpPr>
          <p:cNvPr id="56" name="IconGrantAppProtectionLabel"/>
          <p:cNvSpPr txBox="1">
            <a:spLocks noChangeArrowheads="1"/>
          </p:cNvSpPr>
          <p:nvPr/>
        </p:nvSpPr>
        <p:spPr bwMode="white">
          <a:xfrm>
            <a:off x="3575836" y="524862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 protection policy</a:t>
            </a:r>
            <a:endParaRPr lang="en-US" sz="1000" dirty="0"/>
          </a:p>
        </p:txBody>
      </p:sp>
      <p:pic>
        <p:nvPicPr>
          <p:cNvPr id="65" name="IconGrantAppProtection"/>
          <p:cNvPicPr>
            <a:picLocks noChangeAspect="1"/>
          </p:cNvPicPr>
          <p:nvPr/>
        </p:nvPicPr>
        <p:blipFill>
          <a:blip r:embed="rId35">
            <a:lum/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rcRect/>
          <a:stretch>
            <a:fillRect/>
          </a:stretch>
        </p:blipFill>
        <p:spPr bwMode="white">
          <a:xfrm>
            <a:off x="3374515" y="525771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7" name="IconGrantChangePasswordLabel"/>
          <p:cNvSpPr txBox="1">
            <a:spLocks noChangeArrowheads="1"/>
          </p:cNvSpPr>
          <p:nvPr/>
        </p:nvSpPr>
        <p:spPr bwMode="white">
          <a:xfrm>
            <a:off x="3575836" y="5583953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Change password</a:t>
            </a:r>
            <a:endParaRPr lang="en-US" sz="1000" dirty="0"/>
          </a:p>
        </p:txBody>
      </p:sp>
      <p:pic>
        <p:nvPicPr>
          <p:cNvPr id="67" name="IconGrantChangePassword"/>
          <p:cNvPicPr>
            <a:picLocks noChangeAspect="1"/>
          </p:cNvPicPr>
          <p:nvPr/>
        </p:nvPicPr>
        <p:blipFill>
          <a:blip r:embed="rId37">
            <a:lum/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rcRect/>
          <a:stretch>
            <a:fillRect/>
          </a:stretch>
        </p:blipFill>
        <p:spPr bwMode="white">
          <a:xfrm>
            <a:off x="3374515" y="5595889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4" name="ShadeRisk"/>
          <p:cNvSpPr>
            <a:spLocks/>
          </p:cNvSpPr>
          <p:nvPr/>
        </p:nvSpPr>
        <p:spPr bwMode="white">
          <a:xfrm>
            <a:off x="507564" y="650246"/>
            <a:ext cx="976864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78" name="ShadeClientApps"/>
          <p:cNvSpPr>
            <a:spLocks/>
          </p:cNvSpPr>
          <p:nvPr/>
        </p:nvSpPr>
        <p:spPr bwMode="white">
          <a:xfrm>
            <a:off x="3802273" y="650246"/>
            <a:ext cx="1481482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2" name="ShadeFilterForDevices"/>
          <p:cNvSpPr>
            <a:spLocks/>
          </p:cNvSpPr>
          <p:nvPr/>
        </p:nvSpPr>
        <p:spPr bwMode="white">
          <a:xfrm>
            <a:off x="5438955" y="627922"/>
            <a:ext cx="1873685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3" name="ShadeGrantMultifactorAuth"/>
          <p:cNvSpPr>
            <a:spLocks/>
          </p:cNvSpPr>
          <p:nvPr/>
        </p:nvSpPr>
        <p:spPr bwMode="white">
          <a:xfrm>
            <a:off x="3369399" y="3534220"/>
            <a:ext cx="2069555" cy="28330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4" name="ShadeGrantAuthStrength"/>
          <p:cNvSpPr>
            <a:spLocks/>
          </p:cNvSpPr>
          <p:nvPr/>
        </p:nvSpPr>
        <p:spPr bwMode="white">
          <a:xfrm>
            <a:off x="3350256" y="3869846"/>
            <a:ext cx="2069555" cy="27801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5" name="ShadeGrantCompliantDevice"/>
          <p:cNvSpPr>
            <a:spLocks/>
          </p:cNvSpPr>
          <p:nvPr/>
        </p:nvSpPr>
        <p:spPr bwMode="white">
          <a:xfrm>
            <a:off x="3361852" y="4243205"/>
            <a:ext cx="2077102" cy="26110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6" name="ShadeGrantHybridAzureADJoined"/>
          <p:cNvSpPr>
            <a:spLocks/>
          </p:cNvSpPr>
          <p:nvPr/>
        </p:nvSpPr>
        <p:spPr bwMode="white">
          <a:xfrm>
            <a:off x="3353637" y="4552268"/>
            <a:ext cx="2160906" cy="298395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7" name="ShadeGrantApprovedClientApp"/>
          <p:cNvSpPr>
            <a:spLocks/>
          </p:cNvSpPr>
          <p:nvPr/>
        </p:nvSpPr>
        <p:spPr bwMode="white">
          <a:xfrm>
            <a:off x="3331918" y="4876027"/>
            <a:ext cx="2182625" cy="29839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8" name="ShadeGrantAppProtectionPolicy"/>
          <p:cNvSpPr>
            <a:spLocks/>
          </p:cNvSpPr>
          <p:nvPr/>
        </p:nvSpPr>
        <p:spPr bwMode="white">
          <a:xfrm>
            <a:off x="3350256" y="5207226"/>
            <a:ext cx="2122561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9" name="ShadeGrantChangePassword"/>
          <p:cNvSpPr>
            <a:spLocks/>
          </p:cNvSpPr>
          <p:nvPr/>
        </p:nvSpPr>
        <p:spPr bwMode="white">
          <a:xfrm>
            <a:off x="3350257" y="5557021"/>
            <a:ext cx="2042006" cy="287239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0" name="ShadeGrantCustomAuthFactor"/>
          <p:cNvSpPr>
            <a:spLocks/>
          </p:cNvSpPr>
          <p:nvPr/>
        </p:nvSpPr>
        <p:spPr bwMode="white">
          <a:xfrm>
            <a:off x="3331918" y="5899058"/>
            <a:ext cx="2182625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1" name="ShadeGrantTermsOfUse"/>
          <p:cNvSpPr>
            <a:spLocks/>
          </p:cNvSpPr>
          <p:nvPr/>
        </p:nvSpPr>
        <p:spPr bwMode="white">
          <a:xfrm>
            <a:off x="3313823" y="6192350"/>
            <a:ext cx="101602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99" name="Rectangle 98"/>
          <p:cNvSpPr>
            <a:spLocks/>
          </p:cNvSpPr>
          <p:nvPr/>
        </p:nvSpPr>
        <p:spPr bwMode="white">
          <a:xfrm>
            <a:off x="3268757" y="3253404"/>
            <a:ext cx="2357725" cy="3498546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0" name="Rectangle 109"/>
          <p:cNvSpPr>
            <a:spLocks/>
          </p:cNvSpPr>
          <p:nvPr/>
        </p:nvSpPr>
        <p:spPr bwMode="white">
          <a:xfrm>
            <a:off x="9881750" y="3248255"/>
            <a:ext cx="2220808" cy="3510149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7" name="Rectangle 116"/>
          <p:cNvSpPr>
            <a:spLocks/>
          </p:cNvSpPr>
          <p:nvPr/>
        </p:nvSpPr>
        <p:spPr bwMode="white">
          <a:xfrm>
            <a:off x="26741" y="606825"/>
            <a:ext cx="11985015" cy="2063636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2" name="Conditions Label"/>
          <p:cNvSpPr txBox="1">
            <a:spLocks noChangeArrowheads="1"/>
          </p:cNvSpPr>
          <p:nvPr/>
        </p:nvSpPr>
        <p:spPr bwMode="white">
          <a:xfrm rot="16200000">
            <a:off x="-883507" y="1514324"/>
            <a:ext cx="2081441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Conditions</a:t>
            </a:r>
          </a:p>
        </p:txBody>
      </p:sp>
      <p:sp>
        <p:nvSpPr>
          <p:cNvPr id="109" name="Grant Controls"/>
          <p:cNvSpPr txBox="1">
            <a:spLocks noChangeArrowheads="1"/>
          </p:cNvSpPr>
          <p:nvPr/>
        </p:nvSpPr>
        <p:spPr bwMode="white">
          <a:xfrm>
            <a:off x="3252146" y="3244395"/>
            <a:ext cx="2391873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Grant Controls</a:t>
            </a:r>
          </a:p>
        </p:txBody>
      </p:sp>
      <p:sp>
        <p:nvSpPr>
          <p:cNvPr id="111" name="Session Controls"/>
          <p:cNvSpPr txBox="1">
            <a:spLocks noChangeArrowheads="1"/>
          </p:cNvSpPr>
          <p:nvPr/>
        </p:nvSpPr>
        <p:spPr bwMode="white">
          <a:xfrm>
            <a:off x="9864212" y="3243751"/>
            <a:ext cx="2238346" cy="23786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Session Controls</a:t>
            </a:r>
          </a:p>
        </p:txBody>
      </p:sp>
      <p:pic>
        <p:nvPicPr>
          <p:cNvPr id="72" name="Graphic 71"/>
          <p:cNvPicPr>
            <a:picLocks noChangeAspect="1"/>
          </p:cNvPicPr>
          <p:nvPr/>
        </p:nvPicPr>
        <p:blipFill>
          <a:blip r:embed="rId39">
            <a:lum/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rcRect/>
          <a:stretch>
            <a:fillRect/>
          </a:stretch>
        </p:blipFill>
        <p:spPr bwMode="white">
          <a:xfrm>
            <a:off x="9996846" y="356982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4" name="Graphic 93"/>
          <p:cNvPicPr>
            <a:picLocks noChangeAspect="1"/>
          </p:cNvPicPr>
          <p:nvPr/>
        </p:nvPicPr>
        <p:blipFill>
          <a:blip r:embed="rId41">
            <a:lum/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rcRect/>
          <a:stretch>
            <a:fillRect/>
          </a:stretch>
        </p:blipFill>
        <p:spPr bwMode="white">
          <a:xfrm>
            <a:off x="10009443" y="525644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5" name="TextBox 94"/>
          <p:cNvSpPr txBox="1">
            <a:spLocks noChangeArrowheads="1"/>
          </p:cNvSpPr>
          <p:nvPr/>
        </p:nvSpPr>
        <p:spPr bwMode="white">
          <a:xfrm>
            <a:off x="10207481" y="3578463"/>
            <a:ext cx="150554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App enforced restrictions</a:t>
            </a:r>
          </a:p>
        </p:txBody>
      </p:sp>
      <p:sp>
        <p:nvSpPr>
          <p:cNvPr id="96" name="TextBox 95"/>
          <p:cNvSpPr txBox="1">
            <a:spLocks noChangeArrowheads="1"/>
          </p:cNvSpPr>
          <p:nvPr/>
        </p:nvSpPr>
        <p:spPr bwMode="white">
          <a:xfrm>
            <a:off x="10201167" y="3899846"/>
            <a:ext cx="181011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Conditional Access App Control</a:t>
            </a:r>
          </a:p>
        </p:txBody>
      </p:sp>
      <p:sp>
        <p:nvSpPr>
          <p:cNvPr id="97" name="TextBox 96"/>
          <p:cNvSpPr txBox="1">
            <a:spLocks noChangeArrowheads="1"/>
          </p:cNvSpPr>
          <p:nvPr/>
        </p:nvSpPr>
        <p:spPr bwMode="white">
          <a:xfrm>
            <a:off x="10215627" y="4357505"/>
            <a:ext cx="1090363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Sign-in frequency</a:t>
            </a:r>
          </a:p>
        </p:txBody>
      </p:sp>
      <p:sp>
        <p:nvSpPr>
          <p:cNvPr id="98" name="TextBox 97"/>
          <p:cNvSpPr txBox="1">
            <a:spLocks noChangeArrowheads="1"/>
          </p:cNvSpPr>
          <p:nvPr/>
        </p:nvSpPr>
        <p:spPr bwMode="white">
          <a:xfrm>
            <a:off x="10225446" y="4793305"/>
            <a:ext cx="156966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Persistent browser session</a:t>
            </a:r>
          </a:p>
        </p:txBody>
      </p:sp>
      <p:sp>
        <p:nvSpPr>
          <p:cNvPr id="100" name="TextBox 99"/>
          <p:cNvSpPr txBox="1">
            <a:spLocks noChangeArrowheads="1"/>
          </p:cNvSpPr>
          <p:nvPr/>
        </p:nvSpPr>
        <p:spPr bwMode="white">
          <a:xfrm>
            <a:off x="10229552" y="5232376"/>
            <a:ext cx="1717137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Continuous access evaluation</a:t>
            </a:r>
          </a:p>
        </p:txBody>
      </p:sp>
      <p:sp>
        <p:nvSpPr>
          <p:cNvPr id="101" name="TextBox 100"/>
          <p:cNvSpPr txBox="1">
            <a:spLocks noChangeArrowheads="1"/>
          </p:cNvSpPr>
          <p:nvPr/>
        </p:nvSpPr>
        <p:spPr bwMode="white">
          <a:xfrm>
            <a:off x="10259108" y="5658625"/>
            <a:ext cx="153599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Disable resilience defaults</a:t>
            </a:r>
          </a:p>
        </p:txBody>
      </p:sp>
      <p:pic>
        <p:nvPicPr>
          <p:cNvPr id="103" name="Graphic 102"/>
          <p:cNvPicPr>
            <a:picLocks noChangeAspect="1"/>
          </p:cNvPicPr>
          <p:nvPr/>
        </p:nvPicPr>
        <p:blipFill>
          <a:blip r:embed="rId43">
            <a:lum/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rcRect/>
          <a:stretch>
            <a:fillRect/>
          </a:stretch>
        </p:blipFill>
        <p:spPr bwMode="white">
          <a:xfrm>
            <a:off x="9996846" y="479900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5" name="Graphic 104"/>
          <p:cNvPicPr>
            <a:picLocks noChangeAspect="1"/>
          </p:cNvPicPr>
          <p:nvPr/>
        </p:nvPicPr>
        <p:blipFill>
          <a:blip r:embed="rId45">
            <a:lum/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rcRect/>
          <a:stretch>
            <a:fillRect/>
          </a:stretch>
        </p:blipFill>
        <p:spPr bwMode="white">
          <a:xfrm>
            <a:off x="9996846" y="437457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7" name="Graphic 106"/>
          <p:cNvPicPr>
            <a:picLocks noChangeAspect="1"/>
          </p:cNvPicPr>
          <p:nvPr/>
        </p:nvPicPr>
        <p:blipFill>
          <a:blip r:embed="rId7">
            <a:lum/>
            <a:extLst>
              <a:ext uri="{96DAC541-7B7A-43D3-8B79-37D633B846F1}">
                <asvg:svgBlip xmlns:asvg="http://schemas.microsoft.com/office/drawing/2016/SVG/main" r:embed="rId47"/>
              </a:ext>
            </a:extLst>
          </a:blip>
          <a:srcRect/>
          <a:stretch>
            <a:fillRect/>
          </a:stretch>
        </p:blipFill>
        <p:spPr bwMode="white">
          <a:xfrm>
            <a:off x="9996846" y="391529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15" name="SessionSifInterval"/>
          <p:cNvSpPr txBox="1">
            <a:spLocks noChangeArrowheads="1"/>
          </p:cNvSpPr>
          <p:nvPr/>
        </p:nvSpPr>
        <p:spPr bwMode="white">
          <a:xfrm>
            <a:off x="10296745" y="4516775"/>
            <a:ext cx="1249060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Periodic reauthentication</a:t>
            </a:r>
          </a:p>
        </p:txBody>
      </p:sp>
      <p:sp>
        <p:nvSpPr>
          <p:cNvPr id="114" name="SessionCasType"/>
          <p:cNvSpPr txBox="1">
            <a:spLocks noChangeArrowheads="1"/>
          </p:cNvSpPr>
          <p:nvPr/>
        </p:nvSpPr>
        <p:spPr bwMode="white">
          <a:xfrm>
            <a:off x="10296745" y="4075500"/>
            <a:ext cx="95410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App Control Policy</a:t>
            </a:r>
          </a:p>
        </p:txBody>
      </p:sp>
      <p:sp>
        <p:nvSpPr>
          <p:cNvPr id="116" name="SessionPersistenBrowserMode"/>
          <p:cNvSpPr txBox="1">
            <a:spLocks noChangeArrowheads="1"/>
          </p:cNvSpPr>
          <p:nvPr/>
        </p:nvSpPr>
        <p:spPr bwMode="white">
          <a:xfrm>
            <a:off x="10309761" y="4945281"/>
            <a:ext cx="918841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Always persistent</a:t>
            </a:r>
          </a:p>
        </p:txBody>
      </p:sp>
      <p:sp>
        <p:nvSpPr>
          <p:cNvPr id="118" name="SessionCaeMode"/>
          <p:cNvSpPr txBox="1">
            <a:spLocks noChangeArrowheads="1"/>
          </p:cNvSpPr>
          <p:nvPr/>
        </p:nvSpPr>
        <p:spPr bwMode="white">
          <a:xfrm>
            <a:off x="10301386" y="5393378"/>
            <a:ext cx="15359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US" sz="800" dirty="0"/>
              <a:t>Strictly enforce location policies</a:t>
            </a:r>
          </a:p>
        </p:txBody>
      </p:sp>
      <p:sp>
        <p:nvSpPr>
          <p:cNvPr id="119" name="ShadeSessionAppEnforced"/>
          <p:cNvSpPr>
            <a:spLocks/>
          </p:cNvSpPr>
          <p:nvPr/>
        </p:nvSpPr>
        <p:spPr bwMode="white">
          <a:xfrm>
            <a:off x="9959680" y="3548808"/>
            <a:ext cx="2051597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0" name="ShadeSessionCas"/>
          <p:cNvSpPr>
            <a:spLocks/>
          </p:cNvSpPr>
          <p:nvPr/>
        </p:nvSpPr>
        <p:spPr bwMode="white">
          <a:xfrm>
            <a:off x="9978939" y="3884212"/>
            <a:ext cx="2087576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1" name="ShadeSessionSif"/>
          <p:cNvSpPr>
            <a:spLocks/>
          </p:cNvSpPr>
          <p:nvPr/>
        </p:nvSpPr>
        <p:spPr bwMode="white">
          <a:xfrm>
            <a:off x="9940787" y="4320077"/>
            <a:ext cx="2125728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2" name="ShadeSessionPersistentBrowser"/>
          <p:cNvSpPr>
            <a:spLocks/>
          </p:cNvSpPr>
          <p:nvPr/>
        </p:nvSpPr>
        <p:spPr bwMode="white">
          <a:xfrm>
            <a:off x="9938833" y="4746195"/>
            <a:ext cx="207244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" name="Label Secure Sign In Session"/>
          <p:cNvSpPr txBox="1">
            <a:spLocks noChangeArrowheads="1"/>
          </p:cNvSpPr>
          <p:nvPr/>
        </p:nvSpPr>
        <p:spPr bwMode="white">
          <a:xfrm>
            <a:off x="10260000" y="6084874"/>
            <a:ext cx="166584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Token protection for session</a:t>
            </a:r>
          </a:p>
        </p:txBody>
      </p:sp>
      <p:pic>
        <p:nvPicPr>
          <p:cNvPr id="77" name="IconSessionCaeDisable" descr="Close with solid fill"/>
          <p:cNvPicPr>
            <a:picLocks noChangeAspect="1"/>
          </p:cNvPicPr>
          <p:nvPr/>
        </p:nvPicPr>
        <p:blipFill>
          <a:blip r:embed="rId48">
            <a:lum/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rcRect/>
          <a:stretch>
            <a:fillRect/>
          </a:stretch>
        </p:blipFill>
        <p:spPr bwMode="white">
          <a:xfrm>
            <a:off x="9979885" y="5218651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2" name="IconSessionSecureSignInSession 1"/>
          <p:cNvPicPr>
            <a:picLocks noChangeAspect="1"/>
          </p:cNvPicPr>
          <p:nvPr/>
        </p:nvPicPr>
        <p:blipFill>
          <a:blip r:embed="rId50">
            <a:lum/>
            <a:extLst>
              <a:ext uri="{96DAC541-7B7A-43D3-8B79-37D633B846F1}">
                <asvg:svgBlip xmlns:asvg="http://schemas.microsoft.com/office/drawing/2016/SVG/main" r:embed="rId51"/>
              </a:ext>
            </a:extLst>
          </a:blip>
          <a:srcRect/>
          <a:stretch>
            <a:fillRect/>
          </a:stretch>
        </p:blipFill>
        <p:spPr bwMode="white">
          <a:xfrm>
            <a:off x="9997200" y="6085768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3" name="ShadeSessionCae"/>
          <p:cNvSpPr>
            <a:spLocks/>
          </p:cNvSpPr>
          <p:nvPr/>
        </p:nvSpPr>
        <p:spPr bwMode="white">
          <a:xfrm>
            <a:off x="9987595" y="5219780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76" name="ShadeSessionSecureSignIn"/>
          <p:cNvSpPr>
            <a:spLocks/>
          </p:cNvSpPr>
          <p:nvPr/>
        </p:nvSpPr>
        <p:spPr bwMode="white">
          <a:xfrm>
            <a:off x="9996846" y="5986498"/>
            <a:ext cx="2014431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pic>
        <p:nvPicPr>
          <p:cNvPr id="102" name="Graphic 101"/>
          <p:cNvPicPr>
            <a:picLocks noChangeAspect="1"/>
          </p:cNvPicPr>
          <p:nvPr/>
        </p:nvPicPr>
        <p:blipFill>
          <a:blip r:embed="rId52">
            <a:lum/>
            <a:extLst>
              <a:ext uri="{96DAC541-7B7A-43D3-8B79-37D633B846F1}">
                <asvg:svgBlip xmlns:asvg="http://schemas.microsoft.com/office/drawing/2016/SVG/main" r:embed="rId53"/>
              </a:ext>
            </a:extLst>
          </a:blip>
          <a:srcRect/>
          <a:stretch>
            <a:fillRect/>
          </a:stretch>
        </p:blipFill>
        <p:spPr bwMode="white">
          <a:xfrm>
            <a:off x="9997200" y="5663777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80" name="Graphic 79" descr="Close with solid fill"/>
          <p:cNvPicPr>
            <a:picLocks noChangeAspect="1"/>
          </p:cNvPicPr>
          <p:nvPr/>
        </p:nvPicPr>
        <p:blipFill>
          <a:blip r:embed="rId48">
            <a:lum/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rcRect/>
          <a:stretch>
            <a:fillRect/>
          </a:stretch>
        </p:blipFill>
        <p:spPr bwMode="white">
          <a:xfrm>
            <a:off x="9963899" y="5637424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4" name="ShadeSessionDisableResilience"/>
          <p:cNvSpPr>
            <a:spLocks/>
          </p:cNvSpPr>
          <p:nvPr/>
        </p:nvSpPr>
        <p:spPr bwMode="white">
          <a:xfrm>
            <a:off x="9959681" y="5602709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2" name="PolicyName">
            <a:hlinkClick r:id="" action="ppaction://hlinkfile"/>
          </p:cNvPr>
          <p:cNvSpPr>
            <a:spLocks noGrp="1"/>
          </p:cNvSpPr>
          <p:nvPr>
            <p:ph type="title"/>
          </p:nvPr>
        </p:nvSpPr>
        <p:spPr bwMode="white">
          <a:xfrm>
            <a:off x="838200" y="115511"/>
            <a:ext cx="10003967" cy="609565"/>
          </a:xfrm>
          <a:ln>
            <a:headEnd type="none"/>
            <a:tailEnd type="none"/>
          </a:ln>
        </p:spPr>
        <p:txBody>
          <a:bodyPr wrap="square">
            <a:noAutofit/>
          </a:bodyPr>
          <a:lstStyle/>
          <a:p>
            <a:pPr defTabSz="914400"/>
            <a:r>
              <a:rPr lang="en-US" sz="2000" b="1" dirty="0"/>
              <a:t>[All Apps] [All Users] (Block) Any untrusted OCC Network</a:t>
            </a:r>
          </a:p>
        </p:txBody>
      </p:sp>
      <p:sp>
        <p:nvSpPr>
          <p:cNvPr id="16" name="LastModified"/>
          <p:cNvSpPr txBox="1">
            <a:spLocks noChangeArrowheads="1"/>
          </p:cNvSpPr>
          <p:nvPr/>
        </p:nvSpPr>
        <p:spPr bwMode="white">
          <a:xfrm>
            <a:off x="10556111" y="388376"/>
            <a:ext cx="15483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algn="r" defTabSz="457200"/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Last modified: 2025-06-06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UserWorkload"/>
          <p:cNvSpPr>
            <a:spLocks/>
          </p:cNvSpPr>
          <p:nvPr/>
        </p:nvSpPr>
        <p:spPr bwMode="auto">
          <a:xfrm>
            <a:off x="175820" y="2709769"/>
            <a:ext cx="2202823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Users</a:t>
            </a:r>
          </a:p>
        </p:txBody>
      </p:sp>
      <p:sp>
        <p:nvSpPr>
          <p:cNvPr id="7" name="UserWorkloadIncExc"/>
          <p:cNvSpPr txBox="1">
            <a:spLocks noChangeArrowheads="1"/>
          </p:cNvSpPr>
          <p:nvPr/>
        </p:nvSpPr>
        <p:spPr bwMode="white">
          <a:xfrm>
            <a:off x="125485" y="3698952"/>
            <a:ext cx="3062115" cy="313265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 numCol="1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b="1" dirty="0"/>
            </a:pPr>
            <a:r>
              <a:t> Users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r>
              <a:t>🚫 Exclude:</a:t>
            </a:r>
          </a:p>
          <a:p>
            <a:pPr defTabSz="457200">
              <a:defRPr sz="1100" b="1" dirty="0"/>
            </a:pPr>
            <a:r>
              <a:t> Users</a:t>
            </a:r>
          </a:p>
          <a:p>
            <a:pPr defTabSz="457200">
              <a:defRPr sz="1100" dirty="0"/>
            </a:pPr>
            <a:r>
              <a:t> - BGA OCC01</a:t>
            </a:r>
          </a:p>
          <a:p>
            <a:pPr defTabSz="457200">
              <a:defRPr sz="1100" dirty="0"/>
            </a:pPr>
            <a:r>
              <a:t> - BGA OCC02</a:t>
            </a:r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19" name="Risks"/>
          <p:cNvSpPr txBox="1">
            <a:spLocks noChangeArrowheads="1"/>
          </p:cNvSpPr>
          <p:nvPr/>
        </p:nvSpPr>
        <p:spPr bwMode="white">
          <a:xfrm>
            <a:off x="524485" y="1021946"/>
            <a:ext cx="1348869" cy="166886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0" name="Platforms"/>
          <p:cNvSpPr txBox="1">
            <a:spLocks noChangeArrowheads="1"/>
          </p:cNvSpPr>
          <p:nvPr/>
        </p:nvSpPr>
        <p:spPr bwMode="white">
          <a:xfrm>
            <a:off x="1826931" y="1021947"/>
            <a:ext cx="2061056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3" name="Locations"/>
          <p:cNvSpPr txBox="1">
            <a:spLocks noChangeArrowheads="1"/>
          </p:cNvSpPr>
          <p:nvPr/>
        </p:nvSpPr>
        <p:spPr bwMode="white">
          <a:xfrm>
            <a:off x="8324941" y="1021947"/>
            <a:ext cx="3513702" cy="159258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4" name="ClientAppTypes"/>
          <p:cNvSpPr txBox="1">
            <a:spLocks noChangeArrowheads="1"/>
          </p:cNvSpPr>
          <p:nvPr/>
        </p:nvSpPr>
        <p:spPr bwMode="white">
          <a:xfrm>
            <a:off x="3810664" y="1021947"/>
            <a:ext cx="1581599" cy="165343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dirty="0"/>
            </a:pPr>
            <a:r>
              <a:t> - Exchange ActiveSync clients</a:t>
            </a:r>
          </a:p>
          <a:p>
            <a:pPr defTabSz="457200">
              <a:defRPr sz="1100" dirty="0"/>
            </a:pPr>
            <a:r>
              <a:t> - Other legacy clients</a:t>
            </a:r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25" name="DeviceFilters"/>
          <p:cNvSpPr txBox="1">
            <a:spLocks noChangeArrowheads="1"/>
          </p:cNvSpPr>
          <p:nvPr/>
        </p:nvSpPr>
        <p:spPr bwMode="white">
          <a:xfrm>
            <a:off x="5818151" y="1022762"/>
            <a:ext cx="2248808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cxnSp>
        <p:nvCxnSpPr>
          <p:cNvPr id="27" name="Straight Arrow Connector 26" descr="Arrow drawn from user/workload  to the action being performed by the user such as accessing cloud apps."/>
          <p:cNvCxnSpPr/>
          <p:nvPr/>
        </p:nvCxnSpPr>
        <p:spPr bwMode="white">
          <a:xfrm>
            <a:off x="2195232" y="3159047"/>
            <a:ext cx="3959471" cy="1"/>
          </a:xfrm>
          <a:prstGeom prst="straightConnector1">
            <a:avLst/>
          </a:prstGeom>
          <a:ln w="76200"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30" name="IconBlockAccess" descr="Picture with red color stop sign to indicate blocked access"/>
          <p:cNvPicPr>
            <a:picLocks noChangeAspect="1"/>
          </p:cNvPicPr>
          <p:nvPr/>
        </p:nvPicPr>
        <p:blipFill>
          <a:blip r:embed="rId3">
            <a:lum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 bwMode="white">
          <a:xfrm>
            <a:off x="5306633" y="2735805"/>
            <a:ext cx="356616" cy="35661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34" name="GrantLabelBlockAccess"/>
          <p:cNvSpPr txBox="1">
            <a:spLocks noChangeArrowheads="1"/>
          </p:cNvSpPr>
          <p:nvPr/>
        </p:nvSpPr>
        <p:spPr bwMode="white">
          <a:xfrm>
            <a:off x="3936931" y="2734375"/>
            <a:ext cx="1358065" cy="369332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algn="ctr" defTabSz="457200"/>
            <a:r>
              <a:rPr lang="en-US" b="1" dirty="0">
                <a:solidFill>
                  <a:srgbClr val="FF0000"/>
                </a:solidFill>
              </a:rPr>
              <a:t>Block access</a:t>
            </a:r>
          </a:p>
        </p:txBody>
      </p:sp>
      <p:sp>
        <p:nvSpPr>
          <p:cNvPr id="3" name="CloudAppActionIncExc"/>
          <p:cNvSpPr txBox="1">
            <a:spLocks noChangeArrowheads="1"/>
          </p:cNvSpPr>
          <p:nvPr/>
        </p:nvSpPr>
        <p:spPr bwMode="white">
          <a:xfrm>
            <a:off x="6039518" y="3662782"/>
            <a:ext cx="3649518" cy="315161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</p:txBody>
      </p:sp>
      <p:pic>
        <p:nvPicPr>
          <p:cNvPr id="26" name="IconGroupIdentity"/>
          <p:cNvPicPr>
            <a:picLocks noChangeAspect="1"/>
          </p:cNvPicPr>
          <p:nvPr/>
        </p:nvPicPr>
        <p:blipFill>
          <a:blip r:embed="rId5">
            <a:lum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 bwMode="white">
          <a:xfrm>
            <a:off x="327701" y="2839007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36" name="Graphic 35"/>
          <p:cNvPicPr>
            <a:picLocks noChangeAspect="1"/>
          </p:cNvPicPr>
          <p:nvPr/>
        </p:nvPicPr>
        <p:blipFill>
          <a:blip r:embed="rId7">
            <a:lum/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p:blipFill>
        <p:spPr bwMode="white">
          <a:xfrm>
            <a:off x="495610" y="197468"/>
            <a:ext cx="381196" cy="38119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" name="CloudAppAction"/>
          <p:cNvSpPr>
            <a:spLocks/>
          </p:cNvSpPr>
          <p:nvPr/>
        </p:nvSpPr>
        <p:spPr bwMode="auto">
          <a:xfrm>
            <a:off x="6206089" y="2718506"/>
            <a:ext cx="3227026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All cloud apps</a:t>
            </a:r>
          </a:p>
        </p:txBody>
      </p:sp>
      <p:pic>
        <p:nvPicPr>
          <p:cNvPr id="75" name="IconAccessAllCloudApps"/>
          <p:cNvPicPr>
            <a:picLocks noChangeAspect="1"/>
          </p:cNvPicPr>
          <p:nvPr/>
        </p:nvPicPr>
        <p:blipFill>
          <a:blip r:embed="rId9">
            <a:lum/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p:blipFill>
        <p:spPr bwMode="white">
          <a:xfrm>
            <a:off x="6439264" y="2836824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21" name="StateEnabled"/>
          <p:cNvSpPr>
            <a:spLocks/>
          </p:cNvSpPr>
          <p:nvPr/>
        </p:nvSpPr>
        <p:spPr bwMode="white">
          <a:xfrm>
            <a:off x="10842171" y="83487"/>
            <a:ext cx="1260389" cy="264812"/>
          </a:xfrm>
          <a:prstGeom prst="round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r>
              <a:rPr lang="en-US" sz="800" dirty="0"/>
              <a:t>Policy Enabled</a:t>
            </a:r>
          </a:p>
        </p:txBody>
      </p:sp>
      <p:grpSp>
        <p:nvGrpSpPr>
          <p:cNvPr id="10" name="IconRiskyUsers"/>
          <p:cNvGrpSpPr>
            <a:grpSpLocks/>
          </p:cNvGrpSpPr>
          <p:nvPr/>
        </p:nvGrpSpPr>
        <p:grpSpPr bwMode="white">
          <a:xfrm>
            <a:off x="635426" y="738677"/>
            <a:ext cx="1202553" cy="274320"/>
            <a:chOff x="2013768" y="1033956"/>
            <a:chExt cx="1342320" cy="274320"/>
          </a:xfrm>
        </p:grpSpPr>
        <p:pic>
          <p:nvPicPr>
            <p:cNvPr id="46" name="Graphic 1"/>
            <p:cNvPicPr>
              <a:picLocks noChangeAspect="1"/>
            </p:cNvPicPr>
            <p:nvPr/>
          </p:nvPicPr>
          <p:blipFill>
            <a:blip r:embed="rId11">
              <a:lum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013768" y="1033956"/>
              <a:ext cx="274320" cy="27432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5" name="Label 1"/>
            <p:cNvSpPr txBox="1">
              <a:spLocks noChangeArrowheads="1"/>
            </p:cNvSpPr>
            <p:nvPr/>
          </p:nvSpPr>
          <p:spPr bwMode="white">
            <a:xfrm>
              <a:off x="2240077" y="1040706"/>
              <a:ext cx="1116011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Risk</a:t>
              </a:r>
            </a:p>
          </p:txBody>
        </p:sp>
      </p:grpSp>
      <p:grpSp>
        <p:nvGrpSpPr>
          <p:cNvPr id="14" name="IconPlatforms"/>
          <p:cNvGrpSpPr>
            <a:grpSpLocks/>
          </p:cNvGrpSpPr>
          <p:nvPr/>
        </p:nvGrpSpPr>
        <p:grpSpPr bwMode="white">
          <a:xfrm>
            <a:off x="1927788" y="715249"/>
            <a:ext cx="1719285" cy="365760"/>
            <a:chOff x="3262737" y="994835"/>
            <a:chExt cx="1719285" cy="365760"/>
          </a:xfrm>
        </p:grpSpPr>
        <p:pic>
          <p:nvPicPr>
            <p:cNvPr id="29" name="Graphic 1"/>
            <p:cNvPicPr>
              <a:picLocks noChangeAspect="1"/>
            </p:cNvPicPr>
            <p:nvPr/>
          </p:nvPicPr>
          <p:blipFill>
            <a:blip r:embed="rId13">
              <a:lum/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3262737" y="994835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1" name="Label 1"/>
            <p:cNvSpPr txBox="1">
              <a:spLocks noChangeArrowheads="1"/>
            </p:cNvSpPr>
            <p:nvPr/>
          </p:nvSpPr>
          <p:spPr bwMode="white">
            <a:xfrm>
              <a:off x="3582397" y="1027255"/>
              <a:ext cx="1399625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Device platforms</a:t>
              </a:r>
            </a:p>
          </p:txBody>
        </p:sp>
      </p:grpSp>
      <p:grpSp>
        <p:nvGrpSpPr>
          <p:cNvPr id="17" name="IconClientAppTypes"/>
          <p:cNvGrpSpPr>
            <a:grpSpLocks/>
          </p:cNvGrpSpPr>
          <p:nvPr/>
        </p:nvGrpSpPr>
        <p:grpSpPr bwMode="white">
          <a:xfrm>
            <a:off x="3908159" y="670015"/>
            <a:ext cx="1852971" cy="365760"/>
            <a:chOff x="4858970" y="975927"/>
            <a:chExt cx="1852971" cy="365760"/>
          </a:xfrm>
        </p:grpSpPr>
        <p:pic>
          <p:nvPicPr>
            <p:cNvPr id="58" name="Graphic 1"/>
            <p:cNvPicPr>
              <a:picLocks noChangeAspect="1"/>
            </p:cNvPicPr>
            <p:nvPr/>
          </p:nvPicPr>
          <p:blipFill>
            <a:blip r:embed="rId15">
              <a:lum/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858970" y="975927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5" name="Label 1"/>
            <p:cNvSpPr txBox="1">
              <a:spLocks noChangeArrowheads="1"/>
            </p:cNvSpPr>
            <p:nvPr/>
          </p:nvSpPr>
          <p:spPr bwMode="white">
            <a:xfrm>
              <a:off x="5193983" y="1009899"/>
              <a:ext cx="1517958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Client apps</a:t>
              </a:r>
            </a:p>
          </p:txBody>
        </p:sp>
      </p:grpSp>
      <p:grpSp>
        <p:nvGrpSpPr>
          <p:cNvPr id="37" name="IconLocations"/>
          <p:cNvGrpSpPr>
            <a:grpSpLocks/>
          </p:cNvGrpSpPr>
          <p:nvPr/>
        </p:nvGrpSpPr>
        <p:grpSpPr bwMode="white">
          <a:xfrm>
            <a:off x="8411896" y="646848"/>
            <a:ext cx="1850168" cy="388465"/>
            <a:chOff x="2321433" y="3262888"/>
            <a:chExt cx="1850168" cy="388465"/>
          </a:xfrm>
        </p:grpSpPr>
        <p:pic>
          <p:nvPicPr>
            <p:cNvPr id="33" name="Graphic 1"/>
            <p:cNvPicPr>
              <a:picLocks noChangeAspect="1"/>
            </p:cNvPicPr>
            <p:nvPr/>
          </p:nvPicPr>
          <p:blipFill>
            <a:blip r:embed="rId17">
              <a:lum/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321433" y="3262888"/>
              <a:ext cx="388465" cy="388465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28" name="Label 1"/>
            <p:cNvSpPr txBox="1">
              <a:spLocks noChangeArrowheads="1"/>
            </p:cNvSpPr>
            <p:nvPr/>
          </p:nvSpPr>
          <p:spPr bwMode="white">
            <a:xfrm>
              <a:off x="2713321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Locations</a:t>
              </a:r>
              <a:endParaRPr lang="en-US" sz="1100" b="1" dirty="0"/>
            </a:p>
          </p:txBody>
        </p:sp>
      </p:grpSp>
      <p:grpSp>
        <p:nvGrpSpPr>
          <p:cNvPr id="39" name="IconDeviceFilters"/>
          <p:cNvGrpSpPr>
            <a:grpSpLocks/>
          </p:cNvGrpSpPr>
          <p:nvPr/>
        </p:nvGrpSpPr>
        <p:grpSpPr bwMode="white">
          <a:xfrm>
            <a:off x="5472818" y="661958"/>
            <a:ext cx="1839823" cy="364111"/>
            <a:chOff x="4195414" y="3273669"/>
            <a:chExt cx="1839823" cy="364111"/>
          </a:xfrm>
        </p:grpSpPr>
        <p:pic>
          <p:nvPicPr>
            <p:cNvPr id="60" name="Graphic 1"/>
            <p:cNvPicPr>
              <a:picLocks noChangeAspect="1"/>
            </p:cNvPicPr>
            <p:nvPr/>
          </p:nvPicPr>
          <p:blipFill>
            <a:blip r:embed="rId19">
              <a:lum/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195414" y="3273669"/>
              <a:ext cx="364111" cy="364111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31" name="Label 1"/>
            <p:cNvSpPr txBox="1">
              <a:spLocks noChangeArrowheads="1"/>
            </p:cNvSpPr>
            <p:nvPr/>
          </p:nvSpPr>
          <p:spPr bwMode="white">
            <a:xfrm>
              <a:off x="4576957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Filter for devices</a:t>
              </a:r>
              <a:endParaRPr lang="en-US" sz="1100" b="1" dirty="0"/>
            </a:p>
          </p:txBody>
        </p:sp>
      </p:grpSp>
      <p:pic>
        <p:nvPicPr>
          <p:cNvPr id="62" name="IconGrantMultifactorAuthentication"/>
          <p:cNvPicPr>
            <a:picLocks noChangeAspect="1"/>
          </p:cNvPicPr>
          <p:nvPr/>
        </p:nvPicPr>
        <p:blipFill>
          <a:blip r:embed="rId21">
            <a:lum/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>
            <a:fillRect/>
          </a:stretch>
        </p:blipFill>
        <p:spPr bwMode="white">
          <a:xfrm>
            <a:off x="3410647" y="3566863"/>
            <a:ext cx="17145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5" name="IconGrantMultifactorAuthenticationLabel"/>
          <p:cNvSpPr txBox="1">
            <a:spLocks noChangeArrowheads="1"/>
          </p:cNvSpPr>
          <p:nvPr/>
        </p:nvSpPr>
        <p:spPr bwMode="white">
          <a:xfrm>
            <a:off x="3575836" y="3571997"/>
            <a:ext cx="19007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Multifactor authentication</a:t>
            </a:r>
            <a:endParaRPr lang="en-US" sz="1000" dirty="0"/>
          </a:p>
        </p:txBody>
      </p:sp>
      <p:pic>
        <p:nvPicPr>
          <p:cNvPr id="38" name="IconGrantAuthenticationStrength"/>
          <p:cNvPicPr>
            <a:picLocks noChangeAspect="1"/>
          </p:cNvPicPr>
          <p:nvPr/>
        </p:nvPicPr>
        <p:blipFill>
          <a:blip r:embed="rId23">
            <a:lum/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/>
          <a:stretch>
            <a:fillRect/>
          </a:stretch>
        </p:blipFill>
        <p:spPr bwMode="white">
          <a:xfrm>
            <a:off x="3374515" y="3905034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7" name="IconGrantAuthenticationStrengthLabel"/>
          <p:cNvSpPr txBox="1">
            <a:spLocks noChangeArrowheads="1"/>
          </p:cNvSpPr>
          <p:nvPr/>
        </p:nvSpPr>
        <p:spPr bwMode="white">
          <a:xfrm>
            <a:off x="3575836" y="3907323"/>
            <a:ext cx="2185294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Authentication strength</a:t>
            </a:r>
            <a:endParaRPr lang="en-US" sz="1000" dirty="0"/>
          </a:p>
        </p:txBody>
      </p:sp>
      <p:pic>
        <p:nvPicPr>
          <p:cNvPr id="52" name="IconGrantDeviceCompliance"/>
          <p:cNvPicPr>
            <a:picLocks noChangeAspect="1"/>
          </p:cNvPicPr>
          <p:nvPr/>
        </p:nvPicPr>
        <p:blipFill>
          <a:blip r:embed="rId25">
            <a:lum/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/>
          <a:stretch>
            <a:fillRect/>
          </a:stretch>
        </p:blipFill>
        <p:spPr bwMode="white">
          <a:xfrm>
            <a:off x="3374515" y="4243205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9" name="IconGrantDeviceComplianceLabel"/>
          <p:cNvSpPr txBox="1">
            <a:spLocks noChangeArrowheads="1"/>
          </p:cNvSpPr>
          <p:nvPr/>
        </p:nvSpPr>
        <p:spPr bwMode="white">
          <a:xfrm>
            <a:off x="3575836" y="4242649"/>
            <a:ext cx="17378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Compliant device</a:t>
            </a:r>
            <a:endParaRPr lang="en-US" sz="1000" dirty="0"/>
          </a:p>
        </p:txBody>
      </p:sp>
      <p:pic>
        <p:nvPicPr>
          <p:cNvPr id="43" name="IconGrantHybridJoined"/>
          <p:cNvPicPr>
            <a:picLocks noChangeAspect="1"/>
          </p:cNvPicPr>
          <p:nvPr/>
        </p:nvPicPr>
        <p:blipFill>
          <a:blip r:embed="rId27">
            <a:lum/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/>
          <a:stretch>
            <a:fillRect/>
          </a:stretch>
        </p:blipFill>
        <p:spPr bwMode="white">
          <a:xfrm>
            <a:off x="3374515" y="4581376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3" name="IconGrantHybridJoinedLabel"/>
          <p:cNvSpPr txBox="1">
            <a:spLocks noChangeArrowheads="1"/>
          </p:cNvSpPr>
          <p:nvPr/>
        </p:nvSpPr>
        <p:spPr bwMode="white">
          <a:xfrm>
            <a:off x="3575836" y="4577975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Hybrid Azure AD joined device</a:t>
            </a:r>
            <a:endParaRPr lang="en-US" sz="1000" dirty="0"/>
          </a:p>
        </p:txBody>
      </p:sp>
      <p:pic>
        <p:nvPicPr>
          <p:cNvPr id="48" name="IconGrantApprovedClientApp"/>
          <p:cNvPicPr>
            <a:picLocks noChangeAspect="1"/>
          </p:cNvPicPr>
          <p:nvPr/>
        </p:nvPicPr>
        <p:blipFill>
          <a:blip r:embed="rId29">
            <a:lum/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rcRect/>
          <a:stretch>
            <a:fillRect/>
          </a:stretch>
        </p:blipFill>
        <p:spPr bwMode="white">
          <a:xfrm>
            <a:off x="3374515" y="491954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5" name="IconGrantApprovedClientAppLabel"/>
          <p:cNvSpPr txBox="1">
            <a:spLocks noChangeArrowheads="1"/>
          </p:cNvSpPr>
          <p:nvPr/>
        </p:nvSpPr>
        <p:spPr bwMode="white">
          <a:xfrm>
            <a:off x="3575836" y="4913301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Approved client app</a:t>
            </a:r>
            <a:endParaRPr lang="en-US" sz="1000" dirty="0"/>
          </a:p>
        </p:txBody>
      </p:sp>
      <p:pic>
        <p:nvPicPr>
          <p:cNvPr id="42" name="IconGrantCustomAuth"/>
          <p:cNvPicPr>
            <a:picLocks noChangeAspect="1"/>
          </p:cNvPicPr>
          <p:nvPr/>
        </p:nvPicPr>
        <p:blipFill>
          <a:blip r:embed="rId31">
            <a:lum/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rcRect/>
          <a:stretch>
            <a:fillRect/>
          </a:stretch>
        </p:blipFill>
        <p:spPr bwMode="white">
          <a:xfrm>
            <a:off x="3374515" y="593406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9" name="IconGrantCustomAuthLabel"/>
          <p:cNvSpPr txBox="1">
            <a:spLocks noChangeArrowheads="1"/>
          </p:cNvSpPr>
          <p:nvPr/>
        </p:nvSpPr>
        <p:spPr bwMode="white">
          <a:xfrm>
            <a:off x="3575836" y="5919279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Custom authentication factor</a:t>
            </a:r>
            <a:endParaRPr lang="en-US" sz="1000" dirty="0"/>
          </a:p>
        </p:txBody>
      </p:sp>
      <p:pic>
        <p:nvPicPr>
          <p:cNvPr id="40" name="IconGrantTermsOfUse"/>
          <p:cNvPicPr>
            <a:picLocks noChangeAspect="1"/>
          </p:cNvPicPr>
          <p:nvPr/>
        </p:nvPicPr>
        <p:blipFill>
          <a:blip r:embed="rId33">
            <a:lum/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rcRect/>
          <a:stretch>
            <a:fillRect/>
          </a:stretch>
        </p:blipFill>
        <p:spPr bwMode="white">
          <a:xfrm>
            <a:off x="3374515" y="627222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3" name="IconGrantTermsOfUseLabel"/>
          <p:cNvSpPr txBox="1">
            <a:spLocks noChangeArrowheads="1"/>
          </p:cNvSpPr>
          <p:nvPr/>
        </p:nvSpPr>
        <p:spPr bwMode="white">
          <a:xfrm>
            <a:off x="3575836" y="625460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Terms of use</a:t>
            </a:r>
            <a:endParaRPr lang="en-US" sz="1000" dirty="0"/>
          </a:p>
        </p:txBody>
      </p:sp>
      <p:sp>
        <p:nvSpPr>
          <p:cNvPr id="56" name="IconGrantAppProtectionLabel"/>
          <p:cNvSpPr txBox="1">
            <a:spLocks noChangeArrowheads="1"/>
          </p:cNvSpPr>
          <p:nvPr/>
        </p:nvSpPr>
        <p:spPr bwMode="white">
          <a:xfrm>
            <a:off x="3575836" y="524862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 protection policy</a:t>
            </a:r>
            <a:endParaRPr lang="en-US" sz="1000" dirty="0"/>
          </a:p>
        </p:txBody>
      </p:sp>
      <p:pic>
        <p:nvPicPr>
          <p:cNvPr id="65" name="IconGrantAppProtection"/>
          <p:cNvPicPr>
            <a:picLocks noChangeAspect="1"/>
          </p:cNvPicPr>
          <p:nvPr/>
        </p:nvPicPr>
        <p:blipFill>
          <a:blip r:embed="rId35">
            <a:lum/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rcRect/>
          <a:stretch>
            <a:fillRect/>
          </a:stretch>
        </p:blipFill>
        <p:spPr bwMode="white">
          <a:xfrm>
            <a:off x="3374515" y="525771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7" name="IconGrantChangePasswordLabel"/>
          <p:cNvSpPr txBox="1">
            <a:spLocks noChangeArrowheads="1"/>
          </p:cNvSpPr>
          <p:nvPr/>
        </p:nvSpPr>
        <p:spPr bwMode="white">
          <a:xfrm>
            <a:off x="3575836" y="5583953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Change password</a:t>
            </a:r>
            <a:endParaRPr lang="en-US" sz="1000" dirty="0"/>
          </a:p>
        </p:txBody>
      </p:sp>
      <p:pic>
        <p:nvPicPr>
          <p:cNvPr id="67" name="IconGrantChangePassword"/>
          <p:cNvPicPr>
            <a:picLocks noChangeAspect="1"/>
          </p:cNvPicPr>
          <p:nvPr/>
        </p:nvPicPr>
        <p:blipFill>
          <a:blip r:embed="rId37">
            <a:lum/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rcRect/>
          <a:stretch>
            <a:fillRect/>
          </a:stretch>
        </p:blipFill>
        <p:spPr bwMode="white">
          <a:xfrm>
            <a:off x="3374515" y="5595889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4" name="ShadeRisk"/>
          <p:cNvSpPr>
            <a:spLocks/>
          </p:cNvSpPr>
          <p:nvPr/>
        </p:nvSpPr>
        <p:spPr bwMode="white">
          <a:xfrm>
            <a:off x="507564" y="650246"/>
            <a:ext cx="976864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66" name="ShadeDevicePlatforms"/>
          <p:cNvSpPr>
            <a:spLocks/>
          </p:cNvSpPr>
          <p:nvPr/>
        </p:nvSpPr>
        <p:spPr bwMode="white">
          <a:xfrm>
            <a:off x="1863623" y="663409"/>
            <a:ext cx="1773927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79" name="ShadeLocations"/>
          <p:cNvSpPr>
            <a:spLocks/>
          </p:cNvSpPr>
          <p:nvPr/>
        </p:nvSpPr>
        <p:spPr bwMode="white">
          <a:xfrm>
            <a:off x="8217572" y="669110"/>
            <a:ext cx="1873684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2" name="ShadeFilterForDevices"/>
          <p:cNvSpPr>
            <a:spLocks/>
          </p:cNvSpPr>
          <p:nvPr/>
        </p:nvSpPr>
        <p:spPr bwMode="white">
          <a:xfrm>
            <a:off x="5438955" y="627922"/>
            <a:ext cx="1873685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3" name="ShadeGrantMultifactorAuth"/>
          <p:cNvSpPr>
            <a:spLocks/>
          </p:cNvSpPr>
          <p:nvPr/>
        </p:nvSpPr>
        <p:spPr bwMode="white">
          <a:xfrm>
            <a:off x="3369399" y="3534220"/>
            <a:ext cx="2069555" cy="28330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4" name="ShadeGrantAuthStrength"/>
          <p:cNvSpPr>
            <a:spLocks/>
          </p:cNvSpPr>
          <p:nvPr/>
        </p:nvSpPr>
        <p:spPr bwMode="white">
          <a:xfrm>
            <a:off x="3350256" y="3869846"/>
            <a:ext cx="2069555" cy="27801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5" name="ShadeGrantCompliantDevice"/>
          <p:cNvSpPr>
            <a:spLocks/>
          </p:cNvSpPr>
          <p:nvPr/>
        </p:nvSpPr>
        <p:spPr bwMode="white">
          <a:xfrm>
            <a:off x="3361852" y="4243205"/>
            <a:ext cx="2077102" cy="26110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6" name="ShadeGrantHybridAzureADJoined"/>
          <p:cNvSpPr>
            <a:spLocks/>
          </p:cNvSpPr>
          <p:nvPr/>
        </p:nvSpPr>
        <p:spPr bwMode="white">
          <a:xfrm>
            <a:off x="3353637" y="4552268"/>
            <a:ext cx="2160906" cy="298395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7" name="ShadeGrantApprovedClientApp"/>
          <p:cNvSpPr>
            <a:spLocks/>
          </p:cNvSpPr>
          <p:nvPr/>
        </p:nvSpPr>
        <p:spPr bwMode="white">
          <a:xfrm>
            <a:off x="3331918" y="4876027"/>
            <a:ext cx="2182625" cy="29839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8" name="ShadeGrantAppProtectionPolicy"/>
          <p:cNvSpPr>
            <a:spLocks/>
          </p:cNvSpPr>
          <p:nvPr/>
        </p:nvSpPr>
        <p:spPr bwMode="white">
          <a:xfrm>
            <a:off x="3350256" y="5207226"/>
            <a:ext cx="2122561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9" name="ShadeGrantChangePassword"/>
          <p:cNvSpPr>
            <a:spLocks/>
          </p:cNvSpPr>
          <p:nvPr/>
        </p:nvSpPr>
        <p:spPr bwMode="white">
          <a:xfrm>
            <a:off x="3350257" y="5557021"/>
            <a:ext cx="2042006" cy="287239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0" name="ShadeGrantCustomAuthFactor"/>
          <p:cNvSpPr>
            <a:spLocks/>
          </p:cNvSpPr>
          <p:nvPr/>
        </p:nvSpPr>
        <p:spPr bwMode="white">
          <a:xfrm>
            <a:off x="3331918" y="5899058"/>
            <a:ext cx="2182625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1" name="ShadeGrantTermsOfUse"/>
          <p:cNvSpPr>
            <a:spLocks/>
          </p:cNvSpPr>
          <p:nvPr/>
        </p:nvSpPr>
        <p:spPr bwMode="white">
          <a:xfrm>
            <a:off x="3313823" y="6192350"/>
            <a:ext cx="101602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99" name="Rectangle 98"/>
          <p:cNvSpPr>
            <a:spLocks/>
          </p:cNvSpPr>
          <p:nvPr/>
        </p:nvSpPr>
        <p:spPr bwMode="white">
          <a:xfrm>
            <a:off x="3268757" y="3253404"/>
            <a:ext cx="2357725" cy="3498546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0" name="Rectangle 109"/>
          <p:cNvSpPr>
            <a:spLocks/>
          </p:cNvSpPr>
          <p:nvPr/>
        </p:nvSpPr>
        <p:spPr bwMode="white">
          <a:xfrm>
            <a:off x="9881750" y="3248255"/>
            <a:ext cx="2220808" cy="3510149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7" name="Rectangle 116"/>
          <p:cNvSpPr>
            <a:spLocks/>
          </p:cNvSpPr>
          <p:nvPr/>
        </p:nvSpPr>
        <p:spPr bwMode="white">
          <a:xfrm>
            <a:off x="26741" y="606825"/>
            <a:ext cx="11985015" cy="2063636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2" name="Conditions Label"/>
          <p:cNvSpPr txBox="1">
            <a:spLocks noChangeArrowheads="1"/>
          </p:cNvSpPr>
          <p:nvPr/>
        </p:nvSpPr>
        <p:spPr bwMode="white">
          <a:xfrm rot="16200000">
            <a:off x="-883507" y="1514324"/>
            <a:ext cx="2081441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Conditions</a:t>
            </a:r>
          </a:p>
        </p:txBody>
      </p:sp>
      <p:sp>
        <p:nvSpPr>
          <p:cNvPr id="109" name="Grant Controls"/>
          <p:cNvSpPr txBox="1">
            <a:spLocks noChangeArrowheads="1"/>
          </p:cNvSpPr>
          <p:nvPr/>
        </p:nvSpPr>
        <p:spPr bwMode="white">
          <a:xfrm>
            <a:off x="3252146" y="3244395"/>
            <a:ext cx="2391873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Grant Controls</a:t>
            </a:r>
          </a:p>
        </p:txBody>
      </p:sp>
      <p:sp>
        <p:nvSpPr>
          <p:cNvPr id="111" name="Session Controls"/>
          <p:cNvSpPr txBox="1">
            <a:spLocks noChangeArrowheads="1"/>
          </p:cNvSpPr>
          <p:nvPr/>
        </p:nvSpPr>
        <p:spPr bwMode="white">
          <a:xfrm>
            <a:off x="9864212" y="3243751"/>
            <a:ext cx="2238346" cy="23786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Session Controls</a:t>
            </a:r>
          </a:p>
        </p:txBody>
      </p:sp>
      <p:pic>
        <p:nvPicPr>
          <p:cNvPr id="72" name="Graphic 71"/>
          <p:cNvPicPr>
            <a:picLocks noChangeAspect="1"/>
          </p:cNvPicPr>
          <p:nvPr/>
        </p:nvPicPr>
        <p:blipFill>
          <a:blip r:embed="rId39">
            <a:lum/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rcRect/>
          <a:stretch>
            <a:fillRect/>
          </a:stretch>
        </p:blipFill>
        <p:spPr bwMode="white">
          <a:xfrm>
            <a:off x="9996846" y="356982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4" name="Graphic 93"/>
          <p:cNvPicPr>
            <a:picLocks noChangeAspect="1"/>
          </p:cNvPicPr>
          <p:nvPr/>
        </p:nvPicPr>
        <p:blipFill>
          <a:blip r:embed="rId41">
            <a:lum/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rcRect/>
          <a:stretch>
            <a:fillRect/>
          </a:stretch>
        </p:blipFill>
        <p:spPr bwMode="white">
          <a:xfrm>
            <a:off x="10009443" y="525644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5" name="TextBox 94"/>
          <p:cNvSpPr txBox="1">
            <a:spLocks noChangeArrowheads="1"/>
          </p:cNvSpPr>
          <p:nvPr/>
        </p:nvSpPr>
        <p:spPr bwMode="white">
          <a:xfrm>
            <a:off x="10207481" y="3578463"/>
            <a:ext cx="150554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App enforced restrictions</a:t>
            </a:r>
          </a:p>
        </p:txBody>
      </p:sp>
      <p:sp>
        <p:nvSpPr>
          <p:cNvPr id="96" name="TextBox 95"/>
          <p:cNvSpPr txBox="1">
            <a:spLocks noChangeArrowheads="1"/>
          </p:cNvSpPr>
          <p:nvPr/>
        </p:nvSpPr>
        <p:spPr bwMode="white">
          <a:xfrm>
            <a:off x="10201167" y="3899846"/>
            <a:ext cx="181011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Conditional Access App Control</a:t>
            </a:r>
          </a:p>
        </p:txBody>
      </p:sp>
      <p:sp>
        <p:nvSpPr>
          <p:cNvPr id="97" name="TextBox 96"/>
          <p:cNvSpPr txBox="1">
            <a:spLocks noChangeArrowheads="1"/>
          </p:cNvSpPr>
          <p:nvPr/>
        </p:nvSpPr>
        <p:spPr bwMode="white">
          <a:xfrm>
            <a:off x="10215627" y="4357505"/>
            <a:ext cx="1090363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Sign-in frequency</a:t>
            </a:r>
          </a:p>
        </p:txBody>
      </p:sp>
      <p:sp>
        <p:nvSpPr>
          <p:cNvPr id="98" name="TextBox 97"/>
          <p:cNvSpPr txBox="1">
            <a:spLocks noChangeArrowheads="1"/>
          </p:cNvSpPr>
          <p:nvPr/>
        </p:nvSpPr>
        <p:spPr bwMode="white">
          <a:xfrm>
            <a:off x="10225446" y="4793305"/>
            <a:ext cx="156966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Persistent browser session</a:t>
            </a:r>
          </a:p>
        </p:txBody>
      </p:sp>
      <p:sp>
        <p:nvSpPr>
          <p:cNvPr id="100" name="TextBox 99"/>
          <p:cNvSpPr txBox="1">
            <a:spLocks noChangeArrowheads="1"/>
          </p:cNvSpPr>
          <p:nvPr/>
        </p:nvSpPr>
        <p:spPr bwMode="white">
          <a:xfrm>
            <a:off x="10229552" y="5232376"/>
            <a:ext cx="1717137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Continuous access evaluation</a:t>
            </a:r>
          </a:p>
        </p:txBody>
      </p:sp>
      <p:sp>
        <p:nvSpPr>
          <p:cNvPr id="101" name="TextBox 100"/>
          <p:cNvSpPr txBox="1">
            <a:spLocks noChangeArrowheads="1"/>
          </p:cNvSpPr>
          <p:nvPr/>
        </p:nvSpPr>
        <p:spPr bwMode="white">
          <a:xfrm>
            <a:off x="10259108" y="5658625"/>
            <a:ext cx="153599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Disable resilience defaults</a:t>
            </a:r>
          </a:p>
        </p:txBody>
      </p:sp>
      <p:pic>
        <p:nvPicPr>
          <p:cNvPr id="103" name="Graphic 102"/>
          <p:cNvPicPr>
            <a:picLocks noChangeAspect="1"/>
          </p:cNvPicPr>
          <p:nvPr/>
        </p:nvPicPr>
        <p:blipFill>
          <a:blip r:embed="rId43">
            <a:lum/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rcRect/>
          <a:stretch>
            <a:fillRect/>
          </a:stretch>
        </p:blipFill>
        <p:spPr bwMode="white">
          <a:xfrm>
            <a:off x="9996846" y="479900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5" name="Graphic 104"/>
          <p:cNvPicPr>
            <a:picLocks noChangeAspect="1"/>
          </p:cNvPicPr>
          <p:nvPr/>
        </p:nvPicPr>
        <p:blipFill>
          <a:blip r:embed="rId45">
            <a:lum/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rcRect/>
          <a:stretch>
            <a:fillRect/>
          </a:stretch>
        </p:blipFill>
        <p:spPr bwMode="white">
          <a:xfrm>
            <a:off x="9996846" y="437457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7" name="Graphic 106"/>
          <p:cNvPicPr>
            <a:picLocks noChangeAspect="1"/>
          </p:cNvPicPr>
          <p:nvPr/>
        </p:nvPicPr>
        <p:blipFill>
          <a:blip r:embed="rId7">
            <a:lum/>
            <a:extLst>
              <a:ext uri="{96DAC541-7B7A-43D3-8B79-37D633B846F1}">
                <asvg:svgBlip xmlns:asvg="http://schemas.microsoft.com/office/drawing/2016/SVG/main" r:embed="rId47"/>
              </a:ext>
            </a:extLst>
          </a:blip>
          <a:srcRect/>
          <a:stretch>
            <a:fillRect/>
          </a:stretch>
        </p:blipFill>
        <p:spPr bwMode="white">
          <a:xfrm>
            <a:off x="9996846" y="391529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15" name="SessionSifInterval"/>
          <p:cNvSpPr txBox="1">
            <a:spLocks noChangeArrowheads="1"/>
          </p:cNvSpPr>
          <p:nvPr/>
        </p:nvSpPr>
        <p:spPr bwMode="white">
          <a:xfrm>
            <a:off x="10296745" y="4516775"/>
            <a:ext cx="1249060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Periodic reauthentication</a:t>
            </a:r>
          </a:p>
        </p:txBody>
      </p:sp>
      <p:sp>
        <p:nvSpPr>
          <p:cNvPr id="114" name="SessionCasType"/>
          <p:cNvSpPr txBox="1">
            <a:spLocks noChangeArrowheads="1"/>
          </p:cNvSpPr>
          <p:nvPr/>
        </p:nvSpPr>
        <p:spPr bwMode="white">
          <a:xfrm>
            <a:off x="10296745" y="4075500"/>
            <a:ext cx="95410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App Control Policy</a:t>
            </a:r>
          </a:p>
        </p:txBody>
      </p:sp>
      <p:sp>
        <p:nvSpPr>
          <p:cNvPr id="116" name="SessionPersistenBrowserMode"/>
          <p:cNvSpPr txBox="1">
            <a:spLocks noChangeArrowheads="1"/>
          </p:cNvSpPr>
          <p:nvPr/>
        </p:nvSpPr>
        <p:spPr bwMode="white">
          <a:xfrm>
            <a:off x="10309761" y="4945281"/>
            <a:ext cx="918841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Always persistent</a:t>
            </a:r>
          </a:p>
        </p:txBody>
      </p:sp>
      <p:sp>
        <p:nvSpPr>
          <p:cNvPr id="118" name="SessionCaeMode"/>
          <p:cNvSpPr txBox="1">
            <a:spLocks noChangeArrowheads="1"/>
          </p:cNvSpPr>
          <p:nvPr/>
        </p:nvSpPr>
        <p:spPr bwMode="white">
          <a:xfrm>
            <a:off x="10301386" y="5393378"/>
            <a:ext cx="15359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US" sz="800" dirty="0"/>
              <a:t>Strictly enforce location policies</a:t>
            </a:r>
          </a:p>
        </p:txBody>
      </p:sp>
      <p:sp>
        <p:nvSpPr>
          <p:cNvPr id="119" name="ShadeSessionAppEnforced"/>
          <p:cNvSpPr>
            <a:spLocks/>
          </p:cNvSpPr>
          <p:nvPr/>
        </p:nvSpPr>
        <p:spPr bwMode="white">
          <a:xfrm>
            <a:off x="9959680" y="3548808"/>
            <a:ext cx="2051597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0" name="ShadeSessionCas"/>
          <p:cNvSpPr>
            <a:spLocks/>
          </p:cNvSpPr>
          <p:nvPr/>
        </p:nvSpPr>
        <p:spPr bwMode="white">
          <a:xfrm>
            <a:off x="9978939" y="3884212"/>
            <a:ext cx="2087576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1" name="ShadeSessionSif"/>
          <p:cNvSpPr>
            <a:spLocks/>
          </p:cNvSpPr>
          <p:nvPr/>
        </p:nvSpPr>
        <p:spPr bwMode="white">
          <a:xfrm>
            <a:off x="9940787" y="4320077"/>
            <a:ext cx="2125728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2" name="ShadeSessionPersistentBrowser"/>
          <p:cNvSpPr>
            <a:spLocks/>
          </p:cNvSpPr>
          <p:nvPr/>
        </p:nvSpPr>
        <p:spPr bwMode="white">
          <a:xfrm>
            <a:off x="9938833" y="4746195"/>
            <a:ext cx="207244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" name="Label Secure Sign In Session"/>
          <p:cNvSpPr txBox="1">
            <a:spLocks noChangeArrowheads="1"/>
          </p:cNvSpPr>
          <p:nvPr/>
        </p:nvSpPr>
        <p:spPr bwMode="white">
          <a:xfrm>
            <a:off x="10260000" y="6084874"/>
            <a:ext cx="166584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Token protection for session</a:t>
            </a:r>
          </a:p>
        </p:txBody>
      </p:sp>
      <p:pic>
        <p:nvPicPr>
          <p:cNvPr id="77" name="IconSessionCaeDisable" descr="Close with solid fill"/>
          <p:cNvPicPr>
            <a:picLocks noChangeAspect="1"/>
          </p:cNvPicPr>
          <p:nvPr/>
        </p:nvPicPr>
        <p:blipFill>
          <a:blip r:embed="rId48">
            <a:lum/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rcRect/>
          <a:stretch>
            <a:fillRect/>
          </a:stretch>
        </p:blipFill>
        <p:spPr bwMode="white">
          <a:xfrm>
            <a:off x="9979885" y="5218651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2" name="IconSessionSecureSignInSession 1"/>
          <p:cNvPicPr>
            <a:picLocks noChangeAspect="1"/>
          </p:cNvPicPr>
          <p:nvPr/>
        </p:nvPicPr>
        <p:blipFill>
          <a:blip r:embed="rId50">
            <a:lum/>
            <a:extLst>
              <a:ext uri="{96DAC541-7B7A-43D3-8B79-37D633B846F1}">
                <asvg:svgBlip xmlns:asvg="http://schemas.microsoft.com/office/drawing/2016/SVG/main" r:embed="rId51"/>
              </a:ext>
            </a:extLst>
          </a:blip>
          <a:srcRect/>
          <a:stretch>
            <a:fillRect/>
          </a:stretch>
        </p:blipFill>
        <p:spPr bwMode="white">
          <a:xfrm>
            <a:off x="9997200" y="6085768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3" name="ShadeSessionCae"/>
          <p:cNvSpPr>
            <a:spLocks/>
          </p:cNvSpPr>
          <p:nvPr/>
        </p:nvSpPr>
        <p:spPr bwMode="white">
          <a:xfrm>
            <a:off x="9987595" y="5219780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76" name="ShadeSessionSecureSignIn"/>
          <p:cNvSpPr>
            <a:spLocks/>
          </p:cNvSpPr>
          <p:nvPr/>
        </p:nvSpPr>
        <p:spPr bwMode="white">
          <a:xfrm>
            <a:off x="9996846" y="5986498"/>
            <a:ext cx="2014431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pic>
        <p:nvPicPr>
          <p:cNvPr id="102" name="Graphic 101"/>
          <p:cNvPicPr>
            <a:picLocks noChangeAspect="1"/>
          </p:cNvPicPr>
          <p:nvPr/>
        </p:nvPicPr>
        <p:blipFill>
          <a:blip r:embed="rId52">
            <a:lum/>
            <a:extLst>
              <a:ext uri="{96DAC541-7B7A-43D3-8B79-37D633B846F1}">
                <asvg:svgBlip xmlns:asvg="http://schemas.microsoft.com/office/drawing/2016/SVG/main" r:embed="rId53"/>
              </a:ext>
            </a:extLst>
          </a:blip>
          <a:srcRect/>
          <a:stretch>
            <a:fillRect/>
          </a:stretch>
        </p:blipFill>
        <p:spPr bwMode="white">
          <a:xfrm>
            <a:off x="9997200" y="5663777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80" name="Graphic 79" descr="Close with solid fill"/>
          <p:cNvPicPr>
            <a:picLocks noChangeAspect="1"/>
          </p:cNvPicPr>
          <p:nvPr/>
        </p:nvPicPr>
        <p:blipFill>
          <a:blip r:embed="rId48">
            <a:lum/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rcRect/>
          <a:stretch>
            <a:fillRect/>
          </a:stretch>
        </p:blipFill>
        <p:spPr bwMode="white">
          <a:xfrm>
            <a:off x="9963899" y="5637424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4" name="ShadeSessionDisableResilience"/>
          <p:cNvSpPr>
            <a:spLocks/>
          </p:cNvSpPr>
          <p:nvPr/>
        </p:nvSpPr>
        <p:spPr bwMode="white">
          <a:xfrm>
            <a:off x="9959681" y="5602709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2" name="PolicyName">
            <a:hlinkClick r:id="" action="ppaction://hlinkfile"/>
          </p:cNvPr>
          <p:cNvSpPr>
            <a:spLocks noGrp="1"/>
          </p:cNvSpPr>
          <p:nvPr>
            <p:ph type="title"/>
          </p:nvPr>
        </p:nvSpPr>
        <p:spPr bwMode="white">
          <a:xfrm>
            <a:off x="838200" y="115511"/>
            <a:ext cx="10003967" cy="609565"/>
          </a:xfrm>
          <a:ln>
            <a:headEnd type="none"/>
            <a:tailEnd type="none"/>
          </a:ln>
        </p:spPr>
        <p:txBody>
          <a:bodyPr wrap="square">
            <a:noAutofit/>
          </a:bodyPr>
          <a:lstStyle/>
          <a:p>
            <a:pPr defTabSz="914400"/>
            <a:r>
              <a:rPr lang="en-US" sz="2000" b="1" dirty="0"/>
              <a:t>[All Apps] [All Users] (Block) Legacy Authentication</a:t>
            </a:r>
          </a:p>
        </p:txBody>
      </p:sp>
      <p:sp>
        <p:nvSpPr>
          <p:cNvPr id="16" name="LastModified"/>
          <p:cNvSpPr txBox="1">
            <a:spLocks noChangeArrowheads="1"/>
          </p:cNvSpPr>
          <p:nvPr/>
        </p:nvSpPr>
        <p:spPr bwMode="white">
          <a:xfrm>
            <a:off x="10556111" y="388376"/>
            <a:ext cx="15483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algn="r" defTabSz="457200"/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Last modified: 2025-04-24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UserWorkload"/>
          <p:cNvSpPr>
            <a:spLocks/>
          </p:cNvSpPr>
          <p:nvPr/>
        </p:nvSpPr>
        <p:spPr bwMode="auto">
          <a:xfrm>
            <a:off x="175820" y="2709769"/>
            <a:ext cx="2202823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Users</a:t>
            </a:r>
          </a:p>
        </p:txBody>
      </p:sp>
      <p:sp>
        <p:nvSpPr>
          <p:cNvPr id="7" name="UserWorkloadIncExc"/>
          <p:cNvSpPr txBox="1">
            <a:spLocks noChangeArrowheads="1"/>
          </p:cNvSpPr>
          <p:nvPr/>
        </p:nvSpPr>
        <p:spPr bwMode="white">
          <a:xfrm>
            <a:off x="125485" y="3698952"/>
            <a:ext cx="3062115" cy="313265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 numCol="1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b="1" dirty="0"/>
            </a:pPr>
            <a:r>
              <a:t> Users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r>
              <a:t>🚫 Exclude:</a:t>
            </a:r>
          </a:p>
          <a:p>
            <a:pPr defTabSz="457200">
              <a:defRPr sz="1100" b="1" dirty="0"/>
            </a:pPr>
            <a:r>
              <a:t> Users</a:t>
            </a:r>
          </a:p>
          <a:p>
            <a:pPr defTabSz="457200">
              <a:defRPr sz="1100" dirty="0"/>
            </a:pPr>
            <a:r>
              <a:t> - BGA OCC01</a:t>
            </a:r>
          </a:p>
          <a:p>
            <a:pPr defTabSz="457200">
              <a:defRPr sz="1100" dirty="0"/>
            </a:pPr>
            <a:r>
              <a:t> - BGA OCC02</a:t>
            </a:r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19" name="Risks"/>
          <p:cNvSpPr txBox="1">
            <a:spLocks noChangeArrowheads="1"/>
          </p:cNvSpPr>
          <p:nvPr/>
        </p:nvSpPr>
        <p:spPr bwMode="white">
          <a:xfrm>
            <a:off x="524485" y="1021946"/>
            <a:ext cx="1348869" cy="166886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0" name="Platforms"/>
          <p:cNvSpPr txBox="1">
            <a:spLocks noChangeArrowheads="1"/>
          </p:cNvSpPr>
          <p:nvPr/>
        </p:nvSpPr>
        <p:spPr bwMode="white">
          <a:xfrm>
            <a:off x="1826931" y="1021947"/>
            <a:ext cx="2061056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3" name="Locations"/>
          <p:cNvSpPr txBox="1">
            <a:spLocks noChangeArrowheads="1"/>
          </p:cNvSpPr>
          <p:nvPr/>
        </p:nvSpPr>
        <p:spPr bwMode="white">
          <a:xfrm>
            <a:off x="8324941" y="1021947"/>
            <a:ext cx="3513702" cy="159258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4" name="ClientAppTypes"/>
          <p:cNvSpPr txBox="1">
            <a:spLocks noChangeArrowheads="1"/>
          </p:cNvSpPr>
          <p:nvPr/>
        </p:nvSpPr>
        <p:spPr bwMode="white">
          <a:xfrm>
            <a:off x="3810664" y="1021947"/>
            <a:ext cx="1581599" cy="165343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5" name="DeviceFilters"/>
          <p:cNvSpPr txBox="1">
            <a:spLocks noChangeArrowheads="1"/>
          </p:cNvSpPr>
          <p:nvPr/>
        </p:nvSpPr>
        <p:spPr bwMode="white">
          <a:xfrm>
            <a:off x="5818151" y="1022762"/>
            <a:ext cx="2248808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dirty="0"/>
            </a:pPr>
            <a:r>
              <a:t>Include when</a:t>
            </a:r>
          </a:p>
          <a:p>
            <a:pPr defTabSz="457200">
              <a:defRPr sz="1100" dirty="0"/>
            </a:pPr>
            <a:r>
              <a:t>device.trustType -eq "AzureAD" -or device.trustType -eq "ServerAD" -or device.trustType -eq "Workplace"</a:t>
            </a:r>
          </a:p>
          <a:p>
            <a:pPr defTabSz="457200">
              <a:defRPr sz="1100" dirty="0"/>
            </a:pPr>
            <a:endParaRPr/>
          </a:p>
        </p:txBody>
      </p:sp>
      <p:cxnSp>
        <p:nvCxnSpPr>
          <p:cNvPr id="27" name="Straight Arrow Connector 26" descr="Arrow drawn from user/workload  to the action being performed by the user such as accessing cloud apps."/>
          <p:cNvCxnSpPr/>
          <p:nvPr/>
        </p:nvCxnSpPr>
        <p:spPr bwMode="white">
          <a:xfrm>
            <a:off x="2195232" y="3159047"/>
            <a:ext cx="3959471" cy="1"/>
          </a:xfrm>
          <a:prstGeom prst="straightConnector1">
            <a:avLst/>
          </a:prstGeom>
          <a:ln w="76200"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2" name="GrantLabelGrantAccess"/>
          <p:cNvSpPr txBox="1">
            <a:spLocks noChangeArrowheads="1"/>
          </p:cNvSpPr>
          <p:nvPr/>
        </p:nvSpPr>
        <p:spPr bwMode="white">
          <a:xfrm>
            <a:off x="3928464" y="2723089"/>
            <a:ext cx="1381340" cy="369332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algn="ctr" defTabSz="457200"/>
            <a:r>
              <a:rPr lang="en-US" b="1" dirty="0">
                <a:solidFill>
                  <a:srgbClr val="00B050"/>
                </a:solidFill>
              </a:rPr>
              <a:t>Grant access</a:t>
            </a:r>
          </a:p>
        </p:txBody>
      </p:sp>
      <p:pic>
        <p:nvPicPr>
          <p:cNvPr id="35" name="IconGrantAccess" descr="Picture with gren tick sign to indicate access was granted"/>
          <p:cNvPicPr>
            <a:picLocks noChangeAspect="1"/>
          </p:cNvPicPr>
          <p:nvPr/>
        </p:nvPicPr>
        <p:blipFill>
          <a:blip r:embed="rId3">
            <a:lum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 bwMode="white">
          <a:xfrm>
            <a:off x="5309361" y="2730170"/>
            <a:ext cx="356616" cy="356616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26" name="IconGroupIdentity"/>
          <p:cNvPicPr>
            <a:picLocks noChangeAspect="1"/>
          </p:cNvPicPr>
          <p:nvPr/>
        </p:nvPicPr>
        <p:blipFill>
          <a:blip r:embed="rId5">
            <a:lum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 bwMode="white">
          <a:xfrm>
            <a:off x="327701" y="2839007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36" name="Graphic 35"/>
          <p:cNvPicPr>
            <a:picLocks noChangeAspect="1"/>
          </p:cNvPicPr>
          <p:nvPr/>
        </p:nvPicPr>
        <p:blipFill>
          <a:blip r:embed="rId7">
            <a:lum/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p:blipFill>
        <p:spPr bwMode="white">
          <a:xfrm>
            <a:off x="495610" y="197468"/>
            <a:ext cx="381196" cy="38119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" name="CloudAppAction"/>
          <p:cNvSpPr>
            <a:spLocks/>
          </p:cNvSpPr>
          <p:nvPr/>
        </p:nvSpPr>
        <p:spPr bwMode="auto">
          <a:xfrm>
            <a:off x="6206089" y="2718506"/>
            <a:ext cx="3227026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Microsoft Admin Portals</a:t>
            </a:r>
          </a:p>
        </p:txBody>
      </p:sp>
      <p:sp>
        <p:nvSpPr>
          <p:cNvPr id="21" name="StateEnabled"/>
          <p:cNvSpPr>
            <a:spLocks/>
          </p:cNvSpPr>
          <p:nvPr/>
        </p:nvSpPr>
        <p:spPr bwMode="white">
          <a:xfrm>
            <a:off x="10842171" y="83487"/>
            <a:ext cx="1260389" cy="264812"/>
          </a:xfrm>
          <a:prstGeom prst="round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r>
              <a:rPr lang="en-US" sz="800" dirty="0"/>
              <a:t>Policy Enabled</a:t>
            </a:r>
          </a:p>
        </p:txBody>
      </p:sp>
      <p:grpSp>
        <p:nvGrpSpPr>
          <p:cNvPr id="10" name="IconRiskyUsers"/>
          <p:cNvGrpSpPr>
            <a:grpSpLocks/>
          </p:cNvGrpSpPr>
          <p:nvPr/>
        </p:nvGrpSpPr>
        <p:grpSpPr bwMode="white">
          <a:xfrm>
            <a:off x="635426" y="738677"/>
            <a:ext cx="1202553" cy="274320"/>
            <a:chOff x="2013768" y="1033956"/>
            <a:chExt cx="1342320" cy="274320"/>
          </a:xfrm>
        </p:grpSpPr>
        <p:pic>
          <p:nvPicPr>
            <p:cNvPr id="46" name="Graphic 1"/>
            <p:cNvPicPr>
              <a:picLocks noChangeAspect="1"/>
            </p:cNvPicPr>
            <p:nvPr/>
          </p:nvPicPr>
          <p:blipFill>
            <a:blip r:embed="rId9">
              <a:lum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013768" y="1033956"/>
              <a:ext cx="274320" cy="27432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5" name="Label 1"/>
            <p:cNvSpPr txBox="1">
              <a:spLocks noChangeArrowheads="1"/>
            </p:cNvSpPr>
            <p:nvPr/>
          </p:nvSpPr>
          <p:spPr bwMode="white">
            <a:xfrm>
              <a:off x="2240077" y="1040706"/>
              <a:ext cx="1116011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Risk</a:t>
              </a:r>
            </a:p>
          </p:txBody>
        </p:sp>
      </p:grpSp>
      <p:grpSp>
        <p:nvGrpSpPr>
          <p:cNvPr id="14" name="IconPlatforms"/>
          <p:cNvGrpSpPr>
            <a:grpSpLocks/>
          </p:cNvGrpSpPr>
          <p:nvPr/>
        </p:nvGrpSpPr>
        <p:grpSpPr bwMode="white">
          <a:xfrm>
            <a:off x="1927788" y="715249"/>
            <a:ext cx="1719285" cy="365760"/>
            <a:chOff x="3262737" y="994835"/>
            <a:chExt cx="1719285" cy="365760"/>
          </a:xfrm>
        </p:grpSpPr>
        <p:pic>
          <p:nvPicPr>
            <p:cNvPr id="29" name="Graphic 1"/>
            <p:cNvPicPr>
              <a:picLocks noChangeAspect="1"/>
            </p:cNvPicPr>
            <p:nvPr/>
          </p:nvPicPr>
          <p:blipFill>
            <a:blip r:embed="rId11">
              <a:lum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3262737" y="994835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1" name="Label 1"/>
            <p:cNvSpPr txBox="1">
              <a:spLocks noChangeArrowheads="1"/>
            </p:cNvSpPr>
            <p:nvPr/>
          </p:nvSpPr>
          <p:spPr bwMode="white">
            <a:xfrm>
              <a:off x="3582397" y="1027255"/>
              <a:ext cx="1399625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Device platforms</a:t>
              </a:r>
            </a:p>
          </p:txBody>
        </p:sp>
      </p:grpSp>
      <p:grpSp>
        <p:nvGrpSpPr>
          <p:cNvPr id="17" name="IconClientAppTypes"/>
          <p:cNvGrpSpPr>
            <a:grpSpLocks/>
          </p:cNvGrpSpPr>
          <p:nvPr/>
        </p:nvGrpSpPr>
        <p:grpSpPr bwMode="white">
          <a:xfrm>
            <a:off x="3908159" y="670015"/>
            <a:ext cx="1852971" cy="365760"/>
            <a:chOff x="4858970" y="975927"/>
            <a:chExt cx="1852971" cy="365760"/>
          </a:xfrm>
        </p:grpSpPr>
        <p:pic>
          <p:nvPicPr>
            <p:cNvPr id="58" name="Graphic 1"/>
            <p:cNvPicPr>
              <a:picLocks noChangeAspect="1"/>
            </p:cNvPicPr>
            <p:nvPr/>
          </p:nvPicPr>
          <p:blipFill>
            <a:blip r:embed="rId13">
              <a:lum/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858970" y="975927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5" name="Label 1"/>
            <p:cNvSpPr txBox="1">
              <a:spLocks noChangeArrowheads="1"/>
            </p:cNvSpPr>
            <p:nvPr/>
          </p:nvSpPr>
          <p:spPr bwMode="white">
            <a:xfrm>
              <a:off x="5193983" y="1009899"/>
              <a:ext cx="1517958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Client apps</a:t>
              </a:r>
            </a:p>
          </p:txBody>
        </p:sp>
      </p:grpSp>
      <p:grpSp>
        <p:nvGrpSpPr>
          <p:cNvPr id="37" name="IconLocations"/>
          <p:cNvGrpSpPr>
            <a:grpSpLocks/>
          </p:cNvGrpSpPr>
          <p:nvPr/>
        </p:nvGrpSpPr>
        <p:grpSpPr bwMode="white">
          <a:xfrm>
            <a:off x="8411896" y="646848"/>
            <a:ext cx="1850168" cy="388465"/>
            <a:chOff x="2321433" y="3262888"/>
            <a:chExt cx="1850168" cy="388465"/>
          </a:xfrm>
        </p:grpSpPr>
        <p:pic>
          <p:nvPicPr>
            <p:cNvPr id="33" name="Graphic 1"/>
            <p:cNvPicPr>
              <a:picLocks noChangeAspect="1"/>
            </p:cNvPicPr>
            <p:nvPr/>
          </p:nvPicPr>
          <p:blipFill>
            <a:blip r:embed="rId15">
              <a:lum/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321433" y="3262888"/>
              <a:ext cx="388465" cy="388465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28" name="Label 1"/>
            <p:cNvSpPr txBox="1">
              <a:spLocks noChangeArrowheads="1"/>
            </p:cNvSpPr>
            <p:nvPr/>
          </p:nvSpPr>
          <p:spPr bwMode="white">
            <a:xfrm>
              <a:off x="2713321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Locations</a:t>
              </a:r>
              <a:endParaRPr lang="en-US" sz="1100" b="1" dirty="0"/>
            </a:p>
          </p:txBody>
        </p:sp>
      </p:grpSp>
      <p:grpSp>
        <p:nvGrpSpPr>
          <p:cNvPr id="39" name="IconDeviceFilters"/>
          <p:cNvGrpSpPr>
            <a:grpSpLocks/>
          </p:cNvGrpSpPr>
          <p:nvPr/>
        </p:nvGrpSpPr>
        <p:grpSpPr bwMode="white">
          <a:xfrm>
            <a:off x="5472818" y="661958"/>
            <a:ext cx="1839823" cy="364111"/>
            <a:chOff x="4195414" y="3273669"/>
            <a:chExt cx="1839823" cy="364111"/>
          </a:xfrm>
        </p:grpSpPr>
        <p:pic>
          <p:nvPicPr>
            <p:cNvPr id="60" name="Graphic 1"/>
            <p:cNvPicPr>
              <a:picLocks noChangeAspect="1"/>
            </p:cNvPicPr>
            <p:nvPr/>
          </p:nvPicPr>
          <p:blipFill>
            <a:blip r:embed="rId17">
              <a:lum/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195414" y="3273669"/>
              <a:ext cx="364111" cy="364111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31" name="Label 1"/>
            <p:cNvSpPr txBox="1">
              <a:spLocks noChangeArrowheads="1"/>
            </p:cNvSpPr>
            <p:nvPr/>
          </p:nvSpPr>
          <p:spPr bwMode="white">
            <a:xfrm>
              <a:off x="4576957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Filter for devices</a:t>
              </a:r>
              <a:endParaRPr lang="en-US" sz="1100" b="1" dirty="0"/>
            </a:p>
          </p:txBody>
        </p:sp>
      </p:grpSp>
      <p:pic>
        <p:nvPicPr>
          <p:cNvPr id="62" name="IconGrantMultifactorAuthentication"/>
          <p:cNvPicPr>
            <a:picLocks noChangeAspect="1"/>
          </p:cNvPicPr>
          <p:nvPr/>
        </p:nvPicPr>
        <p:blipFill>
          <a:blip r:embed="rId19">
            <a:lum/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rcRect/>
          <a:stretch>
            <a:fillRect/>
          </a:stretch>
        </p:blipFill>
        <p:spPr bwMode="white">
          <a:xfrm>
            <a:off x="3410647" y="3566863"/>
            <a:ext cx="17145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5" name="IconGrantMultifactorAuthenticationLabel"/>
          <p:cNvSpPr txBox="1">
            <a:spLocks noChangeArrowheads="1"/>
          </p:cNvSpPr>
          <p:nvPr/>
        </p:nvSpPr>
        <p:spPr bwMode="white">
          <a:xfrm>
            <a:off x="3575836" y="3571997"/>
            <a:ext cx="19007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Multifactor authentication</a:t>
            </a:r>
            <a:endParaRPr lang="en-US" sz="1000" dirty="0"/>
          </a:p>
        </p:txBody>
      </p:sp>
      <p:pic>
        <p:nvPicPr>
          <p:cNvPr id="38" name="IconGrantAuthenticationStrength"/>
          <p:cNvPicPr>
            <a:picLocks noChangeAspect="1"/>
          </p:cNvPicPr>
          <p:nvPr/>
        </p:nvPicPr>
        <p:blipFill>
          <a:blip r:embed="rId21">
            <a:lum/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>
            <a:fillRect/>
          </a:stretch>
        </p:blipFill>
        <p:spPr bwMode="white">
          <a:xfrm>
            <a:off x="3374515" y="3905034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7" name="IconGrantAuthenticationStrengthLabel"/>
          <p:cNvSpPr txBox="1">
            <a:spLocks noChangeArrowheads="1"/>
          </p:cNvSpPr>
          <p:nvPr/>
        </p:nvSpPr>
        <p:spPr bwMode="white">
          <a:xfrm>
            <a:off x="3575836" y="3907323"/>
            <a:ext cx="2185294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Authentication strength</a:t>
            </a:r>
            <a:endParaRPr lang="en-US" sz="1000" dirty="0"/>
          </a:p>
        </p:txBody>
      </p:sp>
      <p:pic>
        <p:nvPicPr>
          <p:cNvPr id="52" name="IconGrantDeviceCompliance"/>
          <p:cNvPicPr>
            <a:picLocks noChangeAspect="1"/>
          </p:cNvPicPr>
          <p:nvPr/>
        </p:nvPicPr>
        <p:blipFill>
          <a:blip r:embed="rId23">
            <a:lum/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/>
          <a:stretch>
            <a:fillRect/>
          </a:stretch>
        </p:blipFill>
        <p:spPr bwMode="white">
          <a:xfrm>
            <a:off x="3374515" y="4243205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9" name="IconGrantDeviceComplianceLabel"/>
          <p:cNvSpPr txBox="1">
            <a:spLocks noChangeArrowheads="1"/>
          </p:cNvSpPr>
          <p:nvPr/>
        </p:nvSpPr>
        <p:spPr bwMode="white">
          <a:xfrm>
            <a:off x="3575836" y="4242649"/>
            <a:ext cx="17378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Compliant device</a:t>
            </a:r>
            <a:endParaRPr lang="en-US" sz="1000" dirty="0"/>
          </a:p>
        </p:txBody>
      </p:sp>
      <p:pic>
        <p:nvPicPr>
          <p:cNvPr id="43" name="IconGrantHybridJoined"/>
          <p:cNvPicPr>
            <a:picLocks noChangeAspect="1"/>
          </p:cNvPicPr>
          <p:nvPr/>
        </p:nvPicPr>
        <p:blipFill>
          <a:blip r:embed="rId25">
            <a:lum/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/>
          <a:stretch>
            <a:fillRect/>
          </a:stretch>
        </p:blipFill>
        <p:spPr bwMode="white">
          <a:xfrm>
            <a:off x="3374515" y="4581376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3" name="IconGrantHybridJoinedLabel"/>
          <p:cNvSpPr txBox="1">
            <a:spLocks noChangeArrowheads="1"/>
          </p:cNvSpPr>
          <p:nvPr/>
        </p:nvSpPr>
        <p:spPr bwMode="white">
          <a:xfrm>
            <a:off x="3575836" y="4577975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Hybrid Azure AD joined device</a:t>
            </a:r>
            <a:endParaRPr lang="en-US" sz="1000" dirty="0"/>
          </a:p>
        </p:txBody>
      </p:sp>
      <p:pic>
        <p:nvPicPr>
          <p:cNvPr id="48" name="IconGrantApprovedClientApp"/>
          <p:cNvPicPr>
            <a:picLocks noChangeAspect="1"/>
          </p:cNvPicPr>
          <p:nvPr/>
        </p:nvPicPr>
        <p:blipFill>
          <a:blip r:embed="rId27">
            <a:lum/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/>
          <a:stretch>
            <a:fillRect/>
          </a:stretch>
        </p:blipFill>
        <p:spPr bwMode="white">
          <a:xfrm>
            <a:off x="3374515" y="491954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5" name="IconGrantApprovedClientAppLabel"/>
          <p:cNvSpPr txBox="1">
            <a:spLocks noChangeArrowheads="1"/>
          </p:cNvSpPr>
          <p:nvPr/>
        </p:nvSpPr>
        <p:spPr bwMode="white">
          <a:xfrm>
            <a:off x="3575836" y="4913301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Approved client app</a:t>
            </a:r>
            <a:endParaRPr lang="en-US" sz="1000" dirty="0"/>
          </a:p>
        </p:txBody>
      </p:sp>
      <p:pic>
        <p:nvPicPr>
          <p:cNvPr id="42" name="IconGrantCustomAuth"/>
          <p:cNvPicPr>
            <a:picLocks noChangeAspect="1"/>
          </p:cNvPicPr>
          <p:nvPr/>
        </p:nvPicPr>
        <p:blipFill>
          <a:blip r:embed="rId29">
            <a:lum/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rcRect/>
          <a:stretch>
            <a:fillRect/>
          </a:stretch>
        </p:blipFill>
        <p:spPr bwMode="white">
          <a:xfrm>
            <a:off x="3374515" y="593406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9" name="IconGrantCustomAuthLabel"/>
          <p:cNvSpPr txBox="1">
            <a:spLocks noChangeArrowheads="1"/>
          </p:cNvSpPr>
          <p:nvPr/>
        </p:nvSpPr>
        <p:spPr bwMode="white">
          <a:xfrm>
            <a:off x="3575836" y="5919279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Custom authentication factor</a:t>
            </a:r>
            <a:endParaRPr lang="en-US" sz="1000" dirty="0"/>
          </a:p>
        </p:txBody>
      </p:sp>
      <p:pic>
        <p:nvPicPr>
          <p:cNvPr id="40" name="IconGrantTermsOfUse"/>
          <p:cNvPicPr>
            <a:picLocks noChangeAspect="1"/>
          </p:cNvPicPr>
          <p:nvPr/>
        </p:nvPicPr>
        <p:blipFill>
          <a:blip r:embed="rId31">
            <a:lum/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rcRect/>
          <a:stretch>
            <a:fillRect/>
          </a:stretch>
        </p:blipFill>
        <p:spPr bwMode="white">
          <a:xfrm>
            <a:off x="3374515" y="627222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3" name="IconGrantTermsOfUseLabel"/>
          <p:cNvSpPr txBox="1">
            <a:spLocks noChangeArrowheads="1"/>
          </p:cNvSpPr>
          <p:nvPr/>
        </p:nvSpPr>
        <p:spPr bwMode="white">
          <a:xfrm>
            <a:off x="3575836" y="625460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Terms of use</a:t>
            </a:r>
            <a:endParaRPr lang="en-US" sz="1000" dirty="0"/>
          </a:p>
        </p:txBody>
      </p:sp>
      <p:sp>
        <p:nvSpPr>
          <p:cNvPr id="56" name="IconGrantAppProtectionLabel"/>
          <p:cNvSpPr txBox="1">
            <a:spLocks noChangeArrowheads="1"/>
          </p:cNvSpPr>
          <p:nvPr/>
        </p:nvSpPr>
        <p:spPr bwMode="white">
          <a:xfrm>
            <a:off x="3575836" y="524862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 protection policy</a:t>
            </a:r>
            <a:endParaRPr lang="en-US" sz="1000" dirty="0"/>
          </a:p>
        </p:txBody>
      </p:sp>
      <p:pic>
        <p:nvPicPr>
          <p:cNvPr id="65" name="IconGrantAppProtection"/>
          <p:cNvPicPr>
            <a:picLocks noChangeAspect="1"/>
          </p:cNvPicPr>
          <p:nvPr/>
        </p:nvPicPr>
        <p:blipFill>
          <a:blip r:embed="rId33">
            <a:lum/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rcRect/>
          <a:stretch>
            <a:fillRect/>
          </a:stretch>
        </p:blipFill>
        <p:spPr bwMode="white">
          <a:xfrm>
            <a:off x="3374515" y="525771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7" name="IconGrantChangePasswordLabel"/>
          <p:cNvSpPr txBox="1">
            <a:spLocks noChangeArrowheads="1"/>
          </p:cNvSpPr>
          <p:nvPr/>
        </p:nvSpPr>
        <p:spPr bwMode="white">
          <a:xfrm>
            <a:off x="3575836" y="5583953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Change password</a:t>
            </a:r>
            <a:endParaRPr lang="en-US" sz="1000" dirty="0"/>
          </a:p>
        </p:txBody>
      </p:sp>
      <p:pic>
        <p:nvPicPr>
          <p:cNvPr id="67" name="IconGrantChangePassword"/>
          <p:cNvPicPr>
            <a:picLocks noChangeAspect="1"/>
          </p:cNvPicPr>
          <p:nvPr/>
        </p:nvPicPr>
        <p:blipFill>
          <a:blip r:embed="rId35">
            <a:lum/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rcRect/>
          <a:stretch>
            <a:fillRect/>
          </a:stretch>
        </p:blipFill>
        <p:spPr bwMode="white">
          <a:xfrm>
            <a:off x="3374515" y="5595889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4" name="ShadeRisk"/>
          <p:cNvSpPr>
            <a:spLocks/>
          </p:cNvSpPr>
          <p:nvPr/>
        </p:nvSpPr>
        <p:spPr bwMode="white">
          <a:xfrm>
            <a:off x="507564" y="650246"/>
            <a:ext cx="976864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66" name="ShadeDevicePlatforms"/>
          <p:cNvSpPr>
            <a:spLocks/>
          </p:cNvSpPr>
          <p:nvPr/>
        </p:nvSpPr>
        <p:spPr bwMode="white">
          <a:xfrm>
            <a:off x="1863623" y="663409"/>
            <a:ext cx="1773927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78" name="ShadeClientApps"/>
          <p:cNvSpPr>
            <a:spLocks/>
          </p:cNvSpPr>
          <p:nvPr/>
        </p:nvSpPr>
        <p:spPr bwMode="white">
          <a:xfrm>
            <a:off x="3802273" y="650246"/>
            <a:ext cx="1481482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79" name="ShadeLocations"/>
          <p:cNvSpPr>
            <a:spLocks/>
          </p:cNvSpPr>
          <p:nvPr/>
        </p:nvSpPr>
        <p:spPr bwMode="white">
          <a:xfrm>
            <a:off x="8217572" y="669110"/>
            <a:ext cx="1873684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4" name="ShadeGrantAuthStrength"/>
          <p:cNvSpPr>
            <a:spLocks/>
          </p:cNvSpPr>
          <p:nvPr/>
        </p:nvSpPr>
        <p:spPr bwMode="white">
          <a:xfrm>
            <a:off x="3350256" y="3869846"/>
            <a:ext cx="2069555" cy="27801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5" name="ShadeGrantCompliantDevice"/>
          <p:cNvSpPr>
            <a:spLocks/>
          </p:cNvSpPr>
          <p:nvPr/>
        </p:nvSpPr>
        <p:spPr bwMode="white">
          <a:xfrm>
            <a:off x="3361852" y="4243205"/>
            <a:ext cx="2077102" cy="26110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6" name="ShadeGrantHybridAzureADJoined"/>
          <p:cNvSpPr>
            <a:spLocks/>
          </p:cNvSpPr>
          <p:nvPr/>
        </p:nvSpPr>
        <p:spPr bwMode="white">
          <a:xfrm>
            <a:off x="3353637" y="4552268"/>
            <a:ext cx="2160906" cy="298395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7" name="ShadeGrantApprovedClientApp"/>
          <p:cNvSpPr>
            <a:spLocks/>
          </p:cNvSpPr>
          <p:nvPr/>
        </p:nvSpPr>
        <p:spPr bwMode="white">
          <a:xfrm>
            <a:off x="3331918" y="4876027"/>
            <a:ext cx="2182625" cy="29839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8" name="ShadeGrantAppProtectionPolicy"/>
          <p:cNvSpPr>
            <a:spLocks/>
          </p:cNvSpPr>
          <p:nvPr/>
        </p:nvSpPr>
        <p:spPr bwMode="white">
          <a:xfrm>
            <a:off x="3350256" y="5207226"/>
            <a:ext cx="2122561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9" name="ShadeGrantChangePassword"/>
          <p:cNvSpPr>
            <a:spLocks/>
          </p:cNvSpPr>
          <p:nvPr/>
        </p:nvSpPr>
        <p:spPr bwMode="white">
          <a:xfrm>
            <a:off x="3350257" y="5557021"/>
            <a:ext cx="2042006" cy="287239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0" name="ShadeGrantCustomAuthFactor"/>
          <p:cNvSpPr>
            <a:spLocks/>
          </p:cNvSpPr>
          <p:nvPr/>
        </p:nvSpPr>
        <p:spPr bwMode="white">
          <a:xfrm>
            <a:off x="3331918" y="5899058"/>
            <a:ext cx="2182625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1" name="ShadeGrantTermsOfUse"/>
          <p:cNvSpPr>
            <a:spLocks/>
          </p:cNvSpPr>
          <p:nvPr/>
        </p:nvSpPr>
        <p:spPr bwMode="white">
          <a:xfrm>
            <a:off x="3313823" y="6192350"/>
            <a:ext cx="101602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99" name="Rectangle 98"/>
          <p:cNvSpPr>
            <a:spLocks/>
          </p:cNvSpPr>
          <p:nvPr/>
        </p:nvSpPr>
        <p:spPr bwMode="white">
          <a:xfrm>
            <a:off x="3268757" y="3253404"/>
            <a:ext cx="2357725" cy="3498546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0" name="Rectangle 109"/>
          <p:cNvSpPr>
            <a:spLocks/>
          </p:cNvSpPr>
          <p:nvPr/>
        </p:nvSpPr>
        <p:spPr bwMode="white">
          <a:xfrm>
            <a:off x="9881750" y="3248255"/>
            <a:ext cx="2220808" cy="3510149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7" name="Rectangle 116"/>
          <p:cNvSpPr>
            <a:spLocks/>
          </p:cNvSpPr>
          <p:nvPr/>
        </p:nvSpPr>
        <p:spPr bwMode="white">
          <a:xfrm>
            <a:off x="26741" y="606825"/>
            <a:ext cx="11985015" cy="2063636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2" name="Conditions Label"/>
          <p:cNvSpPr txBox="1">
            <a:spLocks noChangeArrowheads="1"/>
          </p:cNvSpPr>
          <p:nvPr/>
        </p:nvSpPr>
        <p:spPr bwMode="white">
          <a:xfrm rot="16200000">
            <a:off x="-883507" y="1514324"/>
            <a:ext cx="2081441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Conditions</a:t>
            </a:r>
          </a:p>
        </p:txBody>
      </p:sp>
      <p:sp>
        <p:nvSpPr>
          <p:cNvPr id="109" name="Grant Controls"/>
          <p:cNvSpPr txBox="1">
            <a:spLocks noChangeArrowheads="1"/>
          </p:cNvSpPr>
          <p:nvPr/>
        </p:nvSpPr>
        <p:spPr bwMode="white">
          <a:xfrm>
            <a:off x="3252146" y="3244395"/>
            <a:ext cx="2391873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Grant Controls</a:t>
            </a:r>
          </a:p>
        </p:txBody>
      </p:sp>
      <p:sp>
        <p:nvSpPr>
          <p:cNvPr id="111" name="Session Controls"/>
          <p:cNvSpPr txBox="1">
            <a:spLocks noChangeArrowheads="1"/>
          </p:cNvSpPr>
          <p:nvPr/>
        </p:nvSpPr>
        <p:spPr bwMode="white">
          <a:xfrm>
            <a:off x="9864212" y="3243751"/>
            <a:ext cx="2238346" cy="23786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Session Controls</a:t>
            </a:r>
          </a:p>
        </p:txBody>
      </p:sp>
      <p:pic>
        <p:nvPicPr>
          <p:cNvPr id="72" name="Graphic 71"/>
          <p:cNvPicPr>
            <a:picLocks noChangeAspect="1"/>
          </p:cNvPicPr>
          <p:nvPr/>
        </p:nvPicPr>
        <p:blipFill>
          <a:blip r:embed="rId37">
            <a:lum/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rcRect/>
          <a:stretch>
            <a:fillRect/>
          </a:stretch>
        </p:blipFill>
        <p:spPr bwMode="white">
          <a:xfrm>
            <a:off x="9996846" y="356982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4" name="Graphic 93"/>
          <p:cNvPicPr>
            <a:picLocks noChangeAspect="1"/>
          </p:cNvPicPr>
          <p:nvPr/>
        </p:nvPicPr>
        <p:blipFill>
          <a:blip r:embed="rId39">
            <a:lum/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rcRect/>
          <a:stretch>
            <a:fillRect/>
          </a:stretch>
        </p:blipFill>
        <p:spPr bwMode="white">
          <a:xfrm>
            <a:off x="10009443" y="525644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5" name="TextBox 94"/>
          <p:cNvSpPr txBox="1">
            <a:spLocks noChangeArrowheads="1"/>
          </p:cNvSpPr>
          <p:nvPr/>
        </p:nvSpPr>
        <p:spPr bwMode="white">
          <a:xfrm>
            <a:off x="10207481" y="3578463"/>
            <a:ext cx="150554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App enforced restrictions</a:t>
            </a:r>
          </a:p>
        </p:txBody>
      </p:sp>
      <p:sp>
        <p:nvSpPr>
          <p:cNvPr id="96" name="TextBox 95"/>
          <p:cNvSpPr txBox="1">
            <a:spLocks noChangeArrowheads="1"/>
          </p:cNvSpPr>
          <p:nvPr/>
        </p:nvSpPr>
        <p:spPr bwMode="white">
          <a:xfrm>
            <a:off x="10201167" y="3899846"/>
            <a:ext cx="181011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Conditional Access App Control</a:t>
            </a:r>
          </a:p>
        </p:txBody>
      </p:sp>
      <p:sp>
        <p:nvSpPr>
          <p:cNvPr id="97" name="TextBox 96"/>
          <p:cNvSpPr txBox="1">
            <a:spLocks noChangeArrowheads="1"/>
          </p:cNvSpPr>
          <p:nvPr/>
        </p:nvSpPr>
        <p:spPr bwMode="white">
          <a:xfrm>
            <a:off x="10215627" y="4357505"/>
            <a:ext cx="1090363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Sign-in frequency</a:t>
            </a:r>
          </a:p>
        </p:txBody>
      </p:sp>
      <p:sp>
        <p:nvSpPr>
          <p:cNvPr id="98" name="TextBox 97"/>
          <p:cNvSpPr txBox="1">
            <a:spLocks noChangeArrowheads="1"/>
          </p:cNvSpPr>
          <p:nvPr/>
        </p:nvSpPr>
        <p:spPr bwMode="white">
          <a:xfrm>
            <a:off x="10225446" y="4793305"/>
            <a:ext cx="156966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Persistent browser session</a:t>
            </a:r>
          </a:p>
        </p:txBody>
      </p:sp>
      <p:sp>
        <p:nvSpPr>
          <p:cNvPr id="100" name="TextBox 99"/>
          <p:cNvSpPr txBox="1">
            <a:spLocks noChangeArrowheads="1"/>
          </p:cNvSpPr>
          <p:nvPr/>
        </p:nvSpPr>
        <p:spPr bwMode="white">
          <a:xfrm>
            <a:off x="10229552" y="5232376"/>
            <a:ext cx="1717137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Continuous access evaluation</a:t>
            </a:r>
          </a:p>
        </p:txBody>
      </p:sp>
      <p:sp>
        <p:nvSpPr>
          <p:cNvPr id="101" name="TextBox 100"/>
          <p:cNvSpPr txBox="1">
            <a:spLocks noChangeArrowheads="1"/>
          </p:cNvSpPr>
          <p:nvPr/>
        </p:nvSpPr>
        <p:spPr bwMode="white">
          <a:xfrm>
            <a:off x="10259108" y="5658625"/>
            <a:ext cx="153599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Disable resilience defaults</a:t>
            </a:r>
          </a:p>
        </p:txBody>
      </p:sp>
      <p:pic>
        <p:nvPicPr>
          <p:cNvPr id="103" name="Graphic 102"/>
          <p:cNvPicPr>
            <a:picLocks noChangeAspect="1"/>
          </p:cNvPicPr>
          <p:nvPr/>
        </p:nvPicPr>
        <p:blipFill>
          <a:blip r:embed="rId41">
            <a:lum/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rcRect/>
          <a:stretch>
            <a:fillRect/>
          </a:stretch>
        </p:blipFill>
        <p:spPr bwMode="white">
          <a:xfrm>
            <a:off x="9996846" y="479900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5" name="Graphic 104"/>
          <p:cNvPicPr>
            <a:picLocks noChangeAspect="1"/>
          </p:cNvPicPr>
          <p:nvPr/>
        </p:nvPicPr>
        <p:blipFill>
          <a:blip r:embed="rId43">
            <a:lum/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rcRect/>
          <a:stretch>
            <a:fillRect/>
          </a:stretch>
        </p:blipFill>
        <p:spPr bwMode="white">
          <a:xfrm>
            <a:off x="9996846" y="437457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7" name="Graphic 106"/>
          <p:cNvPicPr>
            <a:picLocks noChangeAspect="1"/>
          </p:cNvPicPr>
          <p:nvPr/>
        </p:nvPicPr>
        <p:blipFill>
          <a:blip r:embed="rId7">
            <a:lum/>
            <a:extLst>
              <a:ext uri="{96DAC541-7B7A-43D3-8B79-37D633B846F1}">
                <asvg:svgBlip xmlns:asvg="http://schemas.microsoft.com/office/drawing/2016/SVG/main" r:embed="rId45"/>
              </a:ext>
            </a:extLst>
          </a:blip>
          <a:srcRect/>
          <a:stretch>
            <a:fillRect/>
          </a:stretch>
        </p:blipFill>
        <p:spPr bwMode="white">
          <a:xfrm>
            <a:off x="9996846" y="391529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15" name="SessionSifInterval"/>
          <p:cNvSpPr txBox="1">
            <a:spLocks noChangeArrowheads="1"/>
          </p:cNvSpPr>
          <p:nvPr/>
        </p:nvSpPr>
        <p:spPr bwMode="white">
          <a:xfrm>
            <a:off x="10296745" y="4516775"/>
            <a:ext cx="1249060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Periodic reauthentication</a:t>
            </a:r>
          </a:p>
        </p:txBody>
      </p:sp>
      <p:sp>
        <p:nvSpPr>
          <p:cNvPr id="114" name="SessionCasType"/>
          <p:cNvSpPr txBox="1">
            <a:spLocks noChangeArrowheads="1"/>
          </p:cNvSpPr>
          <p:nvPr/>
        </p:nvSpPr>
        <p:spPr bwMode="white">
          <a:xfrm>
            <a:off x="10296745" y="4075500"/>
            <a:ext cx="95410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App Control Policy</a:t>
            </a:r>
          </a:p>
        </p:txBody>
      </p:sp>
      <p:sp>
        <p:nvSpPr>
          <p:cNvPr id="116" name="SessionPersistenBrowserMode"/>
          <p:cNvSpPr txBox="1">
            <a:spLocks noChangeArrowheads="1"/>
          </p:cNvSpPr>
          <p:nvPr/>
        </p:nvSpPr>
        <p:spPr bwMode="white">
          <a:xfrm>
            <a:off x="10309761" y="4945281"/>
            <a:ext cx="918841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Always persistent</a:t>
            </a:r>
          </a:p>
        </p:txBody>
      </p:sp>
      <p:sp>
        <p:nvSpPr>
          <p:cNvPr id="118" name="SessionCaeMode"/>
          <p:cNvSpPr txBox="1">
            <a:spLocks noChangeArrowheads="1"/>
          </p:cNvSpPr>
          <p:nvPr/>
        </p:nvSpPr>
        <p:spPr bwMode="white">
          <a:xfrm>
            <a:off x="10301386" y="5393378"/>
            <a:ext cx="15359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US" sz="800" dirty="0"/>
              <a:t>Strictly enforce location policies</a:t>
            </a:r>
          </a:p>
        </p:txBody>
      </p:sp>
      <p:sp>
        <p:nvSpPr>
          <p:cNvPr id="119" name="ShadeSessionAppEnforced"/>
          <p:cNvSpPr>
            <a:spLocks/>
          </p:cNvSpPr>
          <p:nvPr/>
        </p:nvSpPr>
        <p:spPr bwMode="white">
          <a:xfrm>
            <a:off x="9959680" y="3548808"/>
            <a:ext cx="2051597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0" name="ShadeSessionCas"/>
          <p:cNvSpPr>
            <a:spLocks/>
          </p:cNvSpPr>
          <p:nvPr/>
        </p:nvSpPr>
        <p:spPr bwMode="white">
          <a:xfrm>
            <a:off x="9978939" y="3884212"/>
            <a:ext cx="2087576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1" name="ShadeSessionSif"/>
          <p:cNvSpPr>
            <a:spLocks/>
          </p:cNvSpPr>
          <p:nvPr/>
        </p:nvSpPr>
        <p:spPr bwMode="white">
          <a:xfrm>
            <a:off x="9940787" y="4320077"/>
            <a:ext cx="2125728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2" name="ShadeSessionPersistentBrowser"/>
          <p:cNvSpPr>
            <a:spLocks/>
          </p:cNvSpPr>
          <p:nvPr/>
        </p:nvSpPr>
        <p:spPr bwMode="white">
          <a:xfrm>
            <a:off x="9938833" y="4746195"/>
            <a:ext cx="207244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" name="Label Secure Sign In Session"/>
          <p:cNvSpPr txBox="1">
            <a:spLocks noChangeArrowheads="1"/>
          </p:cNvSpPr>
          <p:nvPr/>
        </p:nvSpPr>
        <p:spPr bwMode="white">
          <a:xfrm>
            <a:off x="10260000" y="6084874"/>
            <a:ext cx="166584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Token protection for session</a:t>
            </a:r>
          </a:p>
        </p:txBody>
      </p:sp>
      <p:pic>
        <p:nvPicPr>
          <p:cNvPr id="77" name="IconSessionCaeDisable" descr="Close with solid fill"/>
          <p:cNvPicPr>
            <a:picLocks noChangeAspect="1"/>
          </p:cNvPicPr>
          <p:nvPr/>
        </p:nvPicPr>
        <p:blipFill>
          <a:blip r:embed="rId46">
            <a:lum/>
            <a:extLst>
              <a:ext uri="{96DAC541-7B7A-43D3-8B79-37D633B846F1}">
                <asvg:svgBlip xmlns:asvg="http://schemas.microsoft.com/office/drawing/2016/SVG/main" r:embed="rId47"/>
              </a:ext>
            </a:extLst>
          </a:blip>
          <a:srcRect/>
          <a:stretch>
            <a:fillRect/>
          </a:stretch>
        </p:blipFill>
        <p:spPr bwMode="white">
          <a:xfrm>
            <a:off x="9979885" y="5218651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2" name="IconSessionSecureSignInSession 1"/>
          <p:cNvPicPr>
            <a:picLocks noChangeAspect="1"/>
          </p:cNvPicPr>
          <p:nvPr/>
        </p:nvPicPr>
        <p:blipFill>
          <a:blip r:embed="rId48">
            <a:lum/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rcRect/>
          <a:stretch>
            <a:fillRect/>
          </a:stretch>
        </p:blipFill>
        <p:spPr bwMode="white">
          <a:xfrm>
            <a:off x="9997200" y="6085768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3" name="ShadeSessionCae"/>
          <p:cNvSpPr>
            <a:spLocks/>
          </p:cNvSpPr>
          <p:nvPr/>
        </p:nvSpPr>
        <p:spPr bwMode="white">
          <a:xfrm>
            <a:off x="9987595" y="5219780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76" name="ShadeSessionSecureSignIn"/>
          <p:cNvSpPr>
            <a:spLocks/>
          </p:cNvSpPr>
          <p:nvPr/>
        </p:nvSpPr>
        <p:spPr bwMode="white">
          <a:xfrm>
            <a:off x="9996846" y="5986498"/>
            <a:ext cx="2014431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pic>
        <p:nvPicPr>
          <p:cNvPr id="102" name="Graphic 101"/>
          <p:cNvPicPr>
            <a:picLocks noChangeAspect="1"/>
          </p:cNvPicPr>
          <p:nvPr/>
        </p:nvPicPr>
        <p:blipFill>
          <a:blip r:embed="rId50">
            <a:lum/>
            <a:extLst>
              <a:ext uri="{96DAC541-7B7A-43D3-8B79-37D633B846F1}">
                <asvg:svgBlip xmlns:asvg="http://schemas.microsoft.com/office/drawing/2016/SVG/main" r:embed="rId51"/>
              </a:ext>
            </a:extLst>
          </a:blip>
          <a:srcRect/>
          <a:stretch>
            <a:fillRect/>
          </a:stretch>
        </p:blipFill>
        <p:spPr bwMode="white">
          <a:xfrm>
            <a:off x="9997200" y="5663777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80" name="Graphic 79" descr="Close with solid fill"/>
          <p:cNvPicPr>
            <a:picLocks noChangeAspect="1"/>
          </p:cNvPicPr>
          <p:nvPr/>
        </p:nvPicPr>
        <p:blipFill>
          <a:blip r:embed="rId46">
            <a:lum/>
            <a:extLst>
              <a:ext uri="{96DAC541-7B7A-43D3-8B79-37D633B846F1}">
                <asvg:svgBlip xmlns:asvg="http://schemas.microsoft.com/office/drawing/2016/SVG/main" r:embed="rId47"/>
              </a:ext>
            </a:extLst>
          </a:blip>
          <a:srcRect/>
          <a:stretch>
            <a:fillRect/>
          </a:stretch>
        </p:blipFill>
        <p:spPr bwMode="white">
          <a:xfrm>
            <a:off x="9963899" y="5637424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4" name="ShadeSessionDisableResilience"/>
          <p:cNvSpPr>
            <a:spLocks/>
          </p:cNvSpPr>
          <p:nvPr/>
        </p:nvSpPr>
        <p:spPr bwMode="white">
          <a:xfrm>
            <a:off x="9959681" y="5602709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2" name="PolicyName">
            <a:hlinkClick r:id="" action="ppaction://hlinkfile"/>
          </p:cNvPr>
          <p:cNvSpPr>
            <a:spLocks noGrp="1"/>
          </p:cNvSpPr>
          <p:nvPr>
            <p:ph type="title"/>
          </p:nvPr>
        </p:nvSpPr>
        <p:spPr bwMode="white">
          <a:xfrm>
            <a:off x="838200" y="115511"/>
            <a:ext cx="10003967" cy="609565"/>
          </a:xfrm>
          <a:ln>
            <a:headEnd type="none"/>
            <a:tailEnd type="none"/>
          </a:ln>
        </p:spPr>
        <p:txBody>
          <a:bodyPr wrap="square">
            <a:noAutofit/>
          </a:bodyPr>
          <a:lstStyle/>
          <a:p>
            <a:pPr defTabSz="914400"/>
            <a:r>
              <a:rPr lang="en-US" sz="2000" b="1" dirty="0"/>
              <a:t>[All Apps] [All Users] {MFA} Access through Admin Portal on trusted devices</a:t>
            </a:r>
          </a:p>
        </p:txBody>
      </p:sp>
      <p:sp>
        <p:nvSpPr>
          <p:cNvPr id="16" name="LastModified"/>
          <p:cNvSpPr txBox="1">
            <a:spLocks noChangeArrowheads="1"/>
          </p:cNvSpPr>
          <p:nvPr/>
        </p:nvSpPr>
        <p:spPr bwMode="white">
          <a:xfrm>
            <a:off x="10556111" y="388376"/>
            <a:ext cx="15483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algn="r" defTabSz="457200"/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Last modified: 2025-04-16</a:t>
            </a:r>
          </a:p>
        </p:txBody>
      </p:sp>
      <p:pic>
        <p:nvPicPr>
          <p:cNvPr id="104" name="IconMicrosoftAdminPortal" descr="A blue and white logo with a black background&#10;&#10;Description automatically generated"/>
          <p:cNvPicPr>
            <a:picLocks noChangeAspect="1"/>
          </p:cNvPicPr>
          <p:nvPr/>
        </p:nvPicPr>
        <p:blipFill>
          <a:blip r:embed="rId52">
            <a:lum/>
          </a:blip>
          <a:srcRect/>
          <a:stretch>
            <a:fillRect/>
          </a:stretch>
        </p:blipFill>
        <p:spPr bwMode="white">
          <a:xfrm>
            <a:off x="6303899" y="2725312"/>
            <a:ext cx="843584" cy="843584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UserWorkload"/>
          <p:cNvSpPr>
            <a:spLocks/>
          </p:cNvSpPr>
          <p:nvPr/>
        </p:nvSpPr>
        <p:spPr bwMode="auto">
          <a:xfrm>
            <a:off x="175820" y="2709769"/>
            <a:ext cx="2202823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Users</a:t>
            </a:r>
          </a:p>
        </p:txBody>
      </p:sp>
      <p:sp>
        <p:nvSpPr>
          <p:cNvPr id="7" name="UserWorkloadIncExc"/>
          <p:cNvSpPr txBox="1">
            <a:spLocks noChangeArrowheads="1"/>
          </p:cNvSpPr>
          <p:nvPr/>
        </p:nvSpPr>
        <p:spPr bwMode="white">
          <a:xfrm>
            <a:off x="125485" y="3698952"/>
            <a:ext cx="3062115" cy="313265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 numCol="1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b="1" dirty="0"/>
            </a:pPr>
            <a:r>
              <a:t> Users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r>
              <a:t>🚫 Exclude:</a:t>
            </a:r>
          </a:p>
          <a:p>
            <a:pPr defTabSz="457200">
              <a:defRPr sz="1100" b="1" dirty="0"/>
            </a:pPr>
            <a:r>
              <a:t> Directory roles</a:t>
            </a:r>
          </a:p>
          <a:p>
            <a:pPr defTabSz="457200">
              <a:defRPr sz="1100" dirty="0"/>
            </a:pPr>
            <a:r>
              <a:t> - Directory Synchronization Accounts</a:t>
            </a:r>
          </a:p>
          <a:p>
            <a:pPr defTabSz="457200">
              <a:defRPr sz="1100" b="1" dirty="0"/>
            </a:pPr>
            <a:r>
              <a:t> Groups</a:t>
            </a:r>
          </a:p>
          <a:p>
            <a:pPr defTabSz="457200">
              <a:defRPr sz="1100" dirty="0"/>
            </a:pPr>
            <a:r>
              <a:t> - CO_PIVExceptions (8)</a:t>
            </a:r>
          </a:p>
          <a:p>
            <a:pPr defTabSz="457200">
              <a:defRPr sz="1100" dirty="0"/>
            </a:pPr>
            <a:r>
              <a:t> - CO_PCDeployment (6)</a:t>
            </a:r>
          </a:p>
          <a:p>
            <a:pPr defTabSz="457200">
              <a:defRPr sz="1100" dirty="0"/>
            </a:pPr>
            <a:r>
              <a:t> - CO_SVO365ServiceAccounts (25)</a:t>
            </a:r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19" name="Risks"/>
          <p:cNvSpPr txBox="1">
            <a:spLocks noChangeArrowheads="1"/>
          </p:cNvSpPr>
          <p:nvPr/>
        </p:nvSpPr>
        <p:spPr bwMode="white">
          <a:xfrm>
            <a:off x="524485" y="1021946"/>
            <a:ext cx="1348869" cy="166886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0" name="Platforms"/>
          <p:cNvSpPr txBox="1">
            <a:spLocks noChangeArrowheads="1"/>
          </p:cNvSpPr>
          <p:nvPr/>
        </p:nvSpPr>
        <p:spPr bwMode="white">
          <a:xfrm>
            <a:off x="1826931" y="1021947"/>
            <a:ext cx="2061056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b="1" dirty="0"/>
            </a:pPr>
            <a:r>
              <a:t>✅ Include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23" name="Locations"/>
          <p:cNvSpPr txBox="1">
            <a:spLocks noChangeArrowheads="1"/>
          </p:cNvSpPr>
          <p:nvPr/>
        </p:nvSpPr>
        <p:spPr bwMode="white">
          <a:xfrm>
            <a:off x="8324941" y="1021947"/>
            <a:ext cx="3513702" cy="159258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b="1" dirty="0"/>
            </a:pPr>
            <a:r>
              <a:t>✅ Include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24" name="ClientAppTypes"/>
          <p:cNvSpPr txBox="1">
            <a:spLocks noChangeArrowheads="1"/>
          </p:cNvSpPr>
          <p:nvPr/>
        </p:nvSpPr>
        <p:spPr bwMode="white">
          <a:xfrm>
            <a:off x="3810664" y="1021947"/>
            <a:ext cx="1581599" cy="165343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5" name="DeviceFilters"/>
          <p:cNvSpPr txBox="1">
            <a:spLocks noChangeArrowheads="1"/>
          </p:cNvSpPr>
          <p:nvPr/>
        </p:nvSpPr>
        <p:spPr bwMode="white">
          <a:xfrm>
            <a:off x="5818151" y="1022762"/>
            <a:ext cx="2248808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cxnSp>
        <p:nvCxnSpPr>
          <p:cNvPr id="27" name="Straight Arrow Connector 26" descr="Arrow drawn from user/workload  to the action being performed by the user such as accessing cloud apps."/>
          <p:cNvCxnSpPr/>
          <p:nvPr/>
        </p:nvCxnSpPr>
        <p:spPr bwMode="white">
          <a:xfrm>
            <a:off x="2195232" y="3159047"/>
            <a:ext cx="3959471" cy="1"/>
          </a:xfrm>
          <a:prstGeom prst="straightConnector1">
            <a:avLst/>
          </a:prstGeom>
          <a:ln w="76200"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2" name="GrantLabelGrantAccess"/>
          <p:cNvSpPr txBox="1">
            <a:spLocks noChangeArrowheads="1"/>
          </p:cNvSpPr>
          <p:nvPr/>
        </p:nvSpPr>
        <p:spPr bwMode="white">
          <a:xfrm>
            <a:off x="3928464" y="2723089"/>
            <a:ext cx="1381340" cy="369332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algn="ctr" defTabSz="457200"/>
            <a:r>
              <a:rPr lang="en-US" b="1" dirty="0">
                <a:solidFill>
                  <a:srgbClr val="00B050"/>
                </a:solidFill>
              </a:rPr>
              <a:t>Grant access</a:t>
            </a:r>
          </a:p>
        </p:txBody>
      </p:sp>
      <p:pic>
        <p:nvPicPr>
          <p:cNvPr id="35" name="IconGrantAccess" descr="Picture with gren tick sign to indicate access was granted"/>
          <p:cNvPicPr>
            <a:picLocks noChangeAspect="1"/>
          </p:cNvPicPr>
          <p:nvPr/>
        </p:nvPicPr>
        <p:blipFill>
          <a:blip r:embed="rId3">
            <a:lum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 bwMode="white">
          <a:xfrm>
            <a:off x="5309361" y="2730170"/>
            <a:ext cx="356616" cy="35661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3" name="CloudAppActionIncExc"/>
          <p:cNvSpPr txBox="1">
            <a:spLocks noChangeArrowheads="1"/>
          </p:cNvSpPr>
          <p:nvPr/>
        </p:nvSpPr>
        <p:spPr bwMode="white">
          <a:xfrm>
            <a:off x="6039518" y="3662782"/>
            <a:ext cx="3649518" cy="315161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</p:txBody>
      </p:sp>
      <p:pic>
        <p:nvPicPr>
          <p:cNvPr id="26" name="IconGroupIdentity"/>
          <p:cNvPicPr>
            <a:picLocks noChangeAspect="1"/>
          </p:cNvPicPr>
          <p:nvPr/>
        </p:nvPicPr>
        <p:blipFill>
          <a:blip r:embed="rId5">
            <a:lum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 bwMode="white">
          <a:xfrm>
            <a:off x="327701" y="2839007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36" name="Graphic 35"/>
          <p:cNvPicPr>
            <a:picLocks noChangeAspect="1"/>
          </p:cNvPicPr>
          <p:nvPr/>
        </p:nvPicPr>
        <p:blipFill>
          <a:blip r:embed="rId7">
            <a:lum/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p:blipFill>
        <p:spPr bwMode="white">
          <a:xfrm>
            <a:off x="495610" y="197468"/>
            <a:ext cx="381196" cy="38119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" name="CloudAppAction"/>
          <p:cNvSpPr>
            <a:spLocks/>
          </p:cNvSpPr>
          <p:nvPr/>
        </p:nvSpPr>
        <p:spPr bwMode="auto">
          <a:xfrm>
            <a:off x="6206089" y="2718506"/>
            <a:ext cx="3227026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All cloud apps</a:t>
            </a:r>
          </a:p>
        </p:txBody>
      </p:sp>
      <p:pic>
        <p:nvPicPr>
          <p:cNvPr id="75" name="IconAccessAllCloudApps"/>
          <p:cNvPicPr>
            <a:picLocks noChangeAspect="1"/>
          </p:cNvPicPr>
          <p:nvPr/>
        </p:nvPicPr>
        <p:blipFill>
          <a:blip r:embed="rId9">
            <a:lum/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p:blipFill>
        <p:spPr bwMode="white">
          <a:xfrm>
            <a:off x="6439264" y="2836824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21" name="StateEnabled"/>
          <p:cNvSpPr>
            <a:spLocks/>
          </p:cNvSpPr>
          <p:nvPr/>
        </p:nvSpPr>
        <p:spPr bwMode="white">
          <a:xfrm>
            <a:off x="10842171" y="83487"/>
            <a:ext cx="1260389" cy="264812"/>
          </a:xfrm>
          <a:prstGeom prst="round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r>
              <a:rPr lang="en-US" sz="800" dirty="0"/>
              <a:t>Policy Enabled</a:t>
            </a:r>
          </a:p>
        </p:txBody>
      </p:sp>
      <p:grpSp>
        <p:nvGrpSpPr>
          <p:cNvPr id="10" name="IconRiskyUsers"/>
          <p:cNvGrpSpPr>
            <a:grpSpLocks/>
          </p:cNvGrpSpPr>
          <p:nvPr/>
        </p:nvGrpSpPr>
        <p:grpSpPr bwMode="white">
          <a:xfrm>
            <a:off x="635426" y="738677"/>
            <a:ext cx="1202553" cy="274320"/>
            <a:chOff x="2013768" y="1033956"/>
            <a:chExt cx="1342320" cy="274320"/>
          </a:xfrm>
        </p:grpSpPr>
        <p:pic>
          <p:nvPicPr>
            <p:cNvPr id="46" name="Graphic 1"/>
            <p:cNvPicPr>
              <a:picLocks noChangeAspect="1"/>
            </p:cNvPicPr>
            <p:nvPr/>
          </p:nvPicPr>
          <p:blipFill>
            <a:blip r:embed="rId11">
              <a:lum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013768" y="1033956"/>
              <a:ext cx="274320" cy="27432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5" name="Label 1"/>
            <p:cNvSpPr txBox="1">
              <a:spLocks noChangeArrowheads="1"/>
            </p:cNvSpPr>
            <p:nvPr/>
          </p:nvSpPr>
          <p:spPr bwMode="white">
            <a:xfrm>
              <a:off x="2240077" y="1040706"/>
              <a:ext cx="1116011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Risk</a:t>
              </a:r>
            </a:p>
          </p:txBody>
        </p:sp>
      </p:grpSp>
      <p:grpSp>
        <p:nvGrpSpPr>
          <p:cNvPr id="14" name="IconPlatforms"/>
          <p:cNvGrpSpPr>
            <a:grpSpLocks/>
          </p:cNvGrpSpPr>
          <p:nvPr/>
        </p:nvGrpSpPr>
        <p:grpSpPr bwMode="white">
          <a:xfrm>
            <a:off x="1927788" y="715249"/>
            <a:ext cx="1719285" cy="365760"/>
            <a:chOff x="3262737" y="994835"/>
            <a:chExt cx="1719285" cy="365760"/>
          </a:xfrm>
        </p:grpSpPr>
        <p:pic>
          <p:nvPicPr>
            <p:cNvPr id="29" name="Graphic 1"/>
            <p:cNvPicPr>
              <a:picLocks noChangeAspect="1"/>
            </p:cNvPicPr>
            <p:nvPr/>
          </p:nvPicPr>
          <p:blipFill>
            <a:blip r:embed="rId13">
              <a:lum/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3262737" y="994835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1" name="Label 1"/>
            <p:cNvSpPr txBox="1">
              <a:spLocks noChangeArrowheads="1"/>
            </p:cNvSpPr>
            <p:nvPr/>
          </p:nvSpPr>
          <p:spPr bwMode="white">
            <a:xfrm>
              <a:off x="3582397" y="1027255"/>
              <a:ext cx="1399625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Device platforms</a:t>
              </a:r>
            </a:p>
          </p:txBody>
        </p:sp>
      </p:grpSp>
      <p:grpSp>
        <p:nvGrpSpPr>
          <p:cNvPr id="17" name="IconClientAppTypes"/>
          <p:cNvGrpSpPr>
            <a:grpSpLocks/>
          </p:cNvGrpSpPr>
          <p:nvPr/>
        </p:nvGrpSpPr>
        <p:grpSpPr bwMode="white">
          <a:xfrm>
            <a:off x="3908159" y="670015"/>
            <a:ext cx="1852971" cy="365760"/>
            <a:chOff x="4858970" y="975927"/>
            <a:chExt cx="1852971" cy="365760"/>
          </a:xfrm>
        </p:grpSpPr>
        <p:pic>
          <p:nvPicPr>
            <p:cNvPr id="58" name="Graphic 1"/>
            <p:cNvPicPr>
              <a:picLocks noChangeAspect="1"/>
            </p:cNvPicPr>
            <p:nvPr/>
          </p:nvPicPr>
          <p:blipFill>
            <a:blip r:embed="rId15">
              <a:lum/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858970" y="975927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5" name="Label 1"/>
            <p:cNvSpPr txBox="1">
              <a:spLocks noChangeArrowheads="1"/>
            </p:cNvSpPr>
            <p:nvPr/>
          </p:nvSpPr>
          <p:spPr bwMode="white">
            <a:xfrm>
              <a:off x="5193983" y="1009899"/>
              <a:ext cx="1517958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Client apps</a:t>
              </a:r>
            </a:p>
          </p:txBody>
        </p:sp>
      </p:grpSp>
      <p:grpSp>
        <p:nvGrpSpPr>
          <p:cNvPr id="37" name="IconLocations"/>
          <p:cNvGrpSpPr>
            <a:grpSpLocks/>
          </p:cNvGrpSpPr>
          <p:nvPr/>
        </p:nvGrpSpPr>
        <p:grpSpPr bwMode="white">
          <a:xfrm>
            <a:off x="8411896" y="646848"/>
            <a:ext cx="1850168" cy="388465"/>
            <a:chOff x="2321433" y="3262888"/>
            <a:chExt cx="1850168" cy="388465"/>
          </a:xfrm>
        </p:grpSpPr>
        <p:pic>
          <p:nvPicPr>
            <p:cNvPr id="33" name="Graphic 1"/>
            <p:cNvPicPr>
              <a:picLocks noChangeAspect="1"/>
            </p:cNvPicPr>
            <p:nvPr/>
          </p:nvPicPr>
          <p:blipFill>
            <a:blip r:embed="rId17">
              <a:lum/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321433" y="3262888"/>
              <a:ext cx="388465" cy="388465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28" name="Label 1"/>
            <p:cNvSpPr txBox="1">
              <a:spLocks noChangeArrowheads="1"/>
            </p:cNvSpPr>
            <p:nvPr/>
          </p:nvSpPr>
          <p:spPr bwMode="white">
            <a:xfrm>
              <a:off x="2713321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Locations</a:t>
              </a:r>
              <a:endParaRPr lang="en-US" sz="1100" b="1" dirty="0"/>
            </a:p>
          </p:txBody>
        </p:sp>
      </p:grpSp>
      <p:grpSp>
        <p:nvGrpSpPr>
          <p:cNvPr id="39" name="IconDeviceFilters"/>
          <p:cNvGrpSpPr>
            <a:grpSpLocks/>
          </p:cNvGrpSpPr>
          <p:nvPr/>
        </p:nvGrpSpPr>
        <p:grpSpPr bwMode="white">
          <a:xfrm>
            <a:off x="5472818" y="661958"/>
            <a:ext cx="1839823" cy="364111"/>
            <a:chOff x="4195414" y="3273669"/>
            <a:chExt cx="1839823" cy="364111"/>
          </a:xfrm>
        </p:grpSpPr>
        <p:pic>
          <p:nvPicPr>
            <p:cNvPr id="60" name="Graphic 1"/>
            <p:cNvPicPr>
              <a:picLocks noChangeAspect="1"/>
            </p:cNvPicPr>
            <p:nvPr/>
          </p:nvPicPr>
          <p:blipFill>
            <a:blip r:embed="rId19">
              <a:lum/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195414" y="3273669"/>
              <a:ext cx="364111" cy="364111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31" name="Label 1"/>
            <p:cNvSpPr txBox="1">
              <a:spLocks noChangeArrowheads="1"/>
            </p:cNvSpPr>
            <p:nvPr/>
          </p:nvSpPr>
          <p:spPr bwMode="white">
            <a:xfrm>
              <a:off x="4576957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Filter for devices</a:t>
              </a:r>
              <a:endParaRPr lang="en-US" sz="1100" b="1" dirty="0"/>
            </a:p>
          </p:txBody>
        </p:sp>
      </p:grpSp>
      <p:pic>
        <p:nvPicPr>
          <p:cNvPr id="62" name="IconGrantMultifactorAuthentication"/>
          <p:cNvPicPr>
            <a:picLocks noChangeAspect="1"/>
          </p:cNvPicPr>
          <p:nvPr/>
        </p:nvPicPr>
        <p:blipFill>
          <a:blip r:embed="rId21">
            <a:lum/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>
            <a:fillRect/>
          </a:stretch>
        </p:blipFill>
        <p:spPr bwMode="white">
          <a:xfrm>
            <a:off x="3410647" y="3566863"/>
            <a:ext cx="17145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5" name="IconGrantMultifactorAuthenticationLabel"/>
          <p:cNvSpPr txBox="1">
            <a:spLocks noChangeArrowheads="1"/>
          </p:cNvSpPr>
          <p:nvPr/>
        </p:nvSpPr>
        <p:spPr bwMode="white">
          <a:xfrm>
            <a:off x="3575836" y="3571997"/>
            <a:ext cx="19007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Multifactor authentication</a:t>
            </a:r>
            <a:endParaRPr lang="en-US" sz="1000" dirty="0"/>
          </a:p>
        </p:txBody>
      </p:sp>
      <p:pic>
        <p:nvPicPr>
          <p:cNvPr id="38" name="IconGrantAuthenticationStrength"/>
          <p:cNvPicPr>
            <a:picLocks noChangeAspect="1"/>
          </p:cNvPicPr>
          <p:nvPr/>
        </p:nvPicPr>
        <p:blipFill>
          <a:blip r:embed="rId23">
            <a:lum/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/>
          <a:stretch>
            <a:fillRect/>
          </a:stretch>
        </p:blipFill>
        <p:spPr bwMode="white">
          <a:xfrm>
            <a:off x="3374515" y="3905034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7" name="IconGrantAuthenticationStrengthLabel"/>
          <p:cNvSpPr txBox="1">
            <a:spLocks noChangeArrowheads="1"/>
          </p:cNvSpPr>
          <p:nvPr/>
        </p:nvSpPr>
        <p:spPr bwMode="white">
          <a:xfrm>
            <a:off x="3575836" y="3907323"/>
            <a:ext cx="2185294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Auth strength:Phishing-resistant MFA</a:t>
            </a:r>
            <a:endParaRPr lang="en-US" sz="1000" dirty="0"/>
          </a:p>
        </p:txBody>
      </p:sp>
      <p:pic>
        <p:nvPicPr>
          <p:cNvPr id="52" name="IconGrantDeviceCompliance"/>
          <p:cNvPicPr>
            <a:picLocks noChangeAspect="1"/>
          </p:cNvPicPr>
          <p:nvPr/>
        </p:nvPicPr>
        <p:blipFill>
          <a:blip r:embed="rId25">
            <a:lum/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/>
          <a:stretch>
            <a:fillRect/>
          </a:stretch>
        </p:blipFill>
        <p:spPr bwMode="white">
          <a:xfrm>
            <a:off x="3374515" y="4243205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9" name="IconGrantDeviceComplianceLabel"/>
          <p:cNvSpPr txBox="1">
            <a:spLocks noChangeArrowheads="1"/>
          </p:cNvSpPr>
          <p:nvPr/>
        </p:nvSpPr>
        <p:spPr bwMode="white">
          <a:xfrm>
            <a:off x="3575836" y="4242649"/>
            <a:ext cx="17378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Compliant device</a:t>
            </a:r>
            <a:endParaRPr lang="en-US" sz="1000" dirty="0"/>
          </a:p>
        </p:txBody>
      </p:sp>
      <p:pic>
        <p:nvPicPr>
          <p:cNvPr id="43" name="IconGrantHybridJoined"/>
          <p:cNvPicPr>
            <a:picLocks noChangeAspect="1"/>
          </p:cNvPicPr>
          <p:nvPr/>
        </p:nvPicPr>
        <p:blipFill>
          <a:blip r:embed="rId27">
            <a:lum/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/>
          <a:stretch>
            <a:fillRect/>
          </a:stretch>
        </p:blipFill>
        <p:spPr bwMode="white">
          <a:xfrm>
            <a:off x="3374515" y="4581376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3" name="IconGrantHybridJoinedLabel"/>
          <p:cNvSpPr txBox="1">
            <a:spLocks noChangeArrowheads="1"/>
          </p:cNvSpPr>
          <p:nvPr/>
        </p:nvSpPr>
        <p:spPr bwMode="white">
          <a:xfrm>
            <a:off x="3575836" y="4577975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Hybrid Azure AD joined device</a:t>
            </a:r>
            <a:endParaRPr lang="en-US" sz="1000" dirty="0"/>
          </a:p>
        </p:txBody>
      </p:sp>
      <p:pic>
        <p:nvPicPr>
          <p:cNvPr id="48" name="IconGrantApprovedClientApp"/>
          <p:cNvPicPr>
            <a:picLocks noChangeAspect="1"/>
          </p:cNvPicPr>
          <p:nvPr/>
        </p:nvPicPr>
        <p:blipFill>
          <a:blip r:embed="rId29">
            <a:lum/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rcRect/>
          <a:stretch>
            <a:fillRect/>
          </a:stretch>
        </p:blipFill>
        <p:spPr bwMode="white">
          <a:xfrm>
            <a:off x="3374515" y="491954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5" name="IconGrantApprovedClientAppLabel"/>
          <p:cNvSpPr txBox="1">
            <a:spLocks noChangeArrowheads="1"/>
          </p:cNvSpPr>
          <p:nvPr/>
        </p:nvSpPr>
        <p:spPr bwMode="white">
          <a:xfrm>
            <a:off x="3575836" y="4913301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Approved client app</a:t>
            </a:r>
            <a:endParaRPr lang="en-US" sz="1000" dirty="0"/>
          </a:p>
        </p:txBody>
      </p:sp>
      <p:pic>
        <p:nvPicPr>
          <p:cNvPr id="42" name="IconGrantCustomAuth"/>
          <p:cNvPicPr>
            <a:picLocks noChangeAspect="1"/>
          </p:cNvPicPr>
          <p:nvPr/>
        </p:nvPicPr>
        <p:blipFill>
          <a:blip r:embed="rId31">
            <a:lum/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rcRect/>
          <a:stretch>
            <a:fillRect/>
          </a:stretch>
        </p:blipFill>
        <p:spPr bwMode="white">
          <a:xfrm>
            <a:off x="3374515" y="593406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9" name="IconGrantCustomAuthLabel"/>
          <p:cNvSpPr txBox="1">
            <a:spLocks noChangeArrowheads="1"/>
          </p:cNvSpPr>
          <p:nvPr/>
        </p:nvSpPr>
        <p:spPr bwMode="white">
          <a:xfrm>
            <a:off x="3575836" y="5919279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Custom authentication factor</a:t>
            </a:r>
            <a:endParaRPr lang="en-US" sz="1000" dirty="0"/>
          </a:p>
        </p:txBody>
      </p:sp>
      <p:pic>
        <p:nvPicPr>
          <p:cNvPr id="40" name="IconGrantTermsOfUse"/>
          <p:cNvPicPr>
            <a:picLocks noChangeAspect="1"/>
          </p:cNvPicPr>
          <p:nvPr/>
        </p:nvPicPr>
        <p:blipFill>
          <a:blip r:embed="rId33">
            <a:lum/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rcRect/>
          <a:stretch>
            <a:fillRect/>
          </a:stretch>
        </p:blipFill>
        <p:spPr bwMode="white">
          <a:xfrm>
            <a:off x="3374515" y="627222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3" name="IconGrantTermsOfUseLabel"/>
          <p:cNvSpPr txBox="1">
            <a:spLocks noChangeArrowheads="1"/>
          </p:cNvSpPr>
          <p:nvPr/>
        </p:nvSpPr>
        <p:spPr bwMode="white">
          <a:xfrm>
            <a:off x="3575836" y="625460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Terms of use</a:t>
            </a:r>
            <a:endParaRPr lang="en-US" sz="1000" dirty="0"/>
          </a:p>
        </p:txBody>
      </p:sp>
      <p:sp>
        <p:nvSpPr>
          <p:cNvPr id="56" name="IconGrantAppProtectionLabel"/>
          <p:cNvSpPr txBox="1">
            <a:spLocks noChangeArrowheads="1"/>
          </p:cNvSpPr>
          <p:nvPr/>
        </p:nvSpPr>
        <p:spPr bwMode="white">
          <a:xfrm>
            <a:off x="3575836" y="524862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 protection policy</a:t>
            </a:r>
            <a:endParaRPr lang="en-US" sz="1000" dirty="0"/>
          </a:p>
        </p:txBody>
      </p:sp>
      <p:pic>
        <p:nvPicPr>
          <p:cNvPr id="65" name="IconGrantAppProtection"/>
          <p:cNvPicPr>
            <a:picLocks noChangeAspect="1"/>
          </p:cNvPicPr>
          <p:nvPr/>
        </p:nvPicPr>
        <p:blipFill>
          <a:blip r:embed="rId35">
            <a:lum/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rcRect/>
          <a:stretch>
            <a:fillRect/>
          </a:stretch>
        </p:blipFill>
        <p:spPr bwMode="white">
          <a:xfrm>
            <a:off x="3374515" y="525771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7" name="IconGrantChangePasswordLabel"/>
          <p:cNvSpPr txBox="1">
            <a:spLocks noChangeArrowheads="1"/>
          </p:cNvSpPr>
          <p:nvPr/>
        </p:nvSpPr>
        <p:spPr bwMode="white">
          <a:xfrm>
            <a:off x="3575836" y="5583953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Change password</a:t>
            </a:r>
            <a:endParaRPr lang="en-US" sz="1000" dirty="0"/>
          </a:p>
        </p:txBody>
      </p:sp>
      <p:pic>
        <p:nvPicPr>
          <p:cNvPr id="67" name="IconGrantChangePassword"/>
          <p:cNvPicPr>
            <a:picLocks noChangeAspect="1"/>
          </p:cNvPicPr>
          <p:nvPr/>
        </p:nvPicPr>
        <p:blipFill>
          <a:blip r:embed="rId37">
            <a:lum/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rcRect/>
          <a:stretch>
            <a:fillRect/>
          </a:stretch>
        </p:blipFill>
        <p:spPr bwMode="white">
          <a:xfrm>
            <a:off x="3374515" y="5595889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4" name="ShadeRisk"/>
          <p:cNvSpPr>
            <a:spLocks/>
          </p:cNvSpPr>
          <p:nvPr/>
        </p:nvSpPr>
        <p:spPr bwMode="white">
          <a:xfrm>
            <a:off x="507564" y="650246"/>
            <a:ext cx="976864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78" name="ShadeClientApps"/>
          <p:cNvSpPr>
            <a:spLocks/>
          </p:cNvSpPr>
          <p:nvPr/>
        </p:nvSpPr>
        <p:spPr bwMode="white">
          <a:xfrm>
            <a:off x="3802273" y="650246"/>
            <a:ext cx="1481482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2" name="ShadeFilterForDevices"/>
          <p:cNvSpPr>
            <a:spLocks/>
          </p:cNvSpPr>
          <p:nvPr/>
        </p:nvSpPr>
        <p:spPr bwMode="white">
          <a:xfrm>
            <a:off x="5438955" y="627922"/>
            <a:ext cx="1873685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3" name="ShadeGrantMultifactorAuth"/>
          <p:cNvSpPr>
            <a:spLocks/>
          </p:cNvSpPr>
          <p:nvPr/>
        </p:nvSpPr>
        <p:spPr bwMode="white">
          <a:xfrm>
            <a:off x="3369399" y="3534220"/>
            <a:ext cx="2069555" cy="28330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5" name="ShadeGrantCompliantDevice"/>
          <p:cNvSpPr>
            <a:spLocks/>
          </p:cNvSpPr>
          <p:nvPr/>
        </p:nvSpPr>
        <p:spPr bwMode="white">
          <a:xfrm>
            <a:off x="3361852" y="4243205"/>
            <a:ext cx="2077102" cy="26110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6" name="ShadeGrantHybridAzureADJoined"/>
          <p:cNvSpPr>
            <a:spLocks/>
          </p:cNvSpPr>
          <p:nvPr/>
        </p:nvSpPr>
        <p:spPr bwMode="white">
          <a:xfrm>
            <a:off x="3353637" y="4552268"/>
            <a:ext cx="2160906" cy="298395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7" name="ShadeGrantApprovedClientApp"/>
          <p:cNvSpPr>
            <a:spLocks/>
          </p:cNvSpPr>
          <p:nvPr/>
        </p:nvSpPr>
        <p:spPr bwMode="white">
          <a:xfrm>
            <a:off x="3331918" y="4876027"/>
            <a:ext cx="2182625" cy="29839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8" name="ShadeGrantAppProtectionPolicy"/>
          <p:cNvSpPr>
            <a:spLocks/>
          </p:cNvSpPr>
          <p:nvPr/>
        </p:nvSpPr>
        <p:spPr bwMode="white">
          <a:xfrm>
            <a:off x="3350256" y="5207226"/>
            <a:ext cx="2122561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9" name="ShadeGrantChangePassword"/>
          <p:cNvSpPr>
            <a:spLocks/>
          </p:cNvSpPr>
          <p:nvPr/>
        </p:nvSpPr>
        <p:spPr bwMode="white">
          <a:xfrm>
            <a:off x="3350257" y="5557021"/>
            <a:ext cx="2042006" cy="287239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0" name="ShadeGrantCustomAuthFactor"/>
          <p:cNvSpPr>
            <a:spLocks/>
          </p:cNvSpPr>
          <p:nvPr/>
        </p:nvSpPr>
        <p:spPr bwMode="white">
          <a:xfrm>
            <a:off x="3331918" y="5899058"/>
            <a:ext cx="2182625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1" name="ShadeGrantTermsOfUse"/>
          <p:cNvSpPr>
            <a:spLocks/>
          </p:cNvSpPr>
          <p:nvPr/>
        </p:nvSpPr>
        <p:spPr bwMode="white">
          <a:xfrm>
            <a:off x="3313823" y="6192350"/>
            <a:ext cx="101602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99" name="Rectangle 98"/>
          <p:cNvSpPr>
            <a:spLocks/>
          </p:cNvSpPr>
          <p:nvPr/>
        </p:nvSpPr>
        <p:spPr bwMode="white">
          <a:xfrm>
            <a:off x="3268757" y="3253404"/>
            <a:ext cx="2357725" cy="3498546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0" name="Rectangle 109"/>
          <p:cNvSpPr>
            <a:spLocks/>
          </p:cNvSpPr>
          <p:nvPr/>
        </p:nvSpPr>
        <p:spPr bwMode="white">
          <a:xfrm>
            <a:off x="9881750" y="3248255"/>
            <a:ext cx="2220808" cy="3510149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7" name="Rectangle 116"/>
          <p:cNvSpPr>
            <a:spLocks/>
          </p:cNvSpPr>
          <p:nvPr/>
        </p:nvSpPr>
        <p:spPr bwMode="white">
          <a:xfrm>
            <a:off x="26741" y="606825"/>
            <a:ext cx="11985015" cy="2063636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2" name="Conditions Label"/>
          <p:cNvSpPr txBox="1">
            <a:spLocks noChangeArrowheads="1"/>
          </p:cNvSpPr>
          <p:nvPr/>
        </p:nvSpPr>
        <p:spPr bwMode="white">
          <a:xfrm rot="16200000">
            <a:off x="-883507" y="1514324"/>
            <a:ext cx="2081441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Conditions</a:t>
            </a:r>
          </a:p>
        </p:txBody>
      </p:sp>
      <p:sp>
        <p:nvSpPr>
          <p:cNvPr id="109" name="Grant Controls"/>
          <p:cNvSpPr txBox="1">
            <a:spLocks noChangeArrowheads="1"/>
          </p:cNvSpPr>
          <p:nvPr/>
        </p:nvSpPr>
        <p:spPr bwMode="white">
          <a:xfrm>
            <a:off x="3252146" y="3244395"/>
            <a:ext cx="2391873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Grant Controls</a:t>
            </a:r>
          </a:p>
        </p:txBody>
      </p:sp>
      <p:sp>
        <p:nvSpPr>
          <p:cNvPr id="111" name="Session Controls"/>
          <p:cNvSpPr txBox="1">
            <a:spLocks noChangeArrowheads="1"/>
          </p:cNvSpPr>
          <p:nvPr/>
        </p:nvSpPr>
        <p:spPr bwMode="white">
          <a:xfrm>
            <a:off x="9864212" y="3243751"/>
            <a:ext cx="2238346" cy="23786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Session Controls</a:t>
            </a:r>
          </a:p>
        </p:txBody>
      </p:sp>
      <p:pic>
        <p:nvPicPr>
          <p:cNvPr id="72" name="Graphic 71"/>
          <p:cNvPicPr>
            <a:picLocks noChangeAspect="1"/>
          </p:cNvPicPr>
          <p:nvPr/>
        </p:nvPicPr>
        <p:blipFill>
          <a:blip r:embed="rId39">
            <a:lum/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rcRect/>
          <a:stretch>
            <a:fillRect/>
          </a:stretch>
        </p:blipFill>
        <p:spPr bwMode="white">
          <a:xfrm>
            <a:off x="9996846" y="356982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4" name="Graphic 93"/>
          <p:cNvPicPr>
            <a:picLocks noChangeAspect="1"/>
          </p:cNvPicPr>
          <p:nvPr/>
        </p:nvPicPr>
        <p:blipFill>
          <a:blip r:embed="rId41">
            <a:lum/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rcRect/>
          <a:stretch>
            <a:fillRect/>
          </a:stretch>
        </p:blipFill>
        <p:spPr bwMode="white">
          <a:xfrm>
            <a:off x="10009443" y="525644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5" name="TextBox 94"/>
          <p:cNvSpPr txBox="1">
            <a:spLocks noChangeArrowheads="1"/>
          </p:cNvSpPr>
          <p:nvPr/>
        </p:nvSpPr>
        <p:spPr bwMode="white">
          <a:xfrm>
            <a:off x="10207481" y="3578463"/>
            <a:ext cx="150554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App enforced restrictions</a:t>
            </a:r>
          </a:p>
        </p:txBody>
      </p:sp>
      <p:sp>
        <p:nvSpPr>
          <p:cNvPr id="96" name="TextBox 95"/>
          <p:cNvSpPr txBox="1">
            <a:spLocks noChangeArrowheads="1"/>
          </p:cNvSpPr>
          <p:nvPr/>
        </p:nvSpPr>
        <p:spPr bwMode="white">
          <a:xfrm>
            <a:off x="10201167" y="3899846"/>
            <a:ext cx="181011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Conditional Access App Control</a:t>
            </a:r>
          </a:p>
        </p:txBody>
      </p:sp>
      <p:sp>
        <p:nvSpPr>
          <p:cNvPr id="97" name="TextBox 96"/>
          <p:cNvSpPr txBox="1">
            <a:spLocks noChangeArrowheads="1"/>
          </p:cNvSpPr>
          <p:nvPr/>
        </p:nvSpPr>
        <p:spPr bwMode="white">
          <a:xfrm>
            <a:off x="10215627" y="4357505"/>
            <a:ext cx="1090363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Sign-in frequency</a:t>
            </a:r>
          </a:p>
        </p:txBody>
      </p:sp>
      <p:sp>
        <p:nvSpPr>
          <p:cNvPr id="98" name="TextBox 97"/>
          <p:cNvSpPr txBox="1">
            <a:spLocks noChangeArrowheads="1"/>
          </p:cNvSpPr>
          <p:nvPr/>
        </p:nvSpPr>
        <p:spPr bwMode="white">
          <a:xfrm>
            <a:off x="10225446" y="4793305"/>
            <a:ext cx="156966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Persistent browser session</a:t>
            </a:r>
          </a:p>
        </p:txBody>
      </p:sp>
      <p:sp>
        <p:nvSpPr>
          <p:cNvPr id="100" name="TextBox 99"/>
          <p:cNvSpPr txBox="1">
            <a:spLocks noChangeArrowheads="1"/>
          </p:cNvSpPr>
          <p:nvPr/>
        </p:nvSpPr>
        <p:spPr bwMode="white">
          <a:xfrm>
            <a:off x="10229552" y="5232376"/>
            <a:ext cx="1717137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Continuous access evaluation</a:t>
            </a:r>
          </a:p>
        </p:txBody>
      </p:sp>
      <p:sp>
        <p:nvSpPr>
          <p:cNvPr id="101" name="TextBox 100"/>
          <p:cNvSpPr txBox="1">
            <a:spLocks noChangeArrowheads="1"/>
          </p:cNvSpPr>
          <p:nvPr/>
        </p:nvSpPr>
        <p:spPr bwMode="white">
          <a:xfrm>
            <a:off x="10259108" y="5658625"/>
            <a:ext cx="153599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Disable resilience defaults</a:t>
            </a:r>
          </a:p>
        </p:txBody>
      </p:sp>
      <p:pic>
        <p:nvPicPr>
          <p:cNvPr id="103" name="Graphic 102"/>
          <p:cNvPicPr>
            <a:picLocks noChangeAspect="1"/>
          </p:cNvPicPr>
          <p:nvPr/>
        </p:nvPicPr>
        <p:blipFill>
          <a:blip r:embed="rId43">
            <a:lum/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rcRect/>
          <a:stretch>
            <a:fillRect/>
          </a:stretch>
        </p:blipFill>
        <p:spPr bwMode="white">
          <a:xfrm>
            <a:off x="9996846" y="479900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5" name="Graphic 104"/>
          <p:cNvPicPr>
            <a:picLocks noChangeAspect="1"/>
          </p:cNvPicPr>
          <p:nvPr/>
        </p:nvPicPr>
        <p:blipFill>
          <a:blip r:embed="rId45">
            <a:lum/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rcRect/>
          <a:stretch>
            <a:fillRect/>
          </a:stretch>
        </p:blipFill>
        <p:spPr bwMode="white">
          <a:xfrm>
            <a:off x="9996846" y="437457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7" name="Graphic 106"/>
          <p:cNvPicPr>
            <a:picLocks noChangeAspect="1"/>
          </p:cNvPicPr>
          <p:nvPr/>
        </p:nvPicPr>
        <p:blipFill>
          <a:blip r:embed="rId7">
            <a:lum/>
            <a:extLst>
              <a:ext uri="{96DAC541-7B7A-43D3-8B79-37D633B846F1}">
                <asvg:svgBlip xmlns:asvg="http://schemas.microsoft.com/office/drawing/2016/SVG/main" r:embed="rId47"/>
              </a:ext>
            </a:extLst>
          </a:blip>
          <a:srcRect/>
          <a:stretch>
            <a:fillRect/>
          </a:stretch>
        </p:blipFill>
        <p:spPr bwMode="white">
          <a:xfrm>
            <a:off x="9996846" y="391529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15" name="SessionSifInterval"/>
          <p:cNvSpPr txBox="1">
            <a:spLocks noChangeArrowheads="1"/>
          </p:cNvSpPr>
          <p:nvPr/>
        </p:nvSpPr>
        <p:spPr bwMode="white">
          <a:xfrm>
            <a:off x="10296745" y="4516775"/>
            <a:ext cx="1249060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90 days</a:t>
            </a:r>
          </a:p>
        </p:txBody>
      </p:sp>
      <p:sp>
        <p:nvSpPr>
          <p:cNvPr id="114" name="SessionCasType"/>
          <p:cNvSpPr txBox="1">
            <a:spLocks noChangeArrowheads="1"/>
          </p:cNvSpPr>
          <p:nvPr/>
        </p:nvSpPr>
        <p:spPr bwMode="white">
          <a:xfrm>
            <a:off x="10296745" y="4075500"/>
            <a:ext cx="95410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App Control Policy</a:t>
            </a:r>
          </a:p>
        </p:txBody>
      </p:sp>
      <p:sp>
        <p:nvSpPr>
          <p:cNvPr id="116" name="SessionPersistenBrowserMode"/>
          <p:cNvSpPr txBox="1">
            <a:spLocks noChangeArrowheads="1"/>
          </p:cNvSpPr>
          <p:nvPr/>
        </p:nvSpPr>
        <p:spPr bwMode="white">
          <a:xfrm>
            <a:off x="10309761" y="4945281"/>
            <a:ext cx="918841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Always persistent</a:t>
            </a:r>
          </a:p>
        </p:txBody>
      </p:sp>
      <p:sp>
        <p:nvSpPr>
          <p:cNvPr id="118" name="SessionCaeMode"/>
          <p:cNvSpPr txBox="1">
            <a:spLocks noChangeArrowheads="1"/>
          </p:cNvSpPr>
          <p:nvPr/>
        </p:nvSpPr>
        <p:spPr bwMode="white">
          <a:xfrm>
            <a:off x="10301386" y="5393378"/>
            <a:ext cx="15359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US" sz="800" dirty="0"/>
              <a:t>Strictly enforce location policies</a:t>
            </a:r>
          </a:p>
        </p:txBody>
      </p:sp>
      <p:sp>
        <p:nvSpPr>
          <p:cNvPr id="119" name="ShadeSessionAppEnforced"/>
          <p:cNvSpPr>
            <a:spLocks/>
          </p:cNvSpPr>
          <p:nvPr/>
        </p:nvSpPr>
        <p:spPr bwMode="white">
          <a:xfrm>
            <a:off x="9959680" y="3548808"/>
            <a:ext cx="2051597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0" name="ShadeSessionCas"/>
          <p:cNvSpPr>
            <a:spLocks/>
          </p:cNvSpPr>
          <p:nvPr/>
        </p:nvSpPr>
        <p:spPr bwMode="white">
          <a:xfrm>
            <a:off x="9978939" y="3884212"/>
            <a:ext cx="2087576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2" name="ShadeSessionPersistentBrowser"/>
          <p:cNvSpPr>
            <a:spLocks/>
          </p:cNvSpPr>
          <p:nvPr/>
        </p:nvSpPr>
        <p:spPr bwMode="white">
          <a:xfrm>
            <a:off x="9938833" y="4746195"/>
            <a:ext cx="207244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" name="Label Secure Sign In Session"/>
          <p:cNvSpPr txBox="1">
            <a:spLocks noChangeArrowheads="1"/>
          </p:cNvSpPr>
          <p:nvPr/>
        </p:nvSpPr>
        <p:spPr bwMode="white">
          <a:xfrm>
            <a:off x="10260000" y="6084874"/>
            <a:ext cx="166584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Token protection for session</a:t>
            </a:r>
          </a:p>
        </p:txBody>
      </p:sp>
      <p:pic>
        <p:nvPicPr>
          <p:cNvPr id="77" name="IconSessionCaeDisable" descr="Close with solid fill"/>
          <p:cNvPicPr>
            <a:picLocks noChangeAspect="1"/>
          </p:cNvPicPr>
          <p:nvPr/>
        </p:nvPicPr>
        <p:blipFill>
          <a:blip r:embed="rId48">
            <a:lum/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rcRect/>
          <a:stretch>
            <a:fillRect/>
          </a:stretch>
        </p:blipFill>
        <p:spPr bwMode="white">
          <a:xfrm>
            <a:off x="9979885" y="5218651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2" name="IconSessionSecureSignInSession 1"/>
          <p:cNvPicPr>
            <a:picLocks noChangeAspect="1"/>
          </p:cNvPicPr>
          <p:nvPr/>
        </p:nvPicPr>
        <p:blipFill>
          <a:blip r:embed="rId50">
            <a:lum/>
            <a:extLst>
              <a:ext uri="{96DAC541-7B7A-43D3-8B79-37D633B846F1}">
                <asvg:svgBlip xmlns:asvg="http://schemas.microsoft.com/office/drawing/2016/SVG/main" r:embed="rId51"/>
              </a:ext>
            </a:extLst>
          </a:blip>
          <a:srcRect/>
          <a:stretch>
            <a:fillRect/>
          </a:stretch>
        </p:blipFill>
        <p:spPr bwMode="white">
          <a:xfrm>
            <a:off x="9997200" y="6085768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3" name="ShadeSessionCae"/>
          <p:cNvSpPr>
            <a:spLocks/>
          </p:cNvSpPr>
          <p:nvPr/>
        </p:nvSpPr>
        <p:spPr bwMode="white">
          <a:xfrm>
            <a:off x="9987595" y="5219780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76" name="ShadeSessionSecureSignIn"/>
          <p:cNvSpPr>
            <a:spLocks/>
          </p:cNvSpPr>
          <p:nvPr/>
        </p:nvSpPr>
        <p:spPr bwMode="white">
          <a:xfrm>
            <a:off x="9996846" y="5986498"/>
            <a:ext cx="2014431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pic>
        <p:nvPicPr>
          <p:cNvPr id="102" name="Graphic 101"/>
          <p:cNvPicPr>
            <a:picLocks noChangeAspect="1"/>
          </p:cNvPicPr>
          <p:nvPr/>
        </p:nvPicPr>
        <p:blipFill>
          <a:blip r:embed="rId52">
            <a:lum/>
            <a:extLst>
              <a:ext uri="{96DAC541-7B7A-43D3-8B79-37D633B846F1}">
                <asvg:svgBlip xmlns:asvg="http://schemas.microsoft.com/office/drawing/2016/SVG/main" r:embed="rId53"/>
              </a:ext>
            </a:extLst>
          </a:blip>
          <a:srcRect/>
          <a:stretch>
            <a:fillRect/>
          </a:stretch>
        </p:blipFill>
        <p:spPr bwMode="white">
          <a:xfrm>
            <a:off x="9997200" y="5663777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80" name="Graphic 79" descr="Close with solid fill"/>
          <p:cNvPicPr>
            <a:picLocks noChangeAspect="1"/>
          </p:cNvPicPr>
          <p:nvPr/>
        </p:nvPicPr>
        <p:blipFill>
          <a:blip r:embed="rId48">
            <a:lum/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rcRect/>
          <a:stretch>
            <a:fillRect/>
          </a:stretch>
        </p:blipFill>
        <p:spPr bwMode="white">
          <a:xfrm>
            <a:off x="9963899" y="5637424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4" name="ShadeSessionDisableResilience"/>
          <p:cNvSpPr>
            <a:spLocks/>
          </p:cNvSpPr>
          <p:nvPr/>
        </p:nvSpPr>
        <p:spPr bwMode="white">
          <a:xfrm>
            <a:off x="9959681" y="5602709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2" name="PolicyName">
            <a:hlinkClick r:id="" action="ppaction://hlinkfile"/>
          </p:cNvPr>
          <p:cNvSpPr>
            <a:spLocks noGrp="1"/>
          </p:cNvSpPr>
          <p:nvPr>
            <p:ph type="title"/>
          </p:nvPr>
        </p:nvSpPr>
        <p:spPr bwMode="white">
          <a:xfrm>
            <a:off x="838200" y="115511"/>
            <a:ext cx="10003967" cy="609565"/>
          </a:xfrm>
          <a:ln>
            <a:headEnd type="none"/>
            <a:tailEnd type="none"/>
          </a:ln>
        </p:spPr>
        <p:txBody>
          <a:bodyPr wrap="square">
            <a:noAutofit/>
          </a:bodyPr>
          <a:lstStyle/>
          <a:p>
            <a:pPr defTabSz="914400"/>
            <a:r>
              <a:rPr lang="en-US" sz="2000" b="1" dirty="0"/>
              <a:t>[All Apps] [All Users] {MFA} All users and devices (Sif=90)</a:t>
            </a:r>
          </a:p>
        </p:txBody>
      </p:sp>
      <p:sp>
        <p:nvSpPr>
          <p:cNvPr id="16" name="LastModified"/>
          <p:cNvSpPr txBox="1">
            <a:spLocks noChangeArrowheads="1"/>
          </p:cNvSpPr>
          <p:nvPr/>
        </p:nvSpPr>
        <p:spPr bwMode="white">
          <a:xfrm>
            <a:off x="10556111" y="388376"/>
            <a:ext cx="15483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algn="r" defTabSz="457200"/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Last modified: 2025-06-11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UserWorkload"/>
          <p:cNvSpPr>
            <a:spLocks/>
          </p:cNvSpPr>
          <p:nvPr/>
        </p:nvSpPr>
        <p:spPr bwMode="auto">
          <a:xfrm>
            <a:off x="175820" y="2709769"/>
            <a:ext cx="2202823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Users</a:t>
            </a:r>
          </a:p>
        </p:txBody>
      </p:sp>
      <p:sp>
        <p:nvSpPr>
          <p:cNvPr id="7" name="UserWorkloadIncExc"/>
          <p:cNvSpPr txBox="1">
            <a:spLocks noChangeArrowheads="1"/>
          </p:cNvSpPr>
          <p:nvPr/>
        </p:nvSpPr>
        <p:spPr bwMode="white">
          <a:xfrm>
            <a:off x="125485" y="3698952"/>
            <a:ext cx="3062115" cy="313265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 numCol="1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b="1" dirty="0"/>
            </a:pPr>
            <a:r>
              <a:t> Users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r>
              <a:t>🚫 Exclude:</a:t>
            </a:r>
          </a:p>
          <a:p>
            <a:pPr defTabSz="457200">
              <a:defRPr sz="1100" b="1" dirty="0"/>
            </a:pPr>
            <a:r>
              <a:t> Users</a:t>
            </a:r>
          </a:p>
          <a:p>
            <a:pPr defTabSz="457200">
              <a:defRPr sz="1100" dirty="0"/>
            </a:pPr>
            <a:r>
              <a:t> - BGA OCC01</a:t>
            </a:r>
          </a:p>
          <a:p>
            <a:pPr defTabSz="457200">
              <a:defRPr sz="1100" dirty="0"/>
            </a:pPr>
            <a:r>
              <a:t> - BGA OCC02</a:t>
            </a:r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19" name="Risks"/>
          <p:cNvSpPr txBox="1">
            <a:spLocks noChangeArrowheads="1"/>
          </p:cNvSpPr>
          <p:nvPr/>
        </p:nvSpPr>
        <p:spPr bwMode="white">
          <a:xfrm>
            <a:off x="524485" y="1021946"/>
            <a:ext cx="1348869" cy="166886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0" name="Platforms"/>
          <p:cNvSpPr txBox="1">
            <a:spLocks noChangeArrowheads="1"/>
          </p:cNvSpPr>
          <p:nvPr/>
        </p:nvSpPr>
        <p:spPr bwMode="white">
          <a:xfrm>
            <a:off x="1826931" y="1021947"/>
            <a:ext cx="2061056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b="1" dirty="0"/>
            </a:pPr>
            <a:r>
              <a:t>✅ Include</a:t>
            </a:r>
          </a:p>
          <a:p>
            <a:pPr defTabSz="457200">
              <a:defRPr sz="1100" dirty="0"/>
            </a:pPr>
            <a:r>
              <a:t> - 📱Android</a:t>
            </a:r>
          </a:p>
          <a:p>
            <a:pPr defTabSz="457200">
              <a:defRPr sz="1100" dirty="0"/>
            </a:pPr>
            <a:r>
              <a:t> - 📱 iOS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23" name="Locations"/>
          <p:cNvSpPr txBox="1">
            <a:spLocks noChangeArrowheads="1"/>
          </p:cNvSpPr>
          <p:nvPr/>
        </p:nvSpPr>
        <p:spPr bwMode="white">
          <a:xfrm>
            <a:off x="8324941" y="1021947"/>
            <a:ext cx="3513702" cy="159258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4" name="ClientAppTypes"/>
          <p:cNvSpPr txBox="1">
            <a:spLocks noChangeArrowheads="1"/>
          </p:cNvSpPr>
          <p:nvPr/>
        </p:nvSpPr>
        <p:spPr bwMode="white">
          <a:xfrm>
            <a:off x="3810664" y="1021947"/>
            <a:ext cx="1581599" cy="165343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5" name="DeviceFilters"/>
          <p:cNvSpPr txBox="1">
            <a:spLocks noChangeArrowheads="1"/>
          </p:cNvSpPr>
          <p:nvPr/>
        </p:nvSpPr>
        <p:spPr bwMode="white">
          <a:xfrm>
            <a:off x="5818151" y="1022762"/>
            <a:ext cx="2248808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cxnSp>
        <p:nvCxnSpPr>
          <p:cNvPr id="27" name="Straight Arrow Connector 26" descr="Arrow drawn from user/workload  to the action being performed by the user such as accessing cloud apps."/>
          <p:cNvCxnSpPr/>
          <p:nvPr/>
        </p:nvCxnSpPr>
        <p:spPr bwMode="white">
          <a:xfrm>
            <a:off x="2195232" y="3159047"/>
            <a:ext cx="3959471" cy="1"/>
          </a:xfrm>
          <a:prstGeom prst="straightConnector1">
            <a:avLst/>
          </a:prstGeom>
          <a:ln w="76200"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2" name="GrantLabelGrantAccess"/>
          <p:cNvSpPr txBox="1">
            <a:spLocks noChangeArrowheads="1"/>
          </p:cNvSpPr>
          <p:nvPr/>
        </p:nvSpPr>
        <p:spPr bwMode="white">
          <a:xfrm>
            <a:off x="3928464" y="2723089"/>
            <a:ext cx="1381340" cy="369332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algn="ctr" defTabSz="457200"/>
            <a:r>
              <a:rPr lang="en-US" b="1" dirty="0">
                <a:solidFill>
                  <a:srgbClr val="00B050"/>
                </a:solidFill>
              </a:rPr>
              <a:t>Grant access</a:t>
            </a:r>
          </a:p>
        </p:txBody>
      </p:sp>
      <p:pic>
        <p:nvPicPr>
          <p:cNvPr id="35" name="IconGrantAccess" descr="Picture with gren tick sign to indicate access was granted"/>
          <p:cNvPicPr>
            <a:picLocks noChangeAspect="1"/>
          </p:cNvPicPr>
          <p:nvPr/>
        </p:nvPicPr>
        <p:blipFill>
          <a:blip r:embed="rId3">
            <a:lum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 bwMode="white">
          <a:xfrm>
            <a:off x="5309361" y="2730170"/>
            <a:ext cx="356616" cy="356616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26" name="IconGroupIdentity"/>
          <p:cNvPicPr>
            <a:picLocks noChangeAspect="1"/>
          </p:cNvPicPr>
          <p:nvPr/>
        </p:nvPicPr>
        <p:blipFill>
          <a:blip r:embed="rId5">
            <a:lum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 bwMode="white">
          <a:xfrm>
            <a:off x="327701" y="2839007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36" name="Graphic 35"/>
          <p:cNvPicPr>
            <a:picLocks noChangeAspect="1"/>
          </p:cNvPicPr>
          <p:nvPr/>
        </p:nvPicPr>
        <p:blipFill>
          <a:blip r:embed="rId7">
            <a:lum/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p:blipFill>
        <p:spPr bwMode="white">
          <a:xfrm>
            <a:off x="495610" y="197468"/>
            <a:ext cx="381196" cy="38119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" name="CloudAppAction"/>
          <p:cNvSpPr>
            <a:spLocks/>
          </p:cNvSpPr>
          <p:nvPr/>
        </p:nvSpPr>
        <p:spPr bwMode="auto">
          <a:xfrm>
            <a:off x="6206089" y="2718506"/>
            <a:ext cx="3227026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Office 365</a:t>
            </a:r>
          </a:p>
        </p:txBody>
      </p:sp>
      <p:pic>
        <p:nvPicPr>
          <p:cNvPr id="50" name="IconAccessOffice365"/>
          <p:cNvPicPr>
            <a:picLocks noChangeAspect="1"/>
          </p:cNvPicPr>
          <p:nvPr/>
        </p:nvPicPr>
        <p:blipFill>
          <a:blip r:embed="rId9">
            <a:lum/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p:blipFill>
        <p:spPr bwMode="white">
          <a:xfrm>
            <a:off x="6439264" y="2882544"/>
            <a:ext cx="548640" cy="54864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21" name="StateEnabled"/>
          <p:cNvSpPr>
            <a:spLocks/>
          </p:cNvSpPr>
          <p:nvPr/>
        </p:nvSpPr>
        <p:spPr bwMode="white">
          <a:xfrm>
            <a:off x="10842171" y="83487"/>
            <a:ext cx="1260389" cy="264812"/>
          </a:xfrm>
          <a:prstGeom prst="round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r>
              <a:rPr lang="en-US" sz="800" dirty="0"/>
              <a:t>Policy Enabled</a:t>
            </a:r>
          </a:p>
        </p:txBody>
      </p:sp>
      <p:grpSp>
        <p:nvGrpSpPr>
          <p:cNvPr id="10" name="IconRiskyUsers"/>
          <p:cNvGrpSpPr>
            <a:grpSpLocks/>
          </p:cNvGrpSpPr>
          <p:nvPr/>
        </p:nvGrpSpPr>
        <p:grpSpPr bwMode="white">
          <a:xfrm>
            <a:off x="635426" y="738677"/>
            <a:ext cx="1202553" cy="274320"/>
            <a:chOff x="2013768" y="1033956"/>
            <a:chExt cx="1342320" cy="274320"/>
          </a:xfrm>
        </p:grpSpPr>
        <p:pic>
          <p:nvPicPr>
            <p:cNvPr id="46" name="Graphic 1"/>
            <p:cNvPicPr>
              <a:picLocks noChangeAspect="1"/>
            </p:cNvPicPr>
            <p:nvPr/>
          </p:nvPicPr>
          <p:blipFill>
            <a:blip r:embed="rId11">
              <a:lum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013768" y="1033956"/>
              <a:ext cx="274320" cy="27432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5" name="Label 1"/>
            <p:cNvSpPr txBox="1">
              <a:spLocks noChangeArrowheads="1"/>
            </p:cNvSpPr>
            <p:nvPr/>
          </p:nvSpPr>
          <p:spPr bwMode="white">
            <a:xfrm>
              <a:off x="2240077" y="1040706"/>
              <a:ext cx="1116011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Risk</a:t>
              </a:r>
            </a:p>
          </p:txBody>
        </p:sp>
      </p:grpSp>
      <p:grpSp>
        <p:nvGrpSpPr>
          <p:cNvPr id="14" name="IconPlatforms"/>
          <p:cNvGrpSpPr>
            <a:grpSpLocks/>
          </p:cNvGrpSpPr>
          <p:nvPr/>
        </p:nvGrpSpPr>
        <p:grpSpPr bwMode="white">
          <a:xfrm>
            <a:off x="1927788" y="715249"/>
            <a:ext cx="1719285" cy="365760"/>
            <a:chOff x="3262737" y="994835"/>
            <a:chExt cx="1719285" cy="365760"/>
          </a:xfrm>
        </p:grpSpPr>
        <p:pic>
          <p:nvPicPr>
            <p:cNvPr id="29" name="Graphic 1"/>
            <p:cNvPicPr>
              <a:picLocks noChangeAspect="1"/>
            </p:cNvPicPr>
            <p:nvPr/>
          </p:nvPicPr>
          <p:blipFill>
            <a:blip r:embed="rId13">
              <a:lum/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3262737" y="994835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1" name="Label 1"/>
            <p:cNvSpPr txBox="1">
              <a:spLocks noChangeArrowheads="1"/>
            </p:cNvSpPr>
            <p:nvPr/>
          </p:nvSpPr>
          <p:spPr bwMode="white">
            <a:xfrm>
              <a:off x="3582397" y="1027255"/>
              <a:ext cx="1399625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Device platforms</a:t>
              </a:r>
            </a:p>
          </p:txBody>
        </p:sp>
      </p:grpSp>
      <p:grpSp>
        <p:nvGrpSpPr>
          <p:cNvPr id="17" name="IconClientAppTypes"/>
          <p:cNvGrpSpPr>
            <a:grpSpLocks/>
          </p:cNvGrpSpPr>
          <p:nvPr/>
        </p:nvGrpSpPr>
        <p:grpSpPr bwMode="white">
          <a:xfrm>
            <a:off x="3908159" y="670015"/>
            <a:ext cx="1852971" cy="365760"/>
            <a:chOff x="4858970" y="975927"/>
            <a:chExt cx="1852971" cy="365760"/>
          </a:xfrm>
        </p:grpSpPr>
        <p:pic>
          <p:nvPicPr>
            <p:cNvPr id="58" name="Graphic 1"/>
            <p:cNvPicPr>
              <a:picLocks noChangeAspect="1"/>
            </p:cNvPicPr>
            <p:nvPr/>
          </p:nvPicPr>
          <p:blipFill>
            <a:blip r:embed="rId15">
              <a:lum/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858970" y="975927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5" name="Label 1"/>
            <p:cNvSpPr txBox="1">
              <a:spLocks noChangeArrowheads="1"/>
            </p:cNvSpPr>
            <p:nvPr/>
          </p:nvSpPr>
          <p:spPr bwMode="white">
            <a:xfrm>
              <a:off x="5193983" y="1009899"/>
              <a:ext cx="1517958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Client apps</a:t>
              </a:r>
            </a:p>
          </p:txBody>
        </p:sp>
      </p:grpSp>
      <p:grpSp>
        <p:nvGrpSpPr>
          <p:cNvPr id="37" name="IconLocations"/>
          <p:cNvGrpSpPr>
            <a:grpSpLocks/>
          </p:cNvGrpSpPr>
          <p:nvPr/>
        </p:nvGrpSpPr>
        <p:grpSpPr bwMode="white">
          <a:xfrm>
            <a:off x="8411896" y="646848"/>
            <a:ext cx="1850168" cy="388465"/>
            <a:chOff x="2321433" y="3262888"/>
            <a:chExt cx="1850168" cy="388465"/>
          </a:xfrm>
        </p:grpSpPr>
        <p:pic>
          <p:nvPicPr>
            <p:cNvPr id="33" name="Graphic 1"/>
            <p:cNvPicPr>
              <a:picLocks noChangeAspect="1"/>
            </p:cNvPicPr>
            <p:nvPr/>
          </p:nvPicPr>
          <p:blipFill>
            <a:blip r:embed="rId17">
              <a:lum/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321433" y="3262888"/>
              <a:ext cx="388465" cy="388465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28" name="Label 1"/>
            <p:cNvSpPr txBox="1">
              <a:spLocks noChangeArrowheads="1"/>
            </p:cNvSpPr>
            <p:nvPr/>
          </p:nvSpPr>
          <p:spPr bwMode="white">
            <a:xfrm>
              <a:off x="2713321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Locations</a:t>
              </a:r>
              <a:endParaRPr lang="en-US" sz="1100" b="1" dirty="0"/>
            </a:p>
          </p:txBody>
        </p:sp>
      </p:grpSp>
      <p:grpSp>
        <p:nvGrpSpPr>
          <p:cNvPr id="39" name="IconDeviceFilters"/>
          <p:cNvGrpSpPr>
            <a:grpSpLocks/>
          </p:cNvGrpSpPr>
          <p:nvPr/>
        </p:nvGrpSpPr>
        <p:grpSpPr bwMode="white">
          <a:xfrm>
            <a:off x="5472818" y="661958"/>
            <a:ext cx="1839823" cy="364111"/>
            <a:chOff x="4195414" y="3273669"/>
            <a:chExt cx="1839823" cy="364111"/>
          </a:xfrm>
        </p:grpSpPr>
        <p:pic>
          <p:nvPicPr>
            <p:cNvPr id="60" name="Graphic 1"/>
            <p:cNvPicPr>
              <a:picLocks noChangeAspect="1"/>
            </p:cNvPicPr>
            <p:nvPr/>
          </p:nvPicPr>
          <p:blipFill>
            <a:blip r:embed="rId19">
              <a:lum/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195414" y="3273669"/>
              <a:ext cx="364111" cy="364111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31" name="Label 1"/>
            <p:cNvSpPr txBox="1">
              <a:spLocks noChangeArrowheads="1"/>
            </p:cNvSpPr>
            <p:nvPr/>
          </p:nvSpPr>
          <p:spPr bwMode="white">
            <a:xfrm>
              <a:off x="4576957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Filter for devices</a:t>
              </a:r>
              <a:endParaRPr lang="en-US" sz="1100" b="1" dirty="0"/>
            </a:p>
          </p:txBody>
        </p:sp>
      </p:grpSp>
      <p:pic>
        <p:nvPicPr>
          <p:cNvPr id="62" name="IconGrantMultifactorAuthentication"/>
          <p:cNvPicPr>
            <a:picLocks noChangeAspect="1"/>
          </p:cNvPicPr>
          <p:nvPr/>
        </p:nvPicPr>
        <p:blipFill>
          <a:blip r:embed="rId21">
            <a:lum/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>
            <a:fillRect/>
          </a:stretch>
        </p:blipFill>
        <p:spPr bwMode="white">
          <a:xfrm>
            <a:off x="3410647" y="3566863"/>
            <a:ext cx="17145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5" name="IconGrantMultifactorAuthenticationLabel"/>
          <p:cNvSpPr txBox="1">
            <a:spLocks noChangeArrowheads="1"/>
          </p:cNvSpPr>
          <p:nvPr/>
        </p:nvSpPr>
        <p:spPr bwMode="white">
          <a:xfrm>
            <a:off x="3575836" y="3571997"/>
            <a:ext cx="19007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Multifactor authentication</a:t>
            </a:r>
            <a:endParaRPr lang="en-US" sz="1000" dirty="0"/>
          </a:p>
        </p:txBody>
      </p:sp>
      <p:pic>
        <p:nvPicPr>
          <p:cNvPr id="38" name="IconGrantAuthenticationStrength"/>
          <p:cNvPicPr>
            <a:picLocks noChangeAspect="1"/>
          </p:cNvPicPr>
          <p:nvPr/>
        </p:nvPicPr>
        <p:blipFill>
          <a:blip r:embed="rId23">
            <a:lum/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/>
          <a:stretch>
            <a:fillRect/>
          </a:stretch>
        </p:blipFill>
        <p:spPr bwMode="white">
          <a:xfrm>
            <a:off x="3374515" y="3905034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7" name="IconGrantAuthenticationStrengthLabel"/>
          <p:cNvSpPr txBox="1">
            <a:spLocks noChangeArrowheads="1"/>
          </p:cNvSpPr>
          <p:nvPr/>
        </p:nvSpPr>
        <p:spPr bwMode="white">
          <a:xfrm>
            <a:off x="3575836" y="3907323"/>
            <a:ext cx="2185294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Authentication strength</a:t>
            </a:r>
            <a:endParaRPr lang="en-US" sz="1000" dirty="0"/>
          </a:p>
        </p:txBody>
      </p:sp>
      <p:pic>
        <p:nvPicPr>
          <p:cNvPr id="52" name="IconGrantDeviceCompliance"/>
          <p:cNvPicPr>
            <a:picLocks noChangeAspect="1"/>
          </p:cNvPicPr>
          <p:nvPr/>
        </p:nvPicPr>
        <p:blipFill>
          <a:blip r:embed="rId25">
            <a:lum/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/>
          <a:stretch>
            <a:fillRect/>
          </a:stretch>
        </p:blipFill>
        <p:spPr bwMode="white">
          <a:xfrm>
            <a:off x="3374515" y="4243205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9" name="IconGrantDeviceComplianceLabel"/>
          <p:cNvSpPr txBox="1">
            <a:spLocks noChangeArrowheads="1"/>
          </p:cNvSpPr>
          <p:nvPr/>
        </p:nvSpPr>
        <p:spPr bwMode="white">
          <a:xfrm>
            <a:off x="3575836" y="4242649"/>
            <a:ext cx="17378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Compliant device</a:t>
            </a:r>
            <a:endParaRPr lang="en-US" sz="1000" dirty="0"/>
          </a:p>
        </p:txBody>
      </p:sp>
      <p:pic>
        <p:nvPicPr>
          <p:cNvPr id="43" name="IconGrantHybridJoined"/>
          <p:cNvPicPr>
            <a:picLocks noChangeAspect="1"/>
          </p:cNvPicPr>
          <p:nvPr/>
        </p:nvPicPr>
        <p:blipFill>
          <a:blip r:embed="rId27">
            <a:lum/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/>
          <a:stretch>
            <a:fillRect/>
          </a:stretch>
        </p:blipFill>
        <p:spPr bwMode="white">
          <a:xfrm>
            <a:off x="3374515" y="4581376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3" name="IconGrantHybridJoinedLabel"/>
          <p:cNvSpPr txBox="1">
            <a:spLocks noChangeArrowheads="1"/>
          </p:cNvSpPr>
          <p:nvPr/>
        </p:nvSpPr>
        <p:spPr bwMode="white">
          <a:xfrm>
            <a:off x="3575836" y="4577975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Hybrid Azure AD joined device</a:t>
            </a:r>
            <a:endParaRPr lang="en-US" sz="1000" dirty="0"/>
          </a:p>
        </p:txBody>
      </p:sp>
      <p:pic>
        <p:nvPicPr>
          <p:cNvPr id="48" name="IconGrantApprovedClientApp"/>
          <p:cNvPicPr>
            <a:picLocks noChangeAspect="1"/>
          </p:cNvPicPr>
          <p:nvPr/>
        </p:nvPicPr>
        <p:blipFill>
          <a:blip r:embed="rId29">
            <a:lum/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rcRect/>
          <a:stretch>
            <a:fillRect/>
          </a:stretch>
        </p:blipFill>
        <p:spPr bwMode="white">
          <a:xfrm>
            <a:off x="3374515" y="491954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5" name="IconGrantApprovedClientAppLabel"/>
          <p:cNvSpPr txBox="1">
            <a:spLocks noChangeArrowheads="1"/>
          </p:cNvSpPr>
          <p:nvPr/>
        </p:nvSpPr>
        <p:spPr bwMode="white">
          <a:xfrm>
            <a:off x="3575836" y="4913301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Approved client app</a:t>
            </a:r>
            <a:endParaRPr lang="en-US" sz="1000" dirty="0"/>
          </a:p>
        </p:txBody>
      </p:sp>
      <p:pic>
        <p:nvPicPr>
          <p:cNvPr id="42" name="IconGrantCustomAuth"/>
          <p:cNvPicPr>
            <a:picLocks noChangeAspect="1"/>
          </p:cNvPicPr>
          <p:nvPr/>
        </p:nvPicPr>
        <p:blipFill>
          <a:blip r:embed="rId31">
            <a:lum/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rcRect/>
          <a:stretch>
            <a:fillRect/>
          </a:stretch>
        </p:blipFill>
        <p:spPr bwMode="white">
          <a:xfrm>
            <a:off x="3374515" y="593406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9" name="IconGrantCustomAuthLabel"/>
          <p:cNvSpPr txBox="1">
            <a:spLocks noChangeArrowheads="1"/>
          </p:cNvSpPr>
          <p:nvPr/>
        </p:nvSpPr>
        <p:spPr bwMode="white">
          <a:xfrm>
            <a:off x="3575836" y="5919279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Custom authentication factor</a:t>
            </a:r>
            <a:endParaRPr lang="en-US" sz="1000" dirty="0"/>
          </a:p>
        </p:txBody>
      </p:sp>
      <p:pic>
        <p:nvPicPr>
          <p:cNvPr id="40" name="IconGrantTermsOfUse"/>
          <p:cNvPicPr>
            <a:picLocks noChangeAspect="1"/>
          </p:cNvPicPr>
          <p:nvPr/>
        </p:nvPicPr>
        <p:blipFill>
          <a:blip r:embed="rId33">
            <a:lum/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rcRect/>
          <a:stretch>
            <a:fillRect/>
          </a:stretch>
        </p:blipFill>
        <p:spPr bwMode="white">
          <a:xfrm>
            <a:off x="3374515" y="627222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3" name="IconGrantTermsOfUseLabel"/>
          <p:cNvSpPr txBox="1">
            <a:spLocks noChangeArrowheads="1"/>
          </p:cNvSpPr>
          <p:nvPr/>
        </p:nvSpPr>
        <p:spPr bwMode="white">
          <a:xfrm>
            <a:off x="3575836" y="625460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Terms of use</a:t>
            </a:r>
            <a:endParaRPr lang="en-US" sz="1000" dirty="0"/>
          </a:p>
        </p:txBody>
      </p:sp>
      <p:sp>
        <p:nvSpPr>
          <p:cNvPr id="56" name="IconGrantAppProtectionLabel"/>
          <p:cNvSpPr txBox="1">
            <a:spLocks noChangeArrowheads="1"/>
          </p:cNvSpPr>
          <p:nvPr/>
        </p:nvSpPr>
        <p:spPr bwMode="white">
          <a:xfrm>
            <a:off x="3575836" y="524862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 protection policy</a:t>
            </a:r>
            <a:endParaRPr lang="en-US" sz="1000" dirty="0"/>
          </a:p>
        </p:txBody>
      </p:sp>
      <p:pic>
        <p:nvPicPr>
          <p:cNvPr id="65" name="IconGrantAppProtection"/>
          <p:cNvPicPr>
            <a:picLocks noChangeAspect="1"/>
          </p:cNvPicPr>
          <p:nvPr/>
        </p:nvPicPr>
        <p:blipFill>
          <a:blip r:embed="rId35">
            <a:lum/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rcRect/>
          <a:stretch>
            <a:fillRect/>
          </a:stretch>
        </p:blipFill>
        <p:spPr bwMode="white">
          <a:xfrm>
            <a:off x="3374515" y="525771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7" name="IconGrantChangePasswordLabel"/>
          <p:cNvSpPr txBox="1">
            <a:spLocks noChangeArrowheads="1"/>
          </p:cNvSpPr>
          <p:nvPr/>
        </p:nvSpPr>
        <p:spPr bwMode="white">
          <a:xfrm>
            <a:off x="3575836" y="5583953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Change password</a:t>
            </a:r>
            <a:endParaRPr lang="en-US" sz="1000" dirty="0"/>
          </a:p>
        </p:txBody>
      </p:sp>
      <p:pic>
        <p:nvPicPr>
          <p:cNvPr id="67" name="IconGrantChangePassword"/>
          <p:cNvPicPr>
            <a:picLocks noChangeAspect="1"/>
          </p:cNvPicPr>
          <p:nvPr/>
        </p:nvPicPr>
        <p:blipFill>
          <a:blip r:embed="rId37">
            <a:lum/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rcRect/>
          <a:stretch>
            <a:fillRect/>
          </a:stretch>
        </p:blipFill>
        <p:spPr bwMode="white">
          <a:xfrm>
            <a:off x="3374515" y="5595889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4" name="ShadeRisk"/>
          <p:cNvSpPr>
            <a:spLocks/>
          </p:cNvSpPr>
          <p:nvPr/>
        </p:nvSpPr>
        <p:spPr bwMode="white">
          <a:xfrm>
            <a:off x="507564" y="650246"/>
            <a:ext cx="976864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78" name="ShadeClientApps"/>
          <p:cNvSpPr>
            <a:spLocks/>
          </p:cNvSpPr>
          <p:nvPr/>
        </p:nvSpPr>
        <p:spPr bwMode="white">
          <a:xfrm>
            <a:off x="3802273" y="650246"/>
            <a:ext cx="1481482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79" name="ShadeLocations"/>
          <p:cNvSpPr>
            <a:spLocks/>
          </p:cNvSpPr>
          <p:nvPr/>
        </p:nvSpPr>
        <p:spPr bwMode="white">
          <a:xfrm>
            <a:off x="8217572" y="669110"/>
            <a:ext cx="1873684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2" name="ShadeFilterForDevices"/>
          <p:cNvSpPr>
            <a:spLocks/>
          </p:cNvSpPr>
          <p:nvPr/>
        </p:nvSpPr>
        <p:spPr bwMode="white">
          <a:xfrm>
            <a:off x="5438955" y="627922"/>
            <a:ext cx="1873685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3" name="ShadeGrantMultifactorAuth"/>
          <p:cNvSpPr>
            <a:spLocks/>
          </p:cNvSpPr>
          <p:nvPr/>
        </p:nvSpPr>
        <p:spPr bwMode="white">
          <a:xfrm>
            <a:off x="3369399" y="3534220"/>
            <a:ext cx="2069555" cy="28330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4" name="ShadeGrantAuthStrength"/>
          <p:cNvSpPr>
            <a:spLocks/>
          </p:cNvSpPr>
          <p:nvPr/>
        </p:nvSpPr>
        <p:spPr bwMode="white">
          <a:xfrm>
            <a:off x="3350256" y="3869846"/>
            <a:ext cx="2069555" cy="27801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6" name="ShadeGrantHybridAzureADJoined"/>
          <p:cNvSpPr>
            <a:spLocks/>
          </p:cNvSpPr>
          <p:nvPr/>
        </p:nvSpPr>
        <p:spPr bwMode="white">
          <a:xfrm>
            <a:off x="3353637" y="4552268"/>
            <a:ext cx="2160906" cy="298395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7" name="ShadeGrantApprovedClientApp"/>
          <p:cNvSpPr>
            <a:spLocks/>
          </p:cNvSpPr>
          <p:nvPr/>
        </p:nvSpPr>
        <p:spPr bwMode="white">
          <a:xfrm>
            <a:off x="3331918" y="4876027"/>
            <a:ext cx="2182625" cy="29839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9" name="ShadeGrantChangePassword"/>
          <p:cNvSpPr>
            <a:spLocks/>
          </p:cNvSpPr>
          <p:nvPr/>
        </p:nvSpPr>
        <p:spPr bwMode="white">
          <a:xfrm>
            <a:off x="3350257" y="5557021"/>
            <a:ext cx="2042006" cy="287239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0" name="ShadeGrantCustomAuthFactor"/>
          <p:cNvSpPr>
            <a:spLocks/>
          </p:cNvSpPr>
          <p:nvPr/>
        </p:nvSpPr>
        <p:spPr bwMode="white">
          <a:xfrm>
            <a:off x="3331918" y="5899058"/>
            <a:ext cx="2182625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1" name="ShadeGrantTermsOfUse"/>
          <p:cNvSpPr>
            <a:spLocks/>
          </p:cNvSpPr>
          <p:nvPr/>
        </p:nvSpPr>
        <p:spPr bwMode="white">
          <a:xfrm>
            <a:off x="3313823" y="6192350"/>
            <a:ext cx="101602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99" name="Rectangle 98"/>
          <p:cNvSpPr>
            <a:spLocks/>
          </p:cNvSpPr>
          <p:nvPr/>
        </p:nvSpPr>
        <p:spPr bwMode="white">
          <a:xfrm>
            <a:off x="3268757" y="3253404"/>
            <a:ext cx="2357725" cy="3498546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0" name="Rectangle 109"/>
          <p:cNvSpPr>
            <a:spLocks/>
          </p:cNvSpPr>
          <p:nvPr/>
        </p:nvSpPr>
        <p:spPr bwMode="white">
          <a:xfrm>
            <a:off x="9881750" y="3248255"/>
            <a:ext cx="2220808" cy="3510149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7" name="Rectangle 116"/>
          <p:cNvSpPr>
            <a:spLocks/>
          </p:cNvSpPr>
          <p:nvPr/>
        </p:nvSpPr>
        <p:spPr bwMode="white">
          <a:xfrm>
            <a:off x="26741" y="606825"/>
            <a:ext cx="11985015" cy="2063636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2" name="Conditions Label"/>
          <p:cNvSpPr txBox="1">
            <a:spLocks noChangeArrowheads="1"/>
          </p:cNvSpPr>
          <p:nvPr/>
        </p:nvSpPr>
        <p:spPr bwMode="white">
          <a:xfrm rot="16200000">
            <a:off x="-883507" y="1514324"/>
            <a:ext cx="2081441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Conditions</a:t>
            </a:r>
          </a:p>
        </p:txBody>
      </p:sp>
      <p:sp>
        <p:nvSpPr>
          <p:cNvPr id="109" name="Grant Controls"/>
          <p:cNvSpPr txBox="1">
            <a:spLocks noChangeArrowheads="1"/>
          </p:cNvSpPr>
          <p:nvPr/>
        </p:nvSpPr>
        <p:spPr bwMode="white">
          <a:xfrm>
            <a:off x="3252146" y="3244395"/>
            <a:ext cx="2391873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Grant Controls</a:t>
            </a:r>
          </a:p>
        </p:txBody>
      </p:sp>
      <p:sp>
        <p:nvSpPr>
          <p:cNvPr id="111" name="Session Controls"/>
          <p:cNvSpPr txBox="1">
            <a:spLocks noChangeArrowheads="1"/>
          </p:cNvSpPr>
          <p:nvPr/>
        </p:nvSpPr>
        <p:spPr bwMode="white">
          <a:xfrm>
            <a:off x="9864212" y="3243751"/>
            <a:ext cx="2238346" cy="23786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Session Controls</a:t>
            </a:r>
          </a:p>
        </p:txBody>
      </p:sp>
      <p:sp>
        <p:nvSpPr>
          <p:cNvPr id="68" name="GrantRequireLabel"/>
          <p:cNvSpPr txBox="1">
            <a:spLocks noChangeArrowheads="1"/>
          </p:cNvSpPr>
          <p:nvPr/>
        </p:nvSpPr>
        <p:spPr bwMode="white">
          <a:xfrm>
            <a:off x="4775511" y="3240533"/>
            <a:ext cx="885943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algn="r" defTabSz="457200"/>
            <a:r>
              <a:rPr lang="en-US" sz="800" cap="small" dirty="0">
                <a:solidFill>
                  <a:schemeClr val="bg2"/>
                </a:solidFill>
              </a:rPr>
              <a:t>Require ALL</a:t>
            </a:r>
          </a:p>
        </p:txBody>
      </p:sp>
      <p:pic>
        <p:nvPicPr>
          <p:cNvPr id="72" name="Graphic 71"/>
          <p:cNvPicPr>
            <a:picLocks noChangeAspect="1"/>
          </p:cNvPicPr>
          <p:nvPr/>
        </p:nvPicPr>
        <p:blipFill>
          <a:blip r:embed="rId39">
            <a:lum/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rcRect/>
          <a:stretch>
            <a:fillRect/>
          </a:stretch>
        </p:blipFill>
        <p:spPr bwMode="white">
          <a:xfrm>
            <a:off x="9996846" y="356982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4" name="Graphic 93"/>
          <p:cNvPicPr>
            <a:picLocks noChangeAspect="1"/>
          </p:cNvPicPr>
          <p:nvPr/>
        </p:nvPicPr>
        <p:blipFill>
          <a:blip r:embed="rId41">
            <a:lum/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rcRect/>
          <a:stretch>
            <a:fillRect/>
          </a:stretch>
        </p:blipFill>
        <p:spPr bwMode="white">
          <a:xfrm>
            <a:off x="10009443" y="525644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5" name="TextBox 94"/>
          <p:cNvSpPr txBox="1">
            <a:spLocks noChangeArrowheads="1"/>
          </p:cNvSpPr>
          <p:nvPr/>
        </p:nvSpPr>
        <p:spPr bwMode="white">
          <a:xfrm>
            <a:off x="10207481" y="3578463"/>
            <a:ext cx="150554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App enforced restrictions</a:t>
            </a:r>
          </a:p>
        </p:txBody>
      </p:sp>
      <p:sp>
        <p:nvSpPr>
          <p:cNvPr id="96" name="TextBox 95"/>
          <p:cNvSpPr txBox="1">
            <a:spLocks noChangeArrowheads="1"/>
          </p:cNvSpPr>
          <p:nvPr/>
        </p:nvSpPr>
        <p:spPr bwMode="white">
          <a:xfrm>
            <a:off x="10201167" y="3899846"/>
            <a:ext cx="181011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Conditional Access App Control</a:t>
            </a:r>
          </a:p>
        </p:txBody>
      </p:sp>
      <p:sp>
        <p:nvSpPr>
          <p:cNvPr id="97" name="TextBox 96"/>
          <p:cNvSpPr txBox="1">
            <a:spLocks noChangeArrowheads="1"/>
          </p:cNvSpPr>
          <p:nvPr/>
        </p:nvSpPr>
        <p:spPr bwMode="white">
          <a:xfrm>
            <a:off x="10215627" y="4357505"/>
            <a:ext cx="1090363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Sign-in frequency</a:t>
            </a:r>
          </a:p>
        </p:txBody>
      </p:sp>
      <p:sp>
        <p:nvSpPr>
          <p:cNvPr id="98" name="TextBox 97"/>
          <p:cNvSpPr txBox="1">
            <a:spLocks noChangeArrowheads="1"/>
          </p:cNvSpPr>
          <p:nvPr/>
        </p:nvSpPr>
        <p:spPr bwMode="white">
          <a:xfrm>
            <a:off x="10225446" y="4793305"/>
            <a:ext cx="156966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Persistent browser session</a:t>
            </a:r>
          </a:p>
        </p:txBody>
      </p:sp>
      <p:sp>
        <p:nvSpPr>
          <p:cNvPr id="100" name="TextBox 99"/>
          <p:cNvSpPr txBox="1">
            <a:spLocks noChangeArrowheads="1"/>
          </p:cNvSpPr>
          <p:nvPr/>
        </p:nvSpPr>
        <p:spPr bwMode="white">
          <a:xfrm>
            <a:off x="10229552" y="5232376"/>
            <a:ext cx="1717137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Continuous access evaluation</a:t>
            </a:r>
          </a:p>
        </p:txBody>
      </p:sp>
      <p:sp>
        <p:nvSpPr>
          <p:cNvPr id="101" name="TextBox 100"/>
          <p:cNvSpPr txBox="1">
            <a:spLocks noChangeArrowheads="1"/>
          </p:cNvSpPr>
          <p:nvPr/>
        </p:nvSpPr>
        <p:spPr bwMode="white">
          <a:xfrm>
            <a:off x="10259108" y="5658625"/>
            <a:ext cx="153599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Disable resilience defaults</a:t>
            </a:r>
          </a:p>
        </p:txBody>
      </p:sp>
      <p:pic>
        <p:nvPicPr>
          <p:cNvPr id="103" name="Graphic 102"/>
          <p:cNvPicPr>
            <a:picLocks noChangeAspect="1"/>
          </p:cNvPicPr>
          <p:nvPr/>
        </p:nvPicPr>
        <p:blipFill>
          <a:blip r:embed="rId43">
            <a:lum/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rcRect/>
          <a:stretch>
            <a:fillRect/>
          </a:stretch>
        </p:blipFill>
        <p:spPr bwMode="white">
          <a:xfrm>
            <a:off x="9996846" y="479900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5" name="Graphic 104"/>
          <p:cNvPicPr>
            <a:picLocks noChangeAspect="1"/>
          </p:cNvPicPr>
          <p:nvPr/>
        </p:nvPicPr>
        <p:blipFill>
          <a:blip r:embed="rId45">
            <a:lum/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rcRect/>
          <a:stretch>
            <a:fillRect/>
          </a:stretch>
        </p:blipFill>
        <p:spPr bwMode="white">
          <a:xfrm>
            <a:off x="9996846" y="437457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7" name="Graphic 106"/>
          <p:cNvPicPr>
            <a:picLocks noChangeAspect="1"/>
          </p:cNvPicPr>
          <p:nvPr/>
        </p:nvPicPr>
        <p:blipFill>
          <a:blip r:embed="rId7">
            <a:lum/>
            <a:extLst>
              <a:ext uri="{96DAC541-7B7A-43D3-8B79-37D633B846F1}">
                <asvg:svgBlip xmlns:asvg="http://schemas.microsoft.com/office/drawing/2016/SVG/main" r:embed="rId47"/>
              </a:ext>
            </a:extLst>
          </a:blip>
          <a:srcRect/>
          <a:stretch>
            <a:fillRect/>
          </a:stretch>
        </p:blipFill>
        <p:spPr bwMode="white">
          <a:xfrm>
            <a:off x="9996846" y="391529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15" name="SessionSifInterval"/>
          <p:cNvSpPr txBox="1">
            <a:spLocks noChangeArrowheads="1"/>
          </p:cNvSpPr>
          <p:nvPr/>
        </p:nvSpPr>
        <p:spPr bwMode="white">
          <a:xfrm>
            <a:off x="10296745" y="4516775"/>
            <a:ext cx="1249060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Periodic reauthentication</a:t>
            </a:r>
          </a:p>
        </p:txBody>
      </p:sp>
      <p:sp>
        <p:nvSpPr>
          <p:cNvPr id="114" name="SessionCasType"/>
          <p:cNvSpPr txBox="1">
            <a:spLocks noChangeArrowheads="1"/>
          </p:cNvSpPr>
          <p:nvPr/>
        </p:nvSpPr>
        <p:spPr bwMode="white">
          <a:xfrm>
            <a:off x="10296745" y="4075500"/>
            <a:ext cx="95410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App Control Policy</a:t>
            </a:r>
          </a:p>
        </p:txBody>
      </p:sp>
      <p:sp>
        <p:nvSpPr>
          <p:cNvPr id="116" name="SessionPersistenBrowserMode"/>
          <p:cNvSpPr txBox="1">
            <a:spLocks noChangeArrowheads="1"/>
          </p:cNvSpPr>
          <p:nvPr/>
        </p:nvSpPr>
        <p:spPr bwMode="white">
          <a:xfrm>
            <a:off x="10309761" y="4945281"/>
            <a:ext cx="918841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Always persistent</a:t>
            </a:r>
          </a:p>
        </p:txBody>
      </p:sp>
      <p:sp>
        <p:nvSpPr>
          <p:cNvPr id="118" name="SessionCaeMode"/>
          <p:cNvSpPr txBox="1">
            <a:spLocks noChangeArrowheads="1"/>
          </p:cNvSpPr>
          <p:nvPr/>
        </p:nvSpPr>
        <p:spPr bwMode="white">
          <a:xfrm>
            <a:off x="10301386" y="5393378"/>
            <a:ext cx="15359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US" sz="800" dirty="0"/>
              <a:t>Strictly enforce location policies</a:t>
            </a:r>
          </a:p>
        </p:txBody>
      </p:sp>
      <p:sp>
        <p:nvSpPr>
          <p:cNvPr id="119" name="ShadeSessionAppEnforced"/>
          <p:cNvSpPr>
            <a:spLocks/>
          </p:cNvSpPr>
          <p:nvPr/>
        </p:nvSpPr>
        <p:spPr bwMode="white">
          <a:xfrm>
            <a:off x="9959680" y="3548808"/>
            <a:ext cx="2051597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0" name="ShadeSessionCas"/>
          <p:cNvSpPr>
            <a:spLocks/>
          </p:cNvSpPr>
          <p:nvPr/>
        </p:nvSpPr>
        <p:spPr bwMode="white">
          <a:xfrm>
            <a:off x="9978939" y="3884212"/>
            <a:ext cx="2087576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1" name="ShadeSessionSif"/>
          <p:cNvSpPr>
            <a:spLocks/>
          </p:cNvSpPr>
          <p:nvPr/>
        </p:nvSpPr>
        <p:spPr bwMode="white">
          <a:xfrm>
            <a:off x="9940787" y="4320077"/>
            <a:ext cx="2125728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2" name="ShadeSessionPersistentBrowser"/>
          <p:cNvSpPr>
            <a:spLocks/>
          </p:cNvSpPr>
          <p:nvPr/>
        </p:nvSpPr>
        <p:spPr bwMode="white">
          <a:xfrm>
            <a:off x="9938833" y="4746195"/>
            <a:ext cx="207244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pic>
        <p:nvPicPr>
          <p:cNvPr id="22" name="PicAccessOffice365" descr="Graphical user interface, application&#10;&#10;Description automatically generated"/>
          <p:cNvPicPr>
            <a:picLocks noChangeAspect="1"/>
          </p:cNvPicPr>
          <p:nvPr/>
        </p:nvPicPr>
        <p:blipFill>
          <a:blip r:embed="rId48">
            <a:lum/>
          </a:blip>
          <a:srcRect/>
          <a:stretch>
            <a:fillRect/>
          </a:stretch>
        </p:blipFill>
        <p:spPr bwMode="white">
          <a:xfrm>
            <a:off x="6673101" y="3457952"/>
            <a:ext cx="2328560" cy="3498547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" name="Label Secure Sign In Session"/>
          <p:cNvSpPr txBox="1">
            <a:spLocks noChangeArrowheads="1"/>
          </p:cNvSpPr>
          <p:nvPr/>
        </p:nvSpPr>
        <p:spPr bwMode="white">
          <a:xfrm>
            <a:off x="10260000" y="6084874"/>
            <a:ext cx="166584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Token protection for session</a:t>
            </a:r>
          </a:p>
        </p:txBody>
      </p:sp>
      <p:pic>
        <p:nvPicPr>
          <p:cNvPr id="77" name="IconSessionCaeDisable" descr="Close with solid fill"/>
          <p:cNvPicPr>
            <a:picLocks noChangeAspect="1"/>
          </p:cNvPicPr>
          <p:nvPr/>
        </p:nvPicPr>
        <p:blipFill>
          <a:blip r:embed="rId49">
            <a:lum/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rcRect/>
          <a:stretch>
            <a:fillRect/>
          </a:stretch>
        </p:blipFill>
        <p:spPr bwMode="white">
          <a:xfrm>
            <a:off x="9979885" y="5218651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2" name="IconSessionSecureSignInSession 1"/>
          <p:cNvPicPr>
            <a:picLocks noChangeAspect="1"/>
          </p:cNvPicPr>
          <p:nvPr/>
        </p:nvPicPr>
        <p:blipFill>
          <a:blip r:embed="rId51">
            <a:lum/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rcRect/>
          <a:stretch>
            <a:fillRect/>
          </a:stretch>
        </p:blipFill>
        <p:spPr bwMode="white">
          <a:xfrm>
            <a:off x="9997200" y="6085768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3" name="ShadeSessionCae"/>
          <p:cNvSpPr>
            <a:spLocks/>
          </p:cNvSpPr>
          <p:nvPr/>
        </p:nvSpPr>
        <p:spPr bwMode="white">
          <a:xfrm>
            <a:off x="9987595" y="5219780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76" name="ShadeSessionSecureSignIn"/>
          <p:cNvSpPr>
            <a:spLocks/>
          </p:cNvSpPr>
          <p:nvPr/>
        </p:nvSpPr>
        <p:spPr bwMode="white">
          <a:xfrm>
            <a:off x="9996846" y="5986498"/>
            <a:ext cx="2014431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pic>
        <p:nvPicPr>
          <p:cNvPr id="102" name="Graphic 101"/>
          <p:cNvPicPr>
            <a:picLocks noChangeAspect="1"/>
          </p:cNvPicPr>
          <p:nvPr/>
        </p:nvPicPr>
        <p:blipFill>
          <a:blip r:embed="rId53">
            <a:lum/>
            <a:extLst>
              <a:ext uri="{96DAC541-7B7A-43D3-8B79-37D633B846F1}">
                <asvg:svgBlip xmlns:asvg="http://schemas.microsoft.com/office/drawing/2016/SVG/main" r:embed="rId54"/>
              </a:ext>
            </a:extLst>
          </a:blip>
          <a:srcRect/>
          <a:stretch>
            <a:fillRect/>
          </a:stretch>
        </p:blipFill>
        <p:spPr bwMode="white">
          <a:xfrm>
            <a:off x="9997200" y="5663777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80" name="Graphic 79" descr="Close with solid fill"/>
          <p:cNvPicPr>
            <a:picLocks noChangeAspect="1"/>
          </p:cNvPicPr>
          <p:nvPr/>
        </p:nvPicPr>
        <p:blipFill>
          <a:blip r:embed="rId49">
            <a:lum/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rcRect/>
          <a:stretch>
            <a:fillRect/>
          </a:stretch>
        </p:blipFill>
        <p:spPr bwMode="white">
          <a:xfrm>
            <a:off x="9963899" y="5637424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4" name="ShadeSessionDisableResilience"/>
          <p:cNvSpPr>
            <a:spLocks/>
          </p:cNvSpPr>
          <p:nvPr/>
        </p:nvSpPr>
        <p:spPr bwMode="white">
          <a:xfrm>
            <a:off x="9959681" y="5602709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2" name="PolicyName">
            <a:hlinkClick r:id="" action="ppaction://hlinkfile"/>
          </p:cNvPr>
          <p:cNvSpPr>
            <a:spLocks noGrp="1"/>
          </p:cNvSpPr>
          <p:nvPr>
            <p:ph type="title"/>
          </p:nvPr>
        </p:nvSpPr>
        <p:spPr bwMode="white">
          <a:xfrm>
            <a:off x="838200" y="115511"/>
            <a:ext cx="10003967" cy="609565"/>
          </a:xfrm>
          <a:ln>
            <a:headEnd type="none"/>
            <a:tailEnd type="none"/>
          </a:ln>
        </p:spPr>
        <p:txBody>
          <a:bodyPr wrap="square">
            <a:noAutofit/>
          </a:bodyPr>
          <a:lstStyle/>
          <a:p>
            <a:pPr defTabSz="914400"/>
            <a:r>
              <a:rPr lang="en-US" sz="2000" b="1" dirty="0"/>
              <a:t>[All Apps] [All Users] {Mobile Devices} App Protection and Compliance</a:t>
            </a:r>
          </a:p>
        </p:txBody>
      </p:sp>
      <p:sp>
        <p:nvSpPr>
          <p:cNvPr id="16" name="LastModified"/>
          <p:cNvSpPr txBox="1">
            <a:spLocks noChangeArrowheads="1"/>
          </p:cNvSpPr>
          <p:nvPr/>
        </p:nvSpPr>
        <p:spPr bwMode="white">
          <a:xfrm>
            <a:off x="10556111" y="388376"/>
            <a:ext cx="15483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algn="r" defTabSz="457200"/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Last modified: 2025-05-23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UserWorkload"/>
          <p:cNvSpPr>
            <a:spLocks/>
          </p:cNvSpPr>
          <p:nvPr/>
        </p:nvSpPr>
        <p:spPr bwMode="auto">
          <a:xfrm>
            <a:off x="175820" y="2709769"/>
            <a:ext cx="2202823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Users</a:t>
            </a:r>
          </a:p>
        </p:txBody>
      </p:sp>
      <p:sp>
        <p:nvSpPr>
          <p:cNvPr id="7" name="UserWorkloadIncExc"/>
          <p:cNvSpPr txBox="1">
            <a:spLocks noChangeArrowheads="1"/>
          </p:cNvSpPr>
          <p:nvPr/>
        </p:nvSpPr>
        <p:spPr bwMode="white">
          <a:xfrm>
            <a:off x="125485" y="3698952"/>
            <a:ext cx="3062115" cy="313265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 numCol="1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b="1" dirty="0"/>
            </a:pPr>
            <a:r>
              <a:t> Users</a:t>
            </a:r>
          </a:p>
          <a:p>
            <a:pPr defTabSz="457200">
              <a:defRPr sz="1100" dirty="0"/>
            </a:pPr>
            <a:r>
              <a:t> - SVO365 AEMADMIN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19" name="Risks"/>
          <p:cNvSpPr txBox="1">
            <a:spLocks noChangeArrowheads="1"/>
          </p:cNvSpPr>
          <p:nvPr/>
        </p:nvSpPr>
        <p:spPr bwMode="white">
          <a:xfrm>
            <a:off x="524485" y="1021946"/>
            <a:ext cx="1348869" cy="166886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0" name="Platforms"/>
          <p:cNvSpPr txBox="1">
            <a:spLocks noChangeArrowheads="1"/>
          </p:cNvSpPr>
          <p:nvPr/>
        </p:nvSpPr>
        <p:spPr bwMode="white">
          <a:xfrm>
            <a:off x="1826931" y="1021947"/>
            <a:ext cx="2061056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3" name="Locations"/>
          <p:cNvSpPr txBox="1">
            <a:spLocks noChangeArrowheads="1"/>
          </p:cNvSpPr>
          <p:nvPr/>
        </p:nvSpPr>
        <p:spPr bwMode="white">
          <a:xfrm>
            <a:off x="8324941" y="1021947"/>
            <a:ext cx="3513702" cy="159258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b="1" dirty="0"/>
            </a:pPr>
            <a:r>
              <a:t>✅ Include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r>
              <a:t>🚫 Exclude</a:t>
            </a:r>
          </a:p>
          <a:p>
            <a:pPr defTabSz="457200">
              <a:defRPr sz="1100" dirty="0"/>
            </a:pPr>
            <a:r>
              <a:t> - OCC Proxy Egress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24" name="ClientAppTypes"/>
          <p:cNvSpPr txBox="1">
            <a:spLocks noChangeArrowheads="1"/>
          </p:cNvSpPr>
          <p:nvPr/>
        </p:nvSpPr>
        <p:spPr bwMode="white">
          <a:xfrm>
            <a:off x="3810664" y="1021947"/>
            <a:ext cx="1581599" cy="165343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5" name="DeviceFilters"/>
          <p:cNvSpPr txBox="1">
            <a:spLocks noChangeArrowheads="1"/>
          </p:cNvSpPr>
          <p:nvPr/>
        </p:nvSpPr>
        <p:spPr bwMode="white">
          <a:xfrm>
            <a:off x="5818151" y="1022762"/>
            <a:ext cx="2248808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cxnSp>
        <p:nvCxnSpPr>
          <p:cNvPr id="27" name="Straight Arrow Connector 26" descr="Arrow drawn from user/workload  to the action being performed by the user such as accessing cloud apps."/>
          <p:cNvCxnSpPr/>
          <p:nvPr/>
        </p:nvCxnSpPr>
        <p:spPr bwMode="white">
          <a:xfrm>
            <a:off x="2195232" y="3159047"/>
            <a:ext cx="3959471" cy="1"/>
          </a:xfrm>
          <a:prstGeom prst="straightConnector1">
            <a:avLst/>
          </a:prstGeom>
          <a:ln w="76200"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2" name="GrantLabelGrantAccess"/>
          <p:cNvSpPr txBox="1">
            <a:spLocks noChangeArrowheads="1"/>
          </p:cNvSpPr>
          <p:nvPr/>
        </p:nvSpPr>
        <p:spPr bwMode="white">
          <a:xfrm>
            <a:off x="3928464" y="2723089"/>
            <a:ext cx="1381340" cy="369332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algn="ctr" defTabSz="457200"/>
            <a:r>
              <a:rPr lang="en-US" b="1" dirty="0">
                <a:solidFill>
                  <a:srgbClr val="00B050"/>
                </a:solidFill>
              </a:rPr>
              <a:t>Grant access</a:t>
            </a:r>
          </a:p>
        </p:txBody>
      </p:sp>
      <p:pic>
        <p:nvPicPr>
          <p:cNvPr id="35" name="IconGrantAccess" descr="Picture with gren tick sign to indicate access was granted"/>
          <p:cNvPicPr>
            <a:picLocks noChangeAspect="1"/>
          </p:cNvPicPr>
          <p:nvPr/>
        </p:nvPicPr>
        <p:blipFill>
          <a:blip r:embed="rId3">
            <a:lum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 bwMode="white">
          <a:xfrm>
            <a:off x="5309361" y="2730170"/>
            <a:ext cx="356616" cy="35661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3" name="CloudAppActionIncExc"/>
          <p:cNvSpPr txBox="1">
            <a:spLocks noChangeArrowheads="1"/>
          </p:cNvSpPr>
          <p:nvPr/>
        </p:nvSpPr>
        <p:spPr bwMode="white">
          <a:xfrm>
            <a:off x="6039518" y="3662782"/>
            <a:ext cx="3649518" cy="315161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</p:txBody>
      </p:sp>
      <p:pic>
        <p:nvPicPr>
          <p:cNvPr id="26" name="IconGroupIdentity"/>
          <p:cNvPicPr>
            <a:picLocks noChangeAspect="1"/>
          </p:cNvPicPr>
          <p:nvPr/>
        </p:nvPicPr>
        <p:blipFill>
          <a:blip r:embed="rId5">
            <a:lum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 bwMode="white">
          <a:xfrm>
            <a:off x="327701" y="2839007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36" name="Graphic 35"/>
          <p:cNvPicPr>
            <a:picLocks noChangeAspect="1"/>
          </p:cNvPicPr>
          <p:nvPr/>
        </p:nvPicPr>
        <p:blipFill>
          <a:blip r:embed="rId7">
            <a:lum/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p:blipFill>
        <p:spPr bwMode="white">
          <a:xfrm>
            <a:off x="495610" y="197468"/>
            <a:ext cx="381196" cy="38119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" name="CloudAppAction"/>
          <p:cNvSpPr>
            <a:spLocks/>
          </p:cNvSpPr>
          <p:nvPr/>
        </p:nvSpPr>
        <p:spPr bwMode="auto">
          <a:xfrm>
            <a:off x="6206089" y="2718506"/>
            <a:ext cx="3227026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All cloud apps</a:t>
            </a:r>
          </a:p>
        </p:txBody>
      </p:sp>
      <p:pic>
        <p:nvPicPr>
          <p:cNvPr id="75" name="IconAccessAllCloudApps"/>
          <p:cNvPicPr>
            <a:picLocks noChangeAspect="1"/>
          </p:cNvPicPr>
          <p:nvPr/>
        </p:nvPicPr>
        <p:blipFill>
          <a:blip r:embed="rId9">
            <a:lum/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p:blipFill>
        <p:spPr bwMode="white">
          <a:xfrm>
            <a:off x="6439264" y="2836824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21" name="StateEnabled"/>
          <p:cNvSpPr>
            <a:spLocks/>
          </p:cNvSpPr>
          <p:nvPr/>
        </p:nvSpPr>
        <p:spPr bwMode="white">
          <a:xfrm>
            <a:off x="10842171" y="83487"/>
            <a:ext cx="1260389" cy="264812"/>
          </a:xfrm>
          <a:prstGeom prst="round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r>
              <a:rPr lang="en-US" sz="800" dirty="0"/>
              <a:t>Policy Enabled</a:t>
            </a:r>
          </a:p>
        </p:txBody>
      </p:sp>
      <p:grpSp>
        <p:nvGrpSpPr>
          <p:cNvPr id="10" name="IconRiskyUsers"/>
          <p:cNvGrpSpPr>
            <a:grpSpLocks/>
          </p:cNvGrpSpPr>
          <p:nvPr/>
        </p:nvGrpSpPr>
        <p:grpSpPr bwMode="white">
          <a:xfrm>
            <a:off x="635426" y="738677"/>
            <a:ext cx="1202553" cy="274320"/>
            <a:chOff x="2013768" y="1033956"/>
            <a:chExt cx="1342320" cy="274320"/>
          </a:xfrm>
        </p:grpSpPr>
        <p:pic>
          <p:nvPicPr>
            <p:cNvPr id="46" name="Graphic 1"/>
            <p:cNvPicPr>
              <a:picLocks noChangeAspect="1"/>
            </p:cNvPicPr>
            <p:nvPr/>
          </p:nvPicPr>
          <p:blipFill>
            <a:blip r:embed="rId11">
              <a:lum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013768" y="1033956"/>
              <a:ext cx="274320" cy="27432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5" name="Label 1"/>
            <p:cNvSpPr txBox="1">
              <a:spLocks noChangeArrowheads="1"/>
            </p:cNvSpPr>
            <p:nvPr/>
          </p:nvSpPr>
          <p:spPr bwMode="white">
            <a:xfrm>
              <a:off x="2240077" y="1040706"/>
              <a:ext cx="1116011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Risk</a:t>
              </a:r>
            </a:p>
          </p:txBody>
        </p:sp>
      </p:grpSp>
      <p:grpSp>
        <p:nvGrpSpPr>
          <p:cNvPr id="14" name="IconPlatforms"/>
          <p:cNvGrpSpPr>
            <a:grpSpLocks/>
          </p:cNvGrpSpPr>
          <p:nvPr/>
        </p:nvGrpSpPr>
        <p:grpSpPr bwMode="white">
          <a:xfrm>
            <a:off x="1927788" y="715249"/>
            <a:ext cx="1719285" cy="365760"/>
            <a:chOff x="3262737" y="994835"/>
            <a:chExt cx="1719285" cy="365760"/>
          </a:xfrm>
        </p:grpSpPr>
        <p:pic>
          <p:nvPicPr>
            <p:cNvPr id="29" name="Graphic 1"/>
            <p:cNvPicPr>
              <a:picLocks noChangeAspect="1"/>
            </p:cNvPicPr>
            <p:nvPr/>
          </p:nvPicPr>
          <p:blipFill>
            <a:blip r:embed="rId13">
              <a:lum/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3262737" y="994835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1" name="Label 1"/>
            <p:cNvSpPr txBox="1">
              <a:spLocks noChangeArrowheads="1"/>
            </p:cNvSpPr>
            <p:nvPr/>
          </p:nvSpPr>
          <p:spPr bwMode="white">
            <a:xfrm>
              <a:off x="3582397" y="1027255"/>
              <a:ext cx="1399625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Device platforms</a:t>
              </a:r>
            </a:p>
          </p:txBody>
        </p:sp>
      </p:grpSp>
      <p:grpSp>
        <p:nvGrpSpPr>
          <p:cNvPr id="17" name="IconClientAppTypes"/>
          <p:cNvGrpSpPr>
            <a:grpSpLocks/>
          </p:cNvGrpSpPr>
          <p:nvPr/>
        </p:nvGrpSpPr>
        <p:grpSpPr bwMode="white">
          <a:xfrm>
            <a:off x="3908159" y="670015"/>
            <a:ext cx="1852971" cy="365760"/>
            <a:chOff x="4858970" y="975927"/>
            <a:chExt cx="1852971" cy="365760"/>
          </a:xfrm>
        </p:grpSpPr>
        <p:pic>
          <p:nvPicPr>
            <p:cNvPr id="58" name="Graphic 1"/>
            <p:cNvPicPr>
              <a:picLocks noChangeAspect="1"/>
            </p:cNvPicPr>
            <p:nvPr/>
          </p:nvPicPr>
          <p:blipFill>
            <a:blip r:embed="rId15">
              <a:lum/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858970" y="975927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5" name="Label 1"/>
            <p:cNvSpPr txBox="1">
              <a:spLocks noChangeArrowheads="1"/>
            </p:cNvSpPr>
            <p:nvPr/>
          </p:nvSpPr>
          <p:spPr bwMode="white">
            <a:xfrm>
              <a:off x="5193983" y="1009899"/>
              <a:ext cx="1517958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Client apps</a:t>
              </a:r>
            </a:p>
          </p:txBody>
        </p:sp>
      </p:grpSp>
      <p:grpSp>
        <p:nvGrpSpPr>
          <p:cNvPr id="37" name="IconLocations"/>
          <p:cNvGrpSpPr>
            <a:grpSpLocks/>
          </p:cNvGrpSpPr>
          <p:nvPr/>
        </p:nvGrpSpPr>
        <p:grpSpPr bwMode="white">
          <a:xfrm>
            <a:off x="8411896" y="646848"/>
            <a:ext cx="1850168" cy="388465"/>
            <a:chOff x="2321433" y="3262888"/>
            <a:chExt cx="1850168" cy="388465"/>
          </a:xfrm>
        </p:grpSpPr>
        <p:pic>
          <p:nvPicPr>
            <p:cNvPr id="33" name="Graphic 1"/>
            <p:cNvPicPr>
              <a:picLocks noChangeAspect="1"/>
            </p:cNvPicPr>
            <p:nvPr/>
          </p:nvPicPr>
          <p:blipFill>
            <a:blip r:embed="rId17">
              <a:lum/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321433" y="3262888"/>
              <a:ext cx="388465" cy="388465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28" name="Label 1"/>
            <p:cNvSpPr txBox="1">
              <a:spLocks noChangeArrowheads="1"/>
            </p:cNvSpPr>
            <p:nvPr/>
          </p:nvSpPr>
          <p:spPr bwMode="white">
            <a:xfrm>
              <a:off x="2713321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Locations</a:t>
              </a:r>
              <a:endParaRPr lang="en-US" sz="1100" b="1" dirty="0"/>
            </a:p>
          </p:txBody>
        </p:sp>
      </p:grpSp>
      <p:grpSp>
        <p:nvGrpSpPr>
          <p:cNvPr id="39" name="IconDeviceFilters"/>
          <p:cNvGrpSpPr>
            <a:grpSpLocks/>
          </p:cNvGrpSpPr>
          <p:nvPr/>
        </p:nvGrpSpPr>
        <p:grpSpPr bwMode="white">
          <a:xfrm>
            <a:off x="5472818" y="661958"/>
            <a:ext cx="1839823" cy="364111"/>
            <a:chOff x="4195414" y="3273669"/>
            <a:chExt cx="1839823" cy="364111"/>
          </a:xfrm>
        </p:grpSpPr>
        <p:pic>
          <p:nvPicPr>
            <p:cNvPr id="60" name="Graphic 1"/>
            <p:cNvPicPr>
              <a:picLocks noChangeAspect="1"/>
            </p:cNvPicPr>
            <p:nvPr/>
          </p:nvPicPr>
          <p:blipFill>
            <a:blip r:embed="rId19">
              <a:lum/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195414" y="3273669"/>
              <a:ext cx="364111" cy="364111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31" name="Label 1"/>
            <p:cNvSpPr txBox="1">
              <a:spLocks noChangeArrowheads="1"/>
            </p:cNvSpPr>
            <p:nvPr/>
          </p:nvSpPr>
          <p:spPr bwMode="white">
            <a:xfrm>
              <a:off x="4576957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Filter for devices</a:t>
              </a:r>
              <a:endParaRPr lang="en-US" sz="1100" b="1" dirty="0"/>
            </a:p>
          </p:txBody>
        </p:sp>
      </p:grpSp>
      <p:pic>
        <p:nvPicPr>
          <p:cNvPr id="62" name="IconGrantMultifactorAuthentication"/>
          <p:cNvPicPr>
            <a:picLocks noChangeAspect="1"/>
          </p:cNvPicPr>
          <p:nvPr/>
        </p:nvPicPr>
        <p:blipFill>
          <a:blip r:embed="rId21">
            <a:lum/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>
            <a:fillRect/>
          </a:stretch>
        </p:blipFill>
        <p:spPr bwMode="white">
          <a:xfrm>
            <a:off x="3410647" y="3566863"/>
            <a:ext cx="17145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5" name="IconGrantMultifactorAuthenticationLabel"/>
          <p:cNvSpPr txBox="1">
            <a:spLocks noChangeArrowheads="1"/>
          </p:cNvSpPr>
          <p:nvPr/>
        </p:nvSpPr>
        <p:spPr bwMode="white">
          <a:xfrm>
            <a:off x="3575836" y="3571997"/>
            <a:ext cx="19007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Multifactor authentication</a:t>
            </a:r>
            <a:endParaRPr lang="en-US" sz="1000" dirty="0"/>
          </a:p>
        </p:txBody>
      </p:sp>
      <p:pic>
        <p:nvPicPr>
          <p:cNvPr id="38" name="IconGrantAuthenticationStrength"/>
          <p:cNvPicPr>
            <a:picLocks noChangeAspect="1"/>
          </p:cNvPicPr>
          <p:nvPr/>
        </p:nvPicPr>
        <p:blipFill>
          <a:blip r:embed="rId23">
            <a:lum/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/>
          <a:stretch>
            <a:fillRect/>
          </a:stretch>
        </p:blipFill>
        <p:spPr bwMode="white">
          <a:xfrm>
            <a:off x="3374515" y="3905034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7" name="IconGrantAuthenticationStrengthLabel"/>
          <p:cNvSpPr txBox="1">
            <a:spLocks noChangeArrowheads="1"/>
          </p:cNvSpPr>
          <p:nvPr/>
        </p:nvSpPr>
        <p:spPr bwMode="white">
          <a:xfrm>
            <a:off x="3575836" y="3907323"/>
            <a:ext cx="2185294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Auth strength:Phishing-resistant MFA</a:t>
            </a:r>
            <a:endParaRPr lang="en-US" sz="1000" dirty="0"/>
          </a:p>
        </p:txBody>
      </p:sp>
      <p:pic>
        <p:nvPicPr>
          <p:cNvPr id="52" name="IconGrantDeviceCompliance"/>
          <p:cNvPicPr>
            <a:picLocks noChangeAspect="1"/>
          </p:cNvPicPr>
          <p:nvPr/>
        </p:nvPicPr>
        <p:blipFill>
          <a:blip r:embed="rId25">
            <a:lum/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/>
          <a:stretch>
            <a:fillRect/>
          </a:stretch>
        </p:blipFill>
        <p:spPr bwMode="white">
          <a:xfrm>
            <a:off x="3374515" y="4243205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9" name="IconGrantDeviceComplianceLabel"/>
          <p:cNvSpPr txBox="1">
            <a:spLocks noChangeArrowheads="1"/>
          </p:cNvSpPr>
          <p:nvPr/>
        </p:nvSpPr>
        <p:spPr bwMode="white">
          <a:xfrm>
            <a:off x="3575836" y="4242649"/>
            <a:ext cx="17378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Compliant device</a:t>
            </a:r>
            <a:endParaRPr lang="en-US" sz="1000" dirty="0"/>
          </a:p>
        </p:txBody>
      </p:sp>
      <p:pic>
        <p:nvPicPr>
          <p:cNvPr id="43" name="IconGrantHybridJoined"/>
          <p:cNvPicPr>
            <a:picLocks noChangeAspect="1"/>
          </p:cNvPicPr>
          <p:nvPr/>
        </p:nvPicPr>
        <p:blipFill>
          <a:blip r:embed="rId27">
            <a:lum/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/>
          <a:stretch>
            <a:fillRect/>
          </a:stretch>
        </p:blipFill>
        <p:spPr bwMode="white">
          <a:xfrm>
            <a:off x="3374515" y="4581376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3" name="IconGrantHybridJoinedLabel"/>
          <p:cNvSpPr txBox="1">
            <a:spLocks noChangeArrowheads="1"/>
          </p:cNvSpPr>
          <p:nvPr/>
        </p:nvSpPr>
        <p:spPr bwMode="white">
          <a:xfrm>
            <a:off x="3575836" y="4577975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Hybrid Azure AD joined device</a:t>
            </a:r>
            <a:endParaRPr lang="en-US" sz="1000" dirty="0"/>
          </a:p>
        </p:txBody>
      </p:sp>
      <p:pic>
        <p:nvPicPr>
          <p:cNvPr id="48" name="IconGrantApprovedClientApp"/>
          <p:cNvPicPr>
            <a:picLocks noChangeAspect="1"/>
          </p:cNvPicPr>
          <p:nvPr/>
        </p:nvPicPr>
        <p:blipFill>
          <a:blip r:embed="rId29">
            <a:lum/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rcRect/>
          <a:stretch>
            <a:fillRect/>
          </a:stretch>
        </p:blipFill>
        <p:spPr bwMode="white">
          <a:xfrm>
            <a:off x="3374515" y="491954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5" name="IconGrantApprovedClientAppLabel"/>
          <p:cNvSpPr txBox="1">
            <a:spLocks noChangeArrowheads="1"/>
          </p:cNvSpPr>
          <p:nvPr/>
        </p:nvSpPr>
        <p:spPr bwMode="white">
          <a:xfrm>
            <a:off x="3575836" y="4913301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Approved client app</a:t>
            </a:r>
            <a:endParaRPr lang="en-US" sz="1000" dirty="0"/>
          </a:p>
        </p:txBody>
      </p:sp>
      <p:pic>
        <p:nvPicPr>
          <p:cNvPr id="42" name="IconGrantCustomAuth"/>
          <p:cNvPicPr>
            <a:picLocks noChangeAspect="1"/>
          </p:cNvPicPr>
          <p:nvPr/>
        </p:nvPicPr>
        <p:blipFill>
          <a:blip r:embed="rId31">
            <a:lum/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rcRect/>
          <a:stretch>
            <a:fillRect/>
          </a:stretch>
        </p:blipFill>
        <p:spPr bwMode="white">
          <a:xfrm>
            <a:off x="3374515" y="593406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9" name="IconGrantCustomAuthLabel"/>
          <p:cNvSpPr txBox="1">
            <a:spLocks noChangeArrowheads="1"/>
          </p:cNvSpPr>
          <p:nvPr/>
        </p:nvSpPr>
        <p:spPr bwMode="white">
          <a:xfrm>
            <a:off x="3575836" y="5919279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Custom authentication factor</a:t>
            </a:r>
            <a:endParaRPr lang="en-US" sz="1000" dirty="0"/>
          </a:p>
        </p:txBody>
      </p:sp>
      <p:pic>
        <p:nvPicPr>
          <p:cNvPr id="40" name="IconGrantTermsOfUse"/>
          <p:cNvPicPr>
            <a:picLocks noChangeAspect="1"/>
          </p:cNvPicPr>
          <p:nvPr/>
        </p:nvPicPr>
        <p:blipFill>
          <a:blip r:embed="rId33">
            <a:lum/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rcRect/>
          <a:stretch>
            <a:fillRect/>
          </a:stretch>
        </p:blipFill>
        <p:spPr bwMode="white">
          <a:xfrm>
            <a:off x="3374515" y="627222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3" name="IconGrantTermsOfUseLabel"/>
          <p:cNvSpPr txBox="1">
            <a:spLocks noChangeArrowheads="1"/>
          </p:cNvSpPr>
          <p:nvPr/>
        </p:nvSpPr>
        <p:spPr bwMode="white">
          <a:xfrm>
            <a:off x="3575836" y="625460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Terms of use</a:t>
            </a:r>
            <a:endParaRPr lang="en-US" sz="1000" dirty="0"/>
          </a:p>
        </p:txBody>
      </p:sp>
      <p:sp>
        <p:nvSpPr>
          <p:cNvPr id="56" name="IconGrantAppProtectionLabel"/>
          <p:cNvSpPr txBox="1">
            <a:spLocks noChangeArrowheads="1"/>
          </p:cNvSpPr>
          <p:nvPr/>
        </p:nvSpPr>
        <p:spPr bwMode="white">
          <a:xfrm>
            <a:off x="3575836" y="524862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 protection policy</a:t>
            </a:r>
            <a:endParaRPr lang="en-US" sz="1000" dirty="0"/>
          </a:p>
        </p:txBody>
      </p:sp>
      <p:pic>
        <p:nvPicPr>
          <p:cNvPr id="65" name="IconGrantAppProtection"/>
          <p:cNvPicPr>
            <a:picLocks noChangeAspect="1"/>
          </p:cNvPicPr>
          <p:nvPr/>
        </p:nvPicPr>
        <p:blipFill>
          <a:blip r:embed="rId35">
            <a:lum/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rcRect/>
          <a:stretch>
            <a:fillRect/>
          </a:stretch>
        </p:blipFill>
        <p:spPr bwMode="white">
          <a:xfrm>
            <a:off x="3374515" y="525771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7" name="IconGrantChangePasswordLabel"/>
          <p:cNvSpPr txBox="1">
            <a:spLocks noChangeArrowheads="1"/>
          </p:cNvSpPr>
          <p:nvPr/>
        </p:nvSpPr>
        <p:spPr bwMode="white">
          <a:xfrm>
            <a:off x="3575836" y="5583953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Change password</a:t>
            </a:r>
            <a:endParaRPr lang="en-US" sz="1000" dirty="0"/>
          </a:p>
        </p:txBody>
      </p:sp>
      <p:pic>
        <p:nvPicPr>
          <p:cNvPr id="67" name="IconGrantChangePassword"/>
          <p:cNvPicPr>
            <a:picLocks noChangeAspect="1"/>
          </p:cNvPicPr>
          <p:nvPr/>
        </p:nvPicPr>
        <p:blipFill>
          <a:blip r:embed="rId37">
            <a:lum/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rcRect/>
          <a:stretch>
            <a:fillRect/>
          </a:stretch>
        </p:blipFill>
        <p:spPr bwMode="white">
          <a:xfrm>
            <a:off x="3374515" y="5595889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4" name="ShadeRisk"/>
          <p:cNvSpPr>
            <a:spLocks/>
          </p:cNvSpPr>
          <p:nvPr/>
        </p:nvSpPr>
        <p:spPr bwMode="white">
          <a:xfrm>
            <a:off x="507564" y="650246"/>
            <a:ext cx="976864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66" name="ShadeDevicePlatforms"/>
          <p:cNvSpPr>
            <a:spLocks/>
          </p:cNvSpPr>
          <p:nvPr/>
        </p:nvSpPr>
        <p:spPr bwMode="white">
          <a:xfrm>
            <a:off x="1863623" y="663409"/>
            <a:ext cx="1773927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78" name="ShadeClientApps"/>
          <p:cNvSpPr>
            <a:spLocks/>
          </p:cNvSpPr>
          <p:nvPr/>
        </p:nvSpPr>
        <p:spPr bwMode="white">
          <a:xfrm>
            <a:off x="3802273" y="650246"/>
            <a:ext cx="1481482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2" name="ShadeFilterForDevices"/>
          <p:cNvSpPr>
            <a:spLocks/>
          </p:cNvSpPr>
          <p:nvPr/>
        </p:nvSpPr>
        <p:spPr bwMode="white">
          <a:xfrm>
            <a:off x="5438955" y="627922"/>
            <a:ext cx="1873685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3" name="ShadeGrantMultifactorAuth"/>
          <p:cNvSpPr>
            <a:spLocks/>
          </p:cNvSpPr>
          <p:nvPr/>
        </p:nvSpPr>
        <p:spPr bwMode="white">
          <a:xfrm>
            <a:off x="3369399" y="3534220"/>
            <a:ext cx="2069555" cy="28330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5" name="ShadeGrantCompliantDevice"/>
          <p:cNvSpPr>
            <a:spLocks/>
          </p:cNvSpPr>
          <p:nvPr/>
        </p:nvSpPr>
        <p:spPr bwMode="white">
          <a:xfrm>
            <a:off x="3361852" y="4243205"/>
            <a:ext cx="2077102" cy="26110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6" name="ShadeGrantHybridAzureADJoined"/>
          <p:cNvSpPr>
            <a:spLocks/>
          </p:cNvSpPr>
          <p:nvPr/>
        </p:nvSpPr>
        <p:spPr bwMode="white">
          <a:xfrm>
            <a:off x="3353637" y="4552268"/>
            <a:ext cx="2160906" cy="298395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7" name="ShadeGrantApprovedClientApp"/>
          <p:cNvSpPr>
            <a:spLocks/>
          </p:cNvSpPr>
          <p:nvPr/>
        </p:nvSpPr>
        <p:spPr bwMode="white">
          <a:xfrm>
            <a:off x="3331918" y="4876027"/>
            <a:ext cx="2182625" cy="29839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8" name="ShadeGrantAppProtectionPolicy"/>
          <p:cNvSpPr>
            <a:spLocks/>
          </p:cNvSpPr>
          <p:nvPr/>
        </p:nvSpPr>
        <p:spPr bwMode="white">
          <a:xfrm>
            <a:off x="3350256" y="5207226"/>
            <a:ext cx="2122561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9" name="ShadeGrantChangePassword"/>
          <p:cNvSpPr>
            <a:spLocks/>
          </p:cNvSpPr>
          <p:nvPr/>
        </p:nvSpPr>
        <p:spPr bwMode="white">
          <a:xfrm>
            <a:off x="3350257" y="5557021"/>
            <a:ext cx="2042006" cy="287239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0" name="ShadeGrantCustomAuthFactor"/>
          <p:cNvSpPr>
            <a:spLocks/>
          </p:cNvSpPr>
          <p:nvPr/>
        </p:nvSpPr>
        <p:spPr bwMode="white">
          <a:xfrm>
            <a:off x="3331918" y="5899058"/>
            <a:ext cx="2182625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1" name="ShadeGrantTermsOfUse"/>
          <p:cNvSpPr>
            <a:spLocks/>
          </p:cNvSpPr>
          <p:nvPr/>
        </p:nvSpPr>
        <p:spPr bwMode="white">
          <a:xfrm>
            <a:off x="3313823" y="6192350"/>
            <a:ext cx="101602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99" name="Rectangle 98"/>
          <p:cNvSpPr>
            <a:spLocks/>
          </p:cNvSpPr>
          <p:nvPr/>
        </p:nvSpPr>
        <p:spPr bwMode="white">
          <a:xfrm>
            <a:off x="3268757" y="3253404"/>
            <a:ext cx="2357725" cy="3498546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0" name="Rectangle 109"/>
          <p:cNvSpPr>
            <a:spLocks/>
          </p:cNvSpPr>
          <p:nvPr/>
        </p:nvSpPr>
        <p:spPr bwMode="white">
          <a:xfrm>
            <a:off x="9881750" y="3248255"/>
            <a:ext cx="2220808" cy="3510149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7" name="Rectangle 116"/>
          <p:cNvSpPr>
            <a:spLocks/>
          </p:cNvSpPr>
          <p:nvPr/>
        </p:nvSpPr>
        <p:spPr bwMode="white">
          <a:xfrm>
            <a:off x="26741" y="606825"/>
            <a:ext cx="11985015" cy="2063636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2" name="Conditions Label"/>
          <p:cNvSpPr txBox="1">
            <a:spLocks noChangeArrowheads="1"/>
          </p:cNvSpPr>
          <p:nvPr/>
        </p:nvSpPr>
        <p:spPr bwMode="white">
          <a:xfrm rot="16200000">
            <a:off x="-883507" y="1514324"/>
            <a:ext cx="2081441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Conditions</a:t>
            </a:r>
          </a:p>
        </p:txBody>
      </p:sp>
      <p:sp>
        <p:nvSpPr>
          <p:cNvPr id="109" name="Grant Controls"/>
          <p:cNvSpPr txBox="1">
            <a:spLocks noChangeArrowheads="1"/>
          </p:cNvSpPr>
          <p:nvPr/>
        </p:nvSpPr>
        <p:spPr bwMode="white">
          <a:xfrm>
            <a:off x="3252146" y="3244395"/>
            <a:ext cx="2391873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Grant Controls</a:t>
            </a:r>
          </a:p>
        </p:txBody>
      </p:sp>
      <p:sp>
        <p:nvSpPr>
          <p:cNvPr id="111" name="Session Controls"/>
          <p:cNvSpPr txBox="1">
            <a:spLocks noChangeArrowheads="1"/>
          </p:cNvSpPr>
          <p:nvPr/>
        </p:nvSpPr>
        <p:spPr bwMode="white">
          <a:xfrm>
            <a:off x="9864212" y="3243751"/>
            <a:ext cx="2238346" cy="23786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Session Controls</a:t>
            </a:r>
          </a:p>
        </p:txBody>
      </p:sp>
      <p:pic>
        <p:nvPicPr>
          <p:cNvPr id="72" name="Graphic 71"/>
          <p:cNvPicPr>
            <a:picLocks noChangeAspect="1"/>
          </p:cNvPicPr>
          <p:nvPr/>
        </p:nvPicPr>
        <p:blipFill>
          <a:blip r:embed="rId39">
            <a:lum/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rcRect/>
          <a:stretch>
            <a:fillRect/>
          </a:stretch>
        </p:blipFill>
        <p:spPr bwMode="white">
          <a:xfrm>
            <a:off x="9996846" y="356982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4" name="Graphic 93"/>
          <p:cNvPicPr>
            <a:picLocks noChangeAspect="1"/>
          </p:cNvPicPr>
          <p:nvPr/>
        </p:nvPicPr>
        <p:blipFill>
          <a:blip r:embed="rId41">
            <a:lum/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rcRect/>
          <a:stretch>
            <a:fillRect/>
          </a:stretch>
        </p:blipFill>
        <p:spPr bwMode="white">
          <a:xfrm>
            <a:off x="10009443" y="525644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5" name="TextBox 94"/>
          <p:cNvSpPr txBox="1">
            <a:spLocks noChangeArrowheads="1"/>
          </p:cNvSpPr>
          <p:nvPr/>
        </p:nvSpPr>
        <p:spPr bwMode="white">
          <a:xfrm>
            <a:off x="10207481" y="3578463"/>
            <a:ext cx="150554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App enforced restrictions</a:t>
            </a:r>
          </a:p>
        </p:txBody>
      </p:sp>
      <p:sp>
        <p:nvSpPr>
          <p:cNvPr id="96" name="TextBox 95"/>
          <p:cNvSpPr txBox="1">
            <a:spLocks noChangeArrowheads="1"/>
          </p:cNvSpPr>
          <p:nvPr/>
        </p:nvSpPr>
        <p:spPr bwMode="white">
          <a:xfrm>
            <a:off x="10201167" y="3899846"/>
            <a:ext cx="181011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Conditional Access App Control</a:t>
            </a:r>
          </a:p>
        </p:txBody>
      </p:sp>
      <p:sp>
        <p:nvSpPr>
          <p:cNvPr id="97" name="TextBox 96"/>
          <p:cNvSpPr txBox="1">
            <a:spLocks noChangeArrowheads="1"/>
          </p:cNvSpPr>
          <p:nvPr/>
        </p:nvSpPr>
        <p:spPr bwMode="white">
          <a:xfrm>
            <a:off x="10215627" y="4357505"/>
            <a:ext cx="1090363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Sign-in frequency</a:t>
            </a:r>
          </a:p>
        </p:txBody>
      </p:sp>
      <p:sp>
        <p:nvSpPr>
          <p:cNvPr id="98" name="TextBox 97"/>
          <p:cNvSpPr txBox="1">
            <a:spLocks noChangeArrowheads="1"/>
          </p:cNvSpPr>
          <p:nvPr/>
        </p:nvSpPr>
        <p:spPr bwMode="white">
          <a:xfrm>
            <a:off x="10225446" y="4793305"/>
            <a:ext cx="156966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Persistent browser session</a:t>
            </a:r>
          </a:p>
        </p:txBody>
      </p:sp>
      <p:sp>
        <p:nvSpPr>
          <p:cNvPr id="100" name="TextBox 99"/>
          <p:cNvSpPr txBox="1">
            <a:spLocks noChangeArrowheads="1"/>
          </p:cNvSpPr>
          <p:nvPr/>
        </p:nvSpPr>
        <p:spPr bwMode="white">
          <a:xfrm>
            <a:off x="10229552" y="5232376"/>
            <a:ext cx="1717137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Continuous access evaluation</a:t>
            </a:r>
          </a:p>
        </p:txBody>
      </p:sp>
      <p:sp>
        <p:nvSpPr>
          <p:cNvPr id="101" name="TextBox 100"/>
          <p:cNvSpPr txBox="1">
            <a:spLocks noChangeArrowheads="1"/>
          </p:cNvSpPr>
          <p:nvPr/>
        </p:nvSpPr>
        <p:spPr bwMode="white">
          <a:xfrm>
            <a:off x="10259108" y="5658625"/>
            <a:ext cx="153599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Disable resilience defaults</a:t>
            </a:r>
          </a:p>
        </p:txBody>
      </p:sp>
      <p:pic>
        <p:nvPicPr>
          <p:cNvPr id="103" name="Graphic 102"/>
          <p:cNvPicPr>
            <a:picLocks noChangeAspect="1"/>
          </p:cNvPicPr>
          <p:nvPr/>
        </p:nvPicPr>
        <p:blipFill>
          <a:blip r:embed="rId43">
            <a:lum/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rcRect/>
          <a:stretch>
            <a:fillRect/>
          </a:stretch>
        </p:blipFill>
        <p:spPr bwMode="white">
          <a:xfrm>
            <a:off x="9996846" y="479900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5" name="Graphic 104"/>
          <p:cNvPicPr>
            <a:picLocks noChangeAspect="1"/>
          </p:cNvPicPr>
          <p:nvPr/>
        </p:nvPicPr>
        <p:blipFill>
          <a:blip r:embed="rId45">
            <a:lum/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rcRect/>
          <a:stretch>
            <a:fillRect/>
          </a:stretch>
        </p:blipFill>
        <p:spPr bwMode="white">
          <a:xfrm>
            <a:off x="9996846" y="437457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7" name="Graphic 106"/>
          <p:cNvPicPr>
            <a:picLocks noChangeAspect="1"/>
          </p:cNvPicPr>
          <p:nvPr/>
        </p:nvPicPr>
        <p:blipFill>
          <a:blip r:embed="rId7">
            <a:lum/>
            <a:extLst>
              <a:ext uri="{96DAC541-7B7A-43D3-8B79-37D633B846F1}">
                <asvg:svgBlip xmlns:asvg="http://schemas.microsoft.com/office/drawing/2016/SVG/main" r:embed="rId47"/>
              </a:ext>
            </a:extLst>
          </a:blip>
          <a:srcRect/>
          <a:stretch>
            <a:fillRect/>
          </a:stretch>
        </p:blipFill>
        <p:spPr bwMode="white">
          <a:xfrm>
            <a:off x="9996846" y="391529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15" name="SessionSifInterval"/>
          <p:cNvSpPr txBox="1">
            <a:spLocks noChangeArrowheads="1"/>
          </p:cNvSpPr>
          <p:nvPr/>
        </p:nvSpPr>
        <p:spPr bwMode="white">
          <a:xfrm>
            <a:off x="10296745" y="4516775"/>
            <a:ext cx="1249060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Periodic reauthentication</a:t>
            </a:r>
          </a:p>
        </p:txBody>
      </p:sp>
      <p:sp>
        <p:nvSpPr>
          <p:cNvPr id="114" name="SessionCasType"/>
          <p:cNvSpPr txBox="1">
            <a:spLocks noChangeArrowheads="1"/>
          </p:cNvSpPr>
          <p:nvPr/>
        </p:nvSpPr>
        <p:spPr bwMode="white">
          <a:xfrm>
            <a:off x="10296745" y="4075500"/>
            <a:ext cx="95410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App Control Policy</a:t>
            </a:r>
          </a:p>
        </p:txBody>
      </p:sp>
      <p:sp>
        <p:nvSpPr>
          <p:cNvPr id="116" name="SessionPersistenBrowserMode"/>
          <p:cNvSpPr txBox="1">
            <a:spLocks noChangeArrowheads="1"/>
          </p:cNvSpPr>
          <p:nvPr/>
        </p:nvSpPr>
        <p:spPr bwMode="white">
          <a:xfrm>
            <a:off x="10309761" y="4945281"/>
            <a:ext cx="918841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Always persistent</a:t>
            </a:r>
          </a:p>
        </p:txBody>
      </p:sp>
      <p:sp>
        <p:nvSpPr>
          <p:cNvPr id="118" name="SessionCaeMode"/>
          <p:cNvSpPr txBox="1">
            <a:spLocks noChangeArrowheads="1"/>
          </p:cNvSpPr>
          <p:nvPr/>
        </p:nvSpPr>
        <p:spPr bwMode="white">
          <a:xfrm>
            <a:off x="10301386" y="5393378"/>
            <a:ext cx="15359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US" sz="800" dirty="0"/>
              <a:t>Strictly enforce location policies</a:t>
            </a:r>
          </a:p>
        </p:txBody>
      </p:sp>
      <p:sp>
        <p:nvSpPr>
          <p:cNvPr id="119" name="ShadeSessionAppEnforced"/>
          <p:cNvSpPr>
            <a:spLocks/>
          </p:cNvSpPr>
          <p:nvPr/>
        </p:nvSpPr>
        <p:spPr bwMode="white">
          <a:xfrm>
            <a:off x="9959680" y="3548808"/>
            <a:ext cx="2051597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0" name="ShadeSessionCas"/>
          <p:cNvSpPr>
            <a:spLocks/>
          </p:cNvSpPr>
          <p:nvPr/>
        </p:nvSpPr>
        <p:spPr bwMode="white">
          <a:xfrm>
            <a:off x="9978939" y="3884212"/>
            <a:ext cx="2087576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1" name="ShadeSessionSif"/>
          <p:cNvSpPr>
            <a:spLocks/>
          </p:cNvSpPr>
          <p:nvPr/>
        </p:nvSpPr>
        <p:spPr bwMode="white">
          <a:xfrm>
            <a:off x="9940787" y="4320077"/>
            <a:ext cx="2125728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2" name="ShadeSessionPersistentBrowser"/>
          <p:cNvSpPr>
            <a:spLocks/>
          </p:cNvSpPr>
          <p:nvPr/>
        </p:nvSpPr>
        <p:spPr bwMode="white">
          <a:xfrm>
            <a:off x="9938833" y="4746195"/>
            <a:ext cx="207244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" name="Label Secure Sign In Session"/>
          <p:cNvSpPr txBox="1">
            <a:spLocks noChangeArrowheads="1"/>
          </p:cNvSpPr>
          <p:nvPr/>
        </p:nvSpPr>
        <p:spPr bwMode="white">
          <a:xfrm>
            <a:off x="10260000" y="6084874"/>
            <a:ext cx="166584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Token protection for session</a:t>
            </a:r>
          </a:p>
        </p:txBody>
      </p:sp>
      <p:pic>
        <p:nvPicPr>
          <p:cNvPr id="77" name="IconSessionCaeDisable" descr="Close with solid fill"/>
          <p:cNvPicPr>
            <a:picLocks noChangeAspect="1"/>
          </p:cNvPicPr>
          <p:nvPr/>
        </p:nvPicPr>
        <p:blipFill>
          <a:blip r:embed="rId48">
            <a:lum/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rcRect/>
          <a:stretch>
            <a:fillRect/>
          </a:stretch>
        </p:blipFill>
        <p:spPr bwMode="white">
          <a:xfrm>
            <a:off x="9979885" y="5218651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2" name="IconSessionSecureSignInSession 1"/>
          <p:cNvPicPr>
            <a:picLocks noChangeAspect="1"/>
          </p:cNvPicPr>
          <p:nvPr/>
        </p:nvPicPr>
        <p:blipFill>
          <a:blip r:embed="rId50">
            <a:lum/>
            <a:extLst>
              <a:ext uri="{96DAC541-7B7A-43D3-8B79-37D633B846F1}">
                <asvg:svgBlip xmlns:asvg="http://schemas.microsoft.com/office/drawing/2016/SVG/main" r:embed="rId51"/>
              </a:ext>
            </a:extLst>
          </a:blip>
          <a:srcRect/>
          <a:stretch>
            <a:fillRect/>
          </a:stretch>
        </p:blipFill>
        <p:spPr bwMode="white">
          <a:xfrm>
            <a:off x="9997200" y="6085768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3" name="ShadeSessionCae"/>
          <p:cNvSpPr>
            <a:spLocks/>
          </p:cNvSpPr>
          <p:nvPr/>
        </p:nvSpPr>
        <p:spPr bwMode="white">
          <a:xfrm>
            <a:off x="9987595" y="5219780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76" name="ShadeSessionSecureSignIn"/>
          <p:cNvSpPr>
            <a:spLocks/>
          </p:cNvSpPr>
          <p:nvPr/>
        </p:nvSpPr>
        <p:spPr bwMode="white">
          <a:xfrm>
            <a:off x="9996846" y="5986498"/>
            <a:ext cx="2014431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pic>
        <p:nvPicPr>
          <p:cNvPr id="102" name="Graphic 101"/>
          <p:cNvPicPr>
            <a:picLocks noChangeAspect="1"/>
          </p:cNvPicPr>
          <p:nvPr/>
        </p:nvPicPr>
        <p:blipFill>
          <a:blip r:embed="rId52">
            <a:lum/>
            <a:extLst>
              <a:ext uri="{96DAC541-7B7A-43D3-8B79-37D633B846F1}">
                <asvg:svgBlip xmlns:asvg="http://schemas.microsoft.com/office/drawing/2016/SVG/main" r:embed="rId53"/>
              </a:ext>
            </a:extLst>
          </a:blip>
          <a:srcRect/>
          <a:stretch>
            <a:fillRect/>
          </a:stretch>
        </p:blipFill>
        <p:spPr bwMode="white">
          <a:xfrm>
            <a:off x="9997200" y="5663777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80" name="Graphic 79" descr="Close with solid fill"/>
          <p:cNvPicPr>
            <a:picLocks noChangeAspect="1"/>
          </p:cNvPicPr>
          <p:nvPr/>
        </p:nvPicPr>
        <p:blipFill>
          <a:blip r:embed="rId48">
            <a:lum/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rcRect/>
          <a:stretch>
            <a:fillRect/>
          </a:stretch>
        </p:blipFill>
        <p:spPr bwMode="white">
          <a:xfrm>
            <a:off x="9963899" y="5637424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4" name="ShadeSessionDisableResilience"/>
          <p:cNvSpPr>
            <a:spLocks/>
          </p:cNvSpPr>
          <p:nvPr/>
        </p:nvSpPr>
        <p:spPr bwMode="white">
          <a:xfrm>
            <a:off x="9959681" y="5602709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2" name="PolicyName">
            <a:hlinkClick r:id="" action="ppaction://hlinkfile"/>
          </p:cNvPr>
          <p:cNvSpPr>
            <a:spLocks noGrp="1"/>
          </p:cNvSpPr>
          <p:nvPr>
            <p:ph type="title"/>
          </p:nvPr>
        </p:nvSpPr>
        <p:spPr bwMode="white">
          <a:xfrm>
            <a:off x="838200" y="115511"/>
            <a:ext cx="10003967" cy="609565"/>
          </a:xfrm>
          <a:ln>
            <a:headEnd type="none"/>
            <a:tailEnd type="none"/>
          </a:ln>
        </p:spPr>
        <p:txBody>
          <a:bodyPr wrap="square">
            <a:noAutofit/>
          </a:bodyPr>
          <a:lstStyle/>
          <a:p>
            <a:pPr defTabSz="914400"/>
            <a:r>
              <a:rPr lang="en-US" sz="2000" b="1" dirty="0"/>
              <a:t>[All Apps] [SVo365 AEM] Service Account Login Requires Phishing-Resistant MFA</a:t>
            </a:r>
          </a:p>
        </p:txBody>
      </p:sp>
      <p:sp>
        <p:nvSpPr>
          <p:cNvPr id="16" name="LastModified"/>
          <p:cNvSpPr txBox="1">
            <a:spLocks noChangeArrowheads="1"/>
          </p:cNvSpPr>
          <p:nvPr/>
        </p:nvSpPr>
        <p:spPr bwMode="white">
          <a:xfrm>
            <a:off x="10556111" y="388376"/>
            <a:ext cx="15483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algn="r" defTabSz="457200"/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Last modified: 2025-06-03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UserWorkload"/>
          <p:cNvSpPr>
            <a:spLocks/>
          </p:cNvSpPr>
          <p:nvPr/>
        </p:nvSpPr>
        <p:spPr bwMode="auto">
          <a:xfrm>
            <a:off x="175820" y="2709769"/>
            <a:ext cx="2202823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Users</a:t>
            </a:r>
          </a:p>
        </p:txBody>
      </p:sp>
      <p:sp>
        <p:nvSpPr>
          <p:cNvPr id="7" name="UserWorkloadIncExc"/>
          <p:cNvSpPr txBox="1">
            <a:spLocks noChangeArrowheads="1"/>
          </p:cNvSpPr>
          <p:nvPr/>
        </p:nvSpPr>
        <p:spPr bwMode="white">
          <a:xfrm>
            <a:off x="125485" y="3698952"/>
            <a:ext cx="3062115" cy="313265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 numCol="1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b="1" dirty="0"/>
            </a:pPr>
            <a:r>
              <a:t> Users</a:t>
            </a:r>
          </a:p>
          <a:p>
            <a:pPr defTabSz="457200">
              <a:defRPr sz="1100" dirty="0"/>
            </a:pPr>
            <a:r>
              <a:t> - SVO365 TabUserDev</a:t>
            </a:r>
          </a:p>
          <a:p>
            <a:pPr defTabSz="457200">
              <a:defRPr sz="1100" dirty="0"/>
            </a:pPr>
            <a:r>
              <a:t> - SVO365 TabUserProd</a:t>
            </a:r>
          </a:p>
          <a:p>
            <a:pPr defTabSz="457200">
              <a:defRPr sz="1100" dirty="0"/>
            </a:pPr>
            <a:r>
              <a:t> - SVO365.PowerBIConfig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19" name="Risks"/>
          <p:cNvSpPr txBox="1">
            <a:spLocks noChangeArrowheads="1"/>
          </p:cNvSpPr>
          <p:nvPr/>
        </p:nvSpPr>
        <p:spPr bwMode="white">
          <a:xfrm>
            <a:off x="524485" y="1021946"/>
            <a:ext cx="1348869" cy="166886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0" name="Platforms"/>
          <p:cNvSpPr txBox="1">
            <a:spLocks noChangeArrowheads="1"/>
          </p:cNvSpPr>
          <p:nvPr/>
        </p:nvSpPr>
        <p:spPr bwMode="white">
          <a:xfrm>
            <a:off x="1826931" y="1021947"/>
            <a:ext cx="2061056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3" name="Locations"/>
          <p:cNvSpPr txBox="1">
            <a:spLocks noChangeArrowheads="1"/>
          </p:cNvSpPr>
          <p:nvPr/>
        </p:nvSpPr>
        <p:spPr bwMode="white">
          <a:xfrm>
            <a:off x="8324941" y="1021947"/>
            <a:ext cx="3513702" cy="159258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b="1" dirty="0"/>
            </a:pPr>
            <a:r>
              <a:t>✅ Include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r>
              <a:t>🚫 Exclude</a:t>
            </a:r>
          </a:p>
          <a:p>
            <a:pPr defTabSz="457200">
              <a:defRPr sz="1100" dirty="0"/>
            </a:pPr>
            <a:r>
              <a:t> - OCC Proxy Egress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24" name="ClientAppTypes"/>
          <p:cNvSpPr txBox="1">
            <a:spLocks noChangeArrowheads="1"/>
          </p:cNvSpPr>
          <p:nvPr/>
        </p:nvSpPr>
        <p:spPr bwMode="white">
          <a:xfrm>
            <a:off x="3810664" y="1021947"/>
            <a:ext cx="1581599" cy="165343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5" name="DeviceFilters"/>
          <p:cNvSpPr txBox="1">
            <a:spLocks noChangeArrowheads="1"/>
          </p:cNvSpPr>
          <p:nvPr/>
        </p:nvSpPr>
        <p:spPr bwMode="white">
          <a:xfrm>
            <a:off x="5818151" y="1022762"/>
            <a:ext cx="2248808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cxnSp>
        <p:nvCxnSpPr>
          <p:cNvPr id="27" name="Straight Arrow Connector 26" descr="Arrow drawn from user/workload  to the action being performed by the user such as accessing cloud apps."/>
          <p:cNvCxnSpPr/>
          <p:nvPr/>
        </p:nvCxnSpPr>
        <p:spPr bwMode="white">
          <a:xfrm>
            <a:off x="2195232" y="3159047"/>
            <a:ext cx="3959471" cy="1"/>
          </a:xfrm>
          <a:prstGeom prst="straightConnector1">
            <a:avLst/>
          </a:prstGeom>
          <a:ln w="76200"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2" name="GrantLabelGrantAccess"/>
          <p:cNvSpPr txBox="1">
            <a:spLocks noChangeArrowheads="1"/>
          </p:cNvSpPr>
          <p:nvPr/>
        </p:nvSpPr>
        <p:spPr bwMode="white">
          <a:xfrm>
            <a:off x="3928464" y="2723089"/>
            <a:ext cx="1381340" cy="369332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algn="ctr" defTabSz="457200"/>
            <a:r>
              <a:rPr lang="en-US" b="1" dirty="0">
                <a:solidFill>
                  <a:srgbClr val="00B050"/>
                </a:solidFill>
              </a:rPr>
              <a:t>Grant access</a:t>
            </a:r>
          </a:p>
        </p:txBody>
      </p:sp>
      <p:pic>
        <p:nvPicPr>
          <p:cNvPr id="35" name="IconGrantAccess" descr="Picture with gren tick sign to indicate access was granted"/>
          <p:cNvPicPr>
            <a:picLocks noChangeAspect="1"/>
          </p:cNvPicPr>
          <p:nvPr/>
        </p:nvPicPr>
        <p:blipFill>
          <a:blip r:embed="rId3">
            <a:lum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 bwMode="white">
          <a:xfrm>
            <a:off x="5309361" y="2730170"/>
            <a:ext cx="356616" cy="35661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3" name="CloudAppActionIncExc"/>
          <p:cNvSpPr txBox="1">
            <a:spLocks noChangeArrowheads="1"/>
          </p:cNvSpPr>
          <p:nvPr/>
        </p:nvSpPr>
        <p:spPr bwMode="white">
          <a:xfrm>
            <a:off x="6039518" y="3662782"/>
            <a:ext cx="3649518" cy="315161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</p:txBody>
      </p:sp>
      <p:pic>
        <p:nvPicPr>
          <p:cNvPr id="26" name="IconGroupIdentity"/>
          <p:cNvPicPr>
            <a:picLocks noChangeAspect="1"/>
          </p:cNvPicPr>
          <p:nvPr/>
        </p:nvPicPr>
        <p:blipFill>
          <a:blip r:embed="rId5">
            <a:lum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 bwMode="white">
          <a:xfrm>
            <a:off x="327701" y="2839007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36" name="Graphic 35"/>
          <p:cNvPicPr>
            <a:picLocks noChangeAspect="1"/>
          </p:cNvPicPr>
          <p:nvPr/>
        </p:nvPicPr>
        <p:blipFill>
          <a:blip r:embed="rId7">
            <a:lum/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p:blipFill>
        <p:spPr bwMode="white">
          <a:xfrm>
            <a:off x="495610" y="197468"/>
            <a:ext cx="381196" cy="38119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" name="CloudAppAction"/>
          <p:cNvSpPr>
            <a:spLocks/>
          </p:cNvSpPr>
          <p:nvPr/>
        </p:nvSpPr>
        <p:spPr bwMode="auto">
          <a:xfrm>
            <a:off x="6206089" y="2718506"/>
            <a:ext cx="3227026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All cloud apps</a:t>
            </a:r>
          </a:p>
        </p:txBody>
      </p:sp>
      <p:pic>
        <p:nvPicPr>
          <p:cNvPr id="75" name="IconAccessAllCloudApps"/>
          <p:cNvPicPr>
            <a:picLocks noChangeAspect="1"/>
          </p:cNvPicPr>
          <p:nvPr/>
        </p:nvPicPr>
        <p:blipFill>
          <a:blip r:embed="rId9">
            <a:lum/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p:blipFill>
        <p:spPr bwMode="white">
          <a:xfrm>
            <a:off x="6439264" y="2836824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21" name="StateEnabled"/>
          <p:cNvSpPr>
            <a:spLocks/>
          </p:cNvSpPr>
          <p:nvPr/>
        </p:nvSpPr>
        <p:spPr bwMode="white">
          <a:xfrm>
            <a:off x="10842171" y="83487"/>
            <a:ext cx="1260389" cy="264812"/>
          </a:xfrm>
          <a:prstGeom prst="round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r>
              <a:rPr lang="en-US" sz="800" dirty="0"/>
              <a:t>Policy Enabled</a:t>
            </a:r>
          </a:p>
        </p:txBody>
      </p:sp>
      <p:grpSp>
        <p:nvGrpSpPr>
          <p:cNvPr id="10" name="IconRiskyUsers"/>
          <p:cNvGrpSpPr>
            <a:grpSpLocks/>
          </p:cNvGrpSpPr>
          <p:nvPr/>
        </p:nvGrpSpPr>
        <p:grpSpPr bwMode="white">
          <a:xfrm>
            <a:off x="635426" y="738677"/>
            <a:ext cx="1202553" cy="274320"/>
            <a:chOff x="2013768" y="1033956"/>
            <a:chExt cx="1342320" cy="274320"/>
          </a:xfrm>
        </p:grpSpPr>
        <p:pic>
          <p:nvPicPr>
            <p:cNvPr id="46" name="Graphic 1"/>
            <p:cNvPicPr>
              <a:picLocks noChangeAspect="1"/>
            </p:cNvPicPr>
            <p:nvPr/>
          </p:nvPicPr>
          <p:blipFill>
            <a:blip r:embed="rId11">
              <a:lum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013768" y="1033956"/>
              <a:ext cx="274320" cy="27432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5" name="Label 1"/>
            <p:cNvSpPr txBox="1">
              <a:spLocks noChangeArrowheads="1"/>
            </p:cNvSpPr>
            <p:nvPr/>
          </p:nvSpPr>
          <p:spPr bwMode="white">
            <a:xfrm>
              <a:off x="2240077" y="1040706"/>
              <a:ext cx="1116011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Risk</a:t>
              </a:r>
            </a:p>
          </p:txBody>
        </p:sp>
      </p:grpSp>
      <p:grpSp>
        <p:nvGrpSpPr>
          <p:cNvPr id="14" name="IconPlatforms"/>
          <p:cNvGrpSpPr>
            <a:grpSpLocks/>
          </p:cNvGrpSpPr>
          <p:nvPr/>
        </p:nvGrpSpPr>
        <p:grpSpPr bwMode="white">
          <a:xfrm>
            <a:off x="1927788" y="715249"/>
            <a:ext cx="1719285" cy="365760"/>
            <a:chOff x="3262737" y="994835"/>
            <a:chExt cx="1719285" cy="365760"/>
          </a:xfrm>
        </p:grpSpPr>
        <p:pic>
          <p:nvPicPr>
            <p:cNvPr id="29" name="Graphic 1"/>
            <p:cNvPicPr>
              <a:picLocks noChangeAspect="1"/>
            </p:cNvPicPr>
            <p:nvPr/>
          </p:nvPicPr>
          <p:blipFill>
            <a:blip r:embed="rId13">
              <a:lum/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3262737" y="994835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1" name="Label 1"/>
            <p:cNvSpPr txBox="1">
              <a:spLocks noChangeArrowheads="1"/>
            </p:cNvSpPr>
            <p:nvPr/>
          </p:nvSpPr>
          <p:spPr bwMode="white">
            <a:xfrm>
              <a:off x="3582397" y="1027255"/>
              <a:ext cx="1399625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Device platforms</a:t>
              </a:r>
            </a:p>
          </p:txBody>
        </p:sp>
      </p:grpSp>
      <p:grpSp>
        <p:nvGrpSpPr>
          <p:cNvPr id="17" name="IconClientAppTypes"/>
          <p:cNvGrpSpPr>
            <a:grpSpLocks/>
          </p:cNvGrpSpPr>
          <p:nvPr/>
        </p:nvGrpSpPr>
        <p:grpSpPr bwMode="white">
          <a:xfrm>
            <a:off x="3908159" y="670015"/>
            <a:ext cx="1852971" cy="365760"/>
            <a:chOff x="4858970" y="975927"/>
            <a:chExt cx="1852971" cy="365760"/>
          </a:xfrm>
        </p:grpSpPr>
        <p:pic>
          <p:nvPicPr>
            <p:cNvPr id="58" name="Graphic 1"/>
            <p:cNvPicPr>
              <a:picLocks noChangeAspect="1"/>
            </p:cNvPicPr>
            <p:nvPr/>
          </p:nvPicPr>
          <p:blipFill>
            <a:blip r:embed="rId15">
              <a:lum/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858970" y="975927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5" name="Label 1"/>
            <p:cNvSpPr txBox="1">
              <a:spLocks noChangeArrowheads="1"/>
            </p:cNvSpPr>
            <p:nvPr/>
          </p:nvSpPr>
          <p:spPr bwMode="white">
            <a:xfrm>
              <a:off x="5193983" y="1009899"/>
              <a:ext cx="1517958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Client apps</a:t>
              </a:r>
            </a:p>
          </p:txBody>
        </p:sp>
      </p:grpSp>
      <p:grpSp>
        <p:nvGrpSpPr>
          <p:cNvPr id="37" name="IconLocations"/>
          <p:cNvGrpSpPr>
            <a:grpSpLocks/>
          </p:cNvGrpSpPr>
          <p:nvPr/>
        </p:nvGrpSpPr>
        <p:grpSpPr bwMode="white">
          <a:xfrm>
            <a:off x="8411896" y="646848"/>
            <a:ext cx="1850168" cy="388465"/>
            <a:chOff x="2321433" y="3262888"/>
            <a:chExt cx="1850168" cy="388465"/>
          </a:xfrm>
        </p:grpSpPr>
        <p:pic>
          <p:nvPicPr>
            <p:cNvPr id="33" name="Graphic 1"/>
            <p:cNvPicPr>
              <a:picLocks noChangeAspect="1"/>
            </p:cNvPicPr>
            <p:nvPr/>
          </p:nvPicPr>
          <p:blipFill>
            <a:blip r:embed="rId17">
              <a:lum/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321433" y="3262888"/>
              <a:ext cx="388465" cy="388465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28" name="Label 1"/>
            <p:cNvSpPr txBox="1">
              <a:spLocks noChangeArrowheads="1"/>
            </p:cNvSpPr>
            <p:nvPr/>
          </p:nvSpPr>
          <p:spPr bwMode="white">
            <a:xfrm>
              <a:off x="2713321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Locations</a:t>
              </a:r>
              <a:endParaRPr lang="en-US" sz="1100" b="1" dirty="0"/>
            </a:p>
          </p:txBody>
        </p:sp>
      </p:grpSp>
      <p:grpSp>
        <p:nvGrpSpPr>
          <p:cNvPr id="39" name="IconDeviceFilters"/>
          <p:cNvGrpSpPr>
            <a:grpSpLocks/>
          </p:cNvGrpSpPr>
          <p:nvPr/>
        </p:nvGrpSpPr>
        <p:grpSpPr bwMode="white">
          <a:xfrm>
            <a:off x="5472818" y="661958"/>
            <a:ext cx="1839823" cy="364111"/>
            <a:chOff x="4195414" y="3273669"/>
            <a:chExt cx="1839823" cy="364111"/>
          </a:xfrm>
        </p:grpSpPr>
        <p:pic>
          <p:nvPicPr>
            <p:cNvPr id="60" name="Graphic 1"/>
            <p:cNvPicPr>
              <a:picLocks noChangeAspect="1"/>
            </p:cNvPicPr>
            <p:nvPr/>
          </p:nvPicPr>
          <p:blipFill>
            <a:blip r:embed="rId19">
              <a:lum/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195414" y="3273669"/>
              <a:ext cx="364111" cy="364111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31" name="Label 1"/>
            <p:cNvSpPr txBox="1">
              <a:spLocks noChangeArrowheads="1"/>
            </p:cNvSpPr>
            <p:nvPr/>
          </p:nvSpPr>
          <p:spPr bwMode="white">
            <a:xfrm>
              <a:off x="4576957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Filter for devices</a:t>
              </a:r>
              <a:endParaRPr lang="en-US" sz="1100" b="1" dirty="0"/>
            </a:p>
          </p:txBody>
        </p:sp>
      </p:grpSp>
      <p:pic>
        <p:nvPicPr>
          <p:cNvPr id="62" name="IconGrantMultifactorAuthentication"/>
          <p:cNvPicPr>
            <a:picLocks noChangeAspect="1"/>
          </p:cNvPicPr>
          <p:nvPr/>
        </p:nvPicPr>
        <p:blipFill>
          <a:blip r:embed="rId21">
            <a:lum/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>
            <a:fillRect/>
          </a:stretch>
        </p:blipFill>
        <p:spPr bwMode="white">
          <a:xfrm>
            <a:off x="3410647" y="3566863"/>
            <a:ext cx="17145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5" name="IconGrantMultifactorAuthenticationLabel"/>
          <p:cNvSpPr txBox="1">
            <a:spLocks noChangeArrowheads="1"/>
          </p:cNvSpPr>
          <p:nvPr/>
        </p:nvSpPr>
        <p:spPr bwMode="white">
          <a:xfrm>
            <a:off x="3575836" y="3571997"/>
            <a:ext cx="19007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Multifactor authentication</a:t>
            </a:r>
            <a:endParaRPr lang="en-US" sz="1000" dirty="0"/>
          </a:p>
        </p:txBody>
      </p:sp>
      <p:pic>
        <p:nvPicPr>
          <p:cNvPr id="38" name="IconGrantAuthenticationStrength"/>
          <p:cNvPicPr>
            <a:picLocks noChangeAspect="1"/>
          </p:cNvPicPr>
          <p:nvPr/>
        </p:nvPicPr>
        <p:blipFill>
          <a:blip r:embed="rId23">
            <a:lum/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/>
          <a:stretch>
            <a:fillRect/>
          </a:stretch>
        </p:blipFill>
        <p:spPr bwMode="white">
          <a:xfrm>
            <a:off x="3374515" y="3905034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7" name="IconGrantAuthenticationStrengthLabel"/>
          <p:cNvSpPr txBox="1">
            <a:spLocks noChangeArrowheads="1"/>
          </p:cNvSpPr>
          <p:nvPr/>
        </p:nvSpPr>
        <p:spPr bwMode="white">
          <a:xfrm>
            <a:off x="3575836" y="3907323"/>
            <a:ext cx="2185294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Auth strength:Phishing-resistant MFA</a:t>
            </a:r>
            <a:endParaRPr lang="en-US" sz="1000" dirty="0"/>
          </a:p>
        </p:txBody>
      </p:sp>
      <p:pic>
        <p:nvPicPr>
          <p:cNvPr id="52" name="IconGrantDeviceCompliance"/>
          <p:cNvPicPr>
            <a:picLocks noChangeAspect="1"/>
          </p:cNvPicPr>
          <p:nvPr/>
        </p:nvPicPr>
        <p:blipFill>
          <a:blip r:embed="rId25">
            <a:lum/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/>
          <a:stretch>
            <a:fillRect/>
          </a:stretch>
        </p:blipFill>
        <p:spPr bwMode="white">
          <a:xfrm>
            <a:off x="3374515" y="4243205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9" name="IconGrantDeviceComplianceLabel"/>
          <p:cNvSpPr txBox="1">
            <a:spLocks noChangeArrowheads="1"/>
          </p:cNvSpPr>
          <p:nvPr/>
        </p:nvSpPr>
        <p:spPr bwMode="white">
          <a:xfrm>
            <a:off x="3575836" y="4242649"/>
            <a:ext cx="17378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Compliant device</a:t>
            </a:r>
            <a:endParaRPr lang="en-US" sz="1000" dirty="0"/>
          </a:p>
        </p:txBody>
      </p:sp>
      <p:pic>
        <p:nvPicPr>
          <p:cNvPr id="43" name="IconGrantHybridJoined"/>
          <p:cNvPicPr>
            <a:picLocks noChangeAspect="1"/>
          </p:cNvPicPr>
          <p:nvPr/>
        </p:nvPicPr>
        <p:blipFill>
          <a:blip r:embed="rId27">
            <a:lum/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/>
          <a:stretch>
            <a:fillRect/>
          </a:stretch>
        </p:blipFill>
        <p:spPr bwMode="white">
          <a:xfrm>
            <a:off x="3374515" y="4581376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3" name="IconGrantHybridJoinedLabel"/>
          <p:cNvSpPr txBox="1">
            <a:spLocks noChangeArrowheads="1"/>
          </p:cNvSpPr>
          <p:nvPr/>
        </p:nvSpPr>
        <p:spPr bwMode="white">
          <a:xfrm>
            <a:off x="3575836" y="4577975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Hybrid Azure AD joined device</a:t>
            </a:r>
            <a:endParaRPr lang="en-US" sz="1000" dirty="0"/>
          </a:p>
        </p:txBody>
      </p:sp>
      <p:pic>
        <p:nvPicPr>
          <p:cNvPr id="48" name="IconGrantApprovedClientApp"/>
          <p:cNvPicPr>
            <a:picLocks noChangeAspect="1"/>
          </p:cNvPicPr>
          <p:nvPr/>
        </p:nvPicPr>
        <p:blipFill>
          <a:blip r:embed="rId29">
            <a:lum/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rcRect/>
          <a:stretch>
            <a:fillRect/>
          </a:stretch>
        </p:blipFill>
        <p:spPr bwMode="white">
          <a:xfrm>
            <a:off x="3374515" y="491954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5" name="IconGrantApprovedClientAppLabel"/>
          <p:cNvSpPr txBox="1">
            <a:spLocks noChangeArrowheads="1"/>
          </p:cNvSpPr>
          <p:nvPr/>
        </p:nvSpPr>
        <p:spPr bwMode="white">
          <a:xfrm>
            <a:off x="3575836" y="4913301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Approved client app</a:t>
            </a:r>
            <a:endParaRPr lang="en-US" sz="1000" dirty="0"/>
          </a:p>
        </p:txBody>
      </p:sp>
      <p:pic>
        <p:nvPicPr>
          <p:cNvPr id="42" name="IconGrantCustomAuth"/>
          <p:cNvPicPr>
            <a:picLocks noChangeAspect="1"/>
          </p:cNvPicPr>
          <p:nvPr/>
        </p:nvPicPr>
        <p:blipFill>
          <a:blip r:embed="rId31">
            <a:lum/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rcRect/>
          <a:stretch>
            <a:fillRect/>
          </a:stretch>
        </p:blipFill>
        <p:spPr bwMode="white">
          <a:xfrm>
            <a:off x="3374515" y="593406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9" name="IconGrantCustomAuthLabel"/>
          <p:cNvSpPr txBox="1">
            <a:spLocks noChangeArrowheads="1"/>
          </p:cNvSpPr>
          <p:nvPr/>
        </p:nvSpPr>
        <p:spPr bwMode="white">
          <a:xfrm>
            <a:off x="3575836" y="5919279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Custom authentication factor</a:t>
            </a:r>
            <a:endParaRPr lang="en-US" sz="1000" dirty="0"/>
          </a:p>
        </p:txBody>
      </p:sp>
      <p:pic>
        <p:nvPicPr>
          <p:cNvPr id="40" name="IconGrantTermsOfUse"/>
          <p:cNvPicPr>
            <a:picLocks noChangeAspect="1"/>
          </p:cNvPicPr>
          <p:nvPr/>
        </p:nvPicPr>
        <p:blipFill>
          <a:blip r:embed="rId33">
            <a:lum/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rcRect/>
          <a:stretch>
            <a:fillRect/>
          </a:stretch>
        </p:blipFill>
        <p:spPr bwMode="white">
          <a:xfrm>
            <a:off x="3374515" y="627222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3" name="IconGrantTermsOfUseLabel"/>
          <p:cNvSpPr txBox="1">
            <a:spLocks noChangeArrowheads="1"/>
          </p:cNvSpPr>
          <p:nvPr/>
        </p:nvSpPr>
        <p:spPr bwMode="white">
          <a:xfrm>
            <a:off x="3575836" y="625460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Terms of use</a:t>
            </a:r>
            <a:endParaRPr lang="en-US" sz="1000" dirty="0"/>
          </a:p>
        </p:txBody>
      </p:sp>
      <p:sp>
        <p:nvSpPr>
          <p:cNvPr id="56" name="IconGrantAppProtectionLabel"/>
          <p:cNvSpPr txBox="1">
            <a:spLocks noChangeArrowheads="1"/>
          </p:cNvSpPr>
          <p:nvPr/>
        </p:nvSpPr>
        <p:spPr bwMode="white">
          <a:xfrm>
            <a:off x="3575836" y="524862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 protection policy</a:t>
            </a:r>
            <a:endParaRPr lang="en-US" sz="1000" dirty="0"/>
          </a:p>
        </p:txBody>
      </p:sp>
      <p:pic>
        <p:nvPicPr>
          <p:cNvPr id="65" name="IconGrantAppProtection"/>
          <p:cNvPicPr>
            <a:picLocks noChangeAspect="1"/>
          </p:cNvPicPr>
          <p:nvPr/>
        </p:nvPicPr>
        <p:blipFill>
          <a:blip r:embed="rId35">
            <a:lum/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rcRect/>
          <a:stretch>
            <a:fillRect/>
          </a:stretch>
        </p:blipFill>
        <p:spPr bwMode="white">
          <a:xfrm>
            <a:off x="3374515" y="525771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7" name="IconGrantChangePasswordLabel"/>
          <p:cNvSpPr txBox="1">
            <a:spLocks noChangeArrowheads="1"/>
          </p:cNvSpPr>
          <p:nvPr/>
        </p:nvSpPr>
        <p:spPr bwMode="white">
          <a:xfrm>
            <a:off x="3575836" y="5583953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Change password</a:t>
            </a:r>
            <a:endParaRPr lang="en-US" sz="1000" dirty="0"/>
          </a:p>
        </p:txBody>
      </p:sp>
      <p:pic>
        <p:nvPicPr>
          <p:cNvPr id="67" name="IconGrantChangePassword"/>
          <p:cNvPicPr>
            <a:picLocks noChangeAspect="1"/>
          </p:cNvPicPr>
          <p:nvPr/>
        </p:nvPicPr>
        <p:blipFill>
          <a:blip r:embed="rId37">
            <a:lum/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rcRect/>
          <a:stretch>
            <a:fillRect/>
          </a:stretch>
        </p:blipFill>
        <p:spPr bwMode="white">
          <a:xfrm>
            <a:off x="3374515" y="5595889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4" name="ShadeRisk"/>
          <p:cNvSpPr>
            <a:spLocks/>
          </p:cNvSpPr>
          <p:nvPr/>
        </p:nvSpPr>
        <p:spPr bwMode="white">
          <a:xfrm>
            <a:off x="507564" y="650246"/>
            <a:ext cx="976864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66" name="ShadeDevicePlatforms"/>
          <p:cNvSpPr>
            <a:spLocks/>
          </p:cNvSpPr>
          <p:nvPr/>
        </p:nvSpPr>
        <p:spPr bwMode="white">
          <a:xfrm>
            <a:off x="1863623" y="663409"/>
            <a:ext cx="1773927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78" name="ShadeClientApps"/>
          <p:cNvSpPr>
            <a:spLocks/>
          </p:cNvSpPr>
          <p:nvPr/>
        </p:nvSpPr>
        <p:spPr bwMode="white">
          <a:xfrm>
            <a:off x="3802273" y="650246"/>
            <a:ext cx="1481482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2" name="ShadeFilterForDevices"/>
          <p:cNvSpPr>
            <a:spLocks/>
          </p:cNvSpPr>
          <p:nvPr/>
        </p:nvSpPr>
        <p:spPr bwMode="white">
          <a:xfrm>
            <a:off x="5438955" y="627922"/>
            <a:ext cx="1873685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3" name="ShadeGrantMultifactorAuth"/>
          <p:cNvSpPr>
            <a:spLocks/>
          </p:cNvSpPr>
          <p:nvPr/>
        </p:nvSpPr>
        <p:spPr bwMode="white">
          <a:xfrm>
            <a:off x="3369399" y="3534220"/>
            <a:ext cx="2069555" cy="28330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5" name="ShadeGrantCompliantDevice"/>
          <p:cNvSpPr>
            <a:spLocks/>
          </p:cNvSpPr>
          <p:nvPr/>
        </p:nvSpPr>
        <p:spPr bwMode="white">
          <a:xfrm>
            <a:off x="3361852" y="4243205"/>
            <a:ext cx="2077102" cy="26110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6" name="ShadeGrantHybridAzureADJoined"/>
          <p:cNvSpPr>
            <a:spLocks/>
          </p:cNvSpPr>
          <p:nvPr/>
        </p:nvSpPr>
        <p:spPr bwMode="white">
          <a:xfrm>
            <a:off x="3353637" y="4552268"/>
            <a:ext cx="2160906" cy="298395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7" name="ShadeGrantApprovedClientApp"/>
          <p:cNvSpPr>
            <a:spLocks/>
          </p:cNvSpPr>
          <p:nvPr/>
        </p:nvSpPr>
        <p:spPr bwMode="white">
          <a:xfrm>
            <a:off x="3331918" y="4876027"/>
            <a:ext cx="2182625" cy="29839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8" name="ShadeGrantAppProtectionPolicy"/>
          <p:cNvSpPr>
            <a:spLocks/>
          </p:cNvSpPr>
          <p:nvPr/>
        </p:nvSpPr>
        <p:spPr bwMode="white">
          <a:xfrm>
            <a:off x="3350256" y="5207226"/>
            <a:ext cx="2122561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9" name="ShadeGrantChangePassword"/>
          <p:cNvSpPr>
            <a:spLocks/>
          </p:cNvSpPr>
          <p:nvPr/>
        </p:nvSpPr>
        <p:spPr bwMode="white">
          <a:xfrm>
            <a:off x="3350257" y="5557021"/>
            <a:ext cx="2042006" cy="287239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0" name="ShadeGrantCustomAuthFactor"/>
          <p:cNvSpPr>
            <a:spLocks/>
          </p:cNvSpPr>
          <p:nvPr/>
        </p:nvSpPr>
        <p:spPr bwMode="white">
          <a:xfrm>
            <a:off x="3331918" y="5899058"/>
            <a:ext cx="2182625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1" name="ShadeGrantTermsOfUse"/>
          <p:cNvSpPr>
            <a:spLocks/>
          </p:cNvSpPr>
          <p:nvPr/>
        </p:nvSpPr>
        <p:spPr bwMode="white">
          <a:xfrm>
            <a:off x="3313823" y="6192350"/>
            <a:ext cx="101602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99" name="Rectangle 98"/>
          <p:cNvSpPr>
            <a:spLocks/>
          </p:cNvSpPr>
          <p:nvPr/>
        </p:nvSpPr>
        <p:spPr bwMode="white">
          <a:xfrm>
            <a:off x="3268757" y="3253404"/>
            <a:ext cx="2357725" cy="3498546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0" name="Rectangle 109"/>
          <p:cNvSpPr>
            <a:spLocks/>
          </p:cNvSpPr>
          <p:nvPr/>
        </p:nvSpPr>
        <p:spPr bwMode="white">
          <a:xfrm>
            <a:off x="9881750" y="3248255"/>
            <a:ext cx="2220808" cy="3510149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7" name="Rectangle 116"/>
          <p:cNvSpPr>
            <a:spLocks/>
          </p:cNvSpPr>
          <p:nvPr/>
        </p:nvSpPr>
        <p:spPr bwMode="white">
          <a:xfrm>
            <a:off x="26741" y="606825"/>
            <a:ext cx="11985015" cy="2063636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2" name="Conditions Label"/>
          <p:cNvSpPr txBox="1">
            <a:spLocks noChangeArrowheads="1"/>
          </p:cNvSpPr>
          <p:nvPr/>
        </p:nvSpPr>
        <p:spPr bwMode="white">
          <a:xfrm rot="16200000">
            <a:off x="-883507" y="1514324"/>
            <a:ext cx="2081441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Conditions</a:t>
            </a:r>
          </a:p>
        </p:txBody>
      </p:sp>
      <p:sp>
        <p:nvSpPr>
          <p:cNvPr id="109" name="Grant Controls"/>
          <p:cNvSpPr txBox="1">
            <a:spLocks noChangeArrowheads="1"/>
          </p:cNvSpPr>
          <p:nvPr/>
        </p:nvSpPr>
        <p:spPr bwMode="white">
          <a:xfrm>
            <a:off x="3252146" y="3244395"/>
            <a:ext cx="2391873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Grant Controls</a:t>
            </a:r>
          </a:p>
        </p:txBody>
      </p:sp>
      <p:sp>
        <p:nvSpPr>
          <p:cNvPr id="111" name="Session Controls"/>
          <p:cNvSpPr txBox="1">
            <a:spLocks noChangeArrowheads="1"/>
          </p:cNvSpPr>
          <p:nvPr/>
        </p:nvSpPr>
        <p:spPr bwMode="white">
          <a:xfrm>
            <a:off x="9864212" y="3243751"/>
            <a:ext cx="2238346" cy="23786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Session Controls</a:t>
            </a:r>
          </a:p>
        </p:txBody>
      </p:sp>
      <p:pic>
        <p:nvPicPr>
          <p:cNvPr id="72" name="Graphic 71"/>
          <p:cNvPicPr>
            <a:picLocks noChangeAspect="1"/>
          </p:cNvPicPr>
          <p:nvPr/>
        </p:nvPicPr>
        <p:blipFill>
          <a:blip r:embed="rId39">
            <a:lum/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rcRect/>
          <a:stretch>
            <a:fillRect/>
          </a:stretch>
        </p:blipFill>
        <p:spPr bwMode="white">
          <a:xfrm>
            <a:off x="9996846" y="356982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4" name="Graphic 93"/>
          <p:cNvPicPr>
            <a:picLocks noChangeAspect="1"/>
          </p:cNvPicPr>
          <p:nvPr/>
        </p:nvPicPr>
        <p:blipFill>
          <a:blip r:embed="rId41">
            <a:lum/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rcRect/>
          <a:stretch>
            <a:fillRect/>
          </a:stretch>
        </p:blipFill>
        <p:spPr bwMode="white">
          <a:xfrm>
            <a:off x="10009443" y="525644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5" name="TextBox 94"/>
          <p:cNvSpPr txBox="1">
            <a:spLocks noChangeArrowheads="1"/>
          </p:cNvSpPr>
          <p:nvPr/>
        </p:nvSpPr>
        <p:spPr bwMode="white">
          <a:xfrm>
            <a:off x="10207481" y="3578463"/>
            <a:ext cx="150554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App enforced restrictions</a:t>
            </a:r>
          </a:p>
        </p:txBody>
      </p:sp>
      <p:sp>
        <p:nvSpPr>
          <p:cNvPr id="96" name="TextBox 95"/>
          <p:cNvSpPr txBox="1">
            <a:spLocks noChangeArrowheads="1"/>
          </p:cNvSpPr>
          <p:nvPr/>
        </p:nvSpPr>
        <p:spPr bwMode="white">
          <a:xfrm>
            <a:off x="10201167" y="3899846"/>
            <a:ext cx="181011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Conditional Access App Control</a:t>
            </a:r>
          </a:p>
        </p:txBody>
      </p:sp>
      <p:sp>
        <p:nvSpPr>
          <p:cNvPr id="97" name="TextBox 96"/>
          <p:cNvSpPr txBox="1">
            <a:spLocks noChangeArrowheads="1"/>
          </p:cNvSpPr>
          <p:nvPr/>
        </p:nvSpPr>
        <p:spPr bwMode="white">
          <a:xfrm>
            <a:off x="10215627" y="4357505"/>
            <a:ext cx="1090363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Sign-in frequency</a:t>
            </a:r>
          </a:p>
        </p:txBody>
      </p:sp>
      <p:sp>
        <p:nvSpPr>
          <p:cNvPr id="98" name="TextBox 97"/>
          <p:cNvSpPr txBox="1">
            <a:spLocks noChangeArrowheads="1"/>
          </p:cNvSpPr>
          <p:nvPr/>
        </p:nvSpPr>
        <p:spPr bwMode="white">
          <a:xfrm>
            <a:off x="10225446" y="4793305"/>
            <a:ext cx="156966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Persistent browser session</a:t>
            </a:r>
          </a:p>
        </p:txBody>
      </p:sp>
      <p:sp>
        <p:nvSpPr>
          <p:cNvPr id="100" name="TextBox 99"/>
          <p:cNvSpPr txBox="1">
            <a:spLocks noChangeArrowheads="1"/>
          </p:cNvSpPr>
          <p:nvPr/>
        </p:nvSpPr>
        <p:spPr bwMode="white">
          <a:xfrm>
            <a:off x="10229552" y="5232376"/>
            <a:ext cx="1717137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Continuous access evaluation</a:t>
            </a:r>
          </a:p>
        </p:txBody>
      </p:sp>
      <p:sp>
        <p:nvSpPr>
          <p:cNvPr id="101" name="TextBox 100"/>
          <p:cNvSpPr txBox="1">
            <a:spLocks noChangeArrowheads="1"/>
          </p:cNvSpPr>
          <p:nvPr/>
        </p:nvSpPr>
        <p:spPr bwMode="white">
          <a:xfrm>
            <a:off x="10259108" y="5658625"/>
            <a:ext cx="153599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Disable resilience defaults</a:t>
            </a:r>
          </a:p>
        </p:txBody>
      </p:sp>
      <p:pic>
        <p:nvPicPr>
          <p:cNvPr id="103" name="Graphic 102"/>
          <p:cNvPicPr>
            <a:picLocks noChangeAspect="1"/>
          </p:cNvPicPr>
          <p:nvPr/>
        </p:nvPicPr>
        <p:blipFill>
          <a:blip r:embed="rId43">
            <a:lum/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rcRect/>
          <a:stretch>
            <a:fillRect/>
          </a:stretch>
        </p:blipFill>
        <p:spPr bwMode="white">
          <a:xfrm>
            <a:off x="9996846" y="479900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5" name="Graphic 104"/>
          <p:cNvPicPr>
            <a:picLocks noChangeAspect="1"/>
          </p:cNvPicPr>
          <p:nvPr/>
        </p:nvPicPr>
        <p:blipFill>
          <a:blip r:embed="rId45">
            <a:lum/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rcRect/>
          <a:stretch>
            <a:fillRect/>
          </a:stretch>
        </p:blipFill>
        <p:spPr bwMode="white">
          <a:xfrm>
            <a:off x="9996846" y="437457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7" name="Graphic 106"/>
          <p:cNvPicPr>
            <a:picLocks noChangeAspect="1"/>
          </p:cNvPicPr>
          <p:nvPr/>
        </p:nvPicPr>
        <p:blipFill>
          <a:blip r:embed="rId7">
            <a:lum/>
            <a:extLst>
              <a:ext uri="{96DAC541-7B7A-43D3-8B79-37D633B846F1}">
                <asvg:svgBlip xmlns:asvg="http://schemas.microsoft.com/office/drawing/2016/SVG/main" r:embed="rId47"/>
              </a:ext>
            </a:extLst>
          </a:blip>
          <a:srcRect/>
          <a:stretch>
            <a:fillRect/>
          </a:stretch>
        </p:blipFill>
        <p:spPr bwMode="white">
          <a:xfrm>
            <a:off x="9996846" y="391529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15" name="SessionSifInterval"/>
          <p:cNvSpPr txBox="1">
            <a:spLocks noChangeArrowheads="1"/>
          </p:cNvSpPr>
          <p:nvPr/>
        </p:nvSpPr>
        <p:spPr bwMode="white">
          <a:xfrm>
            <a:off x="10296745" y="4516775"/>
            <a:ext cx="1249060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Periodic reauthentication</a:t>
            </a:r>
          </a:p>
        </p:txBody>
      </p:sp>
      <p:sp>
        <p:nvSpPr>
          <p:cNvPr id="114" name="SessionCasType"/>
          <p:cNvSpPr txBox="1">
            <a:spLocks noChangeArrowheads="1"/>
          </p:cNvSpPr>
          <p:nvPr/>
        </p:nvSpPr>
        <p:spPr bwMode="white">
          <a:xfrm>
            <a:off x="10296745" y="4075500"/>
            <a:ext cx="95410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App Control Policy</a:t>
            </a:r>
          </a:p>
        </p:txBody>
      </p:sp>
      <p:sp>
        <p:nvSpPr>
          <p:cNvPr id="116" name="SessionPersistenBrowserMode"/>
          <p:cNvSpPr txBox="1">
            <a:spLocks noChangeArrowheads="1"/>
          </p:cNvSpPr>
          <p:nvPr/>
        </p:nvSpPr>
        <p:spPr bwMode="white">
          <a:xfrm>
            <a:off x="10309761" y="4945281"/>
            <a:ext cx="918841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Always persistent</a:t>
            </a:r>
          </a:p>
        </p:txBody>
      </p:sp>
      <p:sp>
        <p:nvSpPr>
          <p:cNvPr id="118" name="SessionCaeMode"/>
          <p:cNvSpPr txBox="1">
            <a:spLocks noChangeArrowheads="1"/>
          </p:cNvSpPr>
          <p:nvPr/>
        </p:nvSpPr>
        <p:spPr bwMode="white">
          <a:xfrm>
            <a:off x="10301386" y="5393378"/>
            <a:ext cx="15359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US" sz="800" dirty="0"/>
              <a:t>Strictly enforce location policies</a:t>
            </a:r>
          </a:p>
        </p:txBody>
      </p:sp>
      <p:sp>
        <p:nvSpPr>
          <p:cNvPr id="119" name="ShadeSessionAppEnforced"/>
          <p:cNvSpPr>
            <a:spLocks/>
          </p:cNvSpPr>
          <p:nvPr/>
        </p:nvSpPr>
        <p:spPr bwMode="white">
          <a:xfrm>
            <a:off x="9959680" y="3548808"/>
            <a:ext cx="2051597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0" name="ShadeSessionCas"/>
          <p:cNvSpPr>
            <a:spLocks/>
          </p:cNvSpPr>
          <p:nvPr/>
        </p:nvSpPr>
        <p:spPr bwMode="white">
          <a:xfrm>
            <a:off x="9978939" y="3884212"/>
            <a:ext cx="2087576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1" name="ShadeSessionSif"/>
          <p:cNvSpPr>
            <a:spLocks/>
          </p:cNvSpPr>
          <p:nvPr/>
        </p:nvSpPr>
        <p:spPr bwMode="white">
          <a:xfrm>
            <a:off x="9940787" y="4320077"/>
            <a:ext cx="2125728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2" name="ShadeSessionPersistentBrowser"/>
          <p:cNvSpPr>
            <a:spLocks/>
          </p:cNvSpPr>
          <p:nvPr/>
        </p:nvSpPr>
        <p:spPr bwMode="white">
          <a:xfrm>
            <a:off x="9938833" y="4746195"/>
            <a:ext cx="207244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" name="Label Secure Sign In Session"/>
          <p:cNvSpPr txBox="1">
            <a:spLocks noChangeArrowheads="1"/>
          </p:cNvSpPr>
          <p:nvPr/>
        </p:nvSpPr>
        <p:spPr bwMode="white">
          <a:xfrm>
            <a:off x="10260000" y="6084874"/>
            <a:ext cx="166584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Token protection for session</a:t>
            </a:r>
          </a:p>
        </p:txBody>
      </p:sp>
      <p:pic>
        <p:nvPicPr>
          <p:cNvPr id="77" name="IconSessionCaeDisable" descr="Close with solid fill"/>
          <p:cNvPicPr>
            <a:picLocks noChangeAspect="1"/>
          </p:cNvPicPr>
          <p:nvPr/>
        </p:nvPicPr>
        <p:blipFill>
          <a:blip r:embed="rId48">
            <a:lum/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rcRect/>
          <a:stretch>
            <a:fillRect/>
          </a:stretch>
        </p:blipFill>
        <p:spPr bwMode="white">
          <a:xfrm>
            <a:off x="9979885" y="5218651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2" name="IconSessionSecureSignInSession 1"/>
          <p:cNvPicPr>
            <a:picLocks noChangeAspect="1"/>
          </p:cNvPicPr>
          <p:nvPr/>
        </p:nvPicPr>
        <p:blipFill>
          <a:blip r:embed="rId50">
            <a:lum/>
            <a:extLst>
              <a:ext uri="{96DAC541-7B7A-43D3-8B79-37D633B846F1}">
                <asvg:svgBlip xmlns:asvg="http://schemas.microsoft.com/office/drawing/2016/SVG/main" r:embed="rId51"/>
              </a:ext>
            </a:extLst>
          </a:blip>
          <a:srcRect/>
          <a:stretch>
            <a:fillRect/>
          </a:stretch>
        </p:blipFill>
        <p:spPr bwMode="white">
          <a:xfrm>
            <a:off x="9997200" y="6085768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3" name="ShadeSessionCae"/>
          <p:cNvSpPr>
            <a:spLocks/>
          </p:cNvSpPr>
          <p:nvPr/>
        </p:nvSpPr>
        <p:spPr bwMode="white">
          <a:xfrm>
            <a:off x="9987595" y="5219780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76" name="ShadeSessionSecureSignIn"/>
          <p:cNvSpPr>
            <a:spLocks/>
          </p:cNvSpPr>
          <p:nvPr/>
        </p:nvSpPr>
        <p:spPr bwMode="white">
          <a:xfrm>
            <a:off x="9996846" y="5986498"/>
            <a:ext cx="2014431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pic>
        <p:nvPicPr>
          <p:cNvPr id="102" name="Graphic 101"/>
          <p:cNvPicPr>
            <a:picLocks noChangeAspect="1"/>
          </p:cNvPicPr>
          <p:nvPr/>
        </p:nvPicPr>
        <p:blipFill>
          <a:blip r:embed="rId52">
            <a:lum/>
            <a:extLst>
              <a:ext uri="{96DAC541-7B7A-43D3-8B79-37D633B846F1}">
                <asvg:svgBlip xmlns:asvg="http://schemas.microsoft.com/office/drawing/2016/SVG/main" r:embed="rId53"/>
              </a:ext>
            </a:extLst>
          </a:blip>
          <a:srcRect/>
          <a:stretch>
            <a:fillRect/>
          </a:stretch>
        </p:blipFill>
        <p:spPr bwMode="white">
          <a:xfrm>
            <a:off x="9997200" y="5663777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80" name="Graphic 79" descr="Close with solid fill"/>
          <p:cNvPicPr>
            <a:picLocks noChangeAspect="1"/>
          </p:cNvPicPr>
          <p:nvPr/>
        </p:nvPicPr>
        <p:blipFill>
          <a:blip r:embed="rId48">
            <a:lum/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rcRect/>
          <a:stretch>
            <a:fillRect/>
          </a:stretch>
        </p:blipFill>
        <p:spPr bwMode="white">
          <a:xfrm>
            <a:off x="9963899" y="5637424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4" name="ShadeSessionDisableResilience"/>
          <p:cNvSpPr>
            <a:spLocks/>
          </p:cNvSpPr>
          <p:nvPr/>
        </p:nvSpPr>
        <p:spPr bwMode="white">
          <a:xfrm>
            <a:off x="9959681" y="5602709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2" name="PolicyName">
            <a:hlinkClick r:id="" action="ppaction://hlinkfile"/>
          </p:cNvPr>
          <p:cNvSpPr>
            <a:spLocks noGrp="1"/>
          </p:cNvSpPr>
          <p:nvPr>
            <p:ph type="title"/>
          </p:nvPr>
        </p:nvSpPr>
        <p:spPr bwMode="white">
          <a:xfrm>
            <a:off x="838200" y="115511"/>
            <a:ext cx="10003967" cy="609565"/>
          </a:xfrm>
          <a:ln>
            <a:headEnd type="none"/>
            <a:tailEnd type="none"/>
          </a:ln>
        </p:spPr>
        <p:txBody>
          <a:bodyPr wrap="square">
            <a:noAutofit/>
          </a:bodyPr>
          <a:lstStyle/>
          <a:p>
            <a:pPr defTabSz="914400"/>
            <a:r>
              <a:rPr lang="en-US" sz="2000" b="1" dirty="0"/>
              <a:t>[All Apps] [SVo365 BI/Tableau] Service Account Login Requires Phishing-Resistant MFA</a:t>
            </a:r>
          </a:p>
        </p:txBody>
      </p:sp>
      <p:sp>
        <p:nvSpPr>
          <p:cNvPr id="16" name="LastModified"/>
          <p:cNvSpPr txBox="1">
            <a:spLocks noChangeArrowheads="1"/>
          </p:cNvSpPr>
          <p:nvPr/>
        </p:nvSpPr>
        <p:spPr bwMode="white">
          <a:xfrm>
            <a:off x="10556111" y="388376"/>
            <a:ext cx="15483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algn="r" defTabSz="457200"/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Last modified: 2025-07-30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UserWorkload"/>
          <p:cNvSpPr>
            <a:spLocks/>
          </p:cNvSpPr>
          <p:nvPr/>
        </p:nvSpPr>
        <p:spPr bwMode="auto">
          <a:xfrm>
            <a:off x="175820" y="2709769"/>
            <a:ext cx="2202823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Users</a:t>
            </a:r>
          </a:p>
        </p:txBody>
      </p:sp>
      <p:sp>
        <p:nvSpPr>
          <p:cNvPr id="7" name="UserWorkloadIncExc"/>
          <p:cNvSpPr txBox="1">
            <a:spLocks noChangeArrowheads="1"/>
          </p:cNvSpPr>
          <p:nvPr/>
        </p:nvSpPr>
        <p:spPr bwMode="white">
          <a:xfrm>
            <a:off x="125485" y="3698952"/>
            <a:ext cx="3062115" cy="313265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 numCol="1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b="1" dirty="0"/>
            </a:pPr>
            <a:r>
              <a:t> Users</a:t>
            </a:r>
          </a:p>
          <a:p>
            <a:pPr defTabSz="457200">
              <a:defRPr sz="1100" dirty="0"/>
            </a:pPr>
            <a:r>
              <a:t> - svO365.BT_Host</a:t>
            </a:r>
          </a:p>
          <a:p>
            <a:pPr defTabSz="457200">
              <a:defRPr sz="1100" dirty="0"/>
            </a:pPr>
            <a:r>
              <a:t> - svO365.BT_Host_STG</a:t>
            </a:r>
          </a:p>
          <a:p>
            <a:pPr defTabSz="457200">
              <a:defRPr sz="1100" dirty="0"/>
            </a:pPr>
            <a:r>
              <a:t> - svO365.BT_Host_TST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19" name="Risks"/>
          <p:cNvSpPr txBox="1">
            <a:spLocks noChangeArrowheads="1"/>
          </p:cNvSpPr>
          <p:nvPr/>
        </p:nvSpPr>
        <p:spPr bwMode="white">
          <a:xfrm>
            <a:off x="524485" y="1021946"/>
            <a:ext cx="1348869" cy="166886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0" name="Platforms"/>
          <p:cNvSpPr txBox="1">
            <a:spLocks noChangeArrowheads="1"/>
          </p:cNvSpPr>
          <p:nvPr/>
        </p:nvSpPr>
        <p:spPr bwMode="white">
          <a:xfrm>
            <a:off x="1826931" y="1021947"/>
            <a:ext cx="2061056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3" name="Locations"/>
          <p:cNvSpPr txBox="1">
            <a:spLocks noChangeArrowheads="1"/>
          </p:cNvSpPr>
          <p:nvPr/>
        </p:nvSpPr>
        <p:spPr bwMode="white">
          <a:xfrm>
            <a:off x="8324941" y="1021947"/>
            <a:ext cx="3513702" cy="159258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b="1" dirty="0"/>
            </a:pPr>
            <a:r>
              <a:t>✅ Include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r>
              <a:t>🚫 Exclude</a:t>
            </a:r>
          </a:p>
          <a:p>
            <a:pPr defTabSz="457200">
              <a:defRPr sz="1100" dirty="0"/>
            </a:pPr>
            <a:r>
              <a:t> - Netskope Egress </a:t>
            </a:r>
          </a:p>
          <a:p>
            <a:pPr defTabSz="457200">
              <a:defRPr sz="1100" dirty="0"/>
            </a:pPr>
            <a:r>
              <a:t> - OCC Proxy Egress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24" name="ClientAppTypes"/>
          <p:cNvSpPr txBox="1">
            <a:spLocks noChangeArrowheads="1"/>
          </p:cNvSpPr>
          <p:nvPr/>
        </p:nvSpPr>
        <p:spPr bwMode="white">
          <a:xfrm>
            <a:off x="3810664" y="1021947"/>
            <a:ext cx="1581599" cy="165343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5" name="DeviceFilters"/>
          <p:cNvSpPr txBox="1">
            <a:spLocks noChangeArrowheads="1"/>
          </p:cNvSpPr>
          <p:nvPr/>
        </p:nvSpPr>
        <p:spPr bwMode="white">
          <a:xfrm>
            <a:off x="5818151" y="1022762"/>
            <a:ext cx="2248808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cxnSp>
        <p:nvCxnSpPr>
          <p:cNvPr id="27" name="Straight Arrow Connector 26" descr="Arrow drawn from user/workload  to the action being performed by the user such as accessing cloud apps."/>
          <p:cNvCxnSpPr/>
          <p:nvPr/>
        </p:nvCxnSpPr>
        <p:spPr bwMode="white">
          <a:xfrm>
            <a:off x="2195232" y="3159047"/>
            <a:ext cx="3959471" cy="1"/>
          </a:xfrm>
          <a:prstGeom prst="straightConnector1">
            <a:avLst/>
          </a:prstGeom>
          <a:ln w="76200"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30" name="IconBlockAccess" descr="Picture with red color stop sign to indicate blocked access"/>
          <p:cNvPicPr>
            <a:picLocks noChangeAspect="1"/>
          </p:cNvPicPr>
          <p:nvPr/>
        </p:nvPicPr>
        <p:blipFill>
          <a:blip r:embed="rId3">
            <a:lum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 bwMode="white">
          <a:xfrm>
            <a:off x="5306633" y="2735805"/>
            <a:ext cx="356616" cy="35661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34" name="GrantLabelBlockAccess"/>
          <p:cNvSpPr txBox="1">
            <a:spLocks noChangeArrowheads="1"/>
          </p:cNvSpPr>
          <p:nvPr/>
        </p:nvSpPr>
        <p:spPr bwMode="white">
          <a:xfrm>
            <a:off x="3936931" y="2734375"/>
            <a:ext cx="1358065" cy="369332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algn="ctr" defTabSz="457200"/>
            <a:r>
              <a:rPr lang="en-US" b="1" dirty="0">
                <a:solidFill>
                  <a:srgbClr val="FF0000"/>
                </a:solidFill>
              </a:rPr>
              <a:t>Block access</a:t>
            </a:r>
          </a:p>
        </p:txBody>
      </p:sp>
      <p:sp>
        <p:nvSpPr>
          <p:cNvPr id="3" name="CloudAppActionIncExc"/>
          <p:cNvSpPr txBox="1">
            <a:spLocks noChangeArrowheads="1"/>
          </p:cNvSpPr>
          <p:nvPr/>
        </p:nvSpPr>
        <p:spPr bwMode="white">
          <a:xfrm>
            <a:off x="6039518" y="3662782"/>
            <a:ext cx="3649518" cy="315161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</p:txBody>
      </p:sp>
      <p:pic>
        <p:nvPicPr>
          <p:cNvPr id="26" name="IconGroupIdentity"/>
          <p:cNvPicPr>
            <a:picLocks noChangeAspect="1"/>
          </p:cNvPicPr>
          <p:nvPr/>
        </p:nvPicPr>
        <p:blipFill>
          <a:blip r:embed="rId5">
            <a:lum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 bwMode="white">
          <a:xfrm>
            <a:off x="327701" y="2839007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36" name="Graphic 35"/>
          <p:cNvPicPr>
            <a:picLocks noChangeAspect="1"/>
          </p:cNvPicPr>
          <p:nvPr/>
        </p:nvPicPr>
        <p:blipFill>
          <a:blip r:embed="rId7">
            <a:lum/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p:blipFill>
        <p:spPr bwMode="white">
          <a:xfrm>
            <a:off x="495610" y="197468"/>
            <a:ext cx="381196" cy="38119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" name="CloudAppAction"/>
          <p:cNvSpPr>
            <a:spLocks/>
          </p:cNvSpPr>
          <p:nvPr/>
        </p:nvSpPr>
        <p:spPr bwMode="auto">
          <a:xfrm>
            <a:off x="6206089" y="2718506"/>
            <a:ext cx="3227026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All cloud apps</a:t>
            </a:r>
          </a:p>
        </p:txBody>
      </p:sp>
      <p:pic>
        <p:nvPicPr>
          <p:cNvPr id="75" name="IconAccessAllCloudApps"/>
          <p:cNvPicPr>
            <a:picLocks noChangeAspect="1"/>
          </p:cNvPicPr>
          <p:nvPr/>
        </p:nvPicPr>
        <p:blipFill>
          <a:blip r:embed="rId9">
            <a:lum/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p:blipFill>
        <p:spPr bwMode="white">
          <a:xfrm>
            <a:off x="6439264" y="2836824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21" name="StateEnabled"/>
          <p:cNvSpPr>
            <a:spLocks/>
          </p:cNvSpPr>
          <p:nvPr/>
        </p:nvSpPr>
        <p:spPr bwMode="white">
          <a:xfrm>
            <a:off x="10842171" y="83487"/>
            <a:ext cx="1260389" cy="264812"/>
          </a:xfrm>
          <a:prstGeom prst="round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r>
              <a:rPr lang="en-US" sz="800" dirty="0"/>
              <a:t>Policy Enabled</a:t>
            </a:r>
          </a:p>
        </p:txBody>
      </p:sp>
      <p:grpSp>
        <p:nvGrpSpPr>
          <p:cNvPr id="10" name="IconRiskyUsers"/>
          <p:cNvGrpSpPr>
            <a:grpSpLocks/>
          </p:cNvGrpSpPr>
          <p:nvPr/>
        </p:nvGrpSpPr>
        <p:grpSpPr bwMode="white">
          <a:xfrm>
            <a:off x="635426" y="738677"/>
            <a:ext cx="1202553" cy="274320"/>
            <a:chOff x="2013768" y="1033956"/>
            <a:chExt cx="1342320" cy="274320"/>
          </a:xfrm>
        </p:grpSpPr>
        <p:pic>
          <p:nvPicPr>
            <p:cNvPr id="46" name="Graphic 1"/>
            <p:cNvPicPr>
              <a:picLocks noChangeAspect="1"/>
            </p:cNvPicPr>
            <p:nvPr/>
          </p:nvPicPr>
          <p:blipFill>
            <a:blip r:embed="rId11">
              <a:lum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013768" y="1033956"/>
              <a:ext cx="274320" cy="27432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5" name="Label 1"/>
            <p:cNvSpPr txBox="1">
              <a:spLocks noChangeArrowheads="1"/>
            </p:cNvSpPr>
            <p:nvPr/>
          </p:nvSpPr>
          <p:spPr bwMode="white">
            <a:xfrm>
              <a:off x="2240077" y="1040706"/>
              <a:ext cx="1116011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Risk</a:t>
              </a:r>
            </a:p>
          </p:txBody>
        </p:sp>
      </p:grpSp>
      <p:grpSp>
        <p:nvGrpSpPr>
          <p:cNvPr id="14" name="IconPlatforms"/>
          <p:cNvGrpSpPr>
            <a:grpSpLocks/>
          </p:cNvGrpSpPr>
          <p:nvPr/>
        </p:nvGrpSpPr>
        <p:grpSpPr bwMode="white">
          <a:xfrm>
            <a:off x="1927788" y="715249"/>
            <a:ext cx="1719285" cy="365760"/>
            <a:chOff x="3262737" y="994835"/>
            <a:chExt cx="1719285" cy="365760"/>
          </a:xfrm>
        </p:grpSpPr>
        <p:pic>
          <p:nvPicPr>
            <p:cNvPr id="29" name="Graphic 1"/>
            <p:cNvPicPr>
              <a:picLocks noChangeAspect="1"/>
            </p:cNvPicPr>
            <p:nvPr/>
          </p:nvPicPr>
          <p:blipFill>
            <a:blip r:embed="rId13">
              <a:lum/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3262737" y="994835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1" name="Label 1"/>
            <p:cNvSpPr txBox="1">
              <a:spLocks noChangeArrowheads="1"/>
            </p:cNvSpPr>
            <p:nvPr/>
          </p:nvSpPr>
          <p:spPr bwMode="white">
            <a:xfrm>
              <a:off x="3582397" y="1027255"/>
              <a:ext cx="1399625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Device platforms</a:t>
              </a:r>
            </a:p>
          </p:txBody>
        </p:sp>
      </p:grpSp>
      <p:grpSp>
        <p:nvGrpSpPr>
          <p:cNvPr id="17" name="IconClientAppTypes"/>
          <p:cNvGrpSpPr>
            <a:grpSpLocks/>
          </p:cNvGrpSpPr>
          <p:nvPr/>
        </p:nvGrpSpPr>
        <p:grpSpPr bwMode="white">
          <a:xfrm>
            <a:off x="3908159" y="670015"/>
            <a:ext cx="1852971" cy="365760"/>
            <a:chOff x="4858970" y="975927"/>
            <a:chExt cx="1852971" cy="365760"/>
          </a:xfrm>
        </p:grpSpPr>
        <p:pic>
          <p:nvPicPr>
            <p:cNvPr id="58" name="Graphic 1"/>
            <p:cNvPicPr>
              <a:picLocks noChangeAspect="1"/>
            </p:cNvPicPr>
            <p:nvPr/>
          </p:nvPicPr>
          <p:blipFill>
            <a:blip r:embed="rId15">
              <a:lum/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858970" y="975927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5" name="Label 1"/>
            <p:cNvSpPr txBox="1">
              <a:spLocks noChangeArrowheads="1"/>
            </p:cNvSpPr>
            <p:nvPr/>
          </p:nvSpPr>
          <p:spPr bwMode="white">
            <a:xfrm>
              <a:off x="5193983" y="1009899"/>
              <a:ext cx="1517958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Client apps</a:t>
              </a:r>
            </a:p>
          </p:txBody>
        </p:sp>
      </p:grpSp>
      <p:grpSp>
        <p:nvGrpSpPr>
          <p:cNvPr id="37" name="IconLocations"/>
          <p:cNvGrpSpPr>
            <a:grpSpLocks/>
          </p:cNvGrpSpPr>
          <p:nvPr/>
        </p:nvGrpSpPr>
        <p:grpSpPr bwMode="white">
          <a:xfrm>
            <a:off x="8411896" y="646848"/>
            <a:ext cx="1850168" cy="388465"/>
            <a:chOff x="2321433" y="3262888"/>
            <a:chExt cx="1850168" cy="388465"/>
          </a:xfrm>
        </p:grpSpPr>
        <p:pic>
          <p:nvPicPr>
            <p:cNvPr id="33" name="Graphic 1"/>
            <p:cNvPicPr>
              <a:picLocks noChangeAspect="1"/>
            </p:cNvPicPr>
            <p:nvPr/>
          </p:nvPicPr>
          <p:blipFill>
            <a:blip r:embed="rId17">
              <a:lum/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321433" y="3262888"/>
              <a:ext cx="388465" cy="388465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28" name="Label 1"/>
            <p:cNvSpPr txBox="1">
              <a:spLocks noChangeArrowheads="1"/>
            </p:cNvSpPr>
            <p:nvPr/>
          </p:nvSpPr>
          <p:spPr bwMode="white">
            <a:xfrm>
              <a:off x="2713321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Locations</a:t>
              </a:r>
              <a:endParaRPr lang="en-US" sz="1100" b="1" dirty="0"/>
            </a:p>
          </p:txBody>
        </p:sp>
      </p:grpSp>
      <p:grpSp>
        <p:nvGrpSpPr>
          <p:cNvPr id="39" name="IconDeviceFilters"/>
          <p:cNvGrpSpPr>
            <a:grpSpLocks/>
          </p:cNvGrpSpPr>
          <p:nvPr/>
        </p:nvGrpSpPr>
        <p:grpSpPr bwMode="white">
          <a:xfrm>
            <a:off x="5472818" y="661958"/>
            <a:ext cx="1839823" cy="364111"/>
            <a:chOff x="4195414" y="3273669"/>
            <a:chExt cx="1839823" cy="364111"/>
          </a:xfrm>
        </p:grpSpPr>
        <p:pic>
          <p:nvPicPr>
            <p:cNvPr id="60" name="Graphic 1"/>
            <p:cNvPicPr>
              <a:picLocks noChangeAspect="1"/>
            </p:cNvPicPr>
            <p:nvPr/>
          </p:nvPicPr>
          <p:blipFill>
            <a:blip r:embed="rId19">
              <a:lum/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195414" y="3273669"/>
              <a:ext cx="364111" cy="364111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31" name="Label 1"/>
            <p:cNvSpPr txBox="1">
              <a:spLocks noChangeArrowheads="1"/>
            </p:cNvSpPr>
            <p:nvPr/>
          </p:nvSpPr>
          <p:spPr bwMode="white">
            <a:xfrm>
              <a:off x="4576957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Filter for devices</a:t>
              </a:r>
              <a:endParaRPr lang="en-US" sz="1100" b="1" dirty="0"/>
            </a:p>
          </p:txBody>
        </p:sp>
      </p:grpSp>
      <p:pic>
        <p:nvPicPr>
          <p:cNvPr id="62" name="IconGrantMultifactorAuthentication"/>
          <p:cNvPicPr>
            <a:picLocks noChangeAspect="1"/>
          </p:cNvPicPr>
          <p:nvPr/>
        </p:nvPicPr>
        <p:blipFill>
          <a:blip r:embed="rId21">
            <a:lum/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>
            <a:fillRect/>
          </a:stretch>
        </p:blipFill>
        <p:spPr bwMode="white">
          <a:xfrm>
            <a:off x="3410647" y="3566863"/>
            <a:ext cx="17145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5" name="IconGrantMultifactorAuthenticationLabel"/>
          <p:cNvSpPr txBox="1">
            <a:spLocks noChangeArrowheads="1"/>
          </p:cNvSpPr>
          <p:nvPr/>
        </p:nvSpPr>
        <p:spPr bwMode="white">
          <a:xfrm>
            <a:off x="3575836" y="3571997"/>
            <a:ext cx="19007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Multifactor authentication</a:t>
            </a:r>
            <a:endParaRPr lang="en-US" sz="1000" dirty="0"/>
          </a:p>
        </p:txBody>
      </p:sp>
      <p:pic>
        <p:nvPicPr>
          <p:cNvPr id="38" name="IconGrantAuthenticationStrength"/>
          <p:cNvPicPr>
            <a:picLocks noChangeAspect="1"/>
          </p:cNvPicPr>
          <p:nvPr/>
        </p:nvPicPr>
        <p:blipFill>
          <a:blip r:embed="rId23">
            <a:lum/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/>
          <a:stretch>
            <a:fillRect/>
          </a:stretch>
        </p:blipFill>
        <p:spPr bwMode="white">
          <a:xfrm>
            <a:off x="3374515" y="3905034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7" name="IconGrantAuthenticationStrengthLabel"/>
          <p:cNvSpPr txBox="1">
            <a:spLocks noChangeArrowheads="1"/>
          </p:cNvSpPr>
          <p:nvPr/>
        </p:nvSpPr>
        <p:spPr bwMode="white">
          <a:xfrm>
            <a:off x="3575836" y="3907323"/>
            <a:ext cx="2185294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Authentication strength</a:t>
            </a:r>
            <a:endParaRPr lang="en-US" sz="1000" dirty="0"/>
          </a:p>
        </p:txBody>
      </p:sp>
      <p:pic>
        <p:nvPicPr>
          <p:cNvPr id="52" name="IconGrantDeviceCompliance"/>
          <p:cNvPicPr>
            <a:picLocks noChangeAspect="1"/>
          </p:cNvPicPr>
          <p:nvPr/>
        </p:nvPicPr>
        <p:blipFill>
          <a:blip r:embed="rId25">
            <a:lum/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/>
          <a:stretch>
            <a:fillRect/>
          </a:stretch>
        </p:blipFill>
        <p:spPr bwMode="white">
          <a:xfrm>
            <a:off x="3374515" y="4243205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9" name="IconGrantDeviceComplianceLabel"/>
          <p:cNvSpPr txBox="1">
            <a:spLocks noChangeArrowheads="1"/>
          </p:cNvSpPr>
          <p:nvPr/>
        </p:nvSpPr>
        <p:spPr bwMode="white">
          <a:xfrm>
            <a:off x="3575836" y="4242649"/>
            <a:ext cx="17378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Compliant device</a:t>
            </a:r>
            <a:endParaRPr lang="en-US" sz="1000" dirty="0"/>
          </a:p>
        </p:txBody>
      </p:sp>
      <p:pic>
        <p:nvPicPr>
          <p:cNvPr id="43" name="IconGrantHybridJoined"/>
          <p:cNvPicPr>
            <a:picLocks noChangeAspect="1"/>
          </p:cNvPicPr>
          <p:nvPr/>
        </p:nvPicPr>
        <p:blipFill>
          <a:blip r:embed="rId27">
            <a:lum/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/>
          <a:stretch>
            <a:fillRect/>
          </a:stretch>
        </p:blipFill>
        <p:spPr bwMode="white">
          <a:xfrm>
            <a:off x="3374515" y="4581376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3" name="IconGrantHybridJoinedLabel"/>
          <p:cNvSpPr txBox="1">
            <a:spLocks noChangeArrowheads="1"/>
          </p:cNvSpPr>
          <p:nvPr/>
        </p:nvSpPr>
        <p:spPr bwMode="white">
          <a:xfrm>
            <a:off x="3575836" y="4577975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Hybrid Azure AD joined device</a:t>
            </a:r>
            <a:endParaRPr lang="en-US" sz="1000" dirty="0"/>
          </a:p>
        </p:txBody>
      </p:sp>
      <p:pic>
        <p:nvPicPr>
          <p:cNvPr id="48" name="IconGrantApprovedClientApp"/>
          <p:cNvPicPr>
            <a:picLocks noChangeAspect="1"/>
          </p:cNvPicPr>
          <p:nvPr/>
        </p:nvPicPr>
        <p:blipFill>
          <a:blip r:embed="rId29">
            <a:lum/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rcRect/>
          <a:stretch>
            <a:fillRect/>
          </a:stretch>
        </p:blipFill>
        <p:spPr bwMode="white">
          <a:xfrm>
            <a:off x="3374515" y="491954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5" name="IconGrantApprovedClientAppLabel"/>
          <p:cNvSpPr txBox="1">
            <a:spLocks noChangeArrowheads="1"/>
          </p:cNvSpPr>
          <p:nvPr/>
        </p:nvSpPr>
        <p:spPr bwMode="white">
          <a:xfrm>
            <a:off x="3575836" y="4913301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Approved client app</a:t>
            </a:r>
            <a:endParaRPr lang="en-US" sz="1000" dirty="0"/>
          </a:p>
        </p:txBody>
      </p:sp>
      <p:pic>
        <p:nvPicPr>
          <p:cNvPr id="42" name="IconGrantCustomAuth"/>
          <p:cNvPicPr>
            <a:picLocks noChangeAspect="1"/>
          </p:cNvPicPr>
          <p:nvPr/>
        </p:nvPicPr>
        <p:blipFill>
          <a:blip r:embed="rId31">
            <a:lum/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rcRect/>
          <a:stretch>
            <a:fillRect/>
          </a:stretch>
        </p:blipFill>
        <p:spPr bwMode="white">
          <a:xfrm>
            <a:off x="3374515" y="593406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9" name="IconGrantCustomAuthLabel"/>
          <p:cNvSpPr txBox="1">
            <a:spLocks noChangeArrowheads="1"/>
          </p:cNvSpPr>
          <p:nvPr/>
        </p:nvSpPr>
        <p:spPr bwMode="white">
          <a:xfrm>
            <a:off x="3575836" y="5919279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Custom authentication factor</a:t>
            </a:r>
            <a:endParaRPr lang="en-US" sz="1000" dirty="0"/>
          </a:p>
        </p:txBody>
      </p:sp>
      <p:pic>
        <p:nvPicPr>
          <p:cNvPr id="40" name="IconGrantTermsOfUse"/>
          <p:cNvPicPr>
            <a:picLocks noChangeAspect="1"/>
          </p:cNvPicPr>
          <p:nvPr/>
        </p:nvPicPr>
        <p:blipFill>
          <a:blip r:embed="rId33">
            <a:lum/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rcRect/>
          <a:stretch>
            <a:fillRect/>
          </a:stretch>
        </p:blipFill>
        <p:spPr bwMode="white">
          <a:xfrm>
            <a:off x="3374515" y="627222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3" name="IconGrantTermsOfUseLabel"/>
          <p:cNvSpPr txBox="1">
            <a:spLocks noChangeArrowheads="1"/>
          </p:cNvSpPr>
          <p:nvPr/>
        </p:nvSpPr>
        <p:spPr bwMode="white">
          <a:xfrm>
            <a:off x="3575836" y="625460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Terms of use</a:t>
            </a:r>
            <a:endParaRPr lang="en-US" sz="1000" dirty="0"/>
          </a:p>
        </p:txBody>
      </p:sp>
      <p:sp>
        <p:nvSpPr>
          <p:cNvPr id="56" name="IconGrantAppProtectionLabel"/>
          <p:cNvSpPr txBox="1">
            <a:spLocks noChangeArrowheads="1"/>
          </p:cNvSpPr>
          <p:nvPr/>
        </p:nvSpPr>
        <p:spPr bwMode="white">
          <a:xfrm>
            <a:off x="3575836" y="524862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 protection policy</a:t>
            </a:r>
            <a:endParaRPr lang="en-US" sz="1000" dirty="0"/>
          </a:p>
        </p:txBody>
      </p:sp>
      <p:pic>
        <p:nvPicPr>
          <p:cNvPr id="65" name="IconGrantAppProtection"/>
          <p:cNvPicPr>
            <a:picLocks noChangeAspect="1"/>
          </p:cNvPicPr>
          <p:nvPr/>
        </p:nvPicPr>
        <p:blipFill>
          <a:blip r:embed="rId35">
            <a:lum/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rcRect/>
          <a:stretch>
            <a:fillRect/>
          </a:stretch>
        </p:blipFill>
        <p:spPr bwMode="white">
          <a:xfrm>
            <a:off x="3374515" y="525771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7" name="IconGrantChangePasswordLabel"/>
          <p:cNvSpPr txBox="1">
            <a:spLocks noChangeArrowheads="1"/>
          </p:cNvSpPr>
          <p:nvPr/>
        </p:nvSpPr>
        <p:spPr bwMode="white">
          <a:xfrm>
            <a:off x="3575836" y="5583953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Change password</a:t>
            </a:r>
            <a:endParaRPr lang="en-US" sz="1000" dirty="0"/>
          </a:p>
        </p:txBody>
      </p:sp>
      <p:pic>
        <p:nvPicPr>
          <p:cNvPr id="67" name="IconGrantChangePassword"/>
          <p:cNvPicPr>
            <a:picLocks noChangeAspect="1"/>
          </p:cNvPicPr>
          <p:nvPr/>
        </p:nvPicPr>
        <p:blipFill>
          <a:blip r:embed="rId37">
            <a:lum/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rcRect/>
          <a:stretch>
            <a:fillRect/>
          </a:stretch>
        </p:blipFill>
        <p:spPr bwMode="white">
          <a:xfrm>
            <a:off x="3374515" y="5595889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4" name="ShadeRisk"/>
          <p:cNvSpPr>
            <a:spLocks/>
          </p:cNvSpPr>
          <p:nvPr/>
        </p:nvSpPr>
        <p:spPr bwMode="white">
          <a:xfrm>
            <a:off x="507564" y="650246"/>
            <a:ext cx="976864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66" name="ShadeDevicePlatforms"/>
          <p:cNvSpPr>
            <a:spLocks/>
          </p:cNvSpPr>
          <p:nvPr/>
        </p:nvSpPr>
        <p:spPr bwMode="white">
          <a:xfrm>
            <a:off x="1863623" y="663409"/>
            <a:ext cx="1773927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78" name="ShadeClientApps"/>
          <p:cNvSpPr>
            <a:spLocks/>
          </p:cNvSpPr>
          <p:nvPr/>
        </p:nvSpPr>
        <p:spPr bwMode="white">
          <a:xfrm>
            <a:off x="3802273" y="650246"/>
            <a:ext cx="1481482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2" name="ShadeFilterForDevices"/>
          <p:cNvSpPr>
            <a:spLocks/>
          </p:cNvSpPr>
          <p:nvPr/>
        </p:nvSpPr>
        <p:spPr bwMode="white">
          <a:xfrm>
            <a:off x="5438955" y="627922"/>
            <a:ext cx="1873685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3" name="ShadeGrantMultifactorAuth"/>
          <p:cNvSpPr>
            <a:spLocks/>
          </p:cNvSpPr>
          <p:nvPr/>
        </p:nvSpPr>
        <p:spPr bwMode="white">
          <a:xfrm>
            <a:off x="3369399" y="3534220"/>
            <a:ext cx="2069555" cy="28330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4" name="ShadeGrantAuthStrength"/>
          <p:cNvSpPr>
            <a:spLocks/>
          </p:cNvSpPr>
          <p:nvPr/>
        </p:nvSpPr>
        <p:spPr bwMode="white">
          <a:xfrm>
            <a:off x="3350256" y="3869846"/>
            <a:ext cx="2069555" cy="27801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5" name="ShadeGrantCompliantDevice"/>
          <p:cNvSpPr>
            <a:spLocks/>
          </p:cNvSpPr>
          <p:nvPr/>
        </p:nvSpPr>
        <p:spPr bwMode="white">
          <a:xfrm>
            <a:off x="3361852" y="4243205"/>
            <a:ext cx="2077102" cy="26110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6" name="ShadeGrantHybridAzureADJoined"/>
          <p:cNvSpPr>
            <a:spLocks/>
          </p:cNvSpPr>
          <p:nvPr/>
        </p:nvSpPr>
        <p:spPr bwMode="white">
          <a:xfrm>
            <a:off x="3353637" y="4552268"/>
            <a:ext cx="2160906" cy="298395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7" name="ShadeGrantApprovedClientApp"/>
          <p:cNvSpPr>
            <a:spLocks/>
          </p:cNvSpPr>
          <p:nvPr/>
        </p:nvSpPr>
        <p:spPr bwMode="white">
          <a:xfrm>
            <a:off x="3331918" y="4876027"/>
            <a:ext cx="2182625" cy="29839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8" name="ShadeGrantAppProtectionPolicy"/>
          <p:cNvSpPr>
            <a:spLocks/>
          </p:cNvSpPr>
          <p:nvPr/>
        </p:nvSpPr>
        <p:spPr bwMode="white">
          <a:xfrm>
            <a:off x="3350256" y="5207226"/>
            <a:ext cx="2122561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9" name="ShadeGrantChangePassword"/>
          <p:cNvSpPr>
            <a:spLocks/>
          </p:cNvSpPr>
          <p:nvPr/>
        </p:nvSpPr>
        <p:spPr bwMode="white">
          <a:xfrm>
            <a:off x="3350257" y="5557021"/>
            <a:ext cx="2042006" cy="287239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0" name="ShadeGrantCustomAuthFactor"/>
          <p:cNvSpPr>
            <a:spLocks/>
          </p:cNvSpPr>
          <p:nvPr/>
        </p:nvSpPr>
        <p:spPr bwMode="white">
          <a:xfrm>
            <a:off x="3331918" y="5899058"/>
            <a:ext cx="2182625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1" name="ShadeGrantTermsOfUse"/>
          <p:cNvSpPr>
            <a:spLocks/>
          </p:cNvSpPr>
          <p:nvPr/>
        </p:nvSpPr>
        <p:spPr bwMode="white">
          <a:xfrm>
            <a:off x="3313823" y="6192350"/>
            <a:ext cx="101602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99" name="Rectangle 98"/>
          <p:cNvSpPr>
            <a:spLocks/>
          </p:cNvSpPr>
          <p:nvPr/>
        </p:nvSpPr>
        <p:spPr bwMode="white">
          <a:xfrm>
            <a:off x="3268757" y="3253404"/>
            <a:ext cx="2357725" cy="3498546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0" name="Rectangle 109"/>
          <p:cNvSpPr>
            <a:spLocks/>
          </p:cNvSpPr>
          <p:nvPr/>
        </p:nvSpPr>
        <p:spPr bwMode="white">
          <a:xfrm>
            <a:off x="9881750" y="3248255"/>
            <a:ext cx="2220808" cy="3510149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7" name="Rectangle 116"/>
          <p:cNvSpPr>
            <a:spLocks/>
          </p:cNvSpPr>
          <p:nvPr/>
        </p:nvSpPr>
        <p:spPr bwMode="white">
          <a:xfrm>
            <a:off x="26741" y="606825"/>
            <a:ext cx="11985015" cy="2063636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2" name="Conditions Label"/>
          <p:cNvSpPr txBox="1">
            <a:spLocks noChangeArrowheads="1"/>
          </p:cNvSpPr>
          <p:nvPr/>
        </p:nvSpPr>
        <p:spPr bwMode="white">
          <a:xfrm rot="16200000">
            <a:off x="-883507" y="1514324"/>
            <a:ext cx="2081441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Conditions</a:t>
            </a:r>
          </a:p>
        </p:txBody>
      </p:sp>
      <p:sp>
        <p:nvSpPr>
          <p:cNvPr id="109" name="Grant Controls"/>
          <p:cNvSpPr txBox="1">
            <a:spLocks noChangeArrowheads="1"/>
          </p:cNvSpPr>
          <p:nvPr/>
        </p:nvSpPr>
        <p:spPr bwMode="white">
          <a:xfrm>
            <a:off x="3252146" y="3244395"/>
            <a:ext cx="2391873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Grant Controls</a:t>
            </a:r>
          </a:p>
        </p:txBody>
      </p:sp>
      <p:sp>
        <p:nvSpPr>
          <p:cNvPr id="111" name="Session Controls"/>
          <p:cNvSpPr txBox="1">
            <a:spLocks noChangeArrowheads="1"/>
          </p:cNvSpPr>
          <p:nvPr/>
        </p:nvSpPr>
        <p:spPr bwMode="white">
          <a:xfrm>
            <a:off x="9864212" y="3243751"/>
            <a:ext cx="2238346" cy="23786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Session Controls</a:t>
            </a:r>
          </a:p>
        </p:txBody>
      </p:sp>
      <p:pic>
        <p:nvPicPr>
          <p:cNvPr id="72" name="Graphic 71"/>
          <p:cNvPicPr>
            <a:picLocks noChangeAspect="1"/>
          </p:cNvPicPr>
          <p:nvPr/>
        </p:nvPicPr>
        <p:blipFill>
          <a:blip r:embed="rId39">
            <a:lum/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rcRect/>
          <a:stretch>
            <a:fillRect/>
          </a:stretch>
        </p:blipFill>
        <p:spPr bwMode="white">
          <a:xfrm>
            <a:off x="9996846" y="356982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4" name="Graphic 93"/>
          <p:cNvPicPr>
            <a:picLocks noChangeAspect="1"/>
          </p:cNvPicPr>
          <p:nvPr/>
        </p:nvPicPr>
        <p:blipFill>
          <a:blip r:embed="rId41">
            <a:lum/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rcRect/>
          <a:stretch>
            <a:fillRect/>
          </a:stretch>
        </p:blipFill>
        <p:spPr bwMode="white">
          <a:xfrm>
            <a:off x="10009443" y="525644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5" name="TextBox 94"/>
          <p:cNvSpPr txBox="1">
            <a:spLocks noChangeArrowheads="1"/>
          </p:cNvSpPr>
          <p:nvPr/>
        </p:nvSpPr>
        <p:spPr bwMode="white">
          <a:xfrm>
            <a:off x="10207481" y="3578463"/>
            <a:ext cx="150554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App enforced restrictions</a:t>
            </a:r>
          </a:p>
        </p:txBody>
      </p:sp>
      <p:sp>
        <p:nvSpPr>
          <p:cNvPr id="96" name="TextBox 95"/>
          <p:cNvSpPr txBox="1">
            <a:spLocks noChangeArrowheads="1"/>
          </p:cNvSpPr>
          <p:nvPr/>
        </p:nvSpPr>
        <p:spPr bwMode="white">
          <a:xfrm>
            <a:off x="10201167" y="3899846"/>
            <a:ext cx="181011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Conditional Access App Control</a:t>
            </a:r>
          </a:p>
        </p:txBody>
      </p:sp>
      <p:sp>
        <p:nvSpPr>
          <p:cNvPr id="97" name="TextBox 96"/>
          <p:cNvSpPr txBox="1">
            <a:spLocks noChangeArrowheads="1"/>
          </p:cNvSpPr>
          <p:nvPr/>
        </p:nvSpPr>
        <p:spPr bwMode="white">
          <a:xfrm>
            <a:off x="10215627" y="4357505"/>
            <a:ext cx="1090363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Sign-in frequency</a:t>
            </a:r>
          </a:p>
        </p:txBody>
      </p:sp>
      <p:sp>
        <p:nvSpPr>
          <p:cNvPr id="98" name="TextBox 97"/>
          <p:cNvSpPr txBox="1">
            <a:spLocks noChangeArrowheads="1"/>
          </p:cNvSpPr>
          <p:nvPr/>
        </p:nvSpPr>
        <p:spPr bwMode="white">
          <a:xfrm>
            <a:off x="10225446" y="4793305"/>
            <a:ext cx="156966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Persistent browser session</a:t>
            </a:r>
          </a:p>
        </p:txBody>
      </p:sp>
      <p:sp>
        <p:nvSpPr>
          <p:cNvPr id="100" name="TextBox 99"/>
          <p:cNvSpPr txBox="1">
            <a:spLocks noChangeArrowheads="1"/>
          </p:cNvSpPr>
          <p:nvPr/>
        </p:nvSpPr>
        <p:spPr bwMode="white">
          <a:xfrm>
            <a:off x="10229552" y="5232376"/>
            <a:ext cx="1717137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Continuous access evaluation</a:t>
            </a:r>
          </a:p>
        </p:txBody>
      </p:sp>
      <p:sp>
        <p:nvSpPr>
          <p:cNvPr id="101" name="TextBox 100"/>
          <p:cNvSpPr txBox="1">
            <a:spLocks noChangeArrowheads="1"/>
          </p:cNvSpPr>
          <p:nvPr/>
        </p:nvSpPr>
        <p:spPr bwMode="white">
          <a:xfrm>
            <a:off x="10259108" y="5658625"/>
            <a:ext cx="153599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Disable resilience defaults</a:t>
            </a:r>
          </a:p>
        </p:txBody>
      </p:sp>
      <p:pic>
        <p:nvPicPr>
          <p:cNvPr id="103" name="Graphic 102"/>
          <p:cNvPicPr>
            <a:picLocks noChangeAspect="1"/>
          </p:cNvPicPr>
          <p:nvPr/>
        </p:nvPicPr>
        <p:blipFill>
          <a:blip r:embed="rId43">
            <a:lum/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rcRect/>
          <a:stretch>
            <a:fillRect/>
          </a:stretch>
        </p:blipFill>
        <p:spPr bwMode="white">
          <a:xfrm>
            <a:off x="9996846" y="479900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5" name="Graphic 104"/>
          <p:cNvPicPr>
            <a:picLocks noChangeAspect="1"/>
          </p:cNvPicPr>
          <p:nvPr/>
        </p:nvPicPr>
        <p:blipFill>
          <a:blip r:embed="rId45">
            <a:lum/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rcRect/>
          <a:stretch>
            <a:fillRect/>
          </a:stretch>
        </p:blipFill>
        <p:spPr bwMode="white">
          <a:xfrm>
            <a:off x="9996846" y="437457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7" name="Graphic 106"/>
          <p:cNvPicPr>
            <a:picLocks noChangeAspect="1"/>
          </p:cNvPicPr>
          <p:nvPr/>
        </p:nvPicPr>
        <p:blipFill>
          <a:blip r:embed="rId7">
            <a:lum/>
            <a:extLst>
              <a:ext uri="{96DAC541-7B7A-43D3-8B79-37D633B846F1}">
                <asvg:svgBlip xmlns:asvg="http://schemas.microsoft.com/office/drawing/2016/SVG/main" r:embed="rId47"/>
              </a:ext>
            </a:extLst>
          </a:blip>
          <a:srcRect/>
          <a:stretch>
            <a:fillRect/>
          </a:stretch>
        </p:blipFill>
        <p:spPr bwMode="white">
          <a:xfrm>
            <a:off x="9996846" y="391529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15" name="SessionSifInterval"/>
          <p:cNvSpPr txBox="1">
            <a:spLocks noChangeArrowheads="1"/>
          </p:cNvSpPr>
          <p:nvPr/>
        </p:nvSpPr>
        <p:spPr bwMode="white">
          <a:xfrm>
            <a:off x="10296745" y="4516775"/>
            <a:ext cx="1249060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Periodic reauthentication</a:t>
            </a:r>
          </a:p>
        </p:txBody>
      </p:sp>
      <p:sp>
        <p:nvSpPr>
          <p:cNvPr id="114" name="SessionCasType"/>
          <p:cNvSpPr txBox="1">
            <a:spLocks noChangeArrowheads="1"/>
          </p:cNvSpPr>
          <p:nvPr/>
        </p:nvSpPr>
        <p:spPr bwMode="white">
          <a:xfrm>
            <a:off x="10296745" y="4075500"/>
            <a:ext cx="95410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App Control Policy</a:t>
            </a:r>
          </a:p>
        </p:txBody>
      </p:sp>
      <p:sp>
        <p:nvSpPr>
          <p:cNvPr id="116" name="SessionPersistenBrowserMode"/>
          <p:cNvSpPr txBox="1">
            <a:spLocks noChangeArrowheads="1"/>
          </p:cNvSpPr>
          <p:nvPr/>
        </p:nvSpPr>
        <p:spPr bwMode="white">
          <a:xfrm>
            <a:off x="10309761" y="4945281"/>
            <a:ext cx="918841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Always persistent</a:t>
            </a:r>
          </a:p>
        </p:txBody>
      </p:sp>
      <p:sp>
        <p:nvSpPr>
          <p:cNvPr id="118" name="SessionCaeMode"/>
          <p:cNvSpPr txBox="1">
            <a:spLocks noChangeArrowheads="1"/>
          </p:cNvSpPr>
          <p:nvPr/>
        </p:nvSpPr>
        <p:spPr bwMode="white">
          <a:xfrm>
            <a:off x="10301386" y="5393378"/>
            <a:ext cx="15359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US" sz="800" dirty="0"/>
              <a:t>Strictly enforce location policies</a:t>
            </a:r>
          </a:p>
        </p:txBody>
      </p:sp>
      <p:sp>
        <p:nvSpPr>
          <p:cNvPr id="119" name="ShadeSessionAppEnforced"/>
          <p:cNvSpPr>
            <a:spLocks/>
          </p:cNvSpPr>
          <p:nvPr/>
        </p:nvSpPr>
        <p:spPr bwMode="white">
          <a:xfrm>
            <a:off x="9959680" y="3548808"/>
            <a:ext cx="2051597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0" name="ShadeSessionCas"/>
          <p:cNvSpPr>
            <a:spLocks/>
          </p:cNvSpPr>
          <p:nvPr/>
        </p:nvSpPr>
        <p:spPr bwMode="white">
          <a:xfrm>
            <a:off x="9978939" y="3884212"/>
            <a:ext cx="2087576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1" name="ShadeSessionSif"/>
          <p:cNvSpPr>
            <a:spLocks/>
          </p:cNvSpPr>
          <p:nvPr/>
        </p:nvSpPr>
        <p:spPr bwMode="white">
          <a:xfrm>
            <a:off x="9940787" y="4320077"/>
            <a:ext cx="2125728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2" name="ShadeSessionPersistentBrowser"/>
          <p:cNvSpPr>
            <a:spLocks/>
          </p:cNvSpPr>
          <p:nvPr/>
        </p:nvSpPr>
        <p:spPr bwMode="white">
          <a:xfrm>
            <a:off x="9938833" y="4746195"/>
            <a:ext cx="207244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" name="Label Secure Sign In Session"/>
          <p:cNvSpPr txBox="1">
            <a:spLocks noChangeArrowheads="1"/>
          </p:cNvSpPr>
          <p:nvPr/>
        </p:nvSpPr>
        <p:spPr bwMode="white">
          <a:xfrm>
            <a:off x="10260000" y="6084874"/>
            <a:ext cx="166584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Token protection for session</a:t>
            </a:r>
          </a:p>
        </p:txBody>
      </p:sp>
      <p:pic>
        <p:nvPicPr>
          <p:cNvPr id="77" name="IconSessionCaeDisable" descr="Close with solid fill"/>
          <p:cNvPicPr>
            <a:picLocks noChangeAspect="1"/>
          </p:cNvPicPr>
          <p:nvPr/>
        </p:nvPicPr>
        <p:blipFill>
          <a:blip r:embed="rId48">
            <a:lum/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rcRect/>
          <a:stretch>
            <a:fillRect/>
          </a:stretch>
        </p:blipFill>
        <p:spPr bwMode="white">
          <a:xfrm>
            <a:off x="9979885" y="5218651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2" name="IconSessionSecureSignInSession 1"/>
          <p:cNvPicPr>
            <a:picLocks noChangeAspect="1"/>
          </p:cNvPicPr>
          <p:nvPr/>
        </p:nvPicPr>
        <p:blipFill>
          <a:blip r:embed="rId50">
            <a:lum/>
            <a:extLst>
              <a:ext uri="{96DAC541-7B7A-43D3-8B79-37D633B846F1}">
                <asvg:svgBlip xmlns:asvg="http://schemas.microsoft.com/office/drawing/2016/SVG/main" r:embed="rId51"/>
              </a:ext>
            </a:extLst>
          </a:blip>
          <a:srcRect/>
          <a:stretch>
            <a:fillRect/>
          </a:stretch>
        </p:blipFill>
        <p:spPr bwMode="white">
          <a:xfrm>
            <a:off x="9997200" y="6085768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3" name="ShadeSessionCae"/>
          <p:cNvSpPr>
            <a:spLocks/>
          </p:cNvSpPr>
          <p:nvPr/>
        </p:nvSpPr>
        <p:spPr bwMode="white">
          <a:xfrm>
            <a:off x="9987595" y="5219780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76" name="ShadeSessionSecureSignIn"/>
          <p:cNvSpPr>
            <a:spLocks/>
          </p:cNvSpPr>
          <p:nvPr/>
        </p:nvSpPr>
        <p:spPr bwMode="white">
          <a:xfrm>
            <a:off x="9996846" y="5986498"/>
            <a:ext cx="2014431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pic>
        <p:nvPicPr>
          <p:cNvPr id="102" name="Graphic 101"/>
          <p:cNvPicPr>
            <a:picLocks noChangeAspect="1"/>
          </p:cNvPicPr>
          <p:nvPr/>
        </p:nvPicPr>
        <p:blipFill>
          <a:blip r:embed="rId52">
            <a:lum/>
            <a:extLst>
              <a:ext uri="{96DAC541-7B7A-43D3-8B79-37D633B846F1}">
                <asvg:svgBlip xmlns:asvg="http://schemas.microsoft.com/office/drawing/2016/SVG/main" r:embed="rId53"/>
              </a:ext>
            </a:extLst>
          </a:blip>
          <a:srcRect/>
          <a:stretch>
            <a:fillRect/>
          </a:stretch>
        </p:blipFill>
        <p:spPr bwMode="white">
          <a:xfrm>
            <a:off x="9997200" y="5663777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80" name="Graphic 79" descr="Close with solid fill"/>
          <p:cNvPicPr>
            <a:picLocks noChangeAspect="1"/>
          </p:cNvPicPr>
          <p:nvPr/>
        </p:nvPicPr>
        <p:blipFill>
          <a:blip r:embed="rId48">
            <a:lum/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rcRect/>
          <a:stretch>
            <a:fillRect/>
          </a:stretch>
        </p:blipFill>
        <p:spPr bwMode="white">
          <a:xfrm>
            <a:off x="9963899" y="5637424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4" name="ShadeSessionDisableResilience"/>
          <p:cNvSpPr>
            <a:spLocks/>
          </p:cNvSpPr>
          <p:nvPr/>
        </p:nvSpPr>
        <p:spPr bwMode="white">
          <a:xfrm>
            <a:off x="9959681" y="5602709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2" name="PolicyName">
            <a:hlinkClick r:id="" action="ppaction://hlinkfile"/>
          </p:cNvPr>
          <p:cNvSpPr>
            <a:spLocks noGrp="1"/>
          </p:cNvSpPr>
          <p:nvPr>
            <p:ph type="title"/>
          </p:nvPr>
        </p:nvSpPr>
        <p:spPr bwMode="white">
          <a:xfrm>
            <a:off x="838200" y="115511"/>
            <a:ext cx="10003967" cy="609565"/>
          </a:xfrm>
          <a:ln>
            <a:headEnd type="none"/>
            <a:tailEnd type="none"/>
          </a:ln>
        </p:spPr>
        <p:txBody>
          <a:bodyPr wrap="square">
            <a:noAutofit/>
          </a:bodyPr>
          <a:lstStyle/>
          <a:p>
            <a:pPr defTabSz="914400"/>
            <a:r>
              <a:rPr lang="en-US" sz="2000" b="1" dirty="0"/>
              <a:t>[All Apps] [SVo365 BizTalk] (Block) Service Accounts From Non Approved IPs</a:t>
            </a:r>
          </a:p>
        </p:txBody>
      </p:sp>
      <p:sp>
        <p:nvSpPr>
          <p:cNvPr id="16" name="LastModified"/>
          <p:cNvSpPr txBox="1">
            <a:spLocks noChangeArrowheads="1"/>
          </p:cNvSpPr>
          <p:nvPr/>
        </p:nvSpPr>
        <p:spPr bwMode="white">
          <a:xfrm>
            <a:off x="10556111" y="388376"/>
            <a:ext cx="15483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algn="r" defTabSz="457200"/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Last modified: 2025-05-13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UserWorkload"/>
          <p:cNvSpPr>
            <a:spLocks/>
          </p:cNvSpPr>
          <p:nvPr/>
        </p:nvSpPr>
        <p:spPr bwMode="auto">
          <a:xfrm>
            <a:off x="175820" y="2709769"/>
            <a:ext cx="2202823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Users</a:t>
            </a:r>
          </a:p>
        </p:txBody>
      </p:sp>
      <p:sp>
        <p:nvSpPr>
          <p:cNvPr id="7" name="UserWorkloadIncExc"/>
          <p:cNvSpPr txBox="1">
            <a:spLocks noChangeArrowheads="1"/>
          </p:cNvSpPr>
          <p:nvPr/>
        </p:nvSpPr>
        <p:spPr bwMode="white">
          <a:xfrm>
            <a:off x="125485" y="3698952"/>
            <a:ext cx="3062115" cy="313265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 numCol="1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b="1" dirty="0"/>
            </a:pPr>
            <a:r>
              <a:t> Users</a:t>
            </a:r>
          </a:p>
          <a:p>
            <a:pPr defTabSz="457200">
              <a:defRPr sz="1100" dirty="0"/>
            </a:pPr>
            <a:r>
              <a:t> - svO365.BT_Host</a:t>
            </a:r>
          </a:p>
          <a:p>
            <a:pPr defTabSz="457200">
              <a:defRPr sz="1100" dirty="0"/>
            </a:pPr>
            <a:r>
              <a:t> - svO365.BT_Host_STG</a:t>
            </a:r>
          </a:p>
          <a:p>
            <a:pPr defTabSz="457200">
              <a:defRPr sz="1100" dirty="0"/>
            </a:pPr>
            <a:r>
              <a:t> - svO365.BT_Host_TST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19" name="Risks"/>
          <p:cNvSpPr txBox="1">
            <a:spLocks noChangeArrowheads="1"/>
          </p:cNvSpPr>
          <p:nvPr/>
        </p:nvSpPr>
        <p:spPr bwMode="white">
          <a:xfrm>
            <a:off x="524485" y="1021946"/>
            <a:ext cx="1348869" cy="166886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0" name="Platforms"/>
          <p:cNvSpPr txBox="1">
            <a:spLocks noChangeArrowheads="1"/>
          </p:cNvSpPr>
          <p:nvPr/>
        </p:nvSpPr>
        <p:spPr bwMode="white">
          <a:xfrm>
            <a:off x="1826931" y="1021947"/>
            <a:ext cx="2061056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3" name="Locations"/>
          <p:cNvSpPr txBox="1">
            <a:spLocks noChangeArrowheads="1"/>
          </p:cNvSpPr>
          <p:nvPr/>
        </p:nvSpPr>
        <p:spPr bwMode="white">
          <a:xfrm>
            <a:off x="8324941" y="1021947"/>
            <a:ext cx="3513702" cy="159258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b="1" dirty="0"/>
            </a:pPr>
            <a:r>
              <a:t>✅ Include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r>
              <a:t>🚫 Exclude</a:t>
            </a:r>
          </a:p>
          <a:p>
            <a:pPr defTabSz="457200">
              <a:defRPr sz="1100" dirty="0"/>
            </a:pPr>
            <a:r>
              <a:t> - OCC Proxy Egress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24" name="ClientAppTypes"/>
          <p:cNvSpPr txBox="1">
            <a:spLocks noChangeArrowheads="1"/>
          </p:cNvSpPr>
          <p:nvPr/>
        </p:nvSpPr>
        <p:spPr bwMode="white">
          <a:xfrm>
            <a:off x="3810664" y="1021947"/>
            <a:ext cx="1581599" cy="165343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5" name="DeviceFilters"/>
          <p:cNvSpPr txBox="1">
            <a:spLocks noChangeArrowheads="1"/>
          </p:cNvSpPr>
          <p:nvPr/>
        </p:nvSpPr>
        <p:spPr bwMode="white">
          <a:xfrm>
            <a:off x="5818151" y="1022762"/>
            <a:ext cx="2248808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cxnSp>
        <p:nvCxnSpPr>
          <p:cNvPr id="27" name="Straight Arrow Connector 26" descr="Arrow drawn from user/workload  to the action being performed by the user such as accessing cloud apps."/>
          <p:cNvCxnSpPr/>
          <p:nvPr/>
        </p:nvCxnSpPr>
        <p:spPr bwMode="white">
          <a:xfrm>
            <a:off x="2195232" y="3159047"/>
            <a:ext cx="3959471" cy="1"/>
          </a:xfrm>
          <a:prstGeom prst="straightConnector1">
            <a:avLst/>
          </a:prstGeom>
          <a:ln w="76200"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2" name="GrantLabelGrantAccess"/>
          <p:cNvSpPr txBox="1">
            <a:spLocks noChangeArrowheads="1"/>
          </p:cNvSpPr>
          <p:nvPr/>
        </p:nvSpPr>
        <p:spPr bwMode="white">
          <a:xfrm>
            <a:off x="3928464" y="2723089"/>
            <a:ext cx="1381340" cy="369332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algn="ctr" defTabSz="457200"/>
            <a:r>
              <a:rPr lang="en-US" b="1" dirty="0">
                <a:solidFill>
                  <a:srgbClr val="00B050"/>
                </a:solidFill>
              </a:rPr>
              <a:t>Grant access</a:t>
            </a:r>
          </a:p>
        </p:txBody>
      </p:sp>
      <p:pic>
        <p:nvPicPr>
          <p:cNvPr id="35" name="IconGrantAccess" descr="Picture with gren tick sign to indicate access was granted"/>
          <p:cNvPicPr>
            <a:picLocks noChangeAspect="1"/>
          </p:cNvPicPr>
          <p:nvPr/>
        </p:nvPicPr>
        <p:blipFill>
          <a:blip r:embed="rId3">
            <a:lum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 bwMode="white">
          <a:xfrm>
            <a:off x="5309361" y="2730170"/>
            <a:ext cx="356616" cy="35661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3" name="CloudAppActionIncExc"/>
          <p:cNvSpPr txBox="1">
            <a:spLocks noChangeArrowheads="1"/>
          </p:cNvSpPr>
          <p:nvPr/>
        </p:nvSpPr>
        <p:spPr bwMode="white">
          <a:xfrm>
            <a:off x="6039518" y="3662782"/>
            <a:ext cx="3649518" cy="315161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</p:txBody>
      </p:sp>
      <p:pic>
        <p:nvPicPr>
          <p:cNvPr id="26" name="IconGroupIdentity"/>
          <p:cNvPicPr>
            <a:picLocks noChangeAspect="1"/>
          </p:cNvPicPr>
          <p:nvPr/>
        </p:nvPicPr>
        <p:blipFill>
          <a:blip r:embed="rId5">
            <a:lum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 bwMode="white">
          <a:xfrm>
            <a:off x="327701" y="2839007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36" name="Graphic 35"/>
          <p:cNvPicPr>
            <a:picLocks noChangeAspect="1"/>
          </p:cNvPicPr>
          <p:nvPr/>
        </p:nvPicPr>
        <p:blipFill>
          <a:blip r:embed="rId7">
            <a:lum/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p:blipFill>
        <p:spPr bwMode="white">
          <a:xfrm>
            <a:off x="495610" y="197468"/>
            <a:ext cx="381196" cy="38119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" name="CloudAppAction"/>
          <p:cNvSpPr>
            <a:spLocks/>
          </p:cNvSpPr>
          <p:nvPr/>
        </p:nvSpPr>
        <p:spPr bwMode="auto">
          <a:xfrm>
            <a:off x="6206089" y="2718506"/>
            <a:ext cx="3227026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All cloud apps</a:t>
            </a:r>
          </a:p>
        </p:txBody>
      </p:sp>
      <p:pic>
        <p:nvPicPr>
          <p:cNvPr id="75" name="IconAccessAllCloudApps"/>
          <p:cNvPicPr>
            <a:picLocks noChangeAspect="1"/>
          </p:cNvPicPr>
          <p:nvPr/>
        </p:nvPicPr>
        <p:blipFill>
          <a:blip r:embed="rId9">
            <a:lum/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p:blipFill>
        <p:spPr bwMode="white">
          <a:xfrm>
            <a:off x="6439264" y="2836824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21" name="StateEnabled"/>
          <p:cNvSpPr>
            <a:spLocks/>
          </p:cNvSpPr>
          <p:nvPr/>
        </p:nvSpPr>
        <p:spPr bwMode="white">
          <a:xfrm>
            <a:off x="10842171" y="83487"/>
            <a:ext cx="1260389" cy="264812"/>
          </a:xfrm>
          <a:prstGeom prst="round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r>
              <a:rPr lang="en-US" sz="800" dirty="0"/>
              <a:t>Policy Enabled</a:t>
            </a:r>
          </a:p>
        </p:txBody>
      </p:sp>
      <p:grpSp>
        <p:nvGrpSpPr>
          <p:cNvPr id="10" name="IconRiskyUsers"/>
          <p:cNvGrpSpPr>
            <a:grpSpLocks/>
          </p:cNvGrpSpPr>
          <p:nvPr/>
        </p:nvGrpSpPr>
        <p:grpSpPr bwMode="white">
          <a:xfrm>
            <a:off x="635426" y="738677"/>
            <a:ext cx="1202553" cy="274320"/>
            <a:chOff x="2013768" y="1033956"/>
            <a:chExt cx="1342320" cy="274320"/>
          </a:xfrm>
        </p:grpSpPr>
        <p:pic>
          <p:nvPicPr>
            <p:cNvPr id="46" name="Graphic 1"/>
            <p:cNvPicPr>
              <a:picLocks noChangeAspect="1"/>
            </p:cNvPicPr>
            <p:nvPr/>
          </p:nvPicPr>
          <p:blipFill>
            <a:blip r:embed="rId11">
              <a:lum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013768" y="1033956"/>
              <a:ext cx="274320" cy="27432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5" name="Label 1"/>
            <p:cNvSpPr txBox="1">
              <a:spLocks noChangeArrowheads="1"/>
            </p:cNvSpPr>
            <p:nvPr/>
          </p:nvSpPr>
          <p:spPr bwMode="white">
            <a:xfrm>
              <a:off x="2240077" y="1040706"/>
              <a:ext cx="1116011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Risk</a:t>
              </a:r>
            </a:p>
          </p:txBody>
        </p:sp>
      </p:grpSp>
      <p:grpSp>
        <p:nvGrpSpPr>
          <p:cNvPr id="14" name="IconPlatforms"/>
          <p:cNvGrpSpPr>
            <a:grpSpLocks/>
          </p:cNvGrpSpPr>
          <p:nvPr/>
        </p:nvGrpSpPr>
        <p:grpSpPr bwMode="white">
          <a:xfrm>
            <a:off x="1927788" y="715249"/>
            <a:ext cx="1719285" cy="365760"/>
            <a:chOff x="3262737" y="994835"/>
            <a:chExt cx="1719285" cy="365760"/>
          </a:xfrm>
        </p:grpSpPr>
        <p:pic>
          <p:nvPicPr>
            <p:cNvPr id="29" name="Graphic 1"/>
            <p:cNvPicPr>
              <a:picLocks noChangeAspect="1"/>
            </p:cNvPicPr>
            <p:nvPr/>
          </p:nvPicPr>
          <p:blipFill>
            <a:blip r:embed="rId13">
              <a:lum/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3262737" y="994835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1" name="Label 1"/>
            <p:cNvSpPr txBox="1">
              <a:spLocks noChangeArrowheads="1"/>
            </p:cNvSpPr>
            <p:nvPr/>
          </p:nvSpPr>
          <p:spPr bwMode="white">
            <a:xfrm>
              <a:off x="3582397" y="1027255"/>
              <a:ext cx="1399625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Device platforms</a:t>
              </a:r>
            </a:p>
          </p:txBody>
        </p:sp>
      </p:grpSp>
      <p:grpSp>
        <p:nvGrpSpPr>
          <p:cNvPr id="17" name="IconClientAppTypes"/>
          <p:cNvGrpSpPr>
            <a:grpSpLocks/>
          </p:cNvGrpSpPr>
          <p:nvPr/>
        </p:nvGrpSpPr>
        <p:grpSpPr bwMode="white">
          <a:xfrm>
            <a:off x="3908159" y="670015"/>
            <a:ext cx="1852971" cy="365760"/>
            <a:chOff x="4858970" y="975927"/>
            <a:chExt cx="1852971" cy="365760"/>
          </a:xfrm>
        </p:grpSpPr>
        <p:pic>
          <p:nvPicPr>
            <p:cNvPr id="58" name="Graphic 1"/>
            <p:cNvPicPr>
              <a:picLocks noChangeAspect="1"/>
            </p:cNvPicPr>
            <p:nvPr/>
          </p:nvPicPr>
          <p:blipFill>
            <a:blip r:embed="rId15">
              <a:lum/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858970" y="975927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5" name="Label 1"/>
            <p:cNvSpPr txBox="1">
              <a:spLocks noChangeArrowheads="1"/>
            </p:cNvSpPr>
            <p:nvPr/>
          </p:nvSpPr>
          <p:spPr bwMode="white">
            <a:xfrm>
              <a:off x="5193983" y="1009899"/>
              <a:ext cx="1517958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Client apps</a:t>
              </a:r>
            </a:p>
          </p:txBody>
        </p:sp>
      </p:grpSp>
      <p:grpSp>
        <p:nvGrpSpPr>
          <p:cNvPr id="37" name="IconLocations"/>
          <p:cNvGrpSpPr>
            <a:grpSpLocks/>
          </p:cNvGrpSpPr>
          <p:nvPr/>
        </p:nvGrpSpPr>
        <p:grpSpPr bwMode="white">
          <a:xfrm>
            <a:off x="8411896" y="646848"/>
            <a:ext cx="1850168" cy="388465"/>
            <a:chOff x="2321433" y="3262888"/>
            <a:chExt cx="1850168" cy="388465"/>
          </a:xfrm>
        </p:grpSpPr>
        <p:pic>
          <p:nvPicPr>
            <p:cNvPr id="33" name="Graphic 1"/>
            <p:cNvPicPr>
              <a:picLocks noChangeAspect="1"/>
            </p:cNvPicPr>
            <p:nvPr/>
          </p:nvPicPr>
          <p:blipFill>
            <a:blip r:embed="rId17">
              <a:lum/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321433" y="3262888"/>
              <a:ext cx="388465" cy="388465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28" name="Label 1"/>
            <p:cNvSpPr txBox="1">
              <a:spLocks noChangeArrowheads="1"/>
            </p:cNvSpPr>
            <p:nvPr/>
          </p:nvSpPr>
          <p:spPr bwMode="white">
            <a:xfrm>
              <a:off x="2713321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Locations</a:t>
              </a:r>
              <a:endParaRPr lang="en-US" sz="1100" b="1" dirty="0"/>
            </a:p>
          </p:txBody>
        </p:sp>
      </p:grpSp>
      <p:grpSp>
        <p:nvGrpSpPr>
          <p:cNvPr id="39" name="IconDeviceFilters"/>
          <p:cNvGrpSpPr>
            <a:grpSpLocks/>
          </p:cNvGrpSpPr>
          <p:nvPr/>
        </p:nvGrpSpPr>
        <p:grpSpPr bwMode="white">
          <a:xfrm>
            <a:off x="5472818" y="661958"/>
            <a:ext cx="1839823" cy="364111"/>
            <a:chOff x="4195414" y="3273669"/>
            <a:chExt cx="1839823" cy="364111"/>
          </a:xfrm>
        </p:grpSpPr>
        <p:pic>
          <p:nvPicPr>
            <p:cNvPr id="60" name="Graphic 1"/>
            <p:cNvPicPr>
              <a:picLocks noChangeAspect="1"/>
            </p:cNvPicPr>
            <p:nvPr/>
          </p:nvPicPr>
          <p:blipFill>
            <a:blip r:embed="rId19">
              <a:lum/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195414" y="3273669"/>
              <a:ext cx="364111" cy="364111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31" name="Label 1"/>
            <p:cNvSpPr txBox="1">
              <a:spLocks noChangeArrowheads="1"/>
            </p:cNvSpPr>
            <p:nvPr/>
          </p:nvSpPr>
          <p:spPr bwMode="white">
            <a:xfrm>
              <a:off x="4576957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Filter for devices</a:t>
              </a:r>
              <a:endParaRPr lang="en-US" sz="1100" b="1" dirty="0"/>
            </a:p>
          </p:txBody>
        </p:sp>
      </p:grpSp>
      <p:pic>
        <p:nvPicPr>
          <p:cNvPr id="62" name="IconGrantMultifactorAuthentication"/>
          <p:cNvPicPr>
            <a:picLocks noChangeAspect="1"/>
          </p:cNvPicPr>
          <p:nvPr/>
        </p:nvPicPr>
        <p:blipFill>
          <a:blip r:embed="rId21">
            <a:lum/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>
            <a:fillRect/>
          </a:stretch>
        </p:blipFill>
        <p:spPr bwMode="white">
          <a:xfrm>
            <a:off x="3410647" y="3566863"/>
            <a:ext cx="17145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5" name="IconGrantMultifactorAuthenticationLabel"/>
          <p:cNvSpPr txBox="1">
            <a:spLocks noChangeArrowheads="1"/>
          </p:cNvSpPr>
          <p:nvPr/>
        </p:nvSpPr>
        <p:spPr bwMode="white">
          <a:xfrm>
            <a:off x="3575836" y="3571997"/>
            <a:ext cx="19007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Multifactor authentication</a:t>
            </a:r>
            <a:endParaRPr lang="en-US" sz="1000" dirty="0"/>
          </a:p>
        </p:txBody>
      </p:sp>
      <p:pic>
        <p:nvPicPr>
          <p:cNvPr id="38" name="IconGrantAuthenticationStrength"/>
          <p:cNvPicPr>
            <a:picLocks noChangeAspect="1"/>
          </p:cNvPicPr>
          <p:nvPr/>
        </p:nvPicPr>
        <p:blipFill>
          <a:blip r:embed="rId23">
            <a:lum/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/>
          <a:stretch>
            <a:fillRect/>
          </a:stretch>
        </p:blipFill>
        <p:spPr bwMode="white">
          <a:xfrm>
            <a:off x="3374515" y="3905034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7" name="IconGrantAuthenticationStrengthLabel"/>
          <p:cNvSpPr txBox="1">
            <a:spLocks noChangeArrowheads="1"/>
          </p:cNvSpPr>
          <p:nvPr/>
        </p:nvSpPr>
        <p:spPr bwMode="white">
          <a:xfrm>
            <a:off x="3575836" y="3907323"/>
            <a:ext cx="2185294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Auth strength:Phishing-resistant MFA</a:t>
            </a:r>
            <a:endParaRPr lang="en-US" sz="1000" dirty="0"/>
          </a:p>
        </p:txBody>
      </p:sp>
      <p:pic>
        <p:nvPicPr>
          <p:cNvPr id="52" name="IconGrantDeviceCompliance"/>
          <p:cNvPicPr>
            <a:picLocks noChangeAspect="1"/>
          </p:cNvPicPr>
          <p:nvPr/>
        </p:nvPicPr>
        <p:blipFill>
          <a:blip r:embed="rId25">
            <a:lum/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/>
          <a:stretch>
            <a:fillRect/>
          </a:stretch>
        </p:blipFill>
        <p:spPr bwMode="white">
          <a:xfrm>
            <a:off x="3374515" y="4243205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9" name="IconGrantDeviceComplianceLabel"/>
          <p:cNvSpPr txBox="1">
            <a:spLocks noChangeArrowheads="1"/>
          </p:cNvSpPr>
          <p:nvPr/>
        </p:nvSpPr>
        <p:spPr bwMode="white">
          <a:xfrm>
            <a:off x="3575836" y="4242649"/>
            <a:ext cx="17378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Compliant device</a:t>
            </a:r>
            <a:endParaRPr lang="en-US" sz="1000" dirty="0"/>
          </a:p>
        </p:txBody>
      </p:sp>
      <p:pic>
        <p:nvPicPr>
          <p:cNvPr id="43" name="IconGrantHybridJoined"/>
          <p:cNvPicPr>
            <a:picLocks noChangeAspect="1"/>
          </p:cNvPicPr>
          <p:nvPr/>
        </p:nvPicPr>
        <p:blipFill>
          <a:blip r:embed="rId27">
            <a:lum/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/>
          <a:stretch>
            <a:fillRect/>
          </a:stretch>
        </p:blipFill>
        <p:spPr bwMode="white">
          <a:xfrm>
            <a:off x="3374515" y="4581376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3" name="IconGrantHybridJoinedLabel"/>
          <p:cNvSpPr txBox="1">
            <a:spLocks noChangeArrowheads="1"/>
          </p:cNvSpPr>
          <p:nvPr/>
        </p:nvSpPr>
        <p:spPr bwMode="white">
          <a:xfrm>
            <a:off x="3575836" y="4577975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Hybrid Azure AD joined device</a:t>
            </a:r>
            <a:endParaRPr lang="en-US" sz="1000" dirty="0"/>
          </a:p>
        </p:txBody>
      </p:sp>
      <p:pic>
        <p:nvPicPr>
          <p:cNvPr id="48" name="IconGrantApprovedClientApp"/>
          <p:cNvPicPr>
            <a:picLocks noChangeAspect="1"/>
          </p:cNvPicPr>
          <p:nvPr/>
        </p:nvPicPr>
        <p:blipFill>
          <a:blip r:embed="rId29">
            <a:lum/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rcRect/>
          <a:stretch>
            <a:fillRect/>
          </a:stretch>
        </p:blipFill>
        <p:spPr bwMode="white">
          <a:xfrm>
            <a:off x="3374515" y="491954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5" name="IconGrantApprovedClientAppLabel"/>
          <p:cNvSpPr txBox="1">
            <a:spLocks noChangeArrowheads="1"/>
          </p:cNvSpPr>
          <p:nvPr/>
        </p:nvSpPr>
        <p:spPr bwMode="white">
          <a:xfrm>
            <a:off x="3575836" y="4913301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Approved client app</a:t>
            </a:r>
            <a:endParaRPr lang="en-US" sz="1000" dirty="0"/>
          </a:p>
        </p:txBody>
      </p:sp>
      <p:pic>
        <p:nvPicPr>
          <p:cNvPr id="42" name="IconGrantCustomAuth"/>
          <p:cNvPicPr>
            <a:picLocks noChangeAspect="1"/>
          </p:cNvPicPr>
          <p:nvPr/>
        </p:nvPicPr>
        <p:blipFill>
          <a:blip r:embed="rId31">
            <a:lum/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rcRect/>
          <a:stretch>
            <a:fillRect/>
          </a:stretch>
        </p:blipFill>
        <p:spPr bwMode="white">
          <a:xfrm>
            <a:off x="3374515" y="593406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9" name="IconGrantCustomAuthLabel"/>
          <p:cNvSpPr txBox="1">
            <a:spLocks noChangeArrowheads="1"/>
          </p:cNvSpPr>
          <p:nvPr/>
        </p:nvSpPr>
        <p:spPr bwMode="white">
          <a:xfrm>
            <a:off x="3575836" y="5919279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Custom authentication factor</a:t>
            </a:r>
            <a:endParaRPr lang="en-US" sz="1000" dirty="0"/>
          </a:p>
        </p:txBody>
      </p:sp>
      <p:pic>
        <p:nvPicPr>
          <p:cNvPr id="40" name="IconGrantTermsOfUse"/>
          <p:cNvPicPr>
            <a:picLocks noChangeAspect="1"/>
          </p:cNvPicPr>
          <p:nvPr/>
        </p:nvPicPr>
        <p:blipFill>
          <a:blip r:embed="rId33">
            <a:lum/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rcRect/>
          <a:stretch>
            <a:fillRect/>
          </a:stretch>
        </p:blipFill>
        <p:spPr bwMode="white">
          <a:xfrm>
            <a:off x="3374515" y="627222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3" name="IconGrantTermsOfUseLabel"/>
          <p:cNvSpPr txBox="1">
            <a:spLocks noChangeArrowheads="1"/>
          </p:cNvSpPr>
          <p:nvPr/>
        </p:nvSpPr>
        <p:spPr bwMode="white">
          <a:xfrm>
            <a:off x="3575836" y="625460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Terms of use</a:t>
            </a:r>
            <a:endParaRPr lang="en-US" sz="1000" dirty="0"/>
          </a:p>
        </p:txBody>
      </p:sp>
      <p:sp>
        <p:nvSpPr>
          <p:cNvPr id="56" name="IconGrantAppProtectionLabel"/>
          <p:cNvSpPr txBox="1">
            <a:spLocks noChangeArrowheads="1"/>
          </p:cNvSpPr>
          <p:nvPr/>
        </p:nvSpPr>
        <p:spPr bwMode="white">
          <a:xfrm>
            <a:off x="3575836" y="524862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 protection policy</a:t>
            </a:r>
            <a:endParaRPr lang="en-US" sz="1000" dirty="0"/>
          </a:p>
        </p:txBody>
      </p:sp>
      <p:pic>
        <p:nvPicPr>
          <p:cNvPr id="65" name="IconGrantAppProtection"/>
          <p:cNvPicPr>
            <a:picLocks noChangeAspect="1"/>
          </p:cNvPicPr>
          <p:nvPr/>
        </p:nvPicPr>
        <p:blipFill>
          <a:blip r:embed="rId35">
            <a:lum/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rcRect/>
          <a:stretch>
            <a:fillRect/>
          </a:stretch>
        </p:blipFill>
        <p:spPr bwMode="white">
          <a:xfrm>
            <a:off x="3374515" y="525771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7" name="IconGrantChangePasswordLabel"/>
          <p:cNvSpPr txBox="1">
            <a:spLocks noChangeArrowheads="1"/>
          </p:cNvSpPr>
          <p:nvPr/>
        </p:nvSpPr>
        <p:spPr bwMode="white">
          <a:xfrm>
            <a:off x="3575836" y="5583953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Change password</a:t>
            </a:r>
            <a:endParaRPr lang="en-US" sz="1000" dirty="0"/>
          </a:p>
        </p:txBody>
      </p:sp>
      <p:pic>
        <p:nvPicPr>
          <p:cNvPr id="67" name="IconGrantChangePassword"/>
          <p:cNvPicPr>
            <a:picLocks noChangeAspect="1"/>
          </p:cNvPicPr>
          <p:nvPr/>
        </p:nvPicPr>
        <p:blipFill>
          <a:blip r:embed="rId37">
            <a:lum/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rcRect/>
          <a:stretch>
            <a:fillRect/>
          </a:stretch>
        </p:blipFill>
        <p:spPr bwMode="white">
          <a:xfrm>
            <a:off x="3374515" y="5595889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4" name="ShadeRisk"/>
          <p:cNvSpPr>
            <a:spLocks/>
          </p:cNvSpPr>
          <p:nvPr/>
        </p:nvSpPr>
        <p:spPr bwMode="white">
          <a:xfrm>
            <a:off x="507564" y="650246"/>
            <a:ext cx="976864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66" name="ShadeDevicePlatforms"/>
          <p:cNvSpPr>
            <a:spLocks/>
          </p:cNvSpPr>
          <p:nvPr/>
        </p:nvSpPr>
        <p:spPr bwMode="white">
          <a:xfrm>
            <a:off x="1863623" y="663409"/>
            <a:ext cx="1773927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78" name="ShadeClientApps"/>
          <p:cNvSpPr>
            <a:spLocks/>
          </p:cNvSpPr>
          <p:nvPr/>
        </p:nvSpPr>
        <p:spPr bwMode="white">
          <a:xfrm>
            <a:off x="3802273" y="650246"/>
            <a:ext cx="1481482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2" name="ShadeFilterForDevices"/>
          <p:cNvSpPr>
            <a:spLocks/>
          </p:cNvSpPr>
          <p:nvPr/>
        </p:nvSpPr>
        <p:spPr bwMode="white">
          <a:xfrm>
            <a:off x="5438955" y="627922"/>
            <a:ext cx="1873685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3" name="ShadeGrantMultifactorAuth"/>
          <p:cNvSpPr>
            <a:spLocks/>
          </p:cNvSpPr>
          <p:nvPr/>
        </p:nvSpPr>
        <p:spPr bwMode="white">
          <a:xfrm>
            <a:off x="3369399" y="3534220"/>
            <a:ext cx="2069555" cy="28330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5" name="ShadeGrantCompliantDevice"/>
          <p:cNvSpPr>
            <a:spLocks/>
          </p:cNvSpPr>
          <p:nvPr/>
        </p:nvSpPr>
        <p:spPr bwMode="white">
          <a:xfrm>
            <a:off x="3361852" y="4243205"/>
            <a:ext cx="2077102" cy="26110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6" name="ShadeGrantHybridAzureADJoined"/>
          <p:cNvSpPr>
            <a:spLocks/>
          </p:cNvSpPr>
          <p:nvPr/>
        </p:nvSpPr>
        <p:spPr bwMode="white">
          <a:xfrm>
            <a:off x="3353637" y="4552268"/>
            <a:ext cx="2160906" cy="298395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7" name="ShadeGrantApprovedClientApp"/>
          <p:cNvSpPr>
            <a:spLocks/>
          </p:cNvSpPr>
          <p:nvPr/>
        </p:nvSpPr>
        <p:spPr bwMode="white">
          <a:xfrm>
            <a:off x="3331918" y="4876027"/>
            <a:ext cx="2182625" cy="29839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8" name="ShadeGrantAppProtectionPolicy"/>
          <p:cNvSpPr>
            <a:spLocks/>
          </p:cNvSpPr>
          <p:nvPr/>
        </p:nvSpPr>
        <p:spPr bwMode="white">
          <a:xfrm>
            <a:off x="3350256" y="5207226"/>
            <a:ext cx="2122561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9" name="ShadeGrantChangePassword"/>
          <p:cNvSpPr>
            <a:spLocks/>
          </p:cNvSpPr>
          <p:nvPr/>
        </p:nvSpPr>
        <p:spPr bwMode="white">
          <a:xfrm>
            <a:off x="3350257" y="5557021"/>
            <a:ext cx="2042006" cy="287239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0" name="ShadeGrantCustomAuthFactor"/>
          <p:cNvSpPr>
            <a:spLocks/>
          </p:cNvSpPr>
          <p:nvPr/>
        </p:nvSpPr>
        <p:spPr bwMode="white">
          <a:xfrm>
            <a:off x="3331918" y="5899058"/>
            <a:ext cx="2182625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1" name="ShadeGrantTermsOfUse"/>
          <p:cNvSpPr>
            <a:spLocks/>
          </p:cNvSpPr>
          <p:nvPr/>
        </p:nvSpPr>
        <p:spPr bwMode="white">
          <a:xfrm>
            <a:off x="3313823" y="6192350"/>
            <a:ext cx="101602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99" name="Rectangle 98"/>
          <p:cNvSpPr>
            <a:spLocks/>
          </p:cNvSpPr>
          <p:nvPr/>
        </p:nvSpPr>
        <p:spPr bwMode="white">
          <a:xfrm>
            <a:off x="3268757" y="3253404"/>
            <a:ext cx="2357725" cy="3498546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0" name="Rectangle 109"/>
          <p:cNvSpPr>
            <a:spLocks/>
          </p:cNvSpPr>
          <p:nvPr/>
        </p:nvSpPr>
        <p:spPr bwMode="white">
          <a:xfrm>
            <a:off x="9881750" y="3248255"/>
            <a:ext cx="2220808" cy="3510149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7" name="Rectangle 116"/>
          <p:cNvSpPr>
            <a:spLocks/>
          </p:cNvSpPr>
          <p:nvPr/>
        </p:nvSpPr>
        <p:spPr bwMode="white">
          <a:xfrm>
            <a:off x="26741" y="606825"/>
            <a:ext cx="11985015" cy="2063636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2" name="Conditions Label"/>
          <p:cNvSpPr txBox="1">
            <a:spLocks noChangeArrowheads="1"/>
          </p:cNvSpPr>
          <p:nvPr/>
        </p:nvSpPr>
        <p:spPr bwMode="white">
          <a:xfrm rot="16200000">
            <a:off x="-883507" y="1514324"/>
            <a:ext cx="2081441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Conditions</a:t>
            </a:r>
          </a:p>
        </p:txBody>
      </p:sp>
      <p:sp>
        <p:nvSpPr>
          <p:cNvPr id="109" name="Grant Controls"/>
          <p:cNvSpPr txBox="1">
            <a:spLocks noChangeArrowheads="1"/>
          </p:cNvSpPr>
          <p:nvPr/>
        </p:nvSpPr>
        <p:spPr bwMode="white">
          <a:xfrm>
            <a:off x="3252146" y="3244395"/>
            <a:ext cx="2391873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Grant Controls</a:t>
            </a:r>
          </a:p>
        </p:txBody>
      </p:sp>
      <p:sp>
        <p:nvSpPr>
          <p:cNvPr id="111" name="Session Controls"/>
          <p:cNvSpPr txBox="1">
            <a:spLocks noChangeArrowheads="1"/>
          </p:cNvSpPr>
          <p:nvPr/>
        </p:nvSpPr>
        <p:spPr bwMode="white">
          <a:xfrm>
            <a:off x="9864212" y="3243751"/>
            <a:ext cx="2238346" cy="23786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Session Controls</a:t>
            </a:r>
          </a:p>
        </p:txBody>
      </p:sp>
      <p:pic>
        <p:nvPicPr>
          <p:cNvPr id="72" name="Graphic 71"/>
          <p:cNvPicPr>
            <a:picLocks noChangeAspect="1"/>
          </p:cNvPicPr>
          <p:nvPr/>
        </p:nvPicPr>
        <p:blipFill>
          <a:blip r:embed="rId39">
            <a:lum/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rcRect/>
          <a:stretch>
            <a:fillRect/>
          </a:stretch>
        </p:blipFill>
        <p:spPr bwMode="white">
          <a:xfrm>
            <a:off x="9996846" y="356982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4" name="Graphic 93"/>
          <p:cNvPicPr>
            <a:picLocks noChangeAspect="1"/>
          </p:cNvPicPr>
          <p:nvPr/>
        </p:nvPicPr>
        <p:blipFill>
          <a:blip r:embed="rId41">
            <a:lum/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rcRect/>
          <a:stretch>
            <a:fillRect/>
          </a:stretch>
        </p:blipFill>
        <p:spPr bwMode="white">
          <a:xfrm>
            <a:off x="10009443" y="525644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5" name="TextBox 94"/>
          <p:cNvSpPr txBox="1">
            <a:spLocks noChangeArrowheads="1"/>
          </p:cNvSpPr>
          <p:nvPr/>
        </p:nvSpPr>
        <p:spPr bwMode="white">
          <a:xfrm>
            <a:off x="10207481" y="3578463"/>
            <a:ext cx="150554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App enforced restrictions</a:t>
            </a:r>
          </a:p>
        </p:txBody>
      </p:sp>
      <p:sp>
        <p:nvSpPr>
          <p:cNvPr id="96" name="TextBox 95"/>
          <p:cNvSpPr txBox="1">
            <a:spLocks noChangeArrowheads="1"/>
          </p:cNvSpPr>
          <p:nvPr/>
        </p:nvSpPr>
        <p:spPr bwMode="white">
          <a:xfrm>
            <a:off x="10201167" y="3899846"/>
            <a:ext cx="181011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Conditional Access App Control</a:t>
            </a:r>
          </a:p>
        </p:txBody>
      </p:sp>
      <p:sp>
        <p:nvSpPr>
          <p:cNvPr id="97" name="TextBox 96"/>
          <p:cNvSpPr txBox="1">
            <a:spLocks noChangeArrowheads="1"/>
          </p:cNvSpPr>
          <p:nvPr/>
        </p:nvSpPr>
        <p:spPr bwMode="white">
          <a:xfrm>
            <a:off x="10215627" y="4357505"/>
            <a:ext cx="1090363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Sign-in frequency</a:t>
            </a:r>
          </a:p>
        </p:txBody>
      </p:sp>
      <p:sp>
        <p:nvSpPr>
          <p:cNvPr id="98" name="TextBox 97"/>
          <p:cNvSpPr txBox="1">
            <a:spLocks noChangeArrowheads="1"/>
          </p:cNvSpPr>
          <p:nvPr/>
        </p:nvSpPr>
        <p:spPr bwMode="white">
          <a:xfrm>
            <a:off x="10225446" y="4793305"/>
            <a:ext cx="156966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Persistent browser session</a:t>
            </a:r>
          </a:p>
        </p:txBody>
      </p:sp>
      <p:sp>
        <p:nvSpPr>
          <p:cNvPr id="100" name="TextBox 99"/>
          <p:cNvSpPr txBox="1">
            <a:spLocks noChangeArrowheads="1"/>
          </p:cNvSpPr>
          <p:nvPr/>
        </p:nvSpPr>
        <p:spPr bwMode="white">
          <a:xfrm>
            <a:off x="10229552" y="5232376"/>
            <a:ext cx="1717137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Continuous access evaluation</a:t>
            </a:r>
          </a:p>
        </p:txBody>
      </p:sp>
      <p:sp>
        <p:nvSpPr>
          <p:cNvPr id="101" name="TextBox 100"/>
          <p:cNvSpPr txBox="1">
            <a:spLocks noChangeArrowheads="1"/>
          </p:cNvSpPr>
          <p:nvPr/>
        </p:nvSpPr>
        <p:spPr bwMode="white">
          <a:xfrm>
            <a:off x="10259108" y="5658625"/>
            <a:ext cx="153599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Disable resilience defaults</a:t>
            </a:r>
          </a:p>
        </p:txBody>
      </p:sp>
      <p:pic>
        <p:nvPicPr>
          <p:cNvPr id="103" name="Graphic 102"/>
          <p:cNvPicPr>
            <a:picLocks noChangeAspect="1"/>
          </p:cNvPicPr>
          <p:nvPr/>
        </p:nvPicPr>
        <p:blipFill>
          <a:blip r:embed="rId43">
            <a:lum/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rcRect/>
          <a:stretch>
            <a:fillRect/>
          </a:stretch>
        </p:blipFill>
        <p:spPr bwMode="white">
          <a:xfrm>
            <a:off x="9996846" y="479900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5" name="Graphic 104"/>
          <p:cNvPicPr>
            <a:picLocks noChangeAspect="1"/>
          </p:cNvPicPr>
          <p:nvPr/>
        </p:nvPicPr>
        <p:blipFill>
          <a:blip r:embed="rId45">
            <a:lum/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rcRect/>
          <a:stretch>
            <a:fillRect/>
          </a:stretch>
        </p:blipFill>
        <p:spPr bwMode="white">
          <a:xfrm>
            <a:off x="9996846" y="437457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7" name="Graphic 106"/>
          <p:cNvPicPr>
            <a:picLocks noChangeAspect="1"/>
          </p:cNvPicPr>
          <p:nvPr/>
        </p:nvPicPr>
        <p:blipFill>
          <a:blip r:embed="rId7">
            <a:lum/>
            <a:extLst>
              <a:ext uri="{96DAC541-7B7A-43D3-8B79-37D633B846F1}">
                <asvg:svgBlip xmlns:asvg="http://schemas.microsoft.com/office/drawing/2016/SVG/main" r:embed="rId47"/>
              </a:ext>
            </a:extLst>
          </a:blip>
          <a:srcRect/>
          <a:stretch>
            <a:fillRect/>
          </a:stretch>
        </p:blipFill>
        <p:spPr bwMode="white">
          <a:xfrm>
            <a:off x="9996846" y="391529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15" name="SessionSifInterval"/>
          <p:cNvSpPr txBox="1">
            <a:spLocks noChangeArrowheads="1"/>
          </p:cNvSpPr>
          <p:nvPr/>
        </p:nvSpPr>
        <p:spPr bwMode="white">
          <a:xfrm>
            <a:off x="10296745" y="4516775"/>
            <a:ext cx="1249060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Periodic reauthentication</a:t>
            </a:r>
          </a:p>
        </p:txBody>
      </p:sp>
      <p:sp>
        <p:nvSpPr>
          <p:cNvPr id="114" name="SessionCasType"/>
          <p:cNvSpPr txBox="1">
            <a:spLocks noChangeArrowheads="1"/>
          </p:cNvSpPr>
          <p:nvPr/>
        </p:nvSpPr>
        <p:spPr bwMode="white">
          <a:xfrm>
            <a:off x="10296745" y="4075500"/>
            <a:ext cx="95410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App Control Policy</a:t>
            </a:r>
          </a:p>
        </p:txBody>
      </p:sp>
      <p:sp>
        <p:nvSpPr>
          <p:cNvPr id="116" name="SessionPersistenBrowserMode"/>
          <p:cNvSpPr txBox="1">
            <a:spLocks noChangeArrowheads="1"/>
          </p:cNvSpPr>
          <p:nvPr/>
        </p:nvSpPr>
        <p:spPr bwMode="white">
          <a:xfrm>
            <a:off x="10309761" y="4945281"/>
            <a:ext cx="918841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Always persistent</a:t>
            </a:r>
          </a:p>
        </p:txBody>
      </p:sp>
      <p:sp>
        <p:nvSpPr>
          <p:cNvPr id="118" name="SessionCaeMode"/>
          <p:cNvSpPr txBox="1">
            <a:spLocks noChangeArrowheads="1"/>
          </p:cNvSpPr>
          <p:nvPr/>
        </p:nvSpPr>
        <p:spPr bwMode="white">
          <a:xfrm>
            <a:off x="10301386" y="5393378"/>
            <a:ext cx="15359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US" sz="800" dirty="0"/>
              <a:t>Strictly enforce location policies</a:t>
            </a:r>
          </a:p>
        </p:txBody>
      </p:sp>
      <p:sp>
        <p:nvSpPr>
          <p:cNvPr id="119" name="ShadeSessionAppEnforced"/>
          <p:cNvSpPr>
            <a:spLocks/>
          </p:cNvSpPr>
          <p:nvPr/>
        </p:nvSpPr>
        <p:spPr bwMode="white">
          <a:xfrm>
            <a:off x="9959680" y="3548808"/>
            <a:ext cx="2051597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0" name="ShadeSessionCas"/>
          <p:cNvSpPr>
            <a:spLocks/>
          </p:cNvSpPr>
          <p:nvPr/>
        </p:nvSpPr>
        <p:spPr bwMode="white">
          <a:xfrm>
            <a:off x="9978939" y="3884212"/>
            <a:ext cx="2087576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1" name="ShadeSessionSif"/>
          <p:cNvSpPr>
            <a:spLocks/>
          </p:cNvSpPr>
          <p:nvPr/>
        </p:nvSpPr>
        <p:spPr bwMode="white">
          <a:xfrm>
            <a:off x="9940787" y="4320077"/>
            <a:ext cx="2125728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2" name="ShadeSessionPersistentBrowser"/>
          <p:cNvSpPr>
            <a:spLocks/>
          </p:cNvSpPr>
          <p:nvPr/>
        </p:nvSpPr>
        <p:spPr bwMode="white">
          <a:xfrm>
            <a:off x="9938833" y="4746195"/>
            <a:ext cx="207244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" name="Label Secure Sign In Session"/>
          <p:cNvSpPr txBox="1">
            <a:spLocks noChangeArrowheads="1"/>
          </p:cNvSpPr>
          <p:nvPr/>
        </p:nvSpPr>
        <p:spPr bwMode="white">
          <a:xfrm>
            <a:off x="10260000" y="6084874"/>
            <a:ext cx="166584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Token protection for session</a:t>
            </a:r>
          </a:p>
        </p:txBody>
      </p:sp>
      <p:pic>
        <p:nvPicPr>
          <p:cNvPr id="77" name="IconSessionCaeDisable" descr="Close with solid fill"/>
          <p:cNvPicPr>
            <a:picLocks noChangeAspect="1"/>
          </p:cNvPicPr>
          <p:nvPr/>
        </p:nvPicPr>
        <p:blipFill>
          <a:blip r:embed="rId48">
            <a:lum/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rcRect/>
          <a:stretch>
            <a:fillRect/>
          </a:stretch>
        </p:blipFill>
        <p:spPr bwMode="white">
          <a:xfrm>
            <a:off x="9979885" y="5218651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2" name="IconSessionSecureSignInSession 1"/>
          <p:cNvPicPr>
            <a:picLocks noChangeAspect="1"/>
          </p:cNvPicPr>
          <p:nvPr/>
        </p:nvPicPr>
        <p:blipFill>
          <a:blip r:embed="rId50">
            <a:lum/>
            <a:extLst>
              <a:ext uri="{96DAC541-7B7A-43D3-8B79-37D633B846F1}">
                <asvg:svgBlip xmlns:asvg="http://schemas.microsoft.com/office/drawing/2016/SVG/main" r:embed="rId51"/>
              </a:ext>
            </a:extLst>
          </a:blip>
          <a:srcRect/>
          <a:stretch>
            <a:fillRect/>
          </a:stretch>
        </p:blipFill>
        <p:spPr bwMode="white">
          <a:xfrm>
            <a:off x="9997200" y="6085768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3" name="ShadeSessionCae"/>
          <p:cNvSpPr>
            <a:spLocks/>
          </p:cNvSpPr>
          <p:nvPr/>
        </p:nvSpPr>
        <p:spPr bwMode="white">
          <a:xfrm>
            <a:off x="9987595" y="5219780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76" name="ShadeSessionSecureSignIn"/>
          <p:cNvSpPr>
            <a:spLocks/>
          </p:cNvSpPr>
          <p:nvPr/>
        </p:nvSpPr>
        <p:spPr bwMode="white">
          <a:xfrm>
            <a:off x="9996846" y="5986498"/>
            <a:ext cx="2014431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pic>
        <p:nvPicPr>
          <p:cNvPr id="102" name="Graphic 101"/>
          <p:cNvPicPr>
            <a:picLocks noChangeAspect="1"/>
          </p:cNvPicPr>
          <p:nvPr/>
        </p:nvPicPr>
        <p:blipFill>
          <a:blip r:embed="rId52">
            <a:lum/>
            <a:extLst>
              <a:ext uri="{96DAC541-7B7A-43D3-8B79-37D633B846F1}">
                <asvg:svgBlip xmlns:asvg="http://schemas.microsoft.com/office/drawing/2016/SVG/main" r:embed="rId53"/>
              </a:ext>
            </a:extLst>
          </a:blip>
          <a:srcRect/>
          <a:stretch>
            <a:fillRect/>
          </a:stretch>
        </p:blipFill>
        <p:spPr bwMode="white">
          <a:xfrm>
            <a:off x="9997200" y="5663777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80" name="Graphic 79" descr="Close with solid fill"/>
          <p:cNvPicPr>
            <a:picLocks noChangeAspect="1"/>
          </p:cNvPicPr>
          <p:nvPr/>
        </p:nvPicPr>
        <p:blipFill>
          <a:blip r:embed="rId48">
            <a:lum/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rcRect/>
          <a:stretch>
            <a:fillRect/>
          </a:stretch>
        </p:blipFill>
        <p:spPr bwMode="white">
          <a:xfrm>
            <a:off x="9963899" y="5637424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4" name="ShadeSessionDisableResilience"/>
          <p:cNvSpPr>
            <a:spLocks/>
          </p:cNvSpPr>
          <p:nvPr/>
        </p:nvSpPr>
        <p:spPr bwMode="white">
          <a:xfrm>
            <a:off x="9959681" y="5602709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2" name="PolicyName">
            <a:hlinkClick r:id="" action="ppaction://hlinkfile"/>
          </p:cNvPr>
          <p:cNvSpPr>
            <a:spLocks noGrp="1"/>
          </p:cNvSpPr>
          <p:nvPr>
            <p:ph type="title"/>
          </p:nvPr>
        </p:nvSpPr>
        <p:spPr bwMode="white">
          <a:xfrm>
            <a:off x="838200" y="115511"/>
            <a:ext cx="10003967" cy="609565"/>
          </a:xfrm>
          <a:ln>
            <a:headEnd type="none"/>
            <a:tailEnd type="none"/>
          </a:ln>
        </p:spPr>
        <p:txBody>
          <a:bodyPr wrap="square">
            <a:noAutofit/>
          </a:bodyPr>
          <a:lstStyle/>
          <a:p>
            <a:pPr defTabSz="914400"/>
            <a:r>
              <a:rPr lang="en-US" sz="2000" b="1" dirty="0"/>
              <a:t>[All Apps] [SVo365 BizTalk] Service Account Login Requires Phishing-Resistant MFA</a:t>
            </a:r>
          </a:p>
        </p:txBody>
      </p:sp>
      <p:sp>
        <p:nvSpPr>
          <p:cNvPr id="16" name="LastModified"/>
          <p:cNvSpPr txBox="1">
            <a:spLocks noChangeArrowheads="1"/>
          </p:cNvSpPr>
          <p:nvPr/>
        </p:nvSpPr>
        <p:spPr bwMode="white">
          <a:xfrm>
            <a:off x="10556111" y="388376"/>
            <a:ext cx="15483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algn="r" defTabSz="457200"/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Last modified: 2025-06-03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UserWorkload"/>
          <p:cNvSpPr>
            <a:spLocks/>
          </p:cNvSpPr>
          <p:nvPr/>
        </p:nvSpPr>
        <p:spPr bwMode="auto">
          <a:xfrm>
            <a:off x="175820" y="2709769"/>
            <a:ext cx="2202823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Users</a:t>
            </a:r>
          </a:p>
        </p:txBody>
      </p:sp>
      <p:sp>
        <p:nvSpPr>
          <p:cNvPr id="7" name="UserWorkloadIncExc"/>
          <p:cNvSpPr txBox="1">
            <a:spLocks noChangeArrowheads="1"/>
          </p:cNvSpPr>
          <p:nvPr/>
        </p:nvSpPr>
        <p:spPr bwMode="white">
          <a:xfrm>
            <a:off x="125485" y="3698952"/>
            <a:ext cx="3062115" cy="313265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 numCol="1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b="1" dirty="0"/>
            </a:pPr>
            <a:r>
              <a:t> Users</a:t>
            </a:r>
          </a:p>
          <a:p>
            <a:pPr defTabSz="457200">
              <a:defRPr sz="1100" dirty="0"/>
            </a:pPr>
            <a:r>
              <a:t> - SVO365 Cofense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19" name="Risks"/>
          <p:cNvSpPr txBox="1">
            <a:spLocks noChangeArrowheads="1"/>
          </p:cNvSpPr>
          <p:nvPr/>
        </p:nvSpPr>
        <p:spPr bwMode="white">
          <a:xfrm>
            <a:off x="524485" y="1021946"/>
            <a:ext cx="1348869" cy="166886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0" name="Platforms"/>
          <p:cNvSpPr txBox="1">
            <a:spLocks noChangeArrowheads="1"/>
          </p:cNvSpPr>
          <p:nvPr/>
        </p:nvSpPr>
        <p:spPr bwMode="white">
          <a:xfrm>
            <a:off x="1826931" y="1021947"/>
            <a:ext cx="2061056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3" name="Locations"/>
          <p:cNvSpPr txBox="1">
            <a:spLocks noChangeArrowheads="1"/>
          </p:cNvSpPr>
          <p:nvPr/>
        </p:nvSpPr>
        <p:spPr bwMode="white">
          <a:xfrm>
            <a:off x="8324941" y="1021947"/>
            <a:ext cx="3513702" cy="159258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b="1" dirty="0"/>
            </a:pPr>
            <a:r>
              <a:t>✅ Include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r>
              <a:t>🚫 Exclude</a:t>
            </a:r>
          </a:p>
          <a:p>
            <a:pPr defTabSz="457200">
              <a:defRPr sz="1100" dirty="0"/>
            </a:pPr>
            <a:r>
              <a:t> - Netskope Egress </a:t>
            </a:r>
          </a:p>
          <a:p>
            <a:pPr defTabSz="457200">
              <a:defRPr sz="1100" dirty="0"/>
            </a:pPr>
            <a:r>
              <a:t> - OCC Proxy Egress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24" name="ClientAppTypes"/>
          <p:cNvSpPr txBox="1">
            <a:spLocks noChangeArrowheads="1"/>
          </p:cNvSpPr>
          <p:nvPr/>
        </p:nvSpPr>
        <p:spPr bwMode="white">
          <a:xfrm>
            <a:off x="3810664" y="1021947"/>
            <a:ext cx="1581599" cy="165343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5" name="DeviceFilters"/>
          <p:cNvSpPr txBox="1">
            <a:spLocks noChangeArrowheads="1"/>
          </p:cNvSpPr>
          <p:nvPr/>
        </p:nvSpPr>
        <p:spPr bwMode="white">
          <a:xfrm>
            <a:off x="5818151" y="1022762"/>
            <a:ext cx="2248808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cxnSp>
        <p:nvCxnSpPr>
          <p:cNvPr id="27" name="Straight Arrow Connector 26" descr="Arrow drawn from user/workload  to the action being performed by the user such as accessing cloud apps."/>
          <p:cNvCxnSpPr/>
          <p:nvPr/>
        </p:nvCxnSpPr>
        <p:spPr bwMode="white">
          <a:xfrm>
            <a:off x="2195232" y="3159047"/>
            <a:ext cx="3959471" cy="1"/>
          </a:xfrm>
          <a:prstGeom prst="straightConnector1">
            <a:avLst/>
          </a:prstGeom>
          <a:ln w="76200"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30" name="IconBlockAccess" descr="Picture with red color stop sign to indicate blocked access"/>
          <p:cNvPicPr>
            <a:picLocks noChangeAspect="1"/>
          </p:cNvPicPr>
          <p:nvPr/>
        </p:nvPicPr>
        <p:blipFill>
          <a:blip r:embed="rId3">
            <a:lum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 bwMode="white">
          <a:xfrm>
            <a:off x="5306633" y="2735805"/>
            <a:ext cx="356616" cy="35661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34" name="GrantLabelBlockAccess"/>
          <p:cNvSpPr txBox="1">
            <a:spLocks noChangeArrowheads="1"/>
          </p:cNvSpPr>
          <p:nvPr/>
        </p:nvSpPr>
        <p:spPr bwMode="white">
          <a:xfrm>
            <a:off x="3936931" y="2734375"/>
            <a:ext cx="1358065" cy="369332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algn="ctr" defTabSz="457200"/>
            <a:r>
              <a:rPr lang="en-US" b="1" dirty="0">
                <a:solidFill>
                  <a:srgbClr val="FF0000"/>
                </a:solidFill>
              </a:rPr>
              <a:t>Block access</a:t>
            </a:r>
          </a:p>
        </p:txBody>
      </p:sp>
      <p:sp>
        <p:nvSpPr>
          <p:cNvPr id="3" name="CloudAppActionIncExc"/>
          <p:cNvSpPr txBox="1">
            <a:spLocks noChangeArrowheads="1"/>
          </p:cNvSpPr>
          <p:nvPr/>
        </p:nvSpPr>
        <p:spPr bwMode="white">
          <a:xfrm>
            <a:off x="6039518" y="3662782"/>
            <a:ext cx="3649518" cy="315161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</p:txBody>
      </p:sp>
      <p:pic>
        <p:nvPicPr>
          <p:cNvPr id="26" name="IconGroupIdentity"/>
          <p:cNvPicPr>
            <a:picLocks noChangeAspect="1"/>
          </p:cNvPicPr>
          <p:nvPr/>
        </p:nvPicPr>
        <p:blipFill>
          <a:blip r:embed="rId5">
            <a:lum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 bwMode="white">
          <a:xfrm>
            <a:off x="327701" y="2839007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36" name="Graphic 35"/>
          <p:cNvPicPr>
            <a:picLocks noChangeAspect="1"/>
          </p:cNvPicPr>
          <p:nvPr/>
        </p:nvPicPr>
        <p:blipFill>
          <a:blip r:embed="rId7">
            <a:lum/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p:blipFill>
        <p:spPr bwMode="white">
          <a:xfrm>
            <a:off x="495610" y="197468"/>
            <a:ext cx="381196" cy="38119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" name="CloudAppAction"/>
          <p:cNvSpPr>
            <a:spLocks/>
          </p:cNvSpPr>
          <p:nvPr/>
        </p:nvSpPr>
        <p:spPr bwMode="auto">
          <a:xfrm>
            <a:off x="6206089" y="2718506"/>
            <a:ext cx="3227026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All cloud apps</a:t>
            </a:r>
          </a:p>
        </p:txBody>
      </p:sp>
      <p:pic>
        <p:nvPicPr>
          <p:cNvPr id="75" name="IconAccessAllCloudApps"/>
          <p:cNvPicPr>
            <a:picLocks noChangeAspect="1"/>
          </p:cNvPicPr>
          <p:nvPr/>
        </p:nvPicPr>
        <p:blipFill>
          <a:blip r:embed="rId9">
            <a:lum/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p:blipFill>
        <p:spPr bwMode="white">
          <a:xfrm>
            <a:off x="6439264" y="2836824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21" name="StateEnabled"/>
          <p:cNvSpPr>
            <a:spLocks/>
          </p:cNvSpPr>
          <p:nvPr/>
        </p:nvSpPr>
        <p:spPr bwMode="white">
          <a:xfrm>
            <a:off x="10842171" y="83487"/>
            <a:ext cx="1260389" cy="264812"/>
          </a:xfrm>
          <a:prstGeom prst="round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r>
              <a:rPr lang="en-US" sz="800" dirty="0"/>
              <a:t>Policy Enabled</a:t>
            </a:r>
          </a:p>
        </p:txBody>
      </p:sp>
      <p:grpSp>
        <p:nvGrpSpPr>
          <p:cNvPr id="10" name="IconRiskyUsers"/>
          <p:cNvGrpSpPr>
            <a:grpSpLocks/>
          </p:cNvGrpSpPr>
          <p:nvPr/>
        </p:nvGrpSpPr>
        <p:grpSpPr bwMode="white">
          <a:xfrm>
            <a:off x="635426" y="738677"/>
            <a:ext cx="1202553" cy="274320"/>
            <a:chOff x="2013768" y="1033956"/>
            <a:chExt cx="1342320" cy="274320"/>
          </a:xfrm>
        </p:grpSpPr>
        <p:pic>
          <p:nvPicPr>
            <p:cNvPr id="46" name="Graphic 1"/>
            <p:cNvPicPr>
              <a:picLocks noChangeAspect="1"/>
            </p:cNvPicPr>
            <p:nvPr/>
          </p:nvPicPr>
          <p:blipFill>
            <a:blip r:embed="rId11">
              <a:lum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013768" y="1033956"/>
              <a:ext cx="274320" cy="27432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5" name="Label 1"/>
            <p:cNvSpPr txBox="1">
              <a:spLocks noChangeArrowheads="1"/>
            </p:cNvSpPr>
            <p:nvPr/>
          </p:nvSpPr>
          <p:spPr bwMode="white">
            <a:xfrm>
              <a:off x="2240077" y="1040706"/>
              <a:ext cx="1116011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Risk</a:t>
              </a:r>
            </a:p>
          </p:txBody>
        </p:sp>
      </p:grpSp>
      <p:grpSp>
        <p:nvGrpSpPr>
          <p:cNvPr id="14" name="IconPlatforms"/>
          <p:cNvGrpSpPr>
            <a:grpSpLocks/>
          </p:cNvGrpSpPr>
          <p:nvPr/>
        </p:nvGrpSpPr>
        <p:grpSpPr bwMode="white">
          <a:xfrm>
            <a:off x="1927788" y="715249"/>
            <a:ext cx="1719285" cy="365760"/>
            <a:chOff x="3262737" y="994835"/>
            <a:chExt cx="1719285" cy="365760"/>
          </a:xfrm>
        </p:grpSpPr>
        <p:pic>
          <p:nvPicPr>
            <p:cNvPr id="29" name="Graphic 1"/>
            <p:cNvPicPr>
              <a:picLocks noChangeAspect="1"/>
            </p:cNvPicPr>
            <p:nvPr/>
          </p:nvPicPr>
          <p:blipFill>
            <a:blip r:embed="rId13">
              <a:lum/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3262737" y="994835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1" name="Label 1"/>
            <p:cNvSpPr txBox="1">
              <a:spLocks noChangeArrowheads="1"/>
            </p:cNvSpPr>
            <p:nvPr/>
          </p:nvSpPr>
          <p:spPr bwMode="white">
            <a:xfrm>
              <a:off x="3582397" y="1027255"/>
              <a:ext cx="1399625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Device platforms</a:t>
              </a:r>
            </a:p>
          </p:txBody>
        </p:sp>
      </p:grpSp>
      <p:grpSp>
        <p:nvGrpSpPr>
          <p:cNvPr id="17" name="IconClientAppTypes"/>
          <p:cNvGrpSpPr>
            <a:grpSpLocks/>
          </p:cNvGrpSpPr>
          <p:nvPr/>
        </p:nvGrpSpPr>
        <p:grpSpPr bwMode="white">
          <a:xfrm>
            <a:off x="3908159" y="670015"/>
            <a:ext cx="1852971" cy="365760"/>
            <a:chOff x="4858970" y="975927"/>
            <a:chExt cx="1852971" cy="365760"/>
          </a:xfrm>
        </p:grpSpPr>
        <p:pic>
          <p:nvPicPr>
            <p:cNvPr id="58" name="Graphic 1"/>
            <p:cNvPicPr>
              <a:picLocks noChangeAspect="1"/>
            </p:cNvPicPr>
            <p:nvPr/>
          </p:nvPicPr>
          <p:blipFill>
            <a:blip r:embed="rId15">
              <a:lum/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858970" y="975927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5" name="Label 1"/>
            <p:cNvSpPr txBox="1">
              <a:spLocks noChangeArrowheads="1"/>
            </p:cNvSpPr>
            <p:nvPr/>
          </p:nvSpPr>
          <p:spPr bwMode="white">
            <a:xfrm>
              <a:off x="5193983" y="1009899"/>
              <a:ext cx="1517958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Client apps</a:t>
              </a:r>
            </a:p>
          </p:txBody>
        </p:sp>
      </p:grpSp>
      <p:grpSp>
        <p:nvGrpSpPr>
          <p:cNvPr id="37" name="IconLocations"/>
          <p:cNvGrpSpPr>
            <a:grpSpLocks/>
          </p:cNvGrpSpPr>
          <p:nvPr/>
        </p:nvGrpSpPr>
        <p:grpSpPr bwMode="white">
          <a:xfrm>
            <a:off x="8411896" y="646848"/>
            <a:ext cx="1850168" cy="388465"/>
            <a:chOff x="2321433" y="3262888"/>
            <a:chExt cx="1850168" cy="388465"/>
          </a:xfrm>
        </p:grpSpPr>
        <p:pic>
          <p:nvPicPr>
            <p:cNvPr id="33" name="Graphic 1"/>
            <p:cNvPicPr>
              <a:picLocks noChangeAspect="1"/>
            </p:cNvPicPr>
            <p:nvPr/>
          </p:nvPicPr>
          <p:blipFill>
            <a:blip r:embed="rId17">
              <a:lum/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321433" y="3262888"/>
              <a:ext cx="388465" cy="388465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28" name="Label 1"/>
            <p:cNvSpPr txBox="1">
              <a:spLocks noChangeArrowheads="1"/>
            </p:cNvSpPr>
            <p:nvPr/>
          </p:nvSpPr>
          <p:spPr bwMode="white">
            <a:xfrm>
              <a:off x="2713321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Locations</a:t>
              </a:r>
              <a:endParaRPr lang="en-US" sz="1100" b="1" dirty="0"/>
            </a:p>
          </p:txBody>
        </p:sp>
      </p:grpSp>
      <p:grpSp>
        <p:nvGrpSpPr>
          <p:cNvPr id="39" name="IconDeviceFilters"/>
          <p:cNvGrpSpPr>
            <a:grpSpLocks/>
          </p:cNvGrpSpPr>
          <p:nvPr/>
        </p:nvGrpSpPr>
        <p:grpSpPr bwMode="white">
          <a:xfrm>
            <a:off x="5472818" y="661958"/>
            <a:ext cx="1839823" cy="364111"/>
            <a:chOff x="4195414" y="3273669"/>
            <a:chExt cx="1839823" cy="364111"/>
          </a:xfrm>
        </p:grpSpPr>
        <p:pic>
          <p:nvPicPr>
            <p:cNvPr id="60" name="Graphic 1"/>
            <p:cNvPicPr>
              <a:picLocks noChangeAspect="1"/>
            </p:cNvPicPr>
            <p:nvPr/>
          </p:nvPicPr>
          <p:blipFill>
            <a:blip r:embed="rId19">
              <a:lum/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195414" y="3273669"/>
              <a:ext cx="364111" cy="364111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31" name="Label 1"/>
            <p:cNvSpPr txBox="1">
              <a:spLocks noChangeArrowheads="1"/>
            </p:cNvSpPr>
            <p:nvPr/>
          </p:nvSpPr>
          <p:spPr bwMode="white">
            <a:xfrm>
              <a:off x="4576957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Filter for devices</a:t>
              </a:r>
              <a:endParaRPr lang="en-US" sz="1100" b="1" dirty="0"/>
            </a:p>
          </p:txBody>
        </p:sp>
      </p:grpSp>
      <p:pic>
        <p:nvPicPr>
          <p:cNvPr id="62" name="IconGrantMultifactorAuthentication"/>
          <p:cNvPicPr>
            <a:picLocks noChangeAspect="1"/>
          </p:cNvPicPr>
          <p:nvPr/>
        </p:nvPicPr>
        <p:blipFill>
          <a:blip r:embed="rId21">
            <a:lum/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>
            <a:fillRect/>
          </a:stretch>
        </p:blipFill>
        <p:spPr bwMode="white">
          <a:xfrm>
            <a:off x="3410647" y="3566863"/>
            <a:ext cx="17145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5" name="IconGrantMultifactorAuthenticationLabel"/>
          <p:cNvSpPr txBox="1">
            <a:spLocks noChangeArrowheads="1"/>
          </p:cNvSpPr>
          <p:nvPr/>
        </p:nvSpPr>
        <p:spPr bwMode="white">
          <a:xfrm>
            <a:off x="3575836" y="3571997"/>
            <a:ext cx="19007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Multifactor authentication</a:t>
            </a:r>
            <a:endParaRPr lang="en-US" sz="1000" dirty="0"/>
          </a:p>
        </p:txBody>
      </p:sp>
      <p:pic>
        <p:nvPicPr>
          <p:cNvPr id="38" name="IconGrantAuthenticationStrength"/>
          <p:cNvPicPr>
            <a:picLocks noChangeAspect="1"/>
          </p:cNvPicPr>
          <p:nvPr/>
        </p:nvPicPr>
        <p:blipFill>
          <a:blip r:embed="rId23">
            <a:lum/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/>
          <a:stretch>
            <a:fillRect/>
          </a:stretch>
        </p:blipFill>
        <p:spPr bwMode="white">
          <a:xfrm>
            <a:off x="3374515" y="3905034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7" name="IconGrantAuthenticationStrengthLabel"/>
          <p:cNvSpPr txBox="1">
            <a:spLocks noChangeArrowheads="1"/>
          </p:cNvSpPr>
          <p:nvPr/>
        </p:nvSpPr>
        <p:spPr bwMode="white">
          <a:xfrm>
            <a:off x="3575836" y="3907323"/>
            <a:ext cx="2185294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Authentication strength</a:t>
            </a:r>
            <a:endParaRPr lang="en-US" sz="1000" dirty="0"/>
          </a:p>
        </p:txBody>
      </p:sp>
      <p:pic>
        <p:nvPicPr>
          <p:cNvPr id="52" name="IconGrantDeviceCompliance"/>
          <p:cNvPicPr>
            <a:picLocks noChangeAspect="1"/>
          </p:cNvPicPr>
          <p:nvPr/>
        </p:nvPicPr>
        <p:blipFill>
          <a:blip r:embed="rId25">
            <a:lum/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/>
          <a:stretch>
            <a:fillRect/>
          </a:stretch>
        </p:blipFill>
        <p:spPr bwMode="white">
          <a:xfrm>
            <a:off x="3374515" y="4243205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9" name="IconGrantDeviceComplianceLabel"/>
          <p:cNvSpPr txBox="1">
            <a:spLocks noChangeArrowheads="1"/>
          </p:cNvSpPr>
          <p:nvPr/>
        </p:nvSpPr>
        <p:spPr bwMode="white">
          <a:xfrm>
            <a:off x="3575836" y="4242649"/>
            <a:ext cx="17378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Compliant device</a:t>
            </a:r>
            <a:endParaRPr lang="en-US" sz="1000" dirty="0"/>
          </a:p>
        </p:txBody>
      </p:sp>
      <p:pic>
        <p:nvPicPr>
          <p:cNvPr id="43" name="IconGrantHybridJoined"/>
          <p:cNvPicPr>
            <a:picLocks noChangeAspect="1"/>
          </p:cNvPicPr>
          <p:nvPr/>
        </p:nvPicPr>
        <p:blipFill>
          <a:blip r:embed="rId27">
            <a:lum/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/>
          <a:stretch>
            <a:fillRect/>
          </a:stretch>
        </p:blipFill>
        <p:spPr bwMode="white">
          <a:xfrm>
            <a:off x="3374515" y="4581376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3" name="IconGrantHybridJoinedLabel"/>
          <p:cNvSpPr txBox="1">
            <a:spLocks noChangeArrowheads="1"/>
          </p:cNvSpPr>
          <p:nvPr/>
        </p:nvSpPr>
        <p:spPr bwMode="white">
          <a:xfrm>
            <a:off x="3575836" y="4577975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Hybrid Azure AD joined device</a:t>
            </a:r>
            <a:endParaRPr lang="en-US" sz="1000" dirty="0"/>
          </a:p>
        </p:txBody>
      </p:sp>
      <p:pic>
        <p:nvPicPr>
          <p:cNvPr id="48" name="IconGrantApprovedClientApp"/>
          <p:cNvPicPr>
            <a:picLocks noChangeAspect="1"/>
          </p:cNvPicPr>
          <p:nvPr/>
        </p:nvPicPr>
        <p:blipFill>
          <a:blip r:embed="rId29">
            <a:lum/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rcRect/>
          <a:stretch>
            <a:fillRect/>
          </a:stretch>
        </p:blipFill>
        <p:spPr bwMode="white">
          <a:xfrm>
            <a:off x="3374515" y="491954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5" name="IconGrantApprovedClientAppLabel"/>
          <p:cNvSpPr txBox="1">
            <a:spLocks noChangeArrowheads="1"/>
          </p:cNvSpPr>
          <p:nvPr/>
        </p:nvSpPr>
        <p:spPr bwMode="white">
          <a:xfrm>
            <a:off x="3575836" y="4913301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Approved client app</a:t>
            </a:r>
            <a:endParaRPr lang="en-US" sz="1000" dirty="0"/>
          </a:p>
        </p:txBody>
      </p:sp>
      <p:pic>
        <p:nvPicPr>
          <p:cNvPr id="42" name="IconGrantCustomAuth"/>
          <p:cNvPicPr>
            <a:picLocks noChangeAspect="1"/>
          </p:cNvPicPr>
          <p:nvPr/>
        </p:nvPicPr>
        <p:blipFill>
          <a:blip r:embed="rId31">
            <a:lum/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rcRect/>
          <a:stretch>
            <a:fillRect/>
          </a:stretch>
        </p:blipFill>
        <p:spPr bwMode="white">
          <a:xfrm>
            <a:off x="3374515" y="593406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9" name="IconGrantCustomAuthLabel"/>
          <p:cNvSpPr txBox="1">
            <a:spLocks noChangeArrowheads="1"/>
          </p:cNvSpPr>
          <p:nvPr/>
        </p:nvSpPr>
        <p:spPr bwMode="white">
          <a:xfrm>
            <a:off x="3575836" y="5919279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Custom authentication factor</a:t>
            </a:r>
            <a:endParaRPr lang="en-US" sz="1000" dirty="0"/>
          </a:p>
        </p:txBody>
      </p:sp>
      <p:pic>
        <p:nvPicPr>
          <p:cNvPr id="40" name="IconGrantTermsOfUse"/>
          <p:cNvPicPr>
            <a:picLocks noChangeAspect="1"/>
          </p:cNvPicPr>
          <p:nvPr/>
        </p:nvPicPr>
        <p:blipFill>
          <a:blip r:embed="rId33">
            <a:lum/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rcRect/>
          <a:stretch>
            <a:fillRect/>
          </a:stretch>
        </p:blipFill>
        <p:spPr bwMode="white">
          <a:xfrm>
            <a:off x="3374515" y="627222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3" name="IconGrantTermsOfUseLabel"/>
          <p:cNvSpPr txBox="1">
            <a:spLocks noChangeArrowheads="1"/>
          </p:cNvSpPr>
          <p:nvPr/>
        </p:nvSpPr>
        <p:spPr bwMode="white">
          <a:xfrm>
            <a:off x="3575836" y="625460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Terms of use</a:t>
            </a:r>
            <a:endParaRPr lang="en-US" sz="1000" dirty="0"/>
          </a:p>
        </p:txBody>
      </p:sp>
      <p:sp>
        <p:nvSpPr>
          <p:cNvPr id="56" name="IconGrantAppProtectionLabel"/>
          <p:cNvSpPr txBox="1">
            <a:spLocks noChangeArrowheads="1"/>
          </p:cNvSpPr>
          <p:nvPr/>
        </p:nvSpPr>
        <p:spPr bwMode="white">
          <a:xfrm>
            <a:off x="3575836" y="524862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 protection policy</a:t>
            </a:r>
            <a:endParaRPr lang="en-US" sz="1000" dirty="0"/>
          </a:p>
        </p:txBody>
      </p:sp>
      <p:pic>
        <p:nvPicPr>
          <p:cNvPr id="65" name="IconGrantAppProtection"/>
          <p:cNvPicPr>
            <a:picLocks noChangeAspect="1"/>
          </p:cNvPicPr>
          <p:nvPr/>
        </p:nvPicPr>
        <p:blipFill>
          <a:blip r:embed="rId35">
            <a:lum/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rcRect/>
          <a:stretch>
            <a:fillRect/>
          </a:stretch>
        </p:blipFill>
        <p:spPr bwMode="white">
          <a:xfrm>
            <a:off x="3374515" y="525771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7" name="IconGrantChangePasswordLabel"/>
          <p:cNvSpPr txBox="1">
            <a:spLocks noChangeArrowheads="1"/>
          </p:cNvSpPr>
          <p:nvPr/>
        </p:nvSpPr>
        <p:spPr bwMode="white">
          <a:xfrm>
            <a:off x="3575836" y="5583953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Change password</a:t>
            </a:r>
            <a:endParaRPr lang="en-US" sz="1000" dirty="0"/>
          </a:p>
        </p:txBody>
      </p:sp>
      <p:pic>
        <p:nvPicPr>
          <p:cNvPr id="67" name="IconGrantChangePassword"/>
          <p:cNvPicPr>
            <a:picLocks noChangeAspect="1"/>
          </p:cNvPicPr>
          <p:nvPr/>
        </p:nvPicPr>
        <p:blipFill>
          <a:blip r:embed="rId37">
            <a:lum/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rcRect/>
          <a:stretch>
            <a:fillRect/>
          </a:stretch>
        </p:blipFill>
        <p:spPr bwMode="white">
          <a:xfrm>
            <a:off x="3374515" y="5595889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4" name="ShadeRisk"/>
          <p:cNvSpPr>
            <a:spLocks/>
          </p:cNvSpPr>
          <p:nvPr/>
        </p:nvSpPr>
        <p:spPr bwMode="white">
          <a:xfrm>
            <a:off x="507564" y="650246"/>
            <a:ext cx="976864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66" name="ShadeDevicePlatforms"/>
          <p:cNvSpPr>
            <a:spLocks/>
          </p:cNvSpPr>
          <p:nvPr/>
        </p:nvSpPr>
        <p:spPr bwMode="white">
          <a:xfrm>
            <a:off x="1863623" y="663409"/>
            <a:ext cx="1773927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78" name="ShadeClientApps"/>
          <p:cNvSpPr>
            <a:spLocks/>
          </p:cNvSpPr>
          <p:nvPr/>
        </p:nvSpPr>
        <p:spPr bwMode="white">
          <a:xfrm>
            <a:off x="3802273" y="650246"/>
            <a:ext cx="1481482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2" name="ShadeFilterForDevices"/>
          <p:cNvSpPr>
            <a:spLocks/>
          </p:cNvSpPr>
          <p:nvPr/>
        </p:nvSpPr>
        <p:spPr bwMode="white">
          <a:xfrm>
            <a:off x="5438955" y="627922"/>
            <a:ext cx="1873685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3" name="ShadeGrantMultifactorAuth"/>
          <p:cNvSpPr>
            <a:spLocks/>
          </p:cNvSpPr>
          <p:nvPr/>
        </p:nvSpPr>
        <p:spPr bwMode="white">
          <a:xfrm>
            <a:off x="3369399" y="3534220"/>
            <a:ext cx="2069555" cy="28330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4" name="ShadeGrantAuthStrength"/>
          <p:cNvSpPr>
            <a:spLocks/>
          </p:cNvSpPr>
          <p:nvPr/>
        </p:nvSpPr>
        <p:spPr bwMode="white">
          <a:xfrm>
            <a:off x="3350256" y="3869846"/>
            <a:ext cx="2069555" cy="27801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5" name="ShadeGrantCompliantDevice"/>
          <p:cNvSpPr>
            <a:spLocks/>
          </p:cNvSpPr>
          <p:nvPr/>
        </p:nvSpPr>
        <p:spPr bwMode="white">
          <a:xfrm>
            <a:off x="3361852" y="4243205"/>
            <a:ext cx="2077102" cy="26110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6" name="ShadeGrantHybridAzureADJoined"/>
          <p:cNvSpPr>
            <a:spLocks/>
          </p:cNvSpPr>
          <p:nvPr/>
        </p:nvSpPr>
        <p:spPr bwMode="white">
          <a:xfrm>
            <a:off x="3353637" y="4552268"/>
            <a:ext cx="2160906" cy="298395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7" name="ShadeGrantApprovedClientApp"/>
          <p:cNvSpPr>
            <a:spLocks/>
          </p:cNvSpPr>
          <p:nvPr/>
        </p:nvSpPr>
        <p:spPr bwMode="white">
          <a:xfrm>
            <a:off x="3331918" y="4876027"/>
            <a:ext cx="2182625" cy="29839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8" name="ShadeGrantAppProtectionPolicy"/>
          <p:cNvSpPr>
            <a:spLocks/>
          </p:cNvSpPr>
          <p:nvPr/>
        </p:nvSpPr>
        <p:spPr bwMode="white">
          <a:xfrm>
            <a:off x="3350256" y="5207226"/>
            <a:ext cx="2122561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9" name="ShadeGrantChangePassword"/>
          <p:cNvSpPr>
            <a:spLocks/>
          </p:cNvSpPr>
          <p:nvPr/>
        </p:nvSpPr>
        <p:spPr bwMode="white">
          <a:xfrm>
            <a:off x="3350257" y="5557021"/>
            <a:ext cx="2042006" cy="287239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0" name="ShadeGrantCustomAuthFactor"/>
          <p:cNvSpPr>
            <a:spLocks/>
          </p:cNvSpPr>
          <p:nvPr/>
        </p:nvSpPr>
        <p:spPr bwMode="white">
          <a:xfrm>
            <a:off x="3331918" y="5899058"/>
            <a:ext cx="2182625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1" name="ShadeGrantTermsOfUse"/>
          <p:cNvSpPr>
            <a:spLocks/>
          </p:cNvSpPr>
          <p:nvPr/>
        </p:nvSpPr>
        <p:spPr bwMode="white">
          <a:xfrm>
            <a:off x="3313823" y="6192350"/>
            <a:ext cx="101602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99" name="Rectangle 98"/>
          <p:cNvSpPr>
            <a:spLocks/>
          </p:cNvSpPr>
          <p:nvPr/>
        </p:nvSpPr>
        <p:spPr bwMode="white">
          <a:xfrm>
            <a:off x="3268757" y="3253404"/>
            <a:ext cx="2357725" cy="3498546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0" name="Rectangle 109"/>
          <p:cNvSpPr>
            <a:spLocks/>
          </p:cNvSpPr>
          <p:nvPr/>
        </p:nvSpPr>
        <p:spPr bwMode="white">
          <a:xfrm>
            <a:off x="9881750" y="3248255"/>
            <a:ext cx="2220808" cy="3510149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7" name="Rectangle 116"/>
          <p:cNvSpPr>
            <a:spLocks/>
          </p:cNvSpPr>
          <p:nvPr/>
        </p:nvSpPr>
        <p:spPr bwMode="white">
          <a:xfrm>
            <a:off x="26741" y="606825"/>
            <a:ext cx="11985015" cy="2063636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2" name="Conditions Label"/>
          <p:cNvSpPr txBox="1">
            <a:spLocks noChangeArrowheads="1"/>
          </p:cNvSpPr>
          <p:nvPr/>
        </p:nvSpPr>
        <p:spPr bwMode="white">
          <a:xfrm rot="16200000">
            <a:off x="-883507" y="1514324"/>
            <a:ext cx="2081441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Conditions</a:t>
            </a:r>
          </a:p>
        </p:txBody>
      </p:sp>
      <p:sp>
        <p:nvSpPr>
          <p:cNvPr id="109" name="Grant Controls"/>
          <p:cNvSpPr txBox="1">
            <a:spLocks noChangeArrowheads="1"/>
          </p:cNvSpPr>
          <p:nvPr/>
        </p:nvSpPr>
        <p:spPr bwMode="white">
          <a:xfrm>
            <a:off x="3252146" y="3244395"/>
            <a:ext cx="2391873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Grant Controls</a:t>
            </a:r>
          </a:p>
        </p:txBody>
      </p:sp>
      <p:sp>
        <p:nvSpPr>
          <p:cNvPr id="111" name="Session Controls"/>
          <p:cNvSpPr txBox="1">
            <a:spLocks noChangeArrowheads="1"/>
          </p:cNvSpPr>
          <p:nvPr/>
        </p:nvSpPr>
        <p:spPr bwMode="white">
          <a:xfrm>
            <a:off x="9864212" y="3243751"/>
            <a:ext cx="2238346" cy="23786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Session Controls</a:t>
            </a:r>
          </a:p>
        </p:txBody>
      </p:sp>
      <p:pic>
        <p:nvPicPr>
          <p:cNvPr id="72" name="Graphic 71"/>
          <p:cNvPicPr>
            <a:picLocks noChangeAspect="1"/>
          </p:cNvPicPr>
          <p:nvPr/>
        </p:nvPicPr>
        <p:blipFill>
          <a:blip r:embed="rId39">
            <a:lum/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rcRect/>
          <a:stretch>
            <a:fillRect/>
          </a:stretch>
        </p:blipFill>
        <p:spPr bwMode="white">
          <a:xfrm>
            <a:off x="9996846" y="356982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4" name="Graphic 93"/>
          <p:cNvPicPr>
            <a:picLocks noChangeAspect="1"/>
          </p:cNvPicPr>
          <p:nvPr/>
        </p:nvPicPr>
        <p:blipFill>
          <a:blip r:embed="rId41">
            <a:lum/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rcRect/>
          <a:stretch>
            <a:fillRect/>
          </a:stretch>
        </p:blipFill>
        <p:spPr bwMode="white">
          <a:xfrm>
            <a:off x="10009443" y="525644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5" name="TextBox 94"/>
          <p:cNvSpPr txBox="1">
            <a:spLocks noChangeArrowheads="1"/>
          </p:cNvSpPr>
          <p:nvPr/>
        </p:nvSpPr>
        <p:spPr bwMode="white">
          <a:xfrm>
            <a:off x="10207481" y="3578463"/>
            <a:ext cx="150554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App enforced restrictions</a:t>
            </a:r>
          </a:p>
        </p:txBody>
      </p:sp>
      <p:sp>
        <p:nvSpPr>
          <p:cNvPr id="96" name="TextBox 95"/>
          <p:cNvSpPr txBox="1">
            <a:spLocks noChangeArrowheads="1"/>
          </p:cNvSpPr>
          <p:nvPr/>
        </p:nvSpPr>
        <p:spPr bwMode="white">
          <a:xfrm>
            <a:off x="10201167" y="3899846"/>
            <a:ext cx="181011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Conditional Access App Control</a:t>
            </a:r>
          </a:p>
        </p:txBody>
      </p:sp>
      <p:sp>
        <p:nvSpPr>
          <p:cNvPr id="97" name="TextBox 96"/>
          <p:cNvSpPr txBox="1">
            <a:spLocks noChangeArrowheads="1"/>
          </p:cNvSpPr>
          <p:nvPr/>
        </p:nvSpPr>
        <p:spPr bwMode="white">
          <a:xfrm>
            <a:off x="10215627" y="4357505"/>
            <a:ext cx="1090363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Sign-in frequency</a:t>
            </a:r>
          </a:p>
        </p:txBody>
      </p:sp>
      <p:sp>
        <p:nvSpPr>
          <p:cNvPr id="98" name="TextBox 97"/>
          <p:cNvSpPr txBox="1">
            <a:spLocks noChangeArrowheads="1"/>
          </p:cNvSpPr>
          <p:nvPr/>
        </p:nvSpPr>
        <p:spPr bwMode="white">
          <a:xfrm>
            <a:off x="10225446" y="4793305"/>
            <a:ext cx="156966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Persistent browser session</a:t>
            </a:r>
          </a:p>
        </p:txBody>
      </p:sp>
      <p:sp>
        <p:nvSpPr>
          <p:cNvPr id="100" name="TextBox 99"/>
          <p:cNvSpPr txBox="1">
            <a:spLocks noChangeArrowheads="1"/>
          </p:cNvSpPr>
          <p:nvPr/>
        </p:nvSpPr>
        <p:spPr bwMode="white">
          <a:xfrm>
            <a:off x="10229552" y="5232376"/>
            <a:ext cx="1717137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Continuous access evaluation</a:t>
            </a:r>
          </a:p>
        </p:txBody>
      </p:sp>
      <p:sp>
        <p:nvSpPr>
          <p:cNvPr id="101" name="TextBox 100"/>
          <p:cNvSpPr txBox="1">
            <a:spLocks noChangeArrowheads="1"/>
          </p:cNvSpPr>
          <p:nvPr/>
        </p:nvSpPr>
        <p:spPr bwMode="white">
          <a:xfrm>
            <a:off x="10259108" y="5658625"/>
            <a:ext cx="153599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Disable resilience defaults</a:t>
            </a:r>
          </a:p>
        </p:txBody>
      </p:sp>
      <p:pic>
        <p:nvPicPr>
          <p:cNvPr id="103" name="Graphic 102"/>
          <p:cNvPicPr>
            <a:picLocks noChangeAspect="1"/>
          </p:cNvPicPr>
          <p:nvPr/>
        </p:nvPicPr>
        <p:blipFill>
          <a:blip r:embed="rId43">
            <a:lum/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rcRect/>
          <a:stretch>
            <a:fillRect/>
          </a:stretch>
        </p:blipFill>
        <p:spPr bwMode="white">
          <a:xfrm>
            <a:off x="9996846" y="479900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5" name="Graphic 104"/>
          <p:cNvPicPr>
            <a:picLocks noChangeAspect="1"/>
          </p:cNvPicPr>
          <p:nvPr/>
        </p:nvPicPr>
        <p:blipFill>
          <a:blip r:embed="rId45">
            <a:lum/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rcRect/>
          <a:stretch>
            <a:fillRect/>
          </a:stretch>
        </p:blipFill>
        <p:spPr bwMode="white">
          <a:xfrm>
            <a:off x="9996846" y="437457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7" name="Graphic 106"/>
          <p:cNvPicPr>
            <a:picLocks noChangeAspect="1"/>
          </p:cNvPicPr>
          <p:nvPr/>
        </p:nvPicPr>
        <p:blipFill>
          <a:blip r:embed="rId7">
            <a:lum/>
            <a:extLst>
              <a:ext uri="{96DAC541-7B7A-43D3-8B79-37D633B846F1}">
                <asvg:svgBlip xmlns:asvg="http://schemas.microsoft.com/office/drawing/2016/SVG/main" r:embed="rId47"/>
              </a:ext>
            </a:extLst>
          </a:blip>
          <a:srcRect/>
          <a:stretch>
            <a:fillRect/>
          </a:stretch>
        </p:blipFill>
        <p:spPr bwMode="white">
          <a:xfrm>
            <a:off x="9996846" y="391529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15" name="SessionSifInterval"/>
          <p:cNvSpPr txBox="1">
            <a:spLocks noChangeArrowheads="1"/>
          </p:cNvSpPr>
          <p:nvPr/>
        </p:nvSpPr>
        <p:spPr bwMode="white">
          <a:xfrm>
            <a:off x="10296745" y="4516775"/>
            <a:ext cx="1249060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Periodic reauthentication</a:t>
            </a:r>
          </a:p>
        </p:txBody>
      </p:sp>
      <p:sp>
        <p:nvSpPr>
          <p:cNvPr id="114" name="SessionCasType"/>
          <p:cNvSpPr txBox="1">
            <a:spLocks noChangeArrowheads="1"/>
          </p:cNvSpPr>
          <p:nvPr/>
        </p:nvSpPr>
        <p:spPr bwMode="white">
          <a:xfrm>
            <a:off x="10296745" y="4075500"/>
            <a:ext cx="95410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App Control Policy</a:t>
            </a:r>
          </a:p>
        </p:txBody>
      </p:sp>
      <p:sp>
        <p:nvSpPr>
          <p:cNvPr id="116" name="SessionPersistenBrowserMode"/>
          <p:cNvSpPr txBox="1">
            <a:spLocks noChangeArrowheads="1"/>
          </p:cNvSpPr>
          <p:nvPr/>
        </p:nvSpPr>
        <p:spPr bwMode="white">
          <a:xfrm>
            <a:off x="10309761" y="4945281"/>
            <a:ext cx="918841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Always persistent</a:t>
            </a:r>
          </a:p>
        </p:txBody>
      </p:sp>
      <p:sp>
        <p:nvSpPr>
          <p:cNvPr id="118" name="SessionCaeMode"/>
          <p:cNvSpPr txBox="1">
            <a:spLocks noChangeArrowheads="1"/>
          </p:cNvSpPr>
          <p:nvPr/>
        </p:nvSpPr>
        <p:spPr bwMode="white">
          <a:xfrm>
            <a:off x="10301386" y="5393378"/>
            <a:ext cx="15359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US" sz="800" dirty="0"/>
              <a:t>Strictly enforce location policies</a:t>
            </a:r>
          </a:p>
        </p:txBody>
      </p:sp>
      <p:sp>
        <p:nvSpPr>
          <p:cNvPr id="119" name="ShadeSessionAppEnforced"/>
          <p:cNvSpPr>
            <a:spLocks/>
          </p:cNvSpPr>
          <p:nvPr/>
        </p:nvSpPr>
        <p:spPr bwMode="white">
          <a:xfrm>
            <a:off x="9959680" y="3548808"/>
            <a:ext cx="2051597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0" name="ShadeSessionCas"/>
          <p:cNvSpPr>
            <a:spLocks/>
          </p:cNvSpPr>
          <p:nvPr/>
        </p:nvSpPr>
        <p:spPr bwMode="white">
          <a:xfrm>
            <a:off x="9978939" y="3884212"/>
            <a:ext cx="2087576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1" name="ShadeSessionSif"/>
          <p:cNvSpPr>
            <a:spLocks/>
          </p:cNvSpPr>
          <p:nvPr/>
        </p:nvSpPr>
        <p:spPr bwMode="white">
          <a:xfrm>
            <a:off x="9940787" y="4320077"/>
            <a:ext cx="2125728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2" name="ShadeSessionPersistentBrowser"/>
          <p:cNvSpPr>
            <a:spLocks/>
          </p:cNvSpPr>
          <p:nvPr/>
        </p:nvSpPr>
        <p:spPr bwMode="white">
          <a:xfrm>
            <a:off x="9938833" y="4746195"/>
            <a:ext cx="207244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" name="Label Secure Sign In Session"/>
          <p:cNvSpPr txBox="1">
            <a:spLocks noChangeArrowheads="1"/>
          </p:cNvSpPr>
          <p:nvPr/>
        </p:nvSpPr>
        <p:spPr bwMode="white">
          <a:xfrm>
            <a:off x="10260000" y="6084874"/>
            <a:ext cx="166584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Token protection for session</a:t>
            </a:r>
          </a:p>
        </p:txBody>
      </p:sp>
      <p:pic>
        <p:nvPicPr>
          <p:cNvPr id="77" name="IconSessionCaeDisable" descr="Close with solid fill"/>
          <p:cNvPicPr>
            <a:picLocks noChangeAspect="1"/>
          </p:cNvPicPr>
          <p:nvPr/>
        </p:nvPicPr>
        <p:blipFill>
          <a:blip r:embed="rId48">
            <a:lum/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rcRect/>
          <a:stretch>
            <a:fillRect/>
          </a:stretch>
        </p:blipFill>
        <p:spPr bwMode="white">
          <a:xfrm>
            <a:off x="9979885" y="5218651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2" name="IconSessionSecureSignInSession 1"/>
          <p:cNvPicPr>
            <a:picLocks noChangeAspect="1"/>
          </p:cNvPicPr>
          <p:nvPr/>
        </p:nvPicPr>
        <p:blipFill>
          <a:blip r:embed="rId50">
            <a:lum/>
            <a:extLst>
              <a:ext uri="{96DAC541-7B7A-43D3-8B79-37D633B846F1}">
                <asvg:svgBlip xmlns:asvg="http://schemas.microsoft.com/office/drawing/2016/SVG/main" r:embed="rId51"/>
              </a:ext>
            </a:extLst>
          </a:blip>
          <a:srcRect/>
          <a:stretch>
            <a:fillRect/>
          </a:stretch>
        </p:blipFill>
        <p:spPr bwMode="white">
          <a:xfrm>
            <a:off x="9997200" y="6085768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3" name="ShadeSessionCae"/>
          <p:cNvSpPr>
            <a:spLocks/>
          </p:cNvSpPr>
          <p:nvPr/>
        </p:nvSpPr>
        <p:spPr bwMode="white">
          <a:xfrm>
            <a:off x="9987595" y="5219780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76" name="ShadeSessionSecureSignIn"/>
          <p:cNvSpPr>
            <a:spLocks/>
          </p:cNvSpPr>
          <p:nvPr/>
        </p:nvSpPr>
        <p:spPr bwMode="white">
          <a:xfrm>
            <a:off x="9996846" y="5986498"/>
            <a:ext cx="2014431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pic>
        <p:nvPicPr>
          <p:cNvPr id="102" name="Graphic 101"/>
          <p:cNvPicPr>
            <a:picLocks noChangeAspect="1"/>
          </p:cNvPicPr>
          <p:nvPr/>
        </p:nvPicPr>
        <p:blipFill>
          <a:blip r:embed="rId52">
            <a:lum/>
            <a:extLst>
              <a:ext uri="{96DAC541-7B7A-43D3-8B79-37D633B846F1}">
                <asvg:svgBlip xmlns:asvg="http://schemas.microsoft.com/office/drawing/2016/SVG/main" r:embed="rId53"/>
              </a:ext>
            </a:extLst>
          </a:blip>
          <a:srcRect/>
          <a:stretch>
            <a:fillRect/>
          </a:stretch>
        </p:blipFill>
        <p:spPr bwMode="white">
          <a:xfrm>
            <a:off x="9997200" y="5663777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80" name="Graphic 79" descr="Close with solid fill"/>
          <p:cNvPicPr>
            <a:picLocks noChangeAspect="1"/>
          </p:cNvPicPr>
          <p:nvPr/>
        </p:nvPicPr>
        <p:blipFill>
          <a:blip r:embed="rId48">
            <a:lum/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rcRect/>
          <a:stretch>
            <a:fillRect/>
          </a:stretch>
        </p:blipFill>
        <p:spPr bwMode="white">
          <a:xfrm>
            <a:off x="9963899" y="5637424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4" name="ShadeSessionDisableResilience"/>
          <p:cNvSpPr>
            <a:spLocks/>
          </p:cNvSpPr>
          <p:nvPr/>
        </p:nvSpPr>
        <p:spPr bwMode="white">
          <a:xfrm>
            <a:off x="9959681" y="5602709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2" name="PolicyName">
            <a:hlinkClick r:id="" action="ppaction://hlinkfile"/>
          </p:cNvPr>
          <p:cNvSpPr>
            <a:spLocks noGrp="1"/>
          </p:cNvSpPr>
          <p:nvPr>
            <p:ph type="title"/>
          </p:nvPr>
        </p:nvSpPr>
        <p:spPr bwMode="white">
          <a:xfrm>
            <a:off x="838200" y="115511"/>
            <a:ext cx="10003967" cy="609565"/>
          </a:xfrm>
          <a:ln>
            <a:headEnd type="none"/>
            <a:tailEnd type="none"/>
          </a:ln>
        </p:spPr>
        <p:txBody>
          <a:bodyPr wrap="square">
            <a:noAutofit/>
          </a:bodyPr>
          <a:lstStyle/>
          <a:p>
            <a:pPr defTabSz="914400"/>
            <a:r>
              <a:rPr lang="en-US" sz="2000" b="1" dirty="0"/>
              <a:t>[All Apps] [SVo365 Cofense] (Block) Service Accounts From Non Approved IPs</a:t>
            </a:r>
          </a:p>
        </p:txBody>
      </p:sp>
      <p:sp>
        <p:nvSpPr>
          <p:cNvPr id="16" name="LastModified"/>
          <p:cNvSpPr txBox="1">
            <a:spLocks noChangeArrowheads="1"/>
          </p:cNvSpPr>
          <p:nvPr/>
        </p:nvSpPr>
        <p:spPr bwMode="white">
          <a:xfrm>
            <a:off x="10556111" y="388376"/>
            <a:ext cx="15483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algn="r" defTabSz="457200"/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Last modified: 2025-05-14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UserWorkload"/>
          <p:cNvSpPr>
            <a:spLocks/>
          </p:cNvSpPr>
          <p:nvPr/>
        </p:nvSpPr>
        <p:spPr bwMode="auto">
          <a:xfrm>
            <a:off x="175820" y="2709769"/>
            <a:ext cx="2202823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Users</a:t>
            </a:r>
          </a:p>
        </p:txBody>
      </p:sp>
      <p:sp>
        <p:nvSpPr>
          <p:cNvPr id="7" name="UserWorkloadIncExc"/>
          <p:cNvSpPr txBox="1">
            <a:spLocks noChangeArrowheads="1"/>
          </p:cNvSpPr>
          <p:nvPr/>
        </p:nvSpPr>
        <p:spPr bwMode="white">
          <a:xfrm>
            <a:off x="125485" y="3698952"/>
            <a:ext cx="3062115" cy="313265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 numCol="1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b="1" dirty="0"/>
            </a:pPr>
            <a:r>
              <a:t> Users</a:t>
            </a:r>
          </a:p>
          <a:p>
            <a:pPr defTabSz="457200">
              <a:defRPr sz="1100" dirty="0"/>
            </a:pPr>
            <a:r>
              <a:t> - SVO365 Cofense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19" name="Risks"/>
          <p:cNvSpPr txBox="1">
            <a:spLocks noChangeArrowheads="1"/>
          </p:cNvSpPr>
          <p:nvPr/>
        </p:nvSpPr>
        <p:spPr bwMode="white">
          <a:xfrm>
            <a:off x="524485" y="1021946"/>
            <a:ext cx="1348869" cy="166886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0" name="Platforms"/>
          <p:cNvSpPr txBox="1">
            <a:spLocks noChangeArrowheads="1"/>
          </p:cNvSpPr>
          <p:nvPr/>
        </p:nvSpPr>
        <p:spPr bwMode="white">
          <a:xfrm>
            <a:off x="1826931" y="1021947"/>
            <a:ext cx="2061056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3" name="Locations"/>
          <p:cNvSpPr txBox="1">
            <a:spLocks noChangeArrowheads="1"/>
          </p:cNvSpPr>
          <p:nvPr/>
        </p:nvSpPr>
        <p:spPr bwMode="white">
          <a:xfrm>
            <a:off x="8324941" y="1021947"/>
            <a:ext cx="3513702" cy="159258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b="1" dirty="0"/>
            </a:pPr>
            <a:r>
              <a:t>✅ Include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r>
              <a:t>🚫 Exclude</a:t>
            </a:r>
          </a:p>
          <a:p>
            <a:pPr defTabSz="457200">
              <a:defRPr sz="1100" dirty="0"/>
            </a:pPr>
            <a:r>
              <a:t> - Netskope Egress </a:t>
            </a:r>
          </a:p>
          <a:p>
            <a:pPr defTabSz="457200">
              <a:defRPr sz="1100" dirty="0"/>
            </a:pPr>
            <a:r>
              <a:t> - OCC Proxy Egress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24" name="ClientAppTypes"/>
          <p:cNvSpPr txBox="1">
            <a:spLocks noChangeArrowheads="1"/>
          </p:cNvSpPr>
          <p:nvPr/>
        </p:nvSpPr>
        <p:spPr bwMode="white">
          <a:xfrm>
            <a:off x="3810664" y="1021947"/>
            <a:ext cx="1581599" cy="165343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5" name="DeviceFilters"/>
          <p:cNvSpPr txBox="1">
            <a:spLocks noChangeArrowheads="1"/>
          </p:cNvSpPr>
          <p:nvPr/>
        </p:nvSpPr>
        <p:spPr bwMode="white">
          <a:xfrm>
            <a:off x="5818151" y="1022762"/>
            <a:ext cx="2248808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cxnSp>
        <p:nvCxnSpPr>
          <p:cNvPr id="27" name="Straight Arrow Connector 26" descr="Arrow drawn from user/workload  to the action being performed by the user such as accessing cloud apps."/>
          <p:cNvCxnSpPr/>
          <p:nvPr/>
        </p:nvCxnSpPr>
        <p:spPr bwMode="white">
          <a:xfrm>
            <a:off x="2195232" y="3159047"/>
            <a:ext cx="3959471" cy="1"/>
          </a:xfrm>
          <a:prstGeom prst="straightConnector1">
            <a:avLst/>
          </a:prstGeom>
          <a:ln w="76200"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2" name="GrantLabelGrantAccess"/>
          <p:cNvSpPr txBox="1">
            <a:spLocks noChangeArrowheads="1"/>
          </p:cNvSpPr>
          <p:nvPr/>
        </p:nvSpPr>
        <p:spPr bwMode="white">
          <a:xfrm>
            <a:off x="3928464" y="2723089"/>
            <a:ext cx="1381340" cy="369332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algn="ctr" defTabSz="457200"/>
            <a:r>
              <a:rPr lang="en-US" b="1" dirty="0">
                <a:solidFill>
                  <a:srgbClr val="00B050"/>
                </a:solidFill>
              </a:rPr>
              <a:t>Grant access</a:t>
            </a:r>
          </a:p>
        </p:txBody>
      </p:sp>
      <p:pic>
        <p:nvPicPr>
          <p:cNvPr id="35" name="IconGrantAccess" descr="Picture with gren tick sign to indicate access was granted"/>
          <p:cNvPicPr>
            <a:picLocks noChangeAspect="1"/>
          </p:cNvPicPr>
          <p:nvPr/>
        </p:nvPicPr>
        <p:blipFill>
          <a:blip r:embed="rId3">
            <a:lum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 bwMode="white">
          <a:xfrm>
            <a:off x="5309361" y="2730170"/>
            <a:ext cx="356616" cy="35661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3" name="CloudAppActionIncExc"/>
          <p:cNvSpPr txBox="1">
            <a:spLocks noChangeArrowheads="1"/>
          </p:cNvSpPr>
          <p:nvPr/>
        </p:nvSpPr>
        <p:spPr bwMode="white">
          <a:xfrm>
            <a:off x="6039518" y="3662782"/>
            <a:ext cx="3649518" cy="315161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</p:txBody>
      </p:sp>
      <p:pic>
        <p:nvPicPr>
          <p:cNvPr id="26" name="IconGroupIdentity"/>
          <p:cNvPicPr>
            <a:picLocks noChangeAspect="1"/>
          </p:cNvPicPr>
          <p:nvPr/>
        </p:nvPicPr>
        <p:blipFill>
          <a:blip r:embed="rId5">
            <a:lum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 bwMode="white">
          <a:xfrm>
            <a:off x="327701" y="2839007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36" name="Graphic 35"/>
          <p:cNvPicPr>
            <a:picLocks noChangeAspect="1"/>
          </p:cNvPicPr>
          <p:nvPr/>
        </p:nvPicPr>
        <p:blipFill>
          <a:blip r:embed="rId7">
            <a:lum/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p:blipFill>
        <p:spPr bwMode="white">
          <a:xfrm>
            <a:off x="495610" y="197468"/>
            <a:ext cx="381196" cy="38119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" name="CloudAppAction"/>
          <p:cNvSpPr>
            <a:spLocks/>
          </p:cNvSpPr>
          <p:nvPr/>
        </p:nvSpPr>
        <p:spPr bwMode="auto">
          <a:xfrm>
            <a:off x="6206089" y="2718506"/>
            <a:ext cx="3227026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All cloud apps</a:t>
            </a:r>
          </a:p>
        </p:txBody>
      </p:sp>
      <p:pic>
        <p:nvPicPr>
          <p:cNvPr id="75" name="IconAccessAllCloudApps"/>
          <p:cNvPicPr>
            <a:picLocks noChangeAspect="1"/>
          </p:cNvPicPr>
          <p:nvPr/>
        </p:nvPicPr>
        <p:blipFill>
          <a:blip r:embed="rId9">
            <a:lum/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p:blipFill>
        <p:spPr bwMode="white">
          <a:xfrm>
            <a:off x="6439264" y="2836824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21" name="StateEnabled"/>
          <p:cNvSpPr>
            <a:spLocks/>
          </p:cNvSpPr>
          <p:nvPr/>
        </p:nvSpPr>
        <p:spPr bwMode="white">
          <a:xfrm>
            <a:off x="10842171" y="83487"/>
            <a:ext cx="1260389" cy="264812"/>
          </a:xfrm>
          <a:prstGeom prst="round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r>
              <a:rPr lang="en-US" sz="800" dirty="0"/>
              <a:t>Policy Enabled</a:t>
            </a:r>
          </a:p>
        </p:txBody>
      </p:sp>
      <p:grpSp>
        <p:nvGrpSpPr>
          <p:cNvPr id="10" name="IconRiskyUsers"/>
          <p:cNvGrpSpPr>
            <a:grpSpLocks/>
          </p:cNvGrpSpPr>
          <p:nvPr/>
        </p:nvGrpSpPr>
        <p:grpSpPr bwMode="white">
          <a:xfrm>
            <a:off x="635426" y="738677"/>
            <a:ext cx="1202553" cy="274320"/>
            <a:chOff x="2013768" y="1033956"/>
            <a:chExt cx="1342320" cy="274320"/>
          </a:xfrm>
        </p:grpSpPr>
        <p:pic>
          <p:nvPicPr>
            <p:cNvPr id="46" name="Graphic 1"/>
            <p:cNvPicPr>
              <a:picLocks noChangeAspect="1"/>
            </p:cNvPicPr>
            <p:nvPr/>
          </p:nvPicPr>
          <p:blipFill>
            <a:blip r:embed="rId11">
              <a:lum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013768" y="1033956"/>
              <a:ext cx="274320" cy="27432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5" name="Label 1"/>
            <p:cNvSpPr txBox="1">
              <a:spLocks noChangeArrowheads="1"/>
            </p:cNvSpPr>
            <p:nvPr/>
          </p:nvSpPr>
          <p:spPr bwMode="white">
            <a:xfrm>
              <a:off x="2240077" y="1040706"/>
              <a:ext cx="1116011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Risk</a:t>
              </a:r>
            </a:p>
          </p:txBody>
        </p:sp>
      </p:grpSp>
      <p:grpSp>
        <p:nvGrpSpPr>
          <p:cNvPr id="14" name="IconPlatforms"/>
          <p:cNvGrpSpPr>
            <a:grpSpLocks/>
          </p:cNvGrpSpPr>
          <p:nvPr/>
        </p:nvGrpSpPr>
        <p:grpSpPr bwMode="white">
          <a:xfrm>
            <a:off x="1927788" y="715249"/>
            <a:ext cx="1719285" cy="365760"/>
            <a:chOff x="3262737" y="994835"/>
            <a:chExt cx="1719285" cy="365760"/>
          </a:xfrm>
        </p:grpSpPr>
        <p:pic>
          <p:nvPicPr>
            <p:cNvPr id="29" name="Graphic 1"/>
            <p:cNvPicPr>
              <a:picLocks noChangeAspect="1"/>
            </p:cNvPicPr>
            <p:nvPr/>
          </p:nvPicPr>
          <p:blipFill>
            <a:blip r:embed="rId13">
              <a:lum/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3262737" y="994835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1" name="Label 1"/>
            <p:cNvSpPr txBox="1">
              <a:spLocks noChangeArrowheads="1"/>
            </p:cNvSpPr>
            <p:nvPr/>
          </p:nvSpPr>
          <p:spPr bwMode="white">
            <a:xfrm>
              <a:off x="3582397" y="1027255"/>
              <a:ext cx="1399625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Device platforms</a:t>
              </a:r>
            </a:p>
          </p:txBody>
        </p:sp>
      </p:grpSp>
      <p:grpSp>
        <p:nvGrpSpPr>
          <p:cNvPr id="17" name="IconClientAppTypes"/>
          <p:cNvGrpSpPr>
            <a:grpSpLocks/>
          </p:cNvGrpSpPr>
          <p:nvPr/>
        </p:nvGrpSpPr>
        <p:grpSpPr bwMode="white">
          <a:xfrm>
            <a:off x="3908159" y="670015"/>
            <a:ext cx="1852971" cy="365760"/>
            <a:chOff x="4858970" y="975927"/>
            <a:chExt cx="1852971" cy="365760"/>
          </a:xfrm>
        </p:grpSpPr>
        <p:pic>
          <p:nvPicPr>
            <p:cNvPr id="58" name="Graphic 1"/>
            <p:cNvPicPr>
              <a:picLocks noChangeAspect="1"/>
            </p:cNvPicPr>
            <p:nvPr/>
          </p:nvPicPr>
          <p:blipFill>
            <a:blip r:embed="rId15">
              <a:lum/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858970" y="975927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5" name="Label 1"/>
            <p:cNvSpPr txBox="1">
              <a:spLocks noChangeArrowheads="1"/>
            </p:cNvSpPr>
            <p:nvPr/>
          </p:nvSpPr>
          <p:spPr bwMode="white">
            <a:xfrm>
              <a:off x="5193983" y="1009899"/>
              <a:ext cx="1517958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Client apps</a:t>
              </a:r>
            </a:p>
          </p:txBody>
        </p:sp>
      </p:grpSp>
      <p:grpSp>
        <p:nvGrpSpPr>
          <p:cNvPr id="37" name="IconLocations"/>
          <p:cNvGrpSpPr>
            <a:grpSpLocks/>
          </p:cNvGrpSpPr>
          <p:nvPr/>
        </p:nvGrpSpPr>
        <p:grpSpPr bwMode="white">
          <a:xfrm>
            <a:off x="8411896" y="646848"/>
            <a:ext cx="1850168" cy="388465"/>
            <a:chOff x="2321433" y="3262888"/>
            <a:chExt cx="1850168" cy="388465"/>
          </a:xfrm>
        </p:grpSpPr>
        <p:pic>
          <p:nvPicPr>
            <p:cNvPr id="33" name="Graphic 1"/>
            <p:cNvPicPr>
              <a:picLocks noChangeAspect="1"/>
            </p:cNvPicPr>
            <p:nvPr/>
          </p:nvPicPr>
          <p:blipFill>
            <a:blip r:embed="rId17">
              <a:lum/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321433" y="3262888"/>
              <a:ext cx="388465" cy="388465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28" name="Label 1"/>
            <p:cNvSpPr txBox="1">
              <a:spLocks noChangeArrowheads="1"/>
            </p:cNvSpPr>
            <p:nvPr/>
          </p:nvSpPr>
          <p:spPr bwMode="white">
            <a:xfrm>
              <a:off x="2713321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Locations</a:t>
              </a:r>
              <a:endParaRPr lang="en-US" sz="1100" b="1" dirty="0"/>
            </a:p>
          </p:txBody>
        </p:sp>
      </p:grpSp>
      <p:grpSp>
        <p:nvGrpSpPr>
          <p:cNvPr id="39" name="IconDeviceFilters"/>
          <p:cNvGrpSpPr>
            <a:grpSpLocks/>
          </p:cNvGrpSpPr>
          <p:nvPr/>
        </p:nvGrpSpPr>
        <p:grpSpPr bwMode="white">
          <a:xfrm>
            <a:off x="5472818" y="661958"/>
            <a:ext cx="1839823" cy="364111"/>
            <a:chOff x="4195414" y="3273669"/>
            <a:chExt cx="1839823" cy="364111"/>
          </a:xfrm>
        </p:grpSpPr>
        <p:pic>
          <p:nvPicPr>
            <p:cNvPr id="60" name="Graphic 1"/>
            <p:cNvPicPr>
              <a:picLocks noChangeAspect="1"/>
            </p:cNvPicPr>
            <p:nvPr/>
          </p:nvPicPr>
          <p:blipFill>
            <a:blip r:embed="rId19">
              <a:lum/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195414" y="3273669"/>
              <a:ext cx="364111" cy="364111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31" name="Label 1"/>
            <p:cNvSpPr txBox="1">
              <a:spLocks noChangeArrowheads="1"/>
            </p:cNvSpPr>
            <p:nvPr/>
          </p:nvSpPr>
          <p:spPr bwMode="white">
            <a:xfrm>
              <a:off x="4576957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Filter for devices</a:t>
              </a:r>
              <a:endParaRPr lang="en-US" sz="1100" b="1" dirty="0"/>
            </a:p>
          </p:txBody>
        </p:sp>
      </p:grpSp>
      <p:pic>
        <p:nvPicPr>
          <p:cNvPr id="62" name="IconGrantMultifactorAuthentication"/>
          <p:cNvPicPr>
            <a:picLocks noChangeAspect="1"/>
          </p:cNvPicPr>
          <p:nvPr/>
        </p:nvPicPr>
        <p:blipFill>
          <a:blip r:embed="rId21">
            <a:lum/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>
            <a:fillRect/>
          </a:stretch>
        </p:blipFill>
        <p:spPr bwMode="white">
          <a:xfrm>
            <a:off x="3410647" y="3566863"/>
            <a:ext cx="17145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5" name="IconGrantMultifactorAuthenticationLabel"/>
          <p:cNvSpPr txBox="1">
            <a:spLocks noChangeArrowheads="1"/>
          </p:cNvSpPr>
          <p:nvPr/>
        </p:nvSpPr>
        <p:spPr bwMode="white">
          <a:xfrm>
            <a:off x="3575836" y="3571997"/>
            <a:ext cx="19007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Multifactor authentication</a:t>
            </a:r>
            <a:endParaRPr lang="en-US" sz="1000" dirty="0"/>
          </a:p>
        </p:txBody>
      </p:sp>
      <p:pic>
        <p:nvPicPr>
          <p:cNvPr id="38" name="IconGrantAuthenticationStrength"/>
          <p:cNvPicPr>
            <a:picLocks noChangeAspect="1"/>
          </p:cNvPicPr>
          <p:nvPr/>
        </p:nvPicPr>
        <p:blipFill>
          <a:blip r:embed="rId23">
            <a:lum/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/>
          <a:stretch>
            <a:fillRect/>
          </a:stretch>
        </p:blipFill>
        <p:spPr bwMode="white">
          <a:xfrm>
            <a:off x="3374515" y="3905034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7" name="IconGrantAuthenticationStrengthLabel"/>
          <p:cNvSpPr txBox="1">
            <a:spLocks noChangeArrowheads="1"/>
          </p:cNvSpPr>
          <p:nvPr/>
        </p:nvSpPr>
        <p:spPr bwMode="white">
          <a:xfrm>
            <a:off x="3575836" y="3907323"/>
            <a:ext cx="2185294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Auth strength:Phishing-resistant MFA</a:t>
            </a:r>
            <a:endParaRPr lang="en-US" sz="1000" dirty="0"/>
          </a:p>
        </p:txBody>
      </p:sp>
      <p:pic>
        <p:nvPicPr>
          <p:cNvPr id="52" name="IconGrantDeviceCompliance"/>
          <p:cNvPicPr>
            <a:picLocks noChangeAspect="1"/>
          </p:cNvPicPr>
          <p:nvPr/>
        </p:nvPicPr>
        <p:blipFill>
          <a:blip r:embed="rId25">
            <a:lum/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/>
          <a:stretch>
            <a:fillRect/>
          </a:stretch>
        </p:blipFill>
        <p:spPr bwMode="white">
          <a:xfrm>
            <a:off x="3374515" y="4243205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9" name="IconGrantDeviceComplianceLabel"/>
          <p:cNvSpPr txBox="1">
            <a:spLocks noChangeArrowheads="1"/>
          </p:cNvSpPr>
          <p:nvPr/>
        </p:nvSpPr>
        <p:spPr bwMode="white">
          <a:xfrm>
            <a:off x="3575836" y="4242649"/>
            <a:ext cx="17378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Compliant device</a:t>
            </a:r>
            <a:endParaRPr lang="en-US" sz="1000" dirty="0"/>
          </a:p>
        </p:txBody>
      </p:sp>
      <p:pic>
        <p:nvPicPr>
          <p:cNvPr id="43" name="IconGrantHybridJoined"/>
          <p:cNvPicPr>
            <a:picLocks noChangeAspect="1"/>
          </p:cNvPicPr>
          <p:nvPr/>
        </p:nvPicPr>
        <p:blipFill>
          <a:blip r:embed="rId27">
            <a:lum/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/>
          <a:stretch>
            <a:fillRect/>
          </a:stretch>
        </p:blipFill>
        <p:spPr bwMode="white">
          <a:xfrm>
            <a:off x="3374515" y="4581376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3" name="IconGrantHybridJoinedLabel"/>
          <p:cNvSpPr txBox="1">
            <a:spLocks noChangeArrowheads="1"/>
          </p:cNvSpPr>
          <p:nvPr/>
        </p:nvSpPr>
        <p:spPr bwMode="white">
          <a:xfrm>
            <a:off x="3575836" y="4577975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Hybrid Azure AD joined device</a:t>
            </a:r>
            <a:endParaRPr lang="en-US" sz="1000" dirty="0"/>
          </a:p>
        </p:txBody>
      </p:sp>
      <p:pic>
        <p:nvPicPr>
          <p:cNvPr id="48" name="IconGrantApprovedClientApp"/>
          <p:cNvPicPr>
            <a:picLocks noChangeAspect="1"/>
          </p:cNvPicPr>
          <p:nvPr/>
        </p:nvPicPr>
        <p:blipFill>
          <a:blip r:embed="rId29">
            <a:lum/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rcRect/>
          <a:stretch>
            <a:fillRect/>
          </a:stretch>
        </p:blipFill>
        <p:spPr bwMode="white">
          <a:xfrm>
            <a:off x="3374515" y="491954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5" name="IconGrantApprovedClientAppLabel"/>
          <p:cNvSpPr txBox="1">
            <a:spLocks noChangeArrowheads="1"/>
          </p:cNvSpPr>
          <p:nvPr/>
        </p:nvSpPr>
        <p:spPr bwMode="white">
          <a:xfrm>
            <a:off x="3575836" y="4913301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Approved client app</a:t>
            </a:r>
            <a:endParaRPr lang="en-US" sz="1000" dirty="0"/>
          </a:p>
        </p:txBody>
      </p:sp>
      <p:pic>
        <p:nvPicPr>
          <p:cNvPr id="42" name="IconGrantCustomAuth"/>
          <p:cNvPicPr>
            <a:picLocks noChangeAspect="1"/>
          </p:cNvPicPr>
          <p:nvPr/>
        </p:nvPicPr>
        <p:blipFill>
          <a:blip r:embed="rId31">
            <a:lum/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rcRect/>
          <a:stretch>
            <a:fillRect/>
          </a:stretch>
        </p:blipFill>
        <p:spPr bwMode="white">
          <a:xfrm>
            <a:off x="3374515" y="593406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9" name="IconGrantCustomAuthLabel"/>
          <p:cNvSpPr txBox="1">
            <a:spLocks noChangeArrowheads="1"/>
          </p:cNvSpPr>
          <p:nvPr/>
        </p:nvSpPr>
        <p:spPr bwMode="white">
          <a:xfrm>
            <a:off x="3575836" y="5919279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Custom authentication factor</a:t>
            </a:r>
            <a:endParaRPr lang="en-US" sz="1000" dirty="0"/>
          </a:p>
        </p:txBody>
      </p:sp>
      <p:pic>
        <p:nvPicPr>
          <p:cNvPr id="40" name="IconGrantTermsOfUse"/>
          <p:cNvPicPr>
            <a:picLocks noChangeAspect="1"/>
          </p:cNvPicPr>
          <p:nvPr/>
        </p:nvPicPr>
        <p:blipFill>
          <a:blip r:embed="rId33">
            <a:lum/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rcRect/>
          <a:stretch>
            <a:fillRect/>
          </a:stretch>
        </p:blipFill>
        <p:spPr bwMode="white">
          <a:xfrm>
            <a:off x="3374515" y="627222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3" name="IconGrantTermsOfUseLabel"/>
          <p:cNvSpPr txBox="1">
            <a:spLocks noChangeArrowheads="1"/>
          </p:cNvSpPr>
          <p:nvPr/>
        </p:nvSpPr>
        <p:spPr bwMode="white">
          <a:xfrm>
            <a:off x="3575836" y="625460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Terms of use</a:t>
            </a:r>
            <a:endParaRPr lang="en-US" sz="1000" dirty="0"/>
          </a:p>
        </p:txBody>
      </p:sp>
      <p:sp>
        <p:nvSpPr>
          <p:cNvPr id="56" name="IconGrantAppProtectionLabel"/>
          <p:cNvSpPr txBox="1">
            <a:spLocks noChangeArrowheads="1"/>
          </p:cNvSpPr>
          <p:nvPr/>
        </p:nvSpPr>
        <p:spPr bwMode="white">
          <a:xfrm>
            <a:off x="3575836" y="524862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 protection policy</a:t>
            </a:r>
            <a:endParaRPr lang="en-US" sz="1000" dirty="0"/>
          </a:p>
        </p:txBody>
      </p:sp>
      <p:pic>
        <p:nvPicPr>
          <p:cNvPr id="65" name="IconGrantAppProtection"/>
          <p:cNvPicPr>
            <a:picLocks noChangeAspect="1"/>
          </p:cNvPicPr>
          <p:nvPr/>
        </p:nvPicPr>
        <p:blipFill>
          <a:blip r:embed="rId35">
            <a:lum/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rcRect/>
          <a:stretch>
            <a:fillRect/>
          </a:stretch>
        </p:blipFill>
        <p:spPr bwMode="white">
          <a:xfrm>
            <a:off x="3374515" y="525771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7" name="IconGrantChangePasswordLabel"/>
          <p:cNvSpPr txBox="1">
            <a:spLocks noChangeArrowheads="1"/>
          </p:cNvSpPr>
          <p:nvPr/>
        </p:nvSpPr>
        <p:spPr bwMode="white">
          <a:xfrm>
            <a:off x="3575836" y="5583953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Change password</a:t>
            </a:r>
            <a:endParaRPr lang="en-US" sz="1000" dirty="0"/>
          </a:p>
        </p:txBody>
      </p:sp>
      <p:pic>
        <p:nvPicPr>
          <p:cNvPr id="67" name="IconGrantChangePassword"/>
          <p:cNvPicPr>
            <a:picLocks noChangeAspect="1"/>
          </p:cNvPicPr>
          <p:nvPr/>
        </p:nvPicPr>
        <p:blipFill>
          <a:blip r:embed="rId37">
            <a:lum/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rcRect/>
          <a:stretch>
            <a:fillRect/>
          </a:stretch>
        </p:blipFill>
        <p:spPr bwMode="white">
          <a:xfrm>
            <a:off x="3374515" y="5595889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4" name="ShadeRisk"/>
          <p:cNvSpPr>
            <a:spLocks/>
          </p:cNvSpPr>
          <p:nvPr/>
        </p:nvSpPr>
        <p:spPr bwMode="white">
          <a:xfrm>
            <a:off x="507564" y="650246"/>
            <a:ext cx="976864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66" name="ShadeDevicePlatforms"/>
          <p:cNvSpPr>
            <a:spLocks/>
          </p:cNvSpPr>
          <p:nvPr/>
        </p:nvSpPr>
        <p:spPr bwMode="white">
          <a:xfrm>
            <a:off x="1863623" y="663409"/>
            <a:ext cx="1773927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78" name="ShadeClientApps"/>
          <p:cNvSpPr>
            <a:spLocks/>
          </p:cNvSpPr>
          <p:nvPr/>
        </p:nvSpPr>
        <p:spPr bwMode="white">
          <a:xfrm>
            <a:off x="3802273" y="650246"/>
            <a:ext cx="1481482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2" name="ShadeFilterForDevices"/>
          <p:cNvSpPr>
            <a:spLocks/>
          </p:cNvSpPr>
          <p:nvPr/>
        </p:nvSpPr>
        <p:spPr bwMode="white">
          <a:xfrm>
            <a:off x="5438955" y="627922"/>
            <a:ext cx="1873685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3" name="ShadeGrantMultifactorAuth"/>
          <p:cNvSpPr>
            <a:spLocks/>
          </p:cNvSpPr>
          <p:nvPr/>
        </p:nvSpPr>
        <p:spPr bwMode="white">
          <a:xfrm>
            <a:off x="3369399" y="3534220"/>
            <a:ext cx="2069555" cy="28330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5" name="ShadeGrantCompliantDevice"/>
          <p:cNvSpPr>
            <a:spLocks/>
          </p:cNvSpPr>
          <p:nvPr/>
        </p:nvSpPr>
        <p:spPr bwMode="white">
          <a:xfrm>
            <a:off x="3361852" y="4243205"/>
            <a:ext cx="2077102" cy="26110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6" name="ShadeGrantHybridAzureADJoined"/>
          <p:cNvSpPr>
            <a:spLocks/>
          </p:cNvSpPr>
          <p:nvPr/>
        </p:nvSpPr>
        <p:spPr bwMode="white">
          <a:xfrm>
            <a:off x="3353637" y="4552268"/>
            <a:ext cx="2160906" cy="298395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7" name="ShadeGrantApprovedClientApp"/>
          <p:cNvSpPr>
            <a:spLocks/>
          </p:cNvSpPr>
          <p:nvPr/>
        </p:nvSpPr>
        <p:spPr bwMode="white">
          <a:xfrm>
            <a:off x="3331918" y="4876027"/>
            <a:ext cx="2182625" cy="29839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8" name="ShadeGrantAppProtectionPolicy"/>
          <p:cNvSpPr>
            <a:spLocks/>
          </p:cNvSpPr>
          <p:nvPr/>
        </p:nvSpPr>
        <p:spPr bwMode="white">
          <a:xfrm>
            <a:off x="3350256" y="5207226"/>
            <a:ext cx="2122561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9" name="ShadeGrantChangePassword"/>
          <p:cNvSpPr>
            <a:spLocks/>
          </p:cNvSpPr>
          <p:nvPr/>
        </p:nvSpPr>
        <p:spPr bwMode="white">
          <a:xfrm>
            <a:off x="3350257" y="5557021"/>
            <a:ext cx="2042006" cy="287239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0" name="ShadeGrantCustomAuthFactor"/>
          <p:cNvSpPr>
            <a:spLocks/>
          </p:cNvSpPr>
          <p:nvPr/>
        </p:nvSpPr>
        <p:spPr bwMode="white">
          <a:xfrm>
            <a:off x="3331918" y="5899058"/>
            <a:ext cx="2182625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1" name="ShadeGrantTermsOfUse"/>
          <p:cNvSpPr>
            <a:spLocks/>
          </p:cNvSpPr>
          <p:nvPr/>
        </p:nvSpPr>
        <p:spPr bwMode="white">
          <a:xfrm>
            <a:off x="3313823" y="6192350"/>
            <a:ext cx="101602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99" name="Rectangle 98"/>
          <p:cNvSpPr>
            <a:spLocks/>
          </p:cNvSpPr>
          <p:nvPr/>
        </p:nvSpPr>
        <p:spPr bwMode="white">
          <a:xfrm>
            <a:off x="3268757" y="3253404"/>
            <a:ext cx="2357725" cy="3498546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0" name="Rectangle 109"/>
          <p:cNvSpPr>
            <a:spLocks/>
          </p:cNvSpPr>
          <p:nvPr/>
        </p:nvSpPr>
        <p:spPr bwMode="white">
          <a:xfrm>
            <a:off x="9881750" y="3248255"/>
            <a:ext cx="2220808" cy="3510149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7" name="Rectangle 116"/>
          <p:cNvSpPr>
            <a:spLocks/>
          </p:cNvSpPr>
          <p:nvPr/>
        </p:nvSpPr>
        <p:spPr bwMode="white">
          <a:xfrm>
            <a:off x="26741" y="606825"/>
            <a:ext cx="11985015" cy="2063636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2" name="Conditions Label"/>
          <p:cNvSpPr txBox="1">
            <a:spLocks noChangeArrowheads="1"/>
          </p:cNvSpPr>
          <p:nvPr/>
        </p:nvSpPr>
        <p:spPr bwMode="white">
          <a:xfrm rot="16200000">
            <a:off x="-883507" y="1514324"/>
            <a:ext cx="2081441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Conditions</a:t>
            </a:r>
          </a:p>
        </p:txBody>
      </p:sp>
      <p:sp>
        <p:nvSpPr>
          <p:cNvPr id="109" name="Grant Controls"/>
          <p:cNvSpPr txBox="1">
            <a:spLocks noChangeArrowheads="1"/>
          </p:cNvSpPr>
          <p:nvPr/>
        </p:nvSpPr>
        <p:spPr bwMode="white">
          <a:xfrm>
            <a:off x="3252146" y="3244395"/>
            <a:ext cx="2391873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Grant Controls</a:t>
            </a:r>
          </a:p>
        </p:txBody>
      </p:sp>
      <p:sp>
        <p:nvSpPr>
          <p:cNvPr id="111" name="Session Controls"/>
          <p:cNvSpPr txBox="1">
            <a:spLocks noChangeArrowheads="1"/>
          </p:cNvSpPr>
          <p:nvPr/>
        </p:nvSpPr>
        <p:spPr bwMode="white">
          <a:xfrm>
            <a:off x="9864212" y="3243751"/>
            <a:ext cx="2238346" cy="23786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Session Controls</a:t>
            </a:r>
          </a:p>
        </p:txBody>
      </p:sp>
      <p:pic>
        <p:nvPicPr>
          <p:cNvPr id="72" name="Graphic 71"/>
          <p:cNvPicPr>
            <a:picLocks noChangeAspect="1"/>
          </p:cNvPicPr>
          <p:nvPr/>
        </p:nvPicPr>
        <p:blipFill>
          <a:blip r:embed="rId39">
            <a:lum/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rcRect/>
          <a:stretch>
            <a:fillRect/>
          </a:stretch>
        </p:blipFill>
        <p:spPr bwMode="white">
          <a:xfrm>
            <a:off x="9996846" y="356982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4" name="Graphic 93"/>
          <p:cNvPicPr>
            <a:picLocks noChangeAspect="1"/>
          </p:cNvPicPr>
          <p:nvPr/>
        </p:nvPicPr>
        <p:blipFill>
          <a:blip r:embed="rId41">
            <a:lum/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rcRect/>
          <a:stretch>
            <a:fillRect/>
          </a:stretch>
        </p:blipFill>
        <p:spPr bwMode="white">
          <a:xfrm>
            <a:off x="10009443" y="525644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5" name="TextBox 94"/>
          <p:cNvSpPr txBox="1">
            <a:spLocks noChangeArrowheads="1"/>
          </p:cNvSpPr>
          <p:nvPr/>
        </p:nvSpPr>
        <p:spPr bwMode="white">
          <a:xfrm>
            <a:off x="10207481" y="3578463"/>
            <a:ext cx="150554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App enforced restrictions</a:t>
            </a:r>
          </a:p>
        </p:txBody>
      </p:sp>
      <p:sp>
        <p:nvSpPr>
          <p:cNvPr id="96" name="TextBox 95"/>
          <p:cNvSpPr txBox="1">
            <a:spLocks noChangeArrowheads="1"/>
          </p:cNvSpPr>
          <p:nvPr/>
        </p:nvSpPr>
        <p:spPr bwMode="white">
          <a:xfrm>
            <a:off x="10201167" y="3899846"/>
            <a:ext cx="181011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Conditional Access App Control</a:t>
            </a:r>
          </a:p>
        </p:txBody>
      </p:sp>
      <p:sp>
        <p:nvSpPr>
          <p:cNvPr id="97" name="TextBox 96"/>
          <p:cNvSpPr txBox="1">
            <a:spLocks noChangeArrowheads="1"/>
          </p:cNvSpPr>
          <p:nvPr/>
        </p:nvSpPr>
        <p:spPr bwMode="white">
          <a:xfrm>
            <a:off x="10215627" y="4357505"/>
            <a:ext cx="1090363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Sign-in frequency</a:t>
            </a:r>
          </a:p>
        </p:txBody>
      </p:sp>
      <p:sp>
        <p:nvSpPr>
          <p:cNvPr id="98" name="TextBox 97"/>
          <p:cNvSpPr txBox="1">
            <a:spLocks noChangeArrowheads="1"/>
          </p:cNvSpPr>
          <p:nvPr/>
        </p:nvSpPr>
        <p:spPr bwMode="white">
          <a:xfrm>
            <a:off x="10225446" y="4793305"/>
            <a:ext cx="156966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Persistent browser session</a:t>
            </a:r>
          </a:p>
        </p:txBody>
      </p:sp>
      <p:sp>
        <p:nvSpPr>
          <p:cNvPr id="100" name="TextBox 99"/>
          <p:cNvSpPr txBox="1">
            <a:spLocks noChangeArrowheads="1"/>
          </p:cNvSpPr>
          <p:nvPr/>
        </p:nvSpPr>
        <p:spPr bwMode="white">
          <a:xfrm>
            <a:off x="10229552" y="5232376"/>
            <a:ext cx="1717137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Continuous access evaluation</a:t>
            </a:r>
          </a:p>
        </p:txBody>
      </p:sp>
      <p:sp>
        <p:nvSpPr>
          <p:cNvPr id="101" name="TextBox 100"/>
          <p:cNvSpPr txBox="1">
            <a:spLocks noChangeArrowheads="1"/>
          </p:cNvSpPr>
          <p:nvPr/>
        </p:nvSpPr>
        <p:spPr bwMode="white">
          <a:xfrm>
            <a:off x="10259108" y="5658625"/>
            <a:ext cx="153599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Disable resilience defaults</a:t>
            </a:r>
          </a:p>
        </p:txBody>
      </p:sp>
      <p:pic>
        <p:nvPicPr>
          <p:cNvPr id="103" name="Graphic 102"/>
          <p:cNvPicPr>
            <a:picLocks noChangeAspect="1"/>
          </p:cNvPicPr>
          <p:nvPr/>
        </p:nvPicPr>
        <p:blipFill>
          <a:blip r:embed="rId43">
            <a:lum/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rcRect/>
          <a:stretch>
            <a:fillRect/>
          </a:stretch>
        </p:blipFill>
        <p:spPr bwMode="white">
          <a:xfrm>
            <a:off x="9996846" y="479900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5" name="Graphic 104"/>
          <p:cNvPicPr>
            <a:picLocks noChangeAspect="1"/>
          </p:cNvPicPr>
          <p:nvPr/>
        </p:nvPicPr>
        <p:blipFill>
          <a:blip r:embed="rId45">
            <a:lum/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rcRect/>
          <a:stretch>
            <a:fillRect/>
          </a:stretch>
        </p:blipFill>
        <p:spPr bwMode="white">
          <a:xfrm>
            <a:off x="9996846" y="437457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7" name="Graphic 106"/>
          <p:cNvPicPr>
            <a:picLocks noChangeAspect="1"/>
          </p:cNvPicPr>
          <p:nvPr/>
        </p:nvPicPr>
        <p:blipFill>
          <a:blip r:embed="rId7">
            <a:lum/>
            <a:extLst>
              <a:ext uri="{96DAC541-7B7A-43D3-8B79-37D633B846F1}">
                <asvg:svgBlip xmlns:asvg="http://schemas.microsoft.com/office/drawing/2016/SVG/main" r:embed="rId47"/>
              </a:ext>
            </a:extLst>
          </a:blip>
          <a:srcRect/>
          <a:stretch>
            <a:fillRect/>
          </a:stretch>
        </p:blipFill>
        <p:spPr bwMode="white">
          <a:xfrm>
            <a:off x="9996846" y="391529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15" name="SessionSifInterval"/>
          <p:cNvSpPr txBox="1">
            <a:spLocks noChangeArrowheads="1"/>
          </p:cNvSpPr>
          <p:nvPr/>
        </p:nvSpPr>
        <p:spPr bwMode="white">
          <a:xfrm>
            <a:off x="10296745" y="4516775"/>
            <a:ext cx="1249060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Periodic reauthentication</a:t>
            </a:r>
          </a:p>
        </p:txBody>
      </p:sp>
      <p:sp>
        <p:nvSpPr>
          <p:cNvPr id="114" name="SessionCasType"/>
          <p:cNvSpPr txBox="1">
            <a:spLocks noChangeArrowheads="1"/>
          </p:cNvSpPr>
          <p:nvPr/>
        </p:nvSpPr>
        <p:spPr bwMode="white">
          <a:xfrm>
            <a:off x="10296745" y="4075500"/>
            <a:ext cx="95410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App Control Policy</a:t>
            </a:r>
          </a:p>
        </p:txBody>
      </p:sp>
      <p:sp>
        <p:nvSpPr>
          <p:cNvPr id="116" name="SessionPersistenBrowserMode"/>
          <p:cNvSpPr txBox="1">
            <a:spLocks noChangeArrowheads="1"/>
          </p:cNvSpPr>
          <p:nvPr/>
        </p:nvSpPr>
        <p:spPr bwMode="white">
          <a:xfrm>
            <a:off x="10309761" y="4945281"/>
            <a:ext cx="918841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Always persistent</a:t>
            </a:r>
          </a:p>
        </p:txBody>
      </p:sp>
      <p:sp>
        <p:nvSpPr>
          <p:cNvPr id="118" name="SessionCaeMode"/>
          <p:cNvSpPr txBox="1">
            <a:spLocks noChangeArrowheads="1"/>
          </p:cNvSpPr>
          <p:nvPr/>
        </p:nvSpPr>
        <p:spPr bwMode="white">
          <a:xfrm>
            <a:off x="10301386" y="5393378"/>
            <a:ext cx="15359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US" sz="800" dirty="0"/>
              <a:t>Strictly enforce location policies</a:t>
            </a:r>
          </a:p>
        </p:txBody>
      </p:sp>
      <p:sp>
        <p:nvSpPr>
          <p:cNvPr id="119" name="ShadeSessionAppEnforced"/>
          <p:cNvSpPr>
            <a:spLocks/>
          </p:cNvSpPr>
          <p:nvPr/>
        </p:nvSpPr>
        <p:spPr bwMode="white">
          <a:xfrm>
            <a:off x="9959680" y="3548808"/>
            <a:ext cx="2051597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0" name="ShadeSessionCas"/>
          <p:cNvSpPr>
            <a:spLocks/>
          </p:cNvSpPr>
          <p:nvPr/>
        </p:nvSpPr>
        <p:spPr bwMode="white">
          <a:xfrm>
            <a:off x="9978939" y="3884212"/>
            <a:ext cx="2087576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1" name="ShadeSessionSif"/>
          <p:cNvSpPr>
            <a:spLocks/>
          </p:cNvSpPr>
          <p:nvPr/>
        </p:nvSpPr>
        <p:spPr bwMode="white">
          <a:xfrm>
            <a:off x="9940787" y="4320077"/>
            <a:ext cx="2125728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2" name="ShadeSessionPersistentBrowser"/>
          <p:cNvSpPr>
            <a:spLocks/>
          </p:cNvSpPr>
          <p:nvPr/>
        </p:nvSpPr>
        <p:spPr bwMode="white">
          <a:xfrm>
            <a:off x="9938833" y="4746195"/>
            <a:ext cx="207244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" name="Label Secure Sign In Session"/>
          <p:cNvSpPr txBox="1">
            <a:spLocks noChangeArrowheads="1"/>
          </p:cNvSpPr>
          <p:nvPr/>
        </p:nvSpPr>
        <p:spPr bwMode="white">
          <a:xfrm>
            <a:off x="10260000" y="6084874"/>
            <a:ext cx="166584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Token protection for session</a:t>
            </a:r>
          </a:p>
        </p:txBody>
      </p:sp>
      <p:pic>
        <p:nvPicPr>
          <p:cNvPr id="77" name="IconSessionCaeDisable" descr="Close with solid fill"/>
          <p:cNvPicPr>
            <a:picLocks noChangeAspect="1"/>
          </p:cNvPicPr>
          <p:nvPr/>
        </p:nvPicPr>
        <p:blipFill>
          <a:blip r:embed="rId48">
            <a:lum/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rcRect/>
          <a:stretch>
            <a:fillRect/>
          </a:stretch>
        </p:blipFill>
        <p:spPr bwMode="white">
          <a:xfrm>
            <a:off x="9979885" y="5218651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2" name="IconSessionSecureSignInSession 1"/>
          <p:cNvPicPr>
            <a:picLocks noChangeAspect="1"/>
          </p:cNvPicPr>
          <p:nvPr/>
        </p:nvPicPr>
        <p:blipFill>
          <a:blip r:embed="rId50">
            <a:lum/>
            <a:extLst>
              <a:ext uri="{96DAC541-7B7A-43D3-8B79-37D633B846F1}">
                <asvg:svgBlip xmlns:asvg="http://schemas.microsoft.com/office/drawing/2016/SVG/main" r:embed="rId51"/>
              </a:ext>
            </a:extLst>
          </a:blip>
          <a:srcRect/>
          <a:stretch>
            <a:fillRect/>
          </a:stretch>
        </p:blipFill>
        <p:spPr bwMode="white">
          <a:xfrm>
            <a:off x="9997200" y="6085768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3" name="ShadeSessionCae"/>
          <p:cNvSpPr>
            <a:spLocks/>
          </p:cNvSpPr>
          <p:nvPr/>
        </p:nvSpPr>
        <p:spPr bwMode="white">
          <a:xfrm>
            <a:off x="9987595" y="5219780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76" name="ShadeSessionSecureSignIn"/>
          <p:cNvSpPr>
            <a:spLocks/>
          </p:cNvSpPr>
          <p:nvPr/>
        </p:nvSpPr>
        <p:spPr bwMode="white">
          <a:xfrm>
            <a:off x="9996846" y="5986498"/>
            <a:ext cx="2014431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pic>
        <p:nvPicPr>
          <p:cNvPr id="102" name="Graphic 101"/>
          <p:cNvPicPr>
            <a:picLocks noChangeAspect="1"/>
          </p:cNvPicPr>
          <p:nvPr/>
        </p:nvPicPr>
        <p:blipFill>
          <a:blip r:embed="rId52">
            <a:lum/>
            <a:extLst>
              <a:ext uri="{96DAC541-7B7A-43D3-8B79-37D633B846F1}">
                <asvg:svgBlip xmlns:asvg="http://schemas.microsoft.com/office/drawing/2016/SVG/main" r:embed="rId53"/>
              </a:ext>
            </a:extLst>
          </a:blip>
          <a:srcRect/>
          <a:stretch>
            <a:fillRect/>
          </a:stretch>
        </p:blipFill>
        <p:spPr bwMode="white">
          <a:xfrm>
            <a:off x="9997200" y="5663777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80" name="Graphic 79" descr="Close with solid fill"/>
          <p:cNvPicPr>
            <a:picLocks noChangeAspect="1"/>
          </p:cNvPicPr>
          <p:nvPr/>
        </p:nvPicPr>
        <p:blipFill>
          <a:blip r:embed="rId48">
            <a:lum/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rcRect/>
          <a:stretch>
            <a:fillRect/>
          </a:stretch>
        </p:blipFill>
        <p:spPr bwMode="white">
          <a:xfrm>
            <a:off x="9963899" y="5637424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4" name="ShadeSessionDisableResilience"/>
          <p:cNvSpPr>
            <a:spLocks/>
          </p:cNvSpPr>
          <p:nvPr/>
        </p:nvSpPr>
        <p:spPr bwMode="white">
          <a:xfrm>
            <a:off x="9959681" y="5602709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2" name="PolicyName">
            <a:hlinkClick r:id="" action="ppaction://hlinkfile"/>
          </p:cNvPr>
          <p:cNvSpPr>
            <a:spLocks noGrp="1"/>
          </p:cNvSpPr>
          <p:nvPr>
            <p:ph type="title"/>
          </p:nvPr>
        </p:nvSpPr>
        <p:spPr bwMode="white">
          <a:xfrm>
            <a:off x="838200" y="115511"/>
            <a:ext cx="10003967" cy="609565"/>
          </a:xfrm>
          <a:ln>
            <a:headEnd type="none"/>
            <a:tailEnd type="none"/>
          </a:ln>
        </p:spPr>
        <p:txBody>
          <a:bodyPr wrap="square">
            <a:noAutofit/>
          </a:bodyPr>
          <a:lstStyle/>
          <a:p>
            <a:pPr defTabSz="914400"/>
            <a:r>
              <a:rPr lang="en-US" sz="2000" b="1" dirty="0"/>
              <a:t>[All Apps] [SVo365 Cofense] Service Account Login Requires Phishing-Resistant MFA </a:t>
            </a:r>
          </a:p>
        </p:txBody>
      </p:sp>
      <p:sp>
        <p:nvSpPr>
          <p:cNvPr id="16" name="LastModified"/>
          <p:cNvSpPr txBox="1">
            <a:spLocks noChangeArrowheads="1"/>
          </p:cNvSpPr>
          <p:nvPr/>
        </p:nvSpPr>
        <p:spPr bwMode="white">
          <a:xfrm>
            <a:off x="10556111" y="388376"/>
            <a:ext cx="15483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algn="r" defTabSz="457200"/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Last modified: 2025-06-03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UserWorkload"/>
          <p:cNvSpPr>
            <a:spLocks/>
          </p:cNvSpPr>
          <p:nvPr/>
        </p:nvSpPr>
        <p:spPr bwMode="auto">
          <a:xfrm>
            <a:off x="175820" y="2709769"/>
            <a:ext cx="2202823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Users</a:t>
            </a:r>
          </a:p>
        </p:txBody>
      </p:sp>
      <p:sp>
        <p:nvSpPr>
          <p:cNvPr id="7" name="UserWorkloadIncExc"/>
          <p:cNvSpPr txBox="1">
            <a:spLocks noChangeArrowheads="1"/>
          </p:cNvSpPr>
          <p:nvPr/>
        </p:nvSpPr>
        <p:spPr bwMode="white">
          <a:xfrm>
            <a:off x="125485" y="3698952"/>
            <a:ext cx="3062115" cy="313265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 numCol="1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b="1" dirty="0"/>
            </a:pPr>
            <a:r>
              <a:t> Users</a:t>
            </a:r>
          </a:p>
          <a:p>
            <a:pPr defTabSz="457200">
              <a:defRPr sz="1100" dirty="0"/>
            </a:pPr>
            <a:r>
              <a:t> - SVO365 coc_collibra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19" name="Risks"/>
          <p:cNvSpPr txBox="1">
            <a:spLocks noChangeArrowheads="1"/>
          </p:cNvSpPr>
          <p:nvPr/>
        </p:nvSpPr>
        <p:spPr bwMode="white">
          <a:xfrm>
            <a:off x="524485" y="1021946"/>
            <a:ext cx="1348869" cy="166886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0" name="Platforms"/>
          <p:cNvSpPr txBox="1">
            <a:spLocks noChangeArrowheads="1"/>
          </p:cNvSpPr>
          <p:nvPr/>
        </p:nvSpPr>
        <p:spPr bwMode="white">
          <a:xfrm>
            <a:off x="1826931" y="1021947"/>
            <a:ext cx="2061056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3" name="Locations"/>
          <p:cNvSpPr txBox="1">
            <a:spLocks noChangeArrowheads="1"/>
          </p:cNvSpPr>
          <p:nvPr/>
        </p:nvSpPr>
        <p:spPr bwMode="white">
          <a:xfrm>
            <a:off x="8324941" y="1021947"/>
            <a:ext cx="3513702" cy="159258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b="1" dirty="0"/>
            </a:pPr>
            <a:r>
              <a:t>✅ Include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r>
              <a:t>🚫 Exclude</a:t>
            </a:r>
          </a:p>
          <a:p>
            <a:pPr defTabSz="457200">
              <a:defRPr sz="1100" dirty="0"/>
            </a:pPr>
            <a:r>
              <a:t> - OCC Proxy Egress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24" name="ClientAppTypes"/>
          <p:cNvSpPr txBox="1">
            <a:spLocks noChangeArrowheads="1"/>
          </p:cNvSpPr>
          <p:nvPr/>
        </p:nvSpPr>
        <p:spPr bwMode="white">
          <a:xfrm>
            <a:off x="3810664" y="1021947"/>
            <a:ext cx="1581599" cy="165343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5" name="DeviceFilters"/>
          <p:cNvSpPr txBox="1">
            <a:spLocks noChangeArrowheads="1"/>
          </p:cNvSpPr>
          <p:nvPr/>
        </p:nvSpPr>
        <p:spPr bwMode="white">
          <a:xfrm>
            <a:off x="5818151" y="1022762"/>
            <a:ext cx="2248808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cxnSp>
        <p:nvCxnSpPr>
          <p:cNvPr id="27" name="Straight Arrow Connector 26" descr="Arrow drawn from user/workload  to the action being performed by the user such as accessing cloud apps."/>
          <p:cNvCxnSpPr/>
          <p:nvPr/>
        </p:nvCxnSpPr>
        <p:spPr bwMode="white">
          <a:xfrm>
            <a:off x="2195232" y="3159047"/>
            <a:ext cx="3959471" cy="1"/>
          </a:xfrm>
          <a:prstGeom prst="straightConnector1">
            <a:avLst/>
          </a:prstGeom>
          <a:ln w="76200"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2" name="GrantLabelGrantAccess"/>
          <p:cNvSpPr txBox="1">
            <a:spLocks noChangeArrowheads="1"/>
          </p:cNvSpPr>
          <p:nvPr/>
        </p:nvSpPr>
        <p:spPr bwMode="white">
          <a:xfrm>
            <a:off x="3928464" y="2723089"/>
            <a:ext cx="1381340" cy="369332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algn="ctr" defTabSz="457200"/>
            <a:r>
              <a:rPr lang="en-US" b="1" dirty="0">
                <a:solidFill>
                  <a:srgbClr val="00B050"/>
                </a:solidFill>
              </a:rPr>
              <a:t>Grant access</a:t>
            </a:r>
          </a:p>
        </p:txBody>
      </p:sp>
      <p:pic>
        <p:nvPicPr>
          <p:cNvPr id="35" name="IconGrantAccess" descr="Picture with gren tick sign to indicate access was granted"/>
          <p:cNvPicPr>
            <a:picLocks noChangeAspect="1"/>
          </p:cNvPicPr>
          <p:nvPr/>
        </p:nvPicPr>
        <p:blipFill>
          <a:blip r:embed="rId3">
            <a:lum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 bwMode="white">
          <a:xfrm>
            <a:off x="5309361" y="2730170"/>
            <a:ext cx="356616" cy="35661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3" name="CloudAppActionIncExc"/>
          <p:cNvSpPr txBox="1">
            <a:spLocks noChangeArrowheads="1"/>
          </p:cNvSpPr>
          <p:nvPr/>
        </p:nvSpPr>
        <p:spPr bwMode="white">
          <a:xfrm>
            <a:off x="6039518" y="3662782"/>
            <a:ext cx="3649518" cy="315161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</p:txBody>
      </p:sp>
      <p:pic>
        <p:nvPicPr>
          <p:cNvPr id="26" name="IconGroupIdentity"/>
          <p:cNvPicPr>
            <a:picLocks noChangeAspect="1"/>
          </p:cNvPicPr>
          <p:nvPr/>
        </p:nvPicPr>
        <p:blipFill>
          <a:blip r:embed="rId5">
            <a:lum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 bwMode="white">
          <a:xfrm>
            <a:off x="327701" y="2839007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36" name="Graphic 35"/>
          <p:cNvPicPr>
            <a:picLocks noChangeAspect="1"/>
          </p:cNvPicPr>
          <p:nvPr/>
        </p:nvPicPr>
        <p:blipFill>
          <a:blip r:embed="rId7">
            <a:lum/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p:blipFill>
        <p:spPr bwMode="white">
          <a:xfrm>
            <a:off x="495610" y="197468"/>
            <a:ext cx="381196" cy="38119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" name="CloudAppAction"/>
          <p:cNvSpPr>
            <a:spLocks/>
          </p:cNvSpPr>
          <p:nvPr/>
        </p:nvSpPr>
        <p:spPr bwMode="auto">
          <a:xfrm>
            <a:off x="6206089" y="2718506"/>
            <a:ext cx="3227026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All cloud apps</a:t>
            </a:r>
          </a:p>
        </p:txBody>
      </p:sp>
      <p:pic>
        <p:nvPicPr>
          <p:cNvPr id="75" name="IconAccessAllCloudApps"/>
          <p:cNvPicPr>
            <a:picLocks noChangeAspect="1"/>
          </p:cNvPicPr>
          <p:nvPr/>
        </p:nvPicPr>
        <p:blipFill>
          <a:blip r:embed="rId9">
            <a:lum/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p:blipFill>
        <p:spPr bwMode="white">
          <a:xfrm>
            <a:off x="6439264" y="2836824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21" name="StateEnabled"/>
          <p:cNvSpPr>
            <a:spLocks/>
          </p:cNvSpPr>
          <p:nvPr/>
        </p:nvSpPr>
        <p:spPr bwMode="white">
          <a:xfrm>
            <a:off x="10842171" y="83487"/>
            <a:ext cx="1260389" cy="264812"/>
          </a:xfrm>
          <a:prstGeom prst="round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r>
              <a:rPr lang="en-US" sz="800" dirty="0"/>
              <a:t>Policy Enabled</a:t>
            </a:r>
          </a:p>
        </p:txBody>
      </p:sp>
      <p:grpSp>
        <p:nvGrpSpPr>
          <p:cNvPr id="10" name="IconRiskyUsers"/>
          <p:cNvGrpSpPr>
            <a:grpSpLocks/>
          </p:cNvGrpSpPr>
          <p:nvPr/>
        </p:nvGrpSpPr>
        <p:grpSpPr bwMode="white">
          <a:xfrm>
            <a:off x="635426" y="738677"/>
            <a:ext cx="1202553" cy="274320"/>
            <a:chOff x="2013768" y="1033956"/>
            <a:chExt cx="1342320" cy="274320"/>
          </a:xfrm>
        </p:grpSpPr>
        <p:pic>
          <p:nvPicPr>
            <p:cNvPr id="46" name="Graphic 1"/>
            <p:cNvPicPr>
              <a:picLocks noChangeAspect="1"/>
            </p:cNvPicPr>
            <p:nvPr/>
          </p:nvPicPr>
          <p:blipFill>
            <a:blip r:embed="rId11">
              <a:lum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013768" y="1033956"/>
              <a:ext cx="274320" cy="27432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5" name="Label 1"/>
            <p:cNvSpPr txBox="1">
              <a:spLocks noChangeArrowheads="1"/>
            </p:cNvSpPr>
            <p:nvPr/>
          </p:nvSpPr>
          <p:spPr bwMode="white">
            <a:xfrm>
              <a:off x="2240077" y="1040706"/>
              <a:ext cx="1116011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Risk</a:t>
              </a:r>
            </a:p>
          </p:txBody>
        </p:sp>
      </p:grpSp>
      <p:grpSp>
        <p:nvGrpSpPr>
          <p:cNvPr id="14" name="IconPlatforms"/>
          <p:cNvGrpSpPr>
            <a:grpSpLocks/>
          </p:cNvGrpSpPr>
          <p:nvPr/>
        </p:nvGrpSpPr>
        <p:grpSpPr bwMode="white">
          <a:xfrm>
            <a:off x="1927788" y="715249"/>
            <a:ext cx="1719285" cy="365760"/>
            <a:chOff x="3262737" y="994835"/>
            <a:chExt cx="1719285" cy="365760"/>
          </a:xfrm>
        </p:grpSpPr>
        <p:pic>
          <p:nvPicPr>
            <p:cNvPr id="29" name="Graphic 1"/>
            <p:cNvPicPr>
              <a:picLocks noChangeAspect="1"/>
            </p:cNvPicPr>
            <p:nvPr/>
          </p:nvPicPr>
          <p:blipFill>
            <a:blip r:embed="rId13">
              <a:lum/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3262737" y="994835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1" name="Label 1"/>
            <p:cNvSpPr txBox="1">
              <a:spLocks noChangeArrowheads="1"/>
            </p:cNvSpPr>
            <p:nvPr/>
          </p:nvSpPr>
          <p:spPr bwMode="white">
            <a:xfrm>
              <a:off x="3582397" y="1027255"/>
              <a:ext cx="1399625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Device platforms</a:t>
              </a:r>
            </a:p>
          </p:txBody>
        </p:sp>
      </p:grpSp>
      <p:grpSp>
        <p:nvGrpSpPr>
          <p:cNvPr id="17" name="IconClientAppTypes"/>
          <p:cNvGrpSpPr>
            <a:grpSpLocks/>
          </p:cNvGrpSpPr>
          <p:nvPr/>
        </p:nvGrpSpPr>
        <p:grpSpPr bwMode="white">
          <a:xfrm>
            <a:off x="3908159" y="670015"/>
            <a:ext cx="1852971" cy="365760"/>
            <a:chOff x="4858970" y="975927"/>
            <a:chExt cx="1852971" cy="365760"/>
          </a:xfrm>
        </p:grpSpPr>
        <p:pic>
          <p:nvPicPr>
            <p:cNvPr id="58" name="Graphic 1"/>
            <p:cNvPicPr>
              <a:picLocks noChangeAspect="1"/>
            </p:cNvPicPr>
            <p:nvPr/>
          </p:nvPicPr>
          <p:blipFill>
            <a:blip r:embed="rId15">
              <a:lum/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858970" y="975927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5" name="Label 1"/>
            <p:cNvSpPr txBox="1">
              <a:spLocks noChangeArrowheads="1"/>
            </p:cNvSpPr>
            <p:nvPr/>
          </p:nvSpPr>
          <p:spPr bwMode="white">
            <a:xfrm>
              <a:off x="5193983" y="1009899"/>
              <a:ext cx="1517958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Client apps</a:t>
              </a:r>
            </a:p>
          </p:txBody>
        </p:sp>
      </p:grpSp>
      <p:grpSp>
        <p:nvGrpSpPr>
          <p:cNvPr id="37" name="IconLocations"/>
          <p:cNvGrpSpPr>
            <a:grpSpLocks/>
          </p:cNvGrpSpPr>
          <p:nvPr/>
        </p:nvGrpSpPr>
        <p:grpSpPr bwMode="white">
          <a:xfrm>
            <a:off x="8411896" y="646848"/>
            <a:ext cx="1850168" cy="388465"/>
            <a:chOff x="2321433" y="3262888"/>
            <a:chExt cx="1850168" cy="388465"/>
          </a:xfrm>
        </p:grpSpPr>
        <p:pic>
          <p:nvPicPr>
            <p:cNvPr id="33" name="Graphic 1"/>
            <p:cNvPicPr>
              <a:picLocks noChangeAspect="1"/>
            </p:cNvPicPr>
            <p:nvPr/>
          </p:nvPicPr>
          <p:blipFill>
            <a:blip r:embed="rId17">
              <a:lum/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321433" y="3262888"/>
              <a:ext cx="388465" cy="388465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28" name="Label 1"/>
            <p:cNvSpPr txBox="1">
              <a:spLocks noChangeArrowheads="1"/>
            </p:cNvSpPr>
            <p:nvPr/>
          </p:nvSpPr>
          <p:spPr bwMode="white">
            <a:xfrm>
              <a:off x="2713321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Locations</a:t>
              </a:r>
              <a:endParaRPr lang="en-US" sz="1100" b="1" dirty="0"/>
            </a:p>
          </p:txBody>
        </p:sp>
      </p:grpSp>
      <p:grpSp>
        <p:nvGrpSpPr>
          <p:cNvPr id="39" name="IconDeviceFilters"/>
          <p:cNvGrpSpPr>
            <a:grpSpLocks/>
          </p:cNvGrpSpPr>
          <p:nvPr/>
        </p:nvGrpSpPr>
        <p:grpSpPr bwMode="white">
          <a:xfrm>
            <a:off x="5472818" y="661958"/>
            <a:ext cx="1839823" cy="364111"/>
            <a:chOff x="4195414" y="3273669"/>
            <a:chExt cx="1839823" cy="364111"/>
          </a:xfrm>
        </p:grpSpPr>
        <p:pic>
          <p:nvPicPr>
            <p:cNvPr id="60" name="Graphic 1"/>
            <p:cNvPicPr>
              <a:picLocks noChangeAspect="1"/>
            </p:cNvPicPr>
            <p:nvPr/>
          </p:nvPicPr>
          <p:blipFill>
            <a:blip r:embed="rId19">
              <a:lum/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195414" y="3273669"/>
              <a:ext cx="364111" cy="364111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31" name="Label 1"/>
            <p:cNvSpPr txBox="1">
              <a:spLocks noChangeArrowheads="1"/>
            </p:cNvSpPr>
            <p:nvPr/>
          </p:nvSpPr>
          <p:spPr bwMode="white">
            <a:xfrm>
              <a:off x="4576957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Filter for devices</a:t>
              </a:r>
              <a:endParaRPr lang="en-US" sz="1100" b="1" dirty="0"/>
            </a:p>
          </p:txBody>
        </p:sp>
      </p:grpSp>
      <p:pic>
        <p:nvPicPr>
          <p:cNvPr id="62" name="IconGrantMultifactorAuthentication"/>
          <p:cNvPicPr>
            <a:picLocks noChangeAspect="1"/>
          </p:cNvPicPr>
          <p:nvPr/>
        </p:nvPicPr>
        <p:blipFill>
          <a:blip r:embed="rId21">
            <a:lum/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>
            <a:fillRect/>
          </a:stretch>
        </p:blipFill>
        <p:spPr bwMode="white">
          <a:xfrm>
            <a:off x="3410647" y="3566863"/>
            <a:ext cx="17145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5" name="IconGrantMultifactorAuthenticationLabel"/>
          <p:cNvSpPr txBox="1">
            <a:spLocks noChangeArrowheads="1"/>
          </p:cNvSpPr>
          <p:nvPr/>
        </p:nvSpPr>
        <p:spPr bwMode="white">
          <a:xfrm>
            <a:off x="3575836" y="3571997"/>
            <a:ext cx="19007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Multifactor authentication</a:t>
            </a:r>
            <a:endParaRPr lang="en-US" sz="1000" dirty="0"/>
          </a:p>
        </p:txBody>
      </p:sp>
      <p:pic>
        <p:nvPicPr>
          <p:cNvPr id="38" name="IconGrantAuthenticationStrength"/>
          <p:cNvPicPr>
            <a:picLocks noChangeAspect="1"/>
          </p:cNvPicPr>
          <p:nvPr/>
        </p:nvPicPr>
        <p:blipFill>
          <a:blip r:embed="rId23">
            <a:lum/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/>
          <a:stretch>
            <a:fillRect/>
          </a:stretch>
        </p:blipFill>
        <p:spPr bwMode="white">
          <a:xfrm>
            <a:off x="3374515" y="3905034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7" name="IconGrantAuthenticationStrengthLabel"/>
          <p:cNvSpPr txBox="1">
            <a:spLocks noChangeArrowheads="1"/>
          </p:cNvSpPr>
          <p:nvPr/>
        </p:nvSpPr>
        <p:spPr bwMode="white">
          <a:xfrm>
            <a:off x="3575836" y="3907323"/>
            <a:ext cx="2185294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Auth strength:Phishing-resistant MFA</a:t>
            </a:r>
            <a:endParaRPr lang="en-US" sz="1000" dirty="0"/>
          </a:p>
        </p:txBody>
      </p:sp>
      <p:pic>
        <p:nvPicPr>
          <p:cNvPr id="52" name="IconGrantDeviceCompliance"/>
          <p:cNvPicPr>
            <a:picLocks noChangeAspect="1"/>
          </p:cNvPicPr>
          <p:nvPr/>
        </p:nvPicPr>
        <p:blipFill>
          <a:blip r:embed="rId25">
            <a:lum/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/>
          <a:stretch>
            <a:fillRect/>
          </a:stretch>
        </p:blipFill>
        <p:spPr bwMode="white">
          <a:xfrm>
            <a:off x="3374515" y="4243205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9" name="IconGrantDeviceComplianceLabel"/>
          <p:cNvSpPr txBox="1">
            <a:spLocks noChangeArrowheads="1"/>
          </p:cNvSpPr>
          <p:nvPr/>
        </p:nvSpPr>
        <p:spPr bwMode="white">
          <a:xfrm>
            <a:off x="3575836" y="4242649"/>
            <a:ext cx="17378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Compliant device</a:t>
            </a:r>
            <a:endParaRPr lang="en-US" sz="1000" dirty="0"/>
          </a:p>
        </p:txBody>
      </p:sp>
      <p:pic>
        <p:nvPicPr>
          <p:cNvPr id="43" name="IconGrantHybridJoined"/>
          <p:cNvPicPr>
            <a:picLocks noChangeAspect="1"/>
          </p:cNvPicPr>
          <p:nvPr/>
        </p:nvPicPr>
        <p:blipFill>
          <a:blip r:embed="rId27">
            <a:lum/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/>
          <a:stretch>
            <a:fillRect/>
          </a:stretch>
        </p:blipFill>
        <p:spPr bwMode="white">
          <a:xfrm>
            <a:off x="3374515" y="4581376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3" name="IconGrantHybridJoinedLabel"/>
          <p:cNvSpPr txBox="1">
            <a:spLocks noChangeArrowheads="1"/>
          </p:cNvSpPr>
          <p:nvPr/>
        </p:nvSpPr>
        <p:spPr bwMode="white">
          <a:xfrm>
            <a:off x="3575836" y="4577975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Hybrid Azure AD joined device</a:t>
            </a:r>
            <a:endParaRPr lang="en-US" sz="1000" dirty="0"/>
          </a:p>
        </p:txBody>
      </p:sp>
      <p:pic>
        <p:nvPicPr>
          <p:cNvPr id="48" name="IconGrantApprovedClientApp"/>
          <p:cNvPicPr>
            <a:picLocks noChangeAspect="1"/>
          </p:cNvPicPr>
          <p:nvPr/>
        </p:nvPicPr>
        <p:blipFill>
          <a:blip r:embed="rId29">
            <a:lum/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rcRect/>
          <a:stretch>
            <a:fillRect/>
          </a:stretch>
        </p:blipFill>
        <p:spPr bwMode="white">
          <a:xfrm>
            <a:off x="3374515" y="491954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5" name="IconGrantApprovedClientAppLabel"/>
          <p:cNvSpPr txBox="1">
            <a:spLocks noChangeArrowheads="1"/>
          </p:cNvSpPr>
          <p:nvPr/>
        </p:nvSpPr>
        <p:spPr bwMode="white">
          <a:xfrm>
            <a:off x="3575836" y="4913301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Approved client app</a:t>
            </a:r>
            <a:endParaRPr lang="en-US" sz="1000" dirty="0"/>
          </a:p>
        </p:txBody>
      </p:sp>
      <p:pic>
        <p:nvPicPr>
          <p:cNvPr id="42" name="IconGrantCustomAuth"/>
          <p:cNvPicPr>
            <a:picLocks noChangeAspect="1"/>
          </p:cNvPicPr>
          <p:nvPr/>
        </p:nvPicPr>
        <p:blipFill>
          <a:blip r:embed="rId31">
            <a:lum/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rcRect/>
          <a:stretch>
            <a:fillRect/>
          </a:stretch>
        </p:blipFill>
        <p:spPr bwMode="white">
          <a:xfrm>
            <a:off x="3374515" y="593406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9" name="IconGrantCustomAuthLabel"/>
          <p:cNvSpPr txBox="1">
            <a:spLocks noChangeArrowheads="1"/>
          </p:cNvSpPr>
          <p:nvPr/>
        </p:nvSpPr>
        <p:spPr bwMode="white">
          <a:xfrm>
            <a:off x="3575836" y="5919279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Custom authentication factor</a:t>
            </a:r>
            <a:endParaRPr lang="en-US" sz="1000" dirty="0"/>
          </a:p>
        </p:txBody>
      </p:sp>
      <p:pic>
        <p:nvPicPr>
          <p:cNvPr id="40" name="IconGrantTermsOfUse"/>
          <p:cNvPicPr>
            <a:picLocks noChangeAspect="1"/>
          </p:cNvPicPr>
          <p:nvPr/>
        </p:nvPicPr>
        <p:blipFill>
          <a:blip r:embed="rId33">
            <a:lum/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rcRect/>
          <a:stretch>
            <a:fillRect/>
          </a:stretch>
        </p:blipFill>
        <p:spPr bwMode="white">
          <a:xfrm>
            <a:off x="3374515" y="627222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3" name="IconGrantTermsOfUseLabel"/>
          <p:cNvSpPr txBox="1">
            <a:spLocks noChangeArrowheads="1"/>
          </p:cNvSpPr>
          <p:nvPr/>
        </p:nvSpPr>
        <p:spPr bwMode="white">
          <a:xfrm>
            <a:off x="3575836" y="625460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Terms of use</a:t>
            </a:r>
            <a:endParaRPr lang="en-US" sz="1000" dirty="0"/>
          </a:p>
        </p:txBody>
      </p:sp>
      <p:sp>
        <p:nvSpPr>
          <p:cNvPr id="56" name="IconGrantAppProtectionLabel"/>
          <p:cNvSpPr txBox="1">
            <a:spLocks noChangeArrowheads="1"/>
          </p:cNvSpPr>
          <p:nvPr/>
        </p:nvSpPr>
        <p:spPr bwMode="white">
          <a:xfrm>
            <a:off x="3575836" y="524862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 protection policy</a:t>
            </a:r>
            <a:endParaRPr lang="en-US" sz="1000" dirty="0"/>
          </a:p>
        </p:txBody>
      </p:sp>
      <p:pic>
        <p:nvPicPr>
          <p:cNvPr id="65" name="IconGrantAppProtection"/>
          <p:cNvPicPr>
            <a:picLocks noChangeAspect="1"/>
          </p:cNvPicPr>
          <p:nvPr/>
        </p:nvPicPr>
        <p:blipFill>
          <a:blip r:embed="rId35">
            <a:lum/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rcRect/>
          <a:stretch>
            <a:fillRect/>
          </a:stretch>
        </p:blipFill>
        <p:spPr bwMode="white">
          <a:xfrm>
            <a:off x="3374515" y="525771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7" name="IconGrantChangePasswordLabel"/>
          <p:cNvSpPr txBox="1">
            <a:spLocks noChangeArrowheads="1"/>
          </p:cNvSpPr>
          <p:nvPr/>
        </p:nvSpPr>
        <p:spPr bwMode="white">
          <a:xfrm>
            <a:off x="3575836" y="5583953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Change password</a:t>
            </a:r>
            <a:endParaRPr lang="en-US" sz="1000" dirty="0"/>
          </a:p>
        </p:txBody>
      </p:sp>
      <p:pic>
        <p:nvPicPr>
          <p:cNvPr id="67" name="IconGrantChangePassword"/>
          <p:cNvPicPr>
            <a:picLocks noChangeAspect="1"/>
          </p:cNvPicPr>
          <p:nvPr/>
        </p:nvPicPr>
        <p:blipFill>
          <a:blip r:embed="rId37">
            <a:lum/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rcRect/>
          <a:stretch>
            <a:fillRect/>
          </a:stretch>
        </p:blipFill>
        <p:spPr bwMode="white">
          <a:xfrm>
            <a:off x="3374515" y="5595889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4" name="ShadeRisk"/>
          <p:cNvSpPr>
            <a:spLocks/>
          </p:cNvSpPr>
          <p:nvPr/>
        </p:nvSpPr>
        <p:spPr bwMode="white">
          <a:xfrm>
            <a:off x="507564" y="650246"/>
            <a:ext cx="976864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66" name="ShadeDevicePlatforms"/>
          <p:cNvSpPr>
            <a:spLocks/>
          </p:cNvSpPr>
          <p:nvPr/>
        </p:nvSpPr>
        <p:spPr bwMode="white">
          <a:xfrm>
            <a:off x="1863623" y="663409"/>
            <a:ext cx="1773927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78" name="ShadeClientApps"/>
          <p:cNvSpPr>
            <a:spLocks/>
          </p:cNvSpPr>
          <p:nvPr/>
        </p:nvSpPr>
        <p:spPr bwMode="white">
          <a:xfrm>
            <a:off x="3802273" y="650246"/>
            <a:ext cx="1481482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2" name="ShadeFilterForDevices"/>
          <p:cNvSpPr>
            <a:spLocks/>
          </p:cNvSpPr>
          <p:nvPr/>
        </p:nvSpPr>
        <p:spPr bwMode="white">
          <a:xfrm>
            <a:off x="5438955" y="627922"/>
            <a:ext cx="1873685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3" name="ShadeGrantMultifactorAuth"/>
          <p:cNvSpPr>
            <a:spLocks/>
          </p:cNvSpPr>
          <p:nvPr/>
        </p:nvSpPr>
        <p:spPr bwMode="white">
          <a:xfrm>
            <a:off x="3369399" y="3534220"/>
            <a:ext cx="2069555" cy="28330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5" name="ShadeGrantCompliantDevice"/>
          <p:cNvSpPr>
            <a:spLocks/>
          </p:cNvSpPr>
          <p:nvPr/>
        </p:nvSpPr>
        <p:spPr bwMode="white">
          <a:xfrm>
            <a:off x="3361852" y="4243205"/>
            <a:ext cx="2077102" cy="26110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6" name="ShadeGrantHybridAzureADJoined"/>
          <p:cNvSpPr>
            <a:spLocks/>
          </p:cNvSpPr>
          <p:nvPr/>
        </p:nvSpPr>
        <p:spPr bwMode="white">
          <a:xfrm>
            <a:off x="3353637" y="4552268"/>
            <a:ext cx="2160906" cy="298395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7" name="ShadeGrantApprovedClientApp"/>
          <p:cNvSpPr>
            <a:spLocks/>
          </p:cNvSpPr>
          <p:nvPr/>
        </p:nvSpPr>
        <p:spPr bwMode="white">
          <a:xfrm>
            <a:off x="3331918" y="4876027"/>
            <a:ext cx="2182625" cy="29839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8" name="ShadeGrantAppProtectionPolicy"/>
          <p:cNvSpPr>
            <a:spLocks/>
          </p:cNvSpPr>
          <p:nvPr/>
        </p:nvSpPr>
        <p:spPr bwMode="white">
          <a:xfrm>
            <a:off x="3350256" y="5207226"/>
            <a:ext cx="2122561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9" name="ShadeGrantChangePassword"/>
          <p:cNvSpPr>
            <a:spLocks/>
          </p:cNvSpPr>
          <p:nvPr/>
        </p:nvSpPr>
        <p:spPr bwMode="white">
          <a:xfrm>
            <a:off x="3350257" y="5557021"/>
            <a:ext cx="2042006" cy="287239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0" name="ShadeGrantCustomAuthFactor"/>
          <p:cNvSpPr>
            <a:spLocks/>
          </p:cNvSpPr>
          <p:nvPr/>
        </p:nvSpPr>
        <p:spPr bwMode="white">
          <a:xfrm>
            <a:off x="3331918" y="5899058"/>
            <a:ext cx="2182625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1" name="ShadeGrantTermsOfUse"/>
          <p:cNvSpPr>
            <a:spLocks/>
          </p:cNvSpPr>
          <p:nvPr/>
        </p:nvSpPr>
        <p:spPr bwMode="white">
          <a:xfrm>
            <a:off x="3313823" y="6192350"/>
            <a:ext cx="101602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99" name="Rectangle 98"/>
          <p:cNvSpPr>
            <a:spLocks/>
          </p:cNvSpPr>
          <p:nvPr/>
        </p:nvSpPr>
        <p:spPr bwMode="white">
          <a:xfrm>
            <a:off x="3268757" y="3253404"/>
            <a:ext cx="2357725" cy="3498546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0" name="Rectangle 109"/>
          <p:cNvSpPr>
            <a:spLocks/>
          </p:cNvSpPr>
          <p:nvPr/>
        </p:nvSpPr>
        <p:spPr bwMode="white">
          <a:xfrm>
            <a:off x="9881750" y="3248255"/>
            <a:ext cx="2220808" cy="3510149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7" name="Rectangle 116"/>
          <p:cNvSpPr>
            <a:spLocks/>
          </p:cNvSpPr>
          <p:nvPr/>
        </p:nvSpPr>
        <p:spPr bwMode="white">
          <a:xfrm>
            <a:off x="26741" y="606825"/>
            <a:ext cx="11985015" cy="2063636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2" name="Conditions Label"/>
          <p:cNvSpPr txBox="1">
            <a:spLocks noChangeArrowheads="1"/>
          </p:cNvSpPr>
          <p:nvPr/>
        </p:nvSpPr>
        <p:spPr bwMode="white">
          <a:xfrm rot="16200000">
            <a:off x="-883507" y="1514324"/>
            <a:ext cx="2081441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Conditions</a:t>
            </a:r>
          </a:p>
        </p:txBody>
      </p:sp>
      <p:sp>
        <p:nvSpPr>
          <p:cNvPr id="109" name="Grant Controls"/>
          <p:cNvSpPr txBox="1">
            <a:spLocks noChangeArrowheads="1"/>
          </p:cNvSpPr>
          <p:nvPr/>
        </p:nvSpPr>
        <p:spPr bwMode="white">
          <a:xfrm>
            <a:off x="3252146" y="3244395"/>
            <a:ext cx="2391873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Grant Controls</a:t>
            </a:r>
          </a:p>
        </p:txBody>
      </p:sp>
      <p:sp>
        <p:nvSpPr>
          <p:cNvPr id="111" name="Session Controls"/>
          <p:cNvSpPr txBox="1">
            <a:spLocks noChangeArrowheads="1"/>
          </p:cNvSpPr>
          <p:nvPr/>
        </p:nvSpPr>
        <p:spPr bwMode="white">
          <a:xfrm>
            <a:off x="9864212" y="3243751"/>
            <a:ext cx="2238346" cy="23786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Session Controls</a:t>
            </a:r>
          </a:p>
        </p:txBody>
      </p:sp>
      <p:pic>
        <p:nvPicPr>
          <p:cNvPr id="72" name="Graphic 71"/>
          <p:cNvPicPr>
            <a:picLocks noChangeAspect="1"/>
          </p:cNvPicPr>
          <p:nvPr/>
        </p:nvPicPr>
        <p:blipFill>
          <a:blip r:embed="rId39">
            <a:lum/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rcRect/>
          <a:stretch>
            <a:fillRect/>
          </a:stretch>
        </p:blipFill>
        <p:spPr bwMode="white">
          <a:xfrm>
            <a:off x="9996846" y="356982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4" name="Graphic 93"/>
          <p:cNvPicPr>
            <a:picLocks noChangeAspect="1"/>
          </p:cNvPicPr>
          <p:nvPr/>
        </p:nvPicPr>
        <p:blipFill>
          <a:blip r:embed="rId41">
            <a:lum/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rcRect/>
          <a:stretch>
            <a:fillRect/>
          </a:stretch>
        </p:blipFill>
        <p:spPr bwMode="white">
          <a:xfrm>
            <a:off x="10009443" y="525644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5" name="TextBox 94"/>
          <p:cNvSpPr txBox="1">
            <a:spLocks noChangeArrowheads="1"/>
          </p:cNvSpPr>
          <p:nvPr/>
        </p:nvSpPr>
        <p:spPr bwMode="white">
          <a:xfrm>
            <a:off x="10207481" y="3578463"/>
            <a:ext cx="150554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App enforced restrictions</a:t>
            </a:r>
          </a:p>
        </p:txBody>
      </p:sp>
      <p:sp>
        <p:nvSpPr>
          <p:cNvPr id="96" name="TextBox 95"/>
          <p:cNvSpPr txBox="1">
            <a:spLocks noChangeArrowheads="1"/>
          </p:cNvSpPr>
          <p:nvPr/>
        </p:nvSpPr>
        <p:spPr bwMode="white">
          <a:xfrm>
            <a:off x="10201167" y="3899846"/>
            <a:ext cx="181011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Conditional Access App Control</a:t>
            </a:r>
          </a:p>
        </p:txBody>
      </p:sp>
      <p:sp>
        <p:nvSpPr>
          <p:cNvPr id="97" name="TextBox 96"/>
          <p:cNvSpPr txBox="1">
            <a:spLocks noChangeArrowheads="1"/>
          </p:cNvSpPr>
          <p:nvPr/>
        </p:nvSpPr>
        <p:spPr bwMode="white">
          <a:xfrm>
            <a:off x="10215627" y="4357505"/>
            <a:ext cx="1090363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Sign-in frequency</a:t>
            </a:r>
          </a:p>
        </p:txBody>
      </p:sp>
      <p:sp>
        <p:nvSpPr>
          <p:cNvPr id="98" name="TextBox 97"/>
          <p:cNvSpPr txBox="1">
            <a:spLocks noChangeArrowheads="1"/>
          </p:cNvSpPr>
          <p:nvPr/>
        </p:nvSpPr>
        <p:spPr bwMode="white">
          <a:xfrm>
            <a:off x="10225446" y="4793305"/>
            <a:ext cx="156966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Persistent browser session</a:t>
            </a:r>
          </a:p>
        </p:txBody>
      </p:sp>
      <p:sp>
        <p:nvSpPr>
          <p:cNvPr id="100" name="TextBox 99"/>
          <p:cNvSpPr txBox="1">
            <a:spLocks noChangeArrowheads="1"/>
          </p:cNvSpPr>
          <p:nvPr/>
        </p:nvSpPr>
        <p:spPr bwMode="white">
          <a:xfrm>
            <a:off x="10229552" y="5232376"/>
            <a:ext cx="1717137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Continuous access evaluation</a:t>
            </a:r>
          </a:p>
        </p:txBody>
      </p:sp>
      <p:sp>
        <p:nvSpPr>
          <p:cNvPr id="101" name="TextBox 100"/>
          <p:cNvSpPr txBox="1">
            <a:spLocks noChangeArrowheads="1"/>
          </p:cNvSpPr>
          <p:nvPr/>
        </p:nvSpPr>
        <p:spPr bwMode="white">
          <a:xfrm>
            <a:off x="10259108" y="5658625"/>
            <a:ext cx="153599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Disable resilience defaults</a:t>
            </a:r>
          </a:p>
        </p:txBody>
      </p:sp>
      <p:pic>
        <p:nvPicPr>
          <p:cNvPr id="103" name="Graphic 102"/>
          <p:cNvPicPr>
            <a:picLocks noChangeAspect="1"/>
          </p:cNvPicPr>
          <p:nvPr/>
        </p:nvPicPr>
        <p:blipFill>
          <a:blip r:embed="rId43">
            <a:lum/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rcRect/>
          <a:stretch>
            <a:fillRect/>
          </a:stretch>
        </p:blipFill>
        <p:spPr bwMode="white">
          <a:xfrm>
            <a:off x="9996846" y="479900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5" name="Graphic 104"/>
          <p:cNvPicPr>
            <a:picLocks noChangeAspect="1"/>
          </p:cNvPicPr>
          <p:nvPr/>
        </p:nvPicPr>
        <p:blipFill>
          <a:blip r:embed="rId45">
            <a:lum/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rcRect/>
          <a:stretch>
            <a:fillRect/>
          </a:stretch>
        </p:blipFill>
        <p:spPr bwMode="white">
          <a:xfrm>
            <a:off x="9996846" y="437457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7" name="Graphic 106"/>
          <p:cNvPicPr>
            <a:picLocks noChangeAspect="1"/>
          </p:cNvPicPr>
          <p:nvPr/>
        </p:nvPicPr>
        <p:blipFill>
          <a:blip r:embed="rId7">
            <a:lum/>
            <a:extLst>
              <a:ext uri="{96DAC541-7B7A-43D3-8B79-37D633B846F1}">
                <asvg:svgBlip xmlns:asvg="http://schemas.microsoft.com/office/drawing/2016/SVG/main" r:embed="rId47"/>
              </a:ext>
            </a:extLst>
          </a:blip>
          <a:srcRect/>
          <a:stretch>
            <a:fillRect/>
          </a:stretch>
        </p:blipFill>
        <p:spPr bwMode="white">
          <a:xfrm>
            <a:off x="9996846" y="391529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15" name="SessionSifInterval"/>
          <p:cNvSpPr txBox="1">
            <a:spLocks noChangeArrowheads="1"/>
          </p:cNvSpPr>
          <p:nvPr/>
        </p:nvSpPr>
        <p:spPr bwMode="white">
          <a:xfrm>
            <a:off x="10296745" y="4516775"/>
            <a:ext cx="1249060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Periodic reauthentication</a:t>
            </a:r>
          </a:p>
        </p:txBody>
      </p:sp>
      <p:sp>
        <p:nvSpPr>
          <p:cNvPr id="114" name="SessionCasType"/>
          <p:cNvSpPr txBox="1">
            <a:spLocks noChangeArrowheads="1"/>
          </p:cNvSpPr>
          <p:nvPr/>
        </p:nvSpPr>
        <p:spPr bwMode="white">
          <a:xfrm>
            <a:off x="10296745" y="4075500"/>
            <a:ext cx="95410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App Control Policy</a:t>
            </a:r>
          </a:p>
        </p:txBody>
      </p:sp>
      <p:sp>
        <p:nvSpPr>
          <p:cNvPr id="116" name="SessionPersistenBrowserMode"/>
          <p:cNvSpPr txBox="1">
            <a:spLocks noChangeArrowheads="1"/>
          </p:cNvSpPr>
          <p:nvPr/>
        </p:nvSpPr>
        <p:spPr bwMode="white">
          <a:xfrm>
            <a:off x="10309761" y="4945281"/>
            <a:ext cx="918841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Always persistent</a:t>
            </a:r>
          </a:p>
        </p:txBody>
      </p:sp>
      <p:sp>
        <p:nvSpPr>
          <p:cNvPr id="118" name="SessionCaeMode"/>
          <p:cNvSpPr txBox="1">
            <a:spLocks noChangeArrowheads="1"/>
          </p:cNvSpPr>
          <p:nvPr/>
        </p:nvSpPr>
        <p:spPr bwMode="white">
          <a:xfrm>
            <a:off x="10301386" y="5393378"/>
            <a:ext cx="15359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US" sz="800" dirty="0"/>
              <a:t>Strictly enforce location policies</a:t>
            </a:r>
          </a:p>
        </p:txBody>
      </p:sp>
      <p:sp>
        <p:nvSpPr>
          <p:cNvPr id="119" name="ShadeSessionAppEnforced"/>
          <p:cNvSpPr>
            <a:spLocks/>
          </p:cNvSpPr>
          <p:nvPr/>
        </p:nvSpPr>
        <p:spPr bwMode="white">
          <a:xfrm>
            <a:off x="9959680" y="3548808"/>
            <a:ext cx="2051597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0" name="ShadeSessionCas"/>
          <p:cNvSpPr>
            <a:spLocks/>
          </p:cNvSpPr>
          <p:nvPr/>
        </p:nvSpPr>
        <p:spPr bwMode="white">
          <a:xfrm>
            <a:off x="9978939" y="3884212"/>
            <a:ext cx="2087576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1" name="ShadeSessionSif"/>
          <p:cNvSpPr>
            <a:spLocks/>
          </p:cNvSpPr>
          <p:nvPr/>
        </p:nvSpPr>
        <p:spPr bwMode="white">
          <a:xfrm>
            <a:off x="9940787" y="4320077"/>
            <a:ext cx="2125728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2" name="ShadeSessionPersistentBrowser"/>
          <p:cNvSpPr>
            <a:spLocks/>
          </p:cNvSpPr>
          <p:nvPr/>
        </p:nvSpPr>
        <p:spPr bwMode="white">
          <a:xfrm>
            <a:off x="9938833" y="4746195"/>
            <a:ext cx="207244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" name="Label Secure Sign In Session"/>
          <p:cNvSpPr txBox="1">
            <a:spLocks noChangeArrowheads="1"/>
          </p:cNvSpPr>
          <p:nvPr/>
        </p:nvSpPr>
        <p:spPr bwMode="white">
          <a:xfrm>
            <a:off x="10260000" y="6084874"/>
            <a:ext cx="166584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Token protection for session</a:t>
            </a:r>
          </a:p>
        </p:txBody>
      </p:sp>
      <p:pic>
        <p:nvPicPr>
          <p:cNvPr id="77" name="IconSessionCaeDisable" descr="Close with solid fill"/>
          <p:cNvPicPr>
            <a:picLocks noChangeAspect="1"/>
          </p:cNvPicPr>
          <p:nvPr/>
        </p:nvPicPr>
        <p:blipFill>
          <a:blip r:embed="rId48">
            <a:lum/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rcRect/>
          <a:stretch>
            <a:fillRect/>
          </a:stretch>
        </p:blipFill>
        <p:spPr bwMode="white">
          <a:xfrm>
            <a:off x="9979885" y="5218651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2" name="IconSessionSecureSignInSession 1"/>
          <p:cNvPicPr>
            <a:picLocks noChangeAspect="1"/>
          </p:cNvPicPr>
          <p:nvPr/>
        </p:nvPicPr>
        <p:blipFill>
          <a:blip r:embed="rId50">
            <a:lum/>
            <a:extLst>
              <a:ext uri="{96DAC541-7B7A-43D3-8B79-37D633B846F1}">
                <asvg:svgBlip xmlns:asvg="http://schemas.microsoft.com/office/drawing/2016/SVG/main" r:embed="rId51"/>
              </a:ext>
            </a:extLst>
          </a:blip>
          <a:srcRect/>
          <a:stretch>
            <a:fillRect/>
          </a:stretch>
        </p:blipFill>
        <p:spPr bwMode="white">
          <a:xfrm>
            <a:off x="9997200" y="6085768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3" name="ShadeSessionCae"/>
          <p:cNvSpPr>
            <a:spLocks/>
          </p:cNvSpPr>
          <p:nvPr/>
        </p:nvSpPr>
        <p:spPr bwMode="white">
          <a:xfrm>
            <a:off x="9987595" y="5219780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76" name="ShadeSessionSecureSignIn"/>
          <p:cNvSpPr>
            <a:spLocks/>
          </p:cNvSpPr>
          <p:nvPr/>
        </p:nvSpPr>
        <p:spPr bwMode="white">
          <a:xfrm>
            <a:off x="9996846" y="5986498"/>
            <a:ext cx="2014431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pic>
        <p:nvPicPr>
          <p:cNvPr id="102" name="Graphic 101"/>
          <p:cNvPicPr>
            <a:picLocks noChangeAspect="1"/>
          </p:cNvPicPr>
          <p:nvPr/>
        </p:nvPicPr>
        <p:blipFill>
          <a:blip r:embed="rId52">
            <a:lum/>
            <a:extLst>
              <a:ext uri="{96DAC541-7B7A-43D3-8B79-37D633B846F1}">
                <asvg:svgBlip xmlns:asvg="http://schemas.microsoft.com/office/drawing/2016/SVG/main" r:embed="rId53"/>
              </a:ext>
            </a:extLst>
          </a:blip>
          <a:srcRect/>
          <a:stretch>
            <a:fillRect/>
          </a:stretch>
        </p:blipFill>
        <p:spPr bwMode="white">
          <a:xfrm>
            <a:off x="9997200" y="5663777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80" name="Graphic 79" descr="Close with solid fill"/>
          <p:cNvPicPr>
            <a:picLocks noChangeAspect="1"/>
          </p:cNvPicPr>
          <p:nvPr/>
        </p:nvPicPr>
        <p:blipFill>
          <a:blip r:embed="rId48">
            <a:lum/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rcRect/>
          <a:stretch>
            <a:fillRect/>
          </a:stretch>
        </p:blipFill>
        <p:spPr bwMode="white">
          <a:xfrm>
            <a:off x="9963899" y="5637424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4" name="ShadeSessionDisableResilience"/>
          <p:cNvSpPr>
            <a:spLocks/>
          </p:cNvSpPr>
          <p:nvPr/>
        </p:nvSpPr>
        <p:spPr bwMode="white">
          <a:xfrm>
            <a:off x="9959681" y="5602709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2" name="PolicyName">
            <a:hlinkClick r:id="" action="ppaction://hlinkfile"/>
          </p:cNvPr>
          <p:cNvSpPr>
            <a:spLocks noGrp="1"/>
          </p:cNvSpPr>
          <p:nvPr>
            <p:ph type="title"/>
          </p:nvPr>
        </p:nvSpPr>
        <p:spPr bwMode="white">
          <a:xfrm>
            <a:off x="838200" y="115511"/>
            <a:ext cx="10003967" cy="609565"/>
          </a:xfrm>
          <a:ln>
            <a:headEnd type="none"/>
            <a:tailEnd type="none"/>
          </a:ln>
        </p:spPr>
        <p:txBody>
          <a:bodyPr wrap="square">
            <a:noAutofit/>
          </a:bodyPr>
          <a:lstStyle/>
          <a:p>
            <a:pPr defTabSz="914400"/>
            <a:r>
              <a:rPr lang="en-US" sz="2000" b="1" dirty="0"/>
              <a:t>[All Apps] [SVo365 Collibra] Service Account Login Requires Phishing-Resistant MFA </a:t>
            </a:r>
          </a:p>
        </p:txBody>
      </p:sp>
      <p:sp>
        <p:nvSpPr>
          <p:cNvPr id="16" name="LastModified"/>
          <p:cNvSpPr txBox="1">
            <a:spLocks noChangeArrowheads="1"/>
          </p:cNvSpPr>
          <p:nvPr/>
        </p:nvSpPr>
        <p:spPr bwMode="white">
          <a:xfrm>
            <a:off x="10556111" y="388376"/>
            <a:ext cx="15483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algn="r" defTabSz="457200"/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Last modified: 2025-06-03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UserWorkload"/>
          <p:cNvSpPr>
            <a:spLocks/>
          </p:cNvSpPr>
          <p:nvPr/>
        </p:nvSpPr>
        <p:spPr bwMode="auto">
          <a:xfrm>
            <a:off x="175820" y="2709769"/>
            <a:ext cx="2202823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Users</a:t>
            </a:r>
          </a:p>
        </p:txBody>
      </p:sp>
      <p:sp>
        <p:nvSpPr>
          <p:cNvPr id="7" name="UserWorkloadIncExc"/>
          <p:cNvSpPr txBox="1">
            <a:spLocks noChangeArrowheads="1"/>
          </p:cNvSpPr>
          <p:nvPr/>
        </p:nvSpPr>
        <p:spPr bwMode="white">
          <a:xfrm>
            <a:off x="125485" y="3698952"/>
            <a:ext cx="3062115" cy="313265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 numCol="1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b="1" dirty="0"/>
            </a:pPr>
            <a:r>
              <a:t> Users</a:t>
            </a:r>
          </a:p>
          <a:p>
            <a:pPr defTabSz="457200">
              <a:defRPr sz="1100" dirty="0"/>
            </a:pPr>
            <a:r>
              <a:t> - SVO365.PowerRPA-ACES</a:t>
            </a:r>
          </a:p>
          <a:p>
            <a:pPr defTabSz="457200">
              <a:defRPr sz="1100" dirty="0"/>
            </a:pPr>
            <a:r>
              <a:t> - SVO365.PowerRPA-ACES-PMR-Prod</a:t>
            </a:r>
          </a:p>
          <a:p>
            <a:pPr defTabSz="457200">
              <a:defRPr sz="1100" dirty="0"/>
            </a:pPr>
            <a:r>
              <a:t> - SVO365.PowerRPA-ACES-PMR-Test</a:t>
            </a:r>
          </a:p>
          <a:p>
            <a:pPr defTabSz="457200">
              <a:defRPr sz="1100" dirty="0"/>
            </a:pPr>
            <a:r>
              <a:t> - SVO365 PowerRPA-ACES-Dev</a:t>
            </a:r>
          </a:p>
          <a:p>
            <a:pPr defTabSz="457200">
              <a:defRPr sz="1100" dirty="0"/>
            </a:pPr>
            <a:r>
              <a:t> - SVO365 PowerRPA-ACES-Test</a:t>
            </a:r>
          </a:p>
          <a:p>
            <a:pPr defTabSz="457200">
              <a:defRPr sz="1100" dirty="0"/>
            </a:pPr>
            <a:r>
              <a:t> - SVO365.PowerDG-Prod</a:t>
            </a:r>
          </a:p>
          <a:p>
            <a:pPr defTabSz="457200">
              <a:defRPr sz="1100" dirty="0"/>
            </a:pPr>
            <a:r>
              <a:t> - SVO365.PowerRPA-ACES-FinCEN-prod</a:t>
            </a:r>
          </a:p>
          <a:p>
            <a:pPr defTabSz="457200">
              <a:defRPr sz="1100" dirty="0"/>
            </a:pPr>
            <a:r>
              <a:t> - SVO365.PowerRPA-Graph-Read</a:t>
            </a:r>
          </a:p>
          <a:p>
            <a:pPr defTabSz="457200">
              <a:defRPr sz="1100" dirty="0"/>
            </a:pPr>
            <a:r>
              <a:t> - SVO365.PowerApps-ACES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19" name="Risks"/>
          <p:cNvSpPr txBox="1">
            <a:spLocks noChangeArrowheads="1"/>
          </p:cNvSpPr>
          <p:nvPr/>
        </p:nvSpPr>
        <p:spPr bwMode="white">
          <a:xfrm>
            <a:off x="524485" y="1021946"/>
            <a:ext cx="1348869" cy="166886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0" name="Platforms"/>
          <p:cNvSpPr txBox="1">
            <a:spLocks noChangeArrowheads="1"/>
          </p:cNvSpPr>
          <p:nvPr/>
        </p:nvSpPr>
        <p:spPr bwMode="white">
          <a:xfrm>
            <a:off x="1826931" y="1021947"/>
            <a:ext cx="2061056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3" name="Locations"/>
          <p:cNvSpPr txBox="1">
            <a:spLocks noChangeArrowheads="1"/>
          </p:cNvSpPr>
          <p:nvPr/>
        </p:nvSpPr>
        <p:spPr bwMode="white">
          <a:xfrm>
            <a:off x="8324941" y="1021947"/>
            <a:ext cx="3513702" cy="159258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b="1" dirty="0"/>
            </a:pPr>
            <a:r>
              <a:t>✅ Include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r>
              <a:t>🚫 Exclude</a:t>
            </a:r>
          </a:p>
          <a:p>
            <a:pPr defTabSz="457200">
              <a:defRPr sz="1100" dirty="0"/>
            </a:pPr>
            <a:r>
              <a:t> - RPA Cloud Server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24" name="ClientAppTypes"/>
          <p:cNvSpPr txBox="1">
            <a:spLocks noChangeArrowheads="1"/>
          </p:cNvSpPr>
          <p:nvPr/>
        </p:nvSpPr>
        <p:spPr bwMode="white">
          <a:xfrm>
            <a:off x="3810664" y="1021947"/>
            <a:ext cx="1581599" cy="165343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5" name="DeviceFilters"/>
          <p:cNvSpPr txBox="1">
            <a:spLocks noChangeArrowheads="1"/>
          </p:cNvSpPr>
          <p:nvPr/>
        </p:nvSpPr>
        <p:spPr bwMode="white">
          <a:xfrm>
            <a:off x="5818151" y="1022762"/>
            <a:ext cx="2248808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cxnSp>
        <p:nvCxnSpPr>
          <p:cNvPr id="27" name="Straight Arrow Connector 26" descr="Arrow drawn from user/workload  to the action being performed by the user such as accessing cloud apps."/>
          <p:cNvCxnSpPr/>
          <p:nvPr/>
        </p:nvCxnSpPr>
        <p:spPr bwMode="white">
          <a:xfrm>
            <a:off x="2195232" y="3159047"/>
            <a:ext cx="3959471" cy="1"/>
          </a:xfrm>
          <a:prstGeom prst="straightConnector1">
            <a:avLst/>
          </a:prstGeom>
          <a:ln w="76200"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2" name="GrantLabelGrantAccess"/>
          <p:cNvSpPr txBox="1">
            <a:spLocks noChangeArrowheads="1"/>
          </p:cNvSpPr>
          <p:nvPr/>
        </p:nvSpPr>
        <p:spPr bwMode="white">
          <a:xfrm>
            <a:off x="3928464" y="2723089"/>
            <a:ext cx="1381340" cy="369332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algn="ctr" defTabSz="457200"/>
            <a:r>
              <a:rPr lang="en-US" b="1" dirty="0">
                <a:solidFill>
                  <a:srgbClr val="00B050"/>
                </a:solidFill>
              </a:rPr>
              <a:t>Grant access</a:t>
            </a:r>
          </a:p>
        </p:txBody>
      </p:sp>
      <p:pic>
        <p:nvPicPr>
          <p:cNvPr id="35" name="IconGrantAccess" descr="Picture with gren tick sign to indicate access was granted"/>
          <p:cNvPicPr>
            <a:picLocks noChangeAspect="1"/>
          </p:cNvPicPr>
          <p:nvPr/>
        </p:nvPicPr>
        <p:blipFill>
          <a:blip r:embed="rId3">
            <a:lum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 bwMode="white">
          <a:xfrm>
            <a:off x="5309361" y="2730170"/>
            <a:ext cx="356616" cy="35661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3" name="CloudAppActionIncExc"/>
          <p:cNvSpPr txBox="1">
            <a:spLocks noChangeArrowheads="1"/>
          </p:cNvSpPr>
          <p:nvPr/>
        </p:nvSpPr>
        <p:spPr bwMode="white">
          <a:xfrm>
            <a:off x="6039518" y="3662782"/>
            <a:ext cx="3649518" cy="315161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</p:txBody>
      </p:sp>
      <p:pic>
        <p:nvPicPr>
          <p:cNvPr id="26" name="IconGroupIdentity"/>
          <p:cNvPicPr>
            <a:picLocks noChangeAspect="1"/>
          </p:cNvPicPr>
          <p:nvPr/>
        </p:nvPicPr>
        <p:blipFill>
          <a:blip r:embed="rId5">
            <a:lum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 bwMode="white">
          <a:xfrm>
            <a:off x="327701" y="2839007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36" name="Graphic 35"/>
          <p:cNvPicPr>
            <a:picLocks noChangeAspect="1"/>
          </p:cNvPicPr>
          <p:nvPr/>
        </p:nvPicPr>
        <p:blipFill>
          <a:blip r:embed="rId7">
            <a:lum/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p:blipFill>
        <p:spPr bwMode="white">
          <a:xfrm>
            <a:off x="495610" y="197468"/>
            <a:ext cx="381196" cy="38119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" name="CloudAppAction"/>
          <p:cNvSpPr>
            <a:spLocks/>
          </p:cNvSpPr>
          <p:nvPr/>
        </p:nvSpPr>
        <p:spPr bwMode="auto">
          <a:xfrm>
            <a:off x="6206089" y="2718506"/>
            <a:ext cx="3227026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All cloud apps</a:t>
            </a:r>
          </a:p>
        </p:txBody>
      </p:sp>
      <p:pic>
        <p:nvPicPr>
          <p:cNvPr id="75" name="IconAccessAllCloudApps"/>
          <p:cNvPicPr>
            <a:picLocks noChangeAspect="1"/>
          </p:cNvPicPr>
          <p:nvPr/>
        </p:nvPicPr>
        <p:blipFill>
          <a:blip r:embed="rId9">
            <a:lum/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p:blipFill>
        <p:spPr bwMode="white">
          <a:xfrm>
            <a:off x="6439264" y="2836824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21" name="StateEnabled"/>
          <p:cNvSpPr>
            <a:spLocks/>
          </p:cNvSpPr>
          <p:nvPr/>
        </p:nvSpPr>
        <p:spPr bwMode="white">
          <a:xfrm>
            <a:off x="10842171" y="83487"/>
            <a:ext cx="1260389" cy="264812"/>
          </a:xfrm>
          <a:prstGeom prst="round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r>
              <a:rPr lang="en-US" sz="800" dirty="0"/>
              <a:t>Policy Enabled</a:t>
            </a:r>
          </a:p>
        </p:txBody>
      </p:sp>
      <p:grpSp>
        <p:nvGrpSpPr>
          <p:cNvPr id="10" name="IconRiskyUsers"/>
          <p:cNvGrpSpPr>
            <a:grpSpLocks/>
          </p:cNvGrpSpPr>
          <p:nvPr/>
        </p:nvGrpSpPr>
        <p:grpSpPr bwMode="white">
          <a:xfrm>
            <a:off x="635426" y="738677"/>
            <a:ext cx="1202553" cy="274320"/>
            <a:chOff x="2013768" y="1033956"/>
            <a:chExt cx="1342320" cy="274320"/>
          </a:xfrm>
        </p:grpSpPr>
        <p:pic>
          <p:nvPicPr>
            <p:cNvPr id="46" name="Graphic 1"/>
            <p:cNvPicPr>
              <a:picLocks noChangeAspect="1"/>
            </p:cNvPicPr>
            <p:nvPr/>
          </p:nvPicPr>
          <p:blipFill>
            <a:blip r:embed="rId11">
              <a:lum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013768" y="1033956"/>
              <a:ext cx="274320" cy="27432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5" name="Label 1"/>
            <p:cNvSpPr txBox="1">
              <a:spLocks noChangeArrowheads="1"/>
            </p:cNvSpPr>
            <p:nvPr/>
          </p:nvSpPr>
          <p:spPr bwMode="white">
            <a:xfrm>
              <a:off x="2240077" y="1040706"/>
              <a:ext cx="1116011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Risk</a:t>
              </a:r>
            </a:p>
          </p:txBody>
        </p:sp>
      </p:grpSp>
      <p:grpSp>
        <p:nvGrpSpPr>
          <p:cNvPr id="14" name="IconPlatforms"/>
          <p:cNvGrpSpPr>
            <a:grpSpLocks/>
          </p:cNvGrpSpPr>
          <p:nvPr/>
        </p:nvGrpSpPr>
        <p:grpSpPr bwMode="white">
          <a:xfrm>
            <a:off x="1927788" y="715249"/>
            <a:ext cx="1719285" cy="365760"/>
            <a:chOff x="3262737" y="994835"/>
            <a:chExt cx="1719285" cy="365760"/>
          </a:xfrm>
        </p:grpSpPr>
        <p:pic>
          <p:nvPicPr>
            <p:cNvPr id="29" name="Graphic 1"/>
            <p:cNvPicPr>
              <a:picLocks noChangeAspect="1"/>
            </p:cNvPicPr>
            <p:nvPr/>
          </p:nvPicPr>
          <p:blipFill>
            <a:blip r:embed="rId13">
              <a:lum/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3262737" y="994835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1" name="Label 1"/>
            <p:cNvSpPr txBox="1">
              <a:spLocks noChangeArrowheads="1"/>
            </p:cNvSpPr>
            <p:nvPr/>
          </p:nvSpPr>
          <p:spPr bwMode="white">
            <a:xfrm>
              <a:off x="3582397" y="1027255"/>
              <a:ext cx="1399625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Device platforms</a:t>
              </a:r>
            </a:p>
          </p:txBody>
        </p:sp>
      </p:grpSp>
      <p:grpSp>
        <p:nvGrpSpPr>
          <p:cNvPr id="17" name="IconClientAppTypes"/>
          <p:cNvGrpSpPr>
            <a:grpSpLocks/>
          </p:cNvGrpSpPr>
          <p:nvPr/>
        </p:nvGrpSpPr>
        <p:grpSpPr bwMode="white">
          <a:xfrm>
            <a:off x="3908159" y="670015"/>
            <a:ext cx="1852971" cy="365760"/>
            <a:chOff x="4858970" y="975927"/>
            <a:chExt cx="1852971" cy="365760"/>
          </a:xfrm>
        </p:grpSpPr>
        <p:pic>
          <p:nvPicPr>
            <p:cNvPr id="58" name="Graphic 1"/>
            <p:cNvPicPr>
              <a:picLocks noChangeAspect="1"/>
            </p:cNvPicPr>
            <p:nvPr/>
          </p:nvPicPr>
          <p:blipFill>
            <a:blip r:embed="rId15">
              <a:lum/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858970" y="975927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5" name="Label 1"/>
            <p:cNvSpPr txBox="1">
              <a:spLocks noChangeArrowheads="1"/>
            </p:cNvSpPr>
            <p:nvPr/>
          </p:nvSpPr>
          <p:spPr bwMode="white">
            <a:xfrm>
              <a:off x="5193983" y="1009899"/>
              <a:ext cx="1517958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Client apps</a:t>
              </a:r>
            </a:p>
          </p:txBody>
        </p:sp>
      </p:grpSp>
      <p:grpSp>
        <p:nvGrpSpPr>
          <p:cNvPr id="37" name="IconLocations"/>
          <p:cNvGrpSpPr>
            <a:grpSpLocks/>
          </p:cNvGrpSpPr>
          <p:nvPr/>
        </p:nvGrpSpPr>
        <p:grpSpPr bwMode="white">
          <a:xfrm>
            <a:off x="8411896" y="646848"/>
            <a:ext cx="1850168" cy="388465"/>
            <a:chOff x="2321433" y="3262888"/>
            <a:chExt cx="1850168" cy="388465"/>
          </a:xfrm>
        </p:grpSpPr>
        <p:pic>
          <p:nvPicPr>
            <p:cNvPr id="33" name="Graphic 1"/>
            <p:cNvPicPr>
              <a:picLocks noChangeAspect="1"/>
            </p:cNvPicPr>
            <p:nvPr/>
          </p:nvPicPr>
          <p:blipFill>
            <a:blip r:embed="rId17">
              <a:lum/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321433" y="3262888"/>
              <a:ext cx="388465" cy="388465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28" name="Label 1"/>
            <p:cNvSpPr txBox="1">
              <a:spLocks noChangeArrowheads="1"/>
            </p:cNvSpPr>
            <p:nvPr/>
          </p:nvSpPr>
          <p:spPr bwMode="white">
            <a:xfrm>
              <a:off x="2713321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Locations</a:t>
              </a:r>
              <a:endParaRPr lang="en-US" sz="1100" b="1" dirty="0"/>
            </a:p>
          </p:txBody>
        </p:sp>
      </p:grpSp>
      <p:grpSp>
        <p:nvGrpSpPr>
          <p:cNvPr id="39" name="IconDeviceFilters"/>
          <p:cNvGrpSpPr>
            <a:grpSpLocks/>
          </p:cNvGrpSpPr>
          <p:nvPr/>
        </p:nvGrpSpPr>
        <p:grpSpPr bwMode="white">
          <a:xfrm>
            <a:off x="5472818" y="661958"/>
            <a:ext cx="1839823" cy="364111"/>
            <a:chOff x="4195414" y="3273669"/>
            <a:chExt cx="1839823" cy="364111"/>
          </a:xfrm>
        </p:grpSpPr>
        <p:pic>
          <p:nvPicPr>
            <p:cNvPr id="60" name="Graphic 1"/>
            <p:cNvPicPr>
              <a:picLocks noChangeAspect="1"/>
            </p:cNvPicPr>
            <p:nvPr/>
          </p:nvPicPr>
          <p:blipFill>
            <a:blip r:embed="rId19">
              <a:lum/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195414" y="3273669"/>
              <a:ext cx="364111" cy="364111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31" name="Label 1"/>
            <p:cNvSpPr txBox="1">
              <a:spLocks noChangeArrowheads="1"/>
            </p:cNvSpPr>
            <p:nvPr/>
          </p:nvSpPr>
          <p:spPr bwMode="white">
            <a:xfrm>
              <a:off x="4576957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Filter for devices</a:t>
              </a:r>
              <a:endParaRPr lang="en-US" sz="1100" b="1" dirty="0"/>
            </a:p>
          </p:txBody>
        </p:sp>
      </p:grpSp>
      <p:pic>
        <p:nvPicPr>
          <p:cNvPr id="62" name="IconGrantMultifactorAuthentication"/>
          <p:cNvPicPr>
            <a:picLocks noChangeAspect="1"/>
          </p:cNvPicPr>
          <p:nvPr/>
        </p:nvPicPr>
        <p:blipFill>
          <a:blip r:embed="rId21">
            <a:lum/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>
            <a:fillRect/>
          </a:stretch>
        </p:blipFill>
        <p:spPr bwMode="white">
          <a:xfrm>
            <a:off x="3410647" y="3566863"/>
            <a:ext cx="17145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5" name="IconGrantMultifactorAuthenticationLabel"/>
          <p:cNvSpPr txBox="1">
            <a:spLocks noChangeArrowheads="1"/>
          </p:cNvSpPr>
          <p:nvPr/>
        </p:nvSpPr>
        <p:spPr bwMode="white">
          <a:xfrm>
            <a:off x="3575836" y="3571997"/>
            <a:ext cx="19007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Multifactor authentication</a:t>
            </a:r>
            <a:endParaRPr lang="en-US" sz="1000" dirty="0"/>
          </a:p>
        </p:txBody>
      </p:sp>
      <p:pic>
        <p:nvPicPr>
          <p:cNvPr id="38" name="IconGrantAuthenticationStrength"/>
          <p:cNvPicPr>
            <a:picLocks noChangeAspect="1"/>
          </p:cNvPicPr>
          <p:nvPr/>
        </p:nvPicPr>
        <p:blipFill>
          <a:blip r:embed="rId23">
            <a:lum/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/>
          <a:stretch>
            <a:fillRect/>
          </a:stretch>
        </p:blipFill>
        <p:spPr bwMode="white">
          <a:xfrm>
            <a:off x="3374515" y="3905034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7" name="IconGrantAuthenticationStrengthLabel"/>
          <p:cNvSpPr txBox="1">
            <a:spLocks noChangeArrowheads="1"/>
          </p:cNvSpPr>
          <p:nvPr/>
        </p:nvSpPr>
        <p:spPr bwMode="white">
          <a:xfrm>
            <a:off x="3575836" y="3907323"/>
            <a:ext cx="2185294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Auth strength:Phishing-resistant MFA</a:t>
            </a:r>
            <a:endParaRPr lang="en-US" sz="1000" dirty="0"/>
          </a:p>
        </p:txBody>
      </p:sp>
      <p:pic>
        <p:nvPicPr>
          <p:cNvPr id="52" name="IconGrantDeviceCompliance"/>
          <p:cNvPicPr>
            <a:picLocks noChangeAspect="1"/>
          </p:cNvPicPr>
          <p:nvPr/>
        </p:nvPicPr>
        <p:blipFill>
          <a:blip r:embed="rId25">
            <a:lum/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/>
          <a:stretch>
            <a:fillRect/>
          </a:stretch>
        </p:blipFill>
        <p:spPr bwMode="white">
          <a:xfrm>
            <a:off x="3374515" y="4243205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9" name="IconGrantDeviceComplianceLabel"/>
          <p:cNvSpPr txBox="1">
            <a:spLocks noChangeArrowheads="1"/>
          </p:cNvSpPr>
          <p:nvPr/>
        </p:nvSpPr>
        <p:spPr bwMode="white">
          <a:xfrm>
            <a:off x="3575836" y="4242649"/>
            <a:ext cx="17378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Compliant device</a:t>
            </a:r>
            <a:endParaRPr lang="en-US" sz="1000" dirty="0"/>
          </a:p>
        </p:txBody>
      </p:sp>
      <p:pic>
        <p:nvPicPr>
          <p:cNvPr id="43" name="IconGrantHybridJoined"/>
          <p:cNvPicPr>
            <a:picLocks noChangeAspect="1"/>
          </p:cNvPicPr>
          <p:nvPr/>
        </p:nvPicPr>
        <p:blipFill>
          <a:blip r:embed="rId27">
            <a:lum/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/>
          <a:stretch>
            <a:fillRect/>
          </a:stretch>
        </p:blipFill>
        <p:spPr bwMode="white">
          <a:xfrm>
            <a:off x="3374515" y="4581376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3" name="IconGrantHybridJoinedLabel"/>
          <p:cNvSpPr txBox="1">
            <a:spLocks noChangeArrowheads="1"/>
          </p:cNvSpPr>
          <p:nvPr/>
        </p:nvSpPr>
        <p:spPr bwMode="white">
          <a:xfrm>
            <a:off x="3575836" y="4577975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Hybrid Azure AD joined device</a:t>
            </a:r>
            <a:endParaRPr lang="en-US" sz="1000" dirty="0"/>
          </a:p>
        </p:txBody>
      </p:sp>
      <p:pic>
        <p:nvPicPr>
          <p:cNvPr id="48" name="IconGrantApprovedClientApp"/>
          <p:cNvPicPr>
            <a:picLocks noChangeAspect="1"/>
          </p:cNvPicPr>
          <p:nvPr/>
        </p:nvPicPr>
        <p:blipFill>
          <a:blip r:embed="rId29">
            <a:lum/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rcRect/>
          <a:stretch>
            <a:fillRect/>
          </a:stretch>
        </p:blipFill>
        <p:spPr bwMode="white">
          <a:xfrm>
            <a:off x="3374515" y="491954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5" name="IconGrantApprovedClientAppLabel"/>
          <p:cNvSpPr txBox="1">
            <a:spLocks noChangeArrowheads="1"/>
          </p:cNvSpPr>
          <p:nvPr/>
        </p:nvSpPr>
        <p:spPr bwMode="white">
          <a:xfrm>
            <a:off x="3575836" y="4913301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Approved client app</a:t>
            </a:r>
            <a:endParaRPr lang="en-US" sz="1000" dirty="0"/>
          </a:p>
        </p:txBody>
      </p:sp>
      <p:pic>
        <p:nvPicPr>
          <p:cNvPr id="42" name="IconGrantCustomAuth"/>
          <p:cNvPicPr>
            <a:picLocks noChangeAspect="1"/>
          </p:cNvPicPr>
          <p:nvPr/>
        </p:nvPicPr>
        <p:blipFill>
          <a:blip r:embed="rId31">
            <a:lum/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rcRect/>
          <a:stretch>
            <a:fillRect/>
          </a:stretch>
        </p:blipFill>
        <p:spPr bwMode="white">
          <a:xfrm>
            <a:off x="3374515" y="593406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9" name="IconGrantCustomAuthLabel"/>
          <p:cNvSpPr txBox="1">
            <a:spLocks noChangeArrowheads="1"/>
          </p:cNvSpPr>
          <p:nvPr/>
        </p:nvSpPr>
        <p:spPr bwMode="white">
          <a:xfrm>
            <a:off x="3575836" y="5919279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Custom authentication factor</a:t>
            </a:r>
            <a:endParaRPr lang="en-US" sz="1000" dirty="0"/>
          </a:p>
        </p:txBody>
      </p:sp>
      <p:pic>
        <p:nvPicPr>
          <p:cNvPr id="40" name="IconGrantTermsOfUse"/>
          <p:cNvPicPr>
            <a:picLocks noChangeAspect="1"/>
          </p:cNvPicPr>
          <p:nvPr/>
        </p:nvPicPr>
        <p:blipFill>
          <a:blip r:embed="rId33">
            <a:lum/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rcRect/>
          <a:stretch>
            <a:fillRect/>
          </a:stretch>
        </p:blipFill>
        <p:spPr bwMode="white">
          <a:xfrm>
            <a:off x="3374515" y="627222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3" name="IconGrantTermsOfUseLabel"/>
          <p:cNvSpPr txBox="1">
            <a:spLocks noChangeArrowheads="1"/>
          </p:cNvSpPr>
          <p:nvPr/>
        </p:nvSpPr>
        <p:spPr bwMode="white">
          <a:xfrm>
            <a:off x="3575836" y="625460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Terms of use</a:t>
            </a:r>
            <a:endParaRPr lang="en-US" sz="1000" dirty="0"/>
          </a:p>
        </p:txBody>
      </p:sp>
      <p:sp>
        <p:nvSpPr>
          <p:cNvPr id="56" name="IconGrantAppProtectionLabel"/>
          <p:cNvSpPr txBox="1">
            <a:spLocks noChangeArrowheads="1"/>
          </p:cNvSpPr>
          <p:nvPr/>
        </p:nvSpPr>
        <p:spPr bwMode="white">
          <a:xfrm>
            <a:off x="3575836" y="524862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 protection policy</a:t>
            </a:r>
            <a:endParaRPr lang="en-US" sz="1000" dirty="0"/>
          </a:p>
        </p:txBody>
      </p:sp>
      <p:pic>
        <p:nvPicPr>
          <p:cNvPr id="65" name="IconGrantAppProtection"/>
          <p:cNvPicPr>
            <a:picLocks noChangeAspect="1"/>
          </p:cNvPicPr>
          <p:nvPr/>
        </p:nvPicPr>
        <p:blipFill>
          <a:blip r:embed="rId35">
            <a:lum/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rcRect/>
          <a:stretch>
            <a:fillRect/>
          </a:stretch>
        </p:blipFill>
        <p:spPr bwMode="white">
          <a:xfrm>
            <a:off x="3374515" y="525771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7" name="IconGrantChangePasswordLabel"/>
          <p:cNvSpPr txBox="1">
            <a:spLocks noChangeArrowheads="1"/>
          </p:cNvSpPr>
          <p:nvPr/>
        </p:nvSpPr>
        <p:spPr bwMode="white">
          <a:xfrm>
            <a:off x="3575836" y="5583953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Change password</a:t>
            </a:r>
            <a:endParaRPr lang="en-US" sz="1000" dirty="0"/>
          </a:p>
        </p:txBody>
      </p:sp>
      <p:pic>
        <p:nvPicPr>
          <p:cNvPr id="67" name="IconGrantChangePassword"/>
          <p:cNvPicPr>
            <a:picLocks noChangeAspect="1"/>
          </p:cNvPicPr>
          <p:nvPr/>
        </p:nvPicPr>
        <p:blipFill>
          <a:blip r:embed="rId37">
            <a:lum/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rcRect/>
          <a:stretch>
            <a:fillRect/>
          </a:stretch>
        </p:blipFill>
        <p:spPr bwMode="white">
          <a:xfrm>
            <a:off x="3374515" y="5595889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4" name="ShadeRisk"/>
          <p:cNvSpPr>
            <a:spLocks/>
          </p:cNvSpPr>
          <p:nvPr/>
        </p:nvSpPr>
        <p:spPr bwMode="white">
          <a:xfrm>
            <a:off x="507564" y="650246"/>
            <a:ext cx="976864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66" name="ShadeDevicePlatforms"/>
          <p:cNvSpPr>
            <a:spLocks/>
          </p:cNvSpPr>
          <p:nvPr/>
        </p:nvSpPr>
        <p:spPr bwMode="white">
          <a:xfrm>
            <a:off x="1863623" y="663409"/>
            <a:ext cx="1773927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78" name="ShadeClientApps"/>
          <p:cNvSpPr>
            <a:spLocks/>
          </p:cNvSpPr>
          <p:nvPr/>
        </p:nvSpPr>
        <p:spPr bwMode="white">
          <a:xfrm>
            <a:off x="3802273" y="650246"/>
            <a:ext cx="1481482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2" name="ShadeFilterForDevices"/>
          <p:cNvSpPr>
            <a:spLocks/>
          </p:cNvSpPr>
          <p:nvPr/>
        </p:nvSpPr>
        <p:spPr bwMode="white">
          <a:xfrm>
            <a:off x="5438955" y="627922"/>
            <a:ext cx="1873685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3" name="ShadeGrantMultifactorAuth"/>
          <p:cNvSpPr>
            <a:spLocks/>
          </p:cNvSpPr>
          <p:nvPr/>
        </p:nvSpPr>
        <p:spPr bwMode="white">
          <a:xfrm>
            <a:off x="3369399" y="3534220"/>
            <a:ext cx="2069555" cy="28330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5" name="ShadeGrantCompliantDevice"/>
          <p:cNvSpPr>
            <a:spLocks/>
          </p:cNvSpPr>
          <p:nvPr/>
        </p:nvSpPr>
        <p:spPr bwMode="white">
          <a:xfrm>
            <a:off x="3361852" y="4243205"/>
            <a:ext cx="2077102" cy="26110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6" name="ShadeGrantHybridAzureADJoined"/>
          <p:cNvSpPr>
            <a:spLocks/>
          </p:cNvSpPr>
          <p:nvPr/>
        </p:nvSpPr>
        <p:spPr bwMode="white">
          <a:xfrm>
            <a:off x="3353637" y="4552268"/>
            <a:ext cx="2160906" cy="298395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7" name="ShadeGrantApprovedClientApp"/>
          <p:cNvSpPr>
            <a:spLocks/>
          </p:cNvSpPr>
          <p:nvPr/>
        </p:nvSpPr>
        <p:spPr bwMode="white">
          <a:xfrm>
            <a:off x="3331918" y="4876027"/>
            <a:ext cx="2182625" cy="29839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8" name="ShadeGrantAppProtectionPolicy"/>
          <p:cNvSpPr>
            <a:spLocks/>
          </p:cNvSpPr>
          <p:nvPr/>
        </p:nvSpPr>
        <p:spPr bwMode="white">
          <a:xfrm>
            <a:off x="3350256" y="5207226"/>
            <a:ext cx="2122561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9" name="ShadeGrantChangePassword"/>
          <p:cNvSpPr>
            <a:spLocks/>
          </p:cNvSpPr>
          <p:nvPr/>
        </p:nvSpPr>
        <p:spPr bwMode="white">
          <a:xfrm>
            <a:off x="3350257" y="5557021"/>
            <a:ext cx="2042006" cy="287239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0" name="ShadeGrantCustomAuthFactor"/>
          <p:cNvSpPr>
            <a:spLocks/>
          </p:cNvSpPr>
          <p:nvPr/>
        </p:nvSpPr>
        <p:spPr bwMode="white">
          <a:xfrm>
            <a:off x="3331918" y="5899058"/>
            <a:ext cx="2182625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1" name="ShadeGrantTermsOfUse"/>
          <p:cNvSpPr>
            <a:spLocks/>
          </p:cNvSpPr>
          <p:nvPr/>
        </p:nvSpPr>
        <p:spPr bwMode="white">
          <a:xfrm>
            <a:off x="3313823" y="6192350"/>
            <a:ext cx="101602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99" name="Rectangle 98"/>
          <p:cNvSpPr>
            <a:spLocks/>
          </p:cNvSpPr>
          <p:nvPr/>
        </p:nvSpPr>
        <p:spPr bwMode="white">
          <a:xfrm>
            <a:off x="3268757" y="3253404"/>
            <a:ext cx="2357725" cy="3498546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0" name="Rectangle 109"/>
          <p:cNvSpPr>
            <a:spLocks/>
          </p:cNvSpPr>
          <p:nvPr/>
        </p:nvSpPr>
        <p:spPr bwMode="white">
          <a:xfrm>
            <a:off x="9881750" y="3248255"/>
            <a:ext cx="2220808" cy="3510149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7" name="Rectangle 116"/>
          <p:cNvSpPr>
            <a:spLocks/>
          </p:cNvSpPr>
          <p:nvPr/>
        </p:nvSpPr>
        <p:spPr bwMode="white">
          <a:xfrm>
            <a:off x="26741" y="606825"/>
            <a:ext cx="11985015" cy="2063636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2" name="Conditions Label"/>
          <p:cNvSpPr txBox="1">
            <a:spLocks noChangeArrowheads="1"/>
          </p:cNvSpPr>
          <p:nvPr/>
        </p:nvSpPr>
        <p:spPr bwMode="white">
          <a:xfrm rot="16200000">
            <a:off x="-883507" y="1514324"/>
            <a:ext cx="2081441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Conditions</a:t>
            </a:r>
          </a:p>
        </p:txBody>
      </p:sp>
      <p:sp>
        <p:nvSpPr>
          <p:cNvPr id="109" name="Grant Controls"/>
          <p:cNvSpPr txBox="1">
            <a:spLocks noChangeArrowheads="1"/>
          </p:cNvSpPr>
          <p:nvPr/>
        </p:nvSpPr>
        <p:spPr bwMode="white">
          <a:xfrm>
            <a:off x="3252146" y="3244395"/>
            <a:ext cx="2391873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Grant Controls</a:t>
            </a:r>
          </a:p>
        </p:txBody>
      </p:sp>
      <p:sp>
        <p:nvSpPr>
          <p:cNvPr id="111" name="Session Controls"/>
          <p:cNvSpPr txBox="1">
            <a:spLocks noChangeArrowheads="1"/>
          </p:cNvSpPr>
          <p:nvPr/>
        </p:nvSpPr>
        <p:spPr bwMode="white">
          <a:xfrm>
            <a:off x="9864212" y="3243751"/>
            <a:ext cx="2238346" cy="23786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Session Controls</a:t>
            </a:r>
          </a:p>
        </p:txBody>
      </p:sp>
      <p:pic>
        <p:nvPicPr>
          <p:cNvPr id="72" name="Graphic 71"/>
          <p:cNvPicPr>
            <a:picLocks noChangeAspect="1"/>
          </p:cNvPicPr>
          <p:nvPr/>
        </p:nvPicPr>
        <p:blipFill>
          <a:blip r:embed="rId39">
            <a:lum/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rcRect/>
          <a:stretch>
            <a:fillRect/>
          </a:stretch>
        </p:blipFill>
        <p:spPr bwMode="white">
          <a:xfrm>
            <a:off x="9996846" y="356982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4" name="Graphic 93"/>
          <p:cNvPicPr>
            <a:picLocks noChangeAspect="1"/>
          </p:cNvPicPr>
          <p:nvPr/>
        </p:nvPicPr>
        <p:blipFill>
          <a:blip r:embed="rId41">
            <a:lum/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rcRect/>
          <a:stretch>
            <a:fillRect/>
          </a:stretch>
        </p:blipFill>
        <p:spPr bwMode="white">
          <a:xfrm>
            <a:off x="10009443" y="525644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5" name="TextBox 94"/>
          <p:cNvSpPr txBox="1">
            <a:spLocks noChangeArrowheads="1"/>
          </p:cNvSpPr>
          <p:nvPr/>
        </p:nvSpPr>
        <p:spPr bwMode="white">
          <a:xfrm>
            <a:off x="10207481" y="3578463"/>
            <a:ext cx="150554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App enforced restrictions</a:t>
            </a:r>
          </a:p>
        </p:txBody>
      </p:sp>
      <p:sp>
        <p:nvSpPr>
          <p:cNvPr id="96" name="TextBox 95"/>
          <p:cNvSpPr txBox="1">
            <a:spLocks noChangeArrowheads="1"/>
          </p:cNvSpPr>
          <p:nvPr/>
        </p:nvSpPr>
        <p:spPr bwMode="white">
          <a:xfrm>
            <a:off x="10201167" y="3899846"/>
            <a:ext cx="181011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Conditional Access App Control</a:t>
            </a:r>
          </a:p>
        </p:txBody>
      </p:sp>
      <p:sp>
        <p:nvSpPr>
          <p:cNvPr id="97" name="TextBox 96"/>
          <p:cNvSpPr txBox="1">
            <a:spLocks noChangeArrowheads="1"/>
          </p:cNvSpPr>
          <p:nvPr/>
        </p:nvSpPr>
        <p:spPr bwMode="white">
          <a:xfrm>
            <a:off x="10215627" y="4357505"/>
            <a:ext cx="1090363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Sign-in frequency</a:t>
            </a:r>
          </a:p>
        </p:txBody>
      </p:sp>
      <p:sp>
        <p:nvSpPr>
          <p:cNvPr id="98" name="TextBox 97"/>
          <p:cNvSpPr txBox="1">
            <a:spLocks noChangeArrowheads="1"/>
          </p:cNvSpPr>
          <p:nvPr/>
        </p:nvSpPr>
        <p:spPr bwMode="white">
          <a:xfrm>
            <a:off x="10225446" y="4793305"/>
            <a:ext cx="156966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Persistent browser session</a:t>
            </a:r>
          </a:p>
        </p:txBody>
      </p:sp>
      <p:sp>
        <p:nvSpPr>
          <p:cNvPr id="100" name="TextBox 99"/>
          <p:cNvSpPr txBox="1">
            <a:spLocks noChangeArrowheads="1"/>
          </p:cNvSpPr>
          <p:nvPr/>
        </p:nvSpPr>
        <p:spPr bwMode="white">
          <a:xfrm>
            <a:off x="10229552" y="5232376"/>
            <a:ext cx="1717137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Continuous access evaluation</a:t>
            </a:r>
          </a:p>
        </p:txBody>
      </p:sp>
      <p:sp>
        <p:nvSpPr>
          <p:cNvPr id="101" name="TextBox 100"/>
          <p:cNvSpPr txBox="1">
            <a:spLocks noChangeArrowheads="1"/>
          </p:cNvSpPr>
          <p:nvPr/>
        </p:nvSpPr>
        <p:spPr bwMode="white">
          <a:xfrm>
            <a:off x="10259108" y="5658625"/>
            <a:ext cx="153599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Disable resilience defaults</a:t>
            </a:r>
          </a:p>
        </p:txBody>
      </p:sp>
      <p:pic>
        <p:nvPicPr>
          <p:cNvPr id="103" name="Graphic 102"/>
          <p:cNvPicPr>
            <a:picLocks noChangeAspect="1"/>
          </p:cNvPicPr>
          <p:nvPr/>
        </p:nvPicPr>
        <p:blipFill>
          <a:blip r:embed="rId43">
            <a:lum/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rcRect/>
          <a:stretch>
            <a:fillRect/>
          </a:stretch>
        </p:blipFill>
        <p:spPr bwMode="white">
          <a:xfrm>
            <a:off x="9996846" y="479900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5" name="Graphic 104"/>
          <p:cNvPicPr>
            <a:picLocks noChangeAspect="1"/>
          </p:cNvPicPr>
          <p:nvPr/>
        </p:nvPicPr>
        <p:blipFill>
          <a:blip r:embed="rId45">
            <a:lum/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rcRect/>
          <a:stretch>
            <a:fillRect/>
          </a:stretch>
        </p:blipFill>
        <p:spPr bwMode="white">
          <a:xfrm>
            <a:off x="9996846" y="437457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7" name="Graphic 106"/>
          <p:cNvPicPr>
            <a:picLocks noChangeAspect="1"/>
          </p:cNvPicPr>
          <p:nvPr/>
        </p:nvPicPr>
        <p:blipFill>
          <a:blip r:embed="rId7">
            <a:lum/>
            <a:extLst>
              <a:ext uri="{96DAC541-7B7A-43D3-8B79-37D633B846F1}">
                <asvg:svgBlip xmlns:asvg="http://schemas.microsoft.com/office/drawing/2016/SVG/main" r:embed="rId47"/>
              </a:ext>
            </a:extLst>
          </a:blip>
          <a:srcRect/>
          <a:stretch>
            <a:fillRect/>
          </a:stretch>
        </p:blipFill>
        <p:spPr bwMode="white">
          <a:xfrm>
            <a:off x="9996846" y="391529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15" name="SessionSifInterval"/>
          <p:cNvSpPr txBox="1">
            <a:spLocks noChangeArrowheads="1"/>
          </p:cNvSpPr>
          <p:nvPr/>
        </p:nvSpPr>
        <p:spPr bwMode="white">
          <a:xfrm>
            <a:off x="10296745" y="4516775"/>
            <a:ext cx="1249060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Periodic reauthentication</a:t>
            </a:r>
          </a:p>
        </p:txBody>
      </p:sp>
      <p:sp>
        <p:nvSpPr>
          <p:cNvPr id="114" name="SessionCasType"/>
          <p:cNvSpPr txBox="1">
            <a:spLocks noChangeArrowheads="1"/>
          </p:cNvSpPr>
          <p:nvPr/>
        </p:nvSpPr>
        <p:spPr bwMode="white">
          <a:xfrm>
            <a:off x="10296745" y="4075500"/>
            <a:ext cx="95410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App Control Policy</a:t>
            </a:r>
          </a:p>
        </p:txBody>
      </p:sp>
      <p:sp>
        <p:nvSpPr>
          <p:cNvPr id="116" name="SessionPersistenBrowserMode"/>
          <p:cNvSpPr txBox="1">
            <a:spLocks noChangeArrowheads="1"/>
          </p:cNvSpPr>
          <p:nvPr/>
        </p:nvSpPr>
        <p:spPr bwMode="white">
          <a:xfrm>
            <a:off x="10309761" y="4945281"/>
            <a:ext cx="918841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Always persistent</a:t>
            </a:r>
          </a:p>
        </p:txBody>
      </p:sp>
      <p:sp>
        <p:nvSpPr>
          <p:cNvPr id="118" name="SessionCaeMode"/>
          <p:cNvSpPr txBox="1">
            <a:spLocks noChangeArrowheads="1"/>
          </p:cNvSpPr>
          <p:nvPr/>
        </p:nvSpPr>
        <p:spPr bwMode="white">
          <a:xfrm>
            <a:off x="10301386" y="5393378"/>
            <a:ext cx="15359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US" sz="800" dirty="0"/>
              <a:t>Strictly enforce location policies</a:t>
            </a:r>
          </a:p>
        </p:txBody>
      </p:sp>
      <p:sp>
        <p:nvSpPr>
          <p:cNvPr id="119" name="ShadeSessionAppEnforced"/>
          <p:cNvSpPr>
            <a:spLocks/>
          </p:cNvSpPr>
          <p:nvPr/>
        </p:nvSpPr>
        <p:spPr bwMode="white">
          <a:xfrm>
            <a:off x="9959680" y="3548808"/>
            <a:ext cx="2051597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0" name="ShadeSessionCas"/>
          <p:cNvSpPr>
            <a:spLocks/>
          </p:cNvSpPr>
          <p:nvPr/>
        </p:nvSpPr>
        <p:spPr bwMode="white">
          <a:xfrm>
            <a:off x="9978939" y="3884212"/>
            <a:ext cx="2087576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1" name="ShadeSessionSif"/>
          <p:cNvSpPr>
            <a:spLocks/>
          </p:cNvSpPr>
          <p:nvPr/>
        </p:nvSpPr>
        <p:spPr bwMode="white">
          <a:xfrm>
            <a:off x="9940787" y="4320077"/>
            <a:ext cx="2125728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2" name="ShadeSessionPersistentBrowser"/>
          <p:cNvSpPr>
            <a:spLocks/>
          </p:cNvSpPr>
          <p:nvPr/>
        </p:nvSpPr>
        <p:spPr bwMode="white">
          <a:xfrm>
            <a:off x="9938833" y="4746195"/>
            <a:ext cx="207244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" name="Label Secure Sign In Session"/>
          <p:cNvSpPr txBox="1">
            <a:spLocks noChangeArrowheads="1"/>
          </p:cNvSpPr>
          <p:nvPr/>
        </p:nvSpPr>
        <p:spPr bwMode="white">
          <a:xfrm>
            <a:off x="10260000" y="6084874"/>
            <a:ext cx="166584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Token protection for session</a:t>
            </a:r>
          </a:p>
        </p:txBody>
      </p:sp>
      <p:pic>
        <p:nvPicPr>
          <p:cNvPr id="77" name="IconSessionCaeDisable" descr="Close with solid fill"/>
          <p:cNvPicPr>
            <a:picLocks noChangeAspect="1"/>
          </p:cNvPicPr>
          <p:nvPr/>
        </p:nvPicPr>
        <p:blipFill>
          <a:blip r:embed="rId48">
            <a:lum/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rcRect/>
          <a:stretch>
            <a:fillRect/>
          </a:stretch>
        </p:blipFill>
        <p:spPr bwMode="white">
          <a:xfrm>
            <a:off x="9979885" y="5218651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2" name="IconSessionSecureSignInSession 1"/>
          <p:cNvPicPr>
            <a:picLocks noChangeAspect="1"/>
          </p:cNvPicPr>
          <p:nvPr/>
        </p:nvPicPr>
        <p:blipFill>
          <a:blip r:embed="rId50">
            <a:lum/>
            <a:extLst>
              <a:ext uri="{96DAC541-7B7A-43D3-8B79-37D633B846F1}">
                <asvg:svgBlip xmlns:asvg="http://schemas.microsoft.com/office/drawing/2016/SVG/main" r:embed="rId51"/>
              </a:ext>
            </a:extLst>
          </a:blip>
          <a:srcRect/>
          <a:stretch>
            <a:fillRect/>
          </a:stretch>
        </p:blipFill>
        <p:spPr bwMode="white">
          <a:xfrm>
            <a:off x="9997200" y="6085768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3" name="ShadeSessionCae"/>
          <p:cNvSpPr>
            <a:spLocks/>
          </p:cNvSpPr>
          <p:nvPr/>
        </p:nvSpPr>
        <p:spPr bwMode="white">
          <a:xfrm>
            <a:off x="9987595" y="5219780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76" name="ShadeSessionSecureSignIn"/>
          <p:cNvSpPr>
            <a:spLocks/>
          </p:cNvSpPr>
          <p:nvPr/>
        </p:nvSpPr>
        <p:spPr bwMode="white">
          <a:xfrm>
            <a:off x="9996846" y="5986498"/>
            <a:ext cx="2014431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pic>
        <p:nvPicPr>
          <p:cNvPr id="102" name="Graphic 101"/>
          <p:cNvPicPr>
            <a:picLocks noChangeAspect="1"/>
          </p:cNvPicPr>
          <p:nvPr/>
        </p:nvPicPr>
        <p:blipFill>
          <a:blip r:embed="rId52">
            <a:lum/>
            <a:extLst>
              <a:ext uri="{96DAC541-7B7A-43D3-8B79-37D633B846F1}">
                <asvg:svgBlip xmlns:asvg="http://schemas.microsoft.com/office/drawing/2016/SVG/main" r:embed="rId53"/>
              </a:ext>
            </a:extLst>
          </a:blip>
          <a:srcRect/>
          <a:stretch>
            <a:fillRect/>
          </a:stretch>
        </p:blipFill>
        <p:spPr bwMode="white">
          <a:xfrm>
            <a:off x="9997200" y="5663777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80" name="Graphic 79" descr="Close with solid fill"/>
          <p:cNvPicPr>
            <a:picLocks noChangeAspect="1"/>
          </p:cNvPicPr>
          <p:nvPr/>
        </p:nvPicPr>
        <p:blipFill>
          <a:blip r:embed="rId48">
            <a:lum/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rcRect/>
          <a:stretch>
            <a:fillRect/>
          </a:stretch>
        </p:blipFill>
        <p:spPr bwMode="white">
          <a:xfrm>
            <a:off x="9963899" y="5637424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4" name="ShadeSessionDisableResilience"/>
          <p:cNvSpPr>
            <a:spLocks/>
          </p:cNvSpPr>
          <p:nvPr/>
        </p:nvSpPr>
        <p:spPr bwMode="white">
          <a:xfrm>
            <a:off x="9959681" y="5602709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2" name="PolicyName">
            <a:hlinkClick r:id="" action="ppaction://hlinkfile"/>
          </p:cNvPr>
          <p:cNvSpPr>
            <a:spLocks noGrp="1"/>
          </p:cNvSpPr>
          <p:nvPr>
            <p:ph type="title"/>
          </p:nvPr>
        </p:nvSpPr>
        <p:spPr bwMode="white">
          <a:xfrm>
            <a:off x="838200" y="115511"/>
            <a:ext cx="10003967" cy="609565"/>
          </a:xfrm>
          <a:ln>
            <a:headEnd type="none"/>
            <a:tailEnd type="none"/>
          </a:ln>
        </p:spPr>
        <p:txBody>
          <a:bodyPr wrap="square">
            <a:noAutofit/>
          </a:bodyPr>
          <a:lstStyle/>
          <a:p>
            <a:pPr defTabSz="914400"/>
            <a:r>
              <a:rPr lang="en-US" sz="2000" b="1" dirty="0"/>
              <a:t>[All Apps] [SVo365 PowerRPA] Service Account Login Requires Phishing-Resistant MFA</a:t>
            </a:r>
          </a:p>
        </p:txBody>
      </p:sp>
      <p:sp>
        <p:nvSpPr>
          <p:cNvPr id="16" name="LastModified"/>
          <p:cNvSpPr txBox="1">
            <a:spLocks noChangeArrowheads="1"/>
          </p:cNvSpPr>
          <p:nvPr/>
        </p:nvSpPr>
        <p:spPr bwMode="white">
          <a:xfrm>
            <a:off x="10556111" y="388376"/>
            <a:ext cx="15483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algn="r" defTabSz="457200"/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Last modified: 2025-06-03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UserWorkload"/>
          <p:cNvSpPr>
            <a:spLocks/>
          </p:cNvSpPr>
          <p:nvPr/>
        </p:nvSpPr>
        <p:spPr bwMode="auto">
          <a:xfrm>
            <a:off x="175820" y="2709769"/>
            <a:ext cx="2202823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Users</a:t>
            </a:r>
          </a:p>
        </p:txBody>
      </p:sp>
      <p:sp>
        <p:nvSpPr>
          <p:cNvPr id="7" name="UserWorkloadIncExc"/>
          <p:cNvSpPr txBox="1">
            <a:spLocks noChangeArrowheads="1"/>
          </p:cNvSpPr>
          <p:nvPr/>
        </p:nvSpPr>
        <p:spPr bwMode="white">
          <a:xfrm>
            <a:off x="125485" y="3698952"/>
            <a:ext cx="3062115" cy="313265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 numCol="1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b="1" dirty="0"/>
            </a:pPr>
            <a:r>
              <a:t> Users</a:t>
            </a:r>
          </a:p>
          <a:p>
            <a:pPr defTabSz="457200">
              <a:defRPr sz="1100" dirty="0"/>
            </a:pPr>
            <a:r>
              <a:t> - SVO365 SPFlowCreate</a:t>
            </a:r>
          </a:p>
          <a:p>
            <a:pPr defTabSz="457200">
              <a:defRPr sz="1100" dirty="0"/>
            </a:pPr>
            <a:r>
              <a:t> - SVO365 SPFlowDeploy</a:t>
            </a:r>
          </a:p>
          <a:p>
            <a:pPr defTabSz="457200">
              <a:defRPr sz="1100" dirty="0"/>
            </a:pPr>
            <a:r>
              <a:t> - SVO365 ContentMatrix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19" name="Risks"/>
          <p:cNvSpPr txBox="1">
            <a:spLocks noChangeArrowheads="1"/>
          </p:cNvSpPr>
          <p:nvPr/>
        </p:nvSpPr>
        <p:spPr bwMode="white">
          <a:xfrm>
            <a:off x="524485" y="1021946"/>
            <a:ext cx="1348869" cy="166886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0" name="Platforms"/>
          <p:cNvSpPr txBox="1">
            <a:spLocks noChangeArrowheads="1"/>
          </p:cNvSpPr>
          <p:nvPr/>
        </p:nvSpPr>
        <p:spPr bwMode="white">
          <a:xfrm>
            <a:off x="1826931" y="1021947"/>
            <a:ext cx="2061056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3" name="Locations"/>
          <p:cNvSpPr txBox="1">
            <a:spLocks noChangeArrowheads="1"/>
          </p:cNvSpPr>
          <p:nvPr/>
        </p:nvSpPr>
        <p:spPr bwMode="white">
          <a:xfrm>
            <a:off x="8324941" y="1021947"/>
            <a:ext cx="3513702" cy="159258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b="1" dirty="0"/>
            </a:pPr>
            <a:r>
              <a:t>✅ Include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r>
              <a:t>🚫 Exclude</a:t>
            </a:r>
          </a:p>
          <a:p>
            <a:pPr defTabSz="457200">
              <a:defRPr sz="1100" dirty="0"/>
            </a:pPr>
            <a:r>
              <a:t> - OCC Proxy Egress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24" name="ClientAppTypes"/>
          <p:cNvSpPr txBox="1">
            <a:spLocks noChangeArrowheads="1"/>
          </p:cNvSpPr>
          <p:nvPr/>
        </p:nvSpPr>
        <p:spPr bwMode="white">
          <a:xfrm>
            <a:off x="3810664" y="1021947"/>
            <a:ext cx="1581599" cy="165343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5" name="DeviceFilters"/>
          <p:cNvSpPr txBox="1">
            <a:spLocks noChangeArrowheads="1"/>
          </p:cNvSpPr>
          <p:nvPr/>
        </p:nvSpPr>
        <p:spPr bwMode="white">
          <a:xfrm>
            <a:off x="5818151" y="1022762"/>
            <a:ext cx="2248808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cxnSp>
        <p:nvCxnSpPr>
          <p:cNvPr id="27" name="Straight Arrow Connector 26" descr="Arrow drawn from user/workload  to the action being performed by the user such as accessing cloud apps."/>
          <p:cNvCxnSpPr/>
          <p:nvPr/>
        </p:nvCxnSpPr>
        <p:spPr bwMode="white">
          <a:xfrm>
            <a:off x="2195232" y="3159047"/>
            <a:ext cx="3959471" cy="1"/>
          </a:xfrm>
          <a:prstGeom prst="straightConnector1">
            <a:avLst/>
          </a:prstGeom>
          <a:ln w="76200"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2" name="GrantLabelGrantAccess"/>
          <p:cNvSpPr txBox="1">
            <a:spLocks noChangeArrowheads="1"/>
          </p:cNvSpPr>
          <p:nvPr/>
        </p:nvSpPr>
        <p:spPr bwMode="white">
          <a:xfrm>
            <a:off x="3928464" y="2723089"/>
            <a:ext cx="1381340" cy="369332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algn="ctr" defTabSz="457200"/>
            <a:r>
              <a:rPr lang="en-US" b="1" dirty="0">
                <a:solidFill>
                  <a:srgbClr val="00B050"/>
                </a:solidFill>
              </a:rPr>
              <a:t>Grant access</a:t>
            </a:r>
          </a:p>
        </p:txBody>
      </p:sp>
      <p:pic>
        <p:nvPicPr>
          <p:cNvPr id="35" name="IconGrantAccess" descr="Picture with gren tick sign to indicate access was granted"/>
          <p:cNvPicPr>
            <a:picLocks noChangeAspect="1"/>
          </p:cNvPicPr>
          <p:nvPr/>
        </p:nvPicPr>
        <p:blipFill>
          <a:blip r:embed="rId3">
            <a:lum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 bwMode="white">
          <a:xfrm>
            <a:off x="5309361" y="2730170"/>
            <a:ext cx="356616" cy="35661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3" name="CloudAppActionIncExc"/>
          <p:cNvSpPr txBox="1">
            <a:spLocks noChangeArrowheads="1"/>
          </p:cNvSpPr>
          <p:nvPr/>
        </p:nvSpPr>
        <p:spPr bwMode="white">
          <a:xfrm>
            <a:off x="6039518" y="3662782"/>
            <a:ext cx="3649518" cy="315161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</p:txBody>
      </p:sp>
      <p:pic>
        <p:nvPicPr>
          <p:cNvPr id="26" name="IconGroupIdentity"/>
          <p:cNvPicPr>
            <a:picLocks noChangeAspect="1"/>
          </p:cNvPicPr>
          <p:nvPr/>
        </p:nvPicPr>
        <p:blipFill>
          <a:blip r:embed="rId5">
            <a:lum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 bwMode="white">
          <a:xfrm>
            <a:off x="327701" y="2839007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36" name="Graphic 35"/>
          <p:cNvPicPr>
            <a:picLocks noChangeAspect="1"/>
          </p:cNvPicPr>
          <p:nvPr/>
        </p:nvPicPr>
        <p:blipFill>
          <a:blip r:embed="rId7">
            <a:lum/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p:blipFill>
        <p:spPr bwMode="white">
          <a:xfrm>
            <a:off x="495610" y="197468"/>
            <a:ext cx="381196" cy="38119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" name="CloudAppAction"/>
          <p:cNvSpPr>
            <a:spLocks/>
          </p:cNvSpPr>
          <p:nvPr/>
        </p:nvSpPr>
        <p:spPr bwMode="auto">
          <a:xfrm>
            <a:off x="6206089" y="2718506"/>
            <a:ext cx="3227026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All cloud apps</a:t>
            </a:r>
          </a:p>
        </p:txBody>
      </p:sp>
      <p:pic>
        <p:nvPicPr>
          <p:cNvPr id="75" name="IconAccessAllCloudApps"/>
          <p:cNvPicPr>
            <a:picLocks noChangeAspect="1"/>
          </p:cNvPicPr>
          <p:nvPr/>
        </p:nvPicPr>
        <p:blipFill>
          <a:blip r:embed="rId9">
            <a:lum/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p:blipFill>
        <p:spPr bwMode="white">
          <a:xfrm>
            <a:off x="6439264" y="2836824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21" name="StateEnabled"/>
          <p:cNvSpPr>
            <a:spLocks/>
          </p:cNvSpPr>
          <p:nvPr/>
        </p:nvSpPr>
        <p:spPr bwMode="white">
          <a:xfrm>
            <a:off x="10842171" y="83487"/>
            <a:ext cx="1260389" cy="264812"/>
          </a:xfrm>
          <a:prstGeom prst="round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r>
              <a:rPr lang="en-US" sz="800" dirty="0"/>
              <a:t>Policy Enabled</a:t>
            </a:r>
          </a:p>
        </p:txBody>
      </p:sp>
      <p:grpSp>
        <p:nvGrpSpPr>
          <p:cNvPr id="10" name="IconRiskyUsers"/>
          <p:cNvGrpSpPr>
            <a:grpSpLocks/>
          </p:cNvGrpSpPr>
          <p:nvPr/>
        </p:nvGrpSpPr>
        <p:grpSpPr bwMode="white">
          <a:xfrm>
            <a:off x="635426" y="738677"/>
            <a:ext cx="1202553" cy="274320"/>
            <a:chOff x="2013768" y="1033956"/>
            <a:chExt cx="1342320" cy="274320"/>
          </a:xfrm>
        </p:grpSpPr>
        <p:pic>
          <p:nvPicPr>
            <p:cNvPr id="46" name="Graphic 1"/>
            <p:cNvPicPr>
              <a:picLocks noChangeAspect="1"/>
            </p:cNvPicPr>
            <p:nvPr/>
          </p:nvPicPr>
          <p:blipFill>
            <a:blip r:embed="rId11">
              <a:lum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013768" y="1033956"/>
              <a:ext cx="274320" cy="27432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5" name="Label 1"/>
            <p:cNvSpPr txBox="1">
              <a:spLocks noChangeArrowheads="1"/>
            </p:cNvSpPr>
            <p:nvPr/>
          </p:nvSpPr>
          <p:spPr bwMode="white">
            <a:xfrm>
              <a:off x="2240077" y="1040706"/>
              <a:ext cx="1116011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Risk</a:t>
              </a:r>
            </a:p>
          </p:txBody>
        </p:sp>
      </p:grpSp>
      <p:grpSp>
        <p:nvGrpSpPr>
          <p:cNvPr id="14" name="IconPlatforms"/>
          <p:cNvGrpSpPr>
            <a:grpSpLocks/>
          </p:cNvGrpSpPr>
          <p:nvPr/>
        </p:nvGrpSpPr>
        <p:grpSpPr bwMode="white">
          <a:xfrm>
            <a:off x="1927788" y="715249"/>
            <a:ext cx="1719285" cy="365760"/>
            <a:chOff x="3262737" y="994835"/>
            <a:chExt cx="1719285" cy="365760"/>
          </a:xfrm>
        </p:grpSpPr>
        <p:pic>
          <p:nvPicPr>
            <p:cNvPr id="29" name="Graphic 1"/>
            <p:cNvPicPr>
              <a:picLocks noChangeAspect="1"/>
            </p:cNvPicPr>
            <p:nvPr/>
          </p:nvPicPr>
          <p:blipFill>
            <a:blip r:embed="rId13">
              <a:lum/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3262737" y="994835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1" name="Label 1"/>
            <p:cNvSpPr txBox="1">
              <a:spLocks noChangeArrowheads="1"/>
            </p:cNvSpPr>
            <p:nvPr/>
          </p:nvSpPr>
          <p:spPr bwMode="white">
            <a:xfrm>
              <a:off x="3582397" y="1027255"/>
              <a:ext cx="1399625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Device platforms</a:t>
              </a:r>
            </a:p>
          </p:txBody>
        </p:sp>
      </p:grpSp>
      <p:grpSp>
        <p:nvGrpSpPr>
          <p:cNvPr id="17" name="IconClientAppTypes"/>
          <p:cNvGrpSpPr>
            <a:grpSpLocks/>
          </p:cNvGrpSpPr>
          <p:nvPr/>
        </p:nvGrpSpPr>
        <p:grpSpPr bwMode="white">
          <a:xfrm>
            <a:off x="3908159" y="670015"/>
            <a:ext cx="1852971" cy="365760"/>
            <a:chOff x="4858970" y="975927"/>
            <a:chExt cx="1852971" cy="365760"/>
          </a:xfrm>
        </p:grpSpPr>
        <p:pic>
          <p:nvPicPr>
            <p:cNvPr id="58" name="Graphic 1"/>
            <p:cNvPicPr>
              <a:picLocks noChangeAspect="1"/>
            </p:cNvPicPr>
            <p:nvPr/>
          </p:nvPicPr>
          <p:blipFill>
            <a:blip r:embed="rId15">
              <a:lum/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858970" y="975927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5" name="Label 1"/>
            <p:cNvSpPr txBox="1">
              <a:spLocks noChangeArrowheads="1"/>
            </p:cNvSpPr>
            <p:nvPr/>
          </p:nvSpPr>
          <p:spPr bwMode="white">
            <a:xfrm>
              <a:off x="5193983" y="1009899"/>
              <a:ext cx="1517958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Client apps</a:t>
              </a:r>
            </a:p>
          </p:txBody>
        </p:sp>
      </p:grpSp>
      <p:grpSp>
        <p:nvGrpSpPr>
          <p:cNvPr id="37" name="IconLocations"/>
          <p:cNvGrpSpPr>
            <a:grpSpLocks/>
          </p:cNvGrpSpPr>
          <p:nvPr/>
        </p:nvGrpSpPr>
        <p:grpSpPr bwMode="white">
          <a:xfrm>
            <a:off x="8411896" y="646848"/>
            <a:ext cx="1850168" cy="388465"/>
            <a:chOff x="2321433" y="3262888"/>
            <a:chExt cx="1850168" cy="388465"/>
          </a:xfrm>
        </p:grpSpPr>
        <p:pic>
          <p:nvPicPr>
            <p:cNvPr id="33" name="Graphic 1"/>
            <p:cNvPicPr>
              <a:picLocks noChangeAspect="1"/>
            </p:cNvPicPr>
            <p:nvPr/>
          </p:nvPicPr>
          <p:blipFill>
            <a:blip r:embed="rId17">
              <a:lum/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321433" y="3262888"/>
              <a:ext cx="388465" cy="388465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28" name="Label 1"/>
            <p:cNvSpPr txBox="1">
              <a:spLocks noChangeArrowheads="1"/>
            </p:cNvSpPr>
            <p:nvPr/>
          </p:nvSpPr>
          <p:spPr bwMode="white">
            <a:xfrm>
              <a:off x="2713321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Locations</a:t>
              </a:r>
              <a:endParaRPr lang="en-US" sz="1100" b="1" dirty="0"/>
            </a:p>
          </p:txBody>
        </p:sp>
      </p:grpSp>
      <p:grpSp>
        <p:nvGrpSpPr>
          <p:cNvPr id="39" name="IconDeviceFilters"/>
          <p:cNvGrpSpPr>
            <a:grpSpLocks/>
          </p:cNvGrpSpPr>
          <p:nvPr/>
        </p:nvGrpSpPr>
        <p:grpSpPr bwMode="white">
          <a:xfrm>
            <a:off x="5472818" y="661958"/>
            <a:ext cx="1839823" cy="364111"/>
            <a:chOff x="4195414" y="3273669"/>
            <a:chExt cx="1839823" cy="364111"/>
          </a:xfrm>
        </p:grpSpPr>
        <p:pic>
          <p:nvPicPr>
            <p:cNvPr id="60" name="Graphic 1"/>
            <p:cNvPicPr>
              <a:picLocks noChangeAspect="1"/>
            </p:cNvPicPr>
            <p:nvPr/>
          </p:nvPicPr>
          <p:blipFill>
            <a:blip r:embed="rId19">
              <a:lum/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195414" y="3273669"/>
              <a:ext cx="364111" cy="364111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31" name="Label 1"/>
            <p:cNvSpPr txBox="1">
              <a:spLocks noChangeArrowheads="1"/>
            </p:cNvSpPr>
            <p:nvPr/>
          </p:nvSpPr>
          <p:spPr bwMode="white">
            <a:xfrm>
              <a:off x="4576957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Filter for devices</a:t>
              </a:r>
              <a:endParaRPr lang="en-US" sz="1100" b="1" dirty="0"/>
            </a:p>
          </p:txBody>
        </p:sp>
      </p:grpSp>
      <p:pic>
        <p:nvPicPr>
          <p:cNvPr id="62" name="IconGrantMultifactorAuthentication"/>
          <p:cNvPicPr>
            <a:picLocks noChangeAspect="1"/>
          </p:cNvPicPr>
          <p:nvPr/>
        </p:nvPicPr>
        <p:blipFill>
          <a:blip r:embed="rId21">
            <a:lum/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>
            <a:fillRect/>
          </a:stretch>
        </p:blipFill>
        <p:spPr bwMode="white">
          <a:xfrm>
            <a:off x="3410647" y="3566863"/>
            <a:ext cx="17145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5" name="IconGrantMultifactorAuthenticationLabel"/>
          <p:cNvSpPr txBox="1">
            <a:spLocks noChangeArrowheads="1"/>
          </p:cNvSpPr>
          <p:nvPr/>
        </p:nvSpPr>
        <p:spPr bwMode="white">
          <a:xfrm>
            <a:off x="3575836" y="3571997"/>
            <a:ext cx="19007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Multifactor authentication</a:t>
            </a:r>
            <a:endParaRPr lang="en-US" sz="1000" dirty="0"/>
          </a:p>
        </p:txBody>
      </p:sp>
      <p:pic>
        <p:nvPicPr>
          <p:cNvPr id="38" name="IconGrantAuthenticationStrength"/>
          <p:cNvPicPr>
            <a:picLocks noChangeAspect="1"/>
          </p:cNvPicPr>
          <p:nvPr/>
        </p:nvPicPr>
        <p:blipFill>
          <a:blip r:embed="rId23">
            <a:lum/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/>
          <a:stretch>
            <a:fillRect/>
          </a:stretch>
        </p:blipFill>
        <p:spPr bwMode="white">
          <a:xfrm>
            <a:off x="3374515" y="3905034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7" name="IconGrantAuthenticationStrengthLabel"/>
          <p:cNvSpPr txBox="1">
            <a:spLocks noChangeArrowheads="1"/>
          </p:cNvSpPr>
          <p:nvPr/>
        </p:nvSpPr>
        <p:spPr bwMode="white">
          <a:xfrm>
            <a:off x="3575836" y="3907323"/>
            <a:ext cx="2185294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Auth strength:Phishing-resistant MFA</a:t>
            </a:r>
            <a:endParaRPr lang="en-US" sz="1000" dirty="0"/>
          </a:p>
        </p:txBody>
      </p:sp>
      <p:pic>
        <p:nvPicPr>
          <p:cNvPr id="52" name="IconGrantDeviceCompliance"/>
          <p:cNvPicPr>
            <a:picLocks noChangeAspect="1"/>
          </p:cNvPicPr>
          <p:nvPr/>
        </p:nvPicPr>
        <p:blipFill>
          <a:blip r:embed="rId25">
            <a:lum/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/>
          <a:stretch>
            <a:fillRect/>
          </a:stretch>
        </p:blipFill>
        <p:spPr bwMode="white">
          <a:xfrm>
            <a:off x="3374515" y="4243205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9" name="IconGrantDeviceComplianceLabel"/>
          <p:cNvSpPr txBox="1">
            <a:spLocks noChangeArrowheads="1"/>
          </p:cNvSpPr>
          <p:nvPr/>
        </p:nvSpPr>
        <p:spPr bwMode="white">
          <a:xfrm>
            <a:off x="3575836" y="4242649"/>
            <a:ext cx="17378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Compliant device</a:t>
            </a:r>
            <a:endParaRPr lang="en-US" sz="1000" dirty="0"/>
          </a:p>
        </p:txBody>
      </p:sp>
      <p:pic>
        <p:nvPicPr>
          <p:cNvPr id="43" name="IconGrantHybridJoined"/>
          <p:cNvPicPr>
            <a:picLocks noChangeAspect="1"/>
          </p:cNvPicPr>
          <p:nvPr/>
        </p:nvPicPr>
        <p:blipFill>
          <a:blip r:embed="rId27">
            <a:lum/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/>
          <a:stretch>
            <a:fillRect/>
          </a:stretch>
        </p:blipFill>
        <p:spPr bwMode="white">
          <a:xfrm>
            <a:off x="3374515" y="4581376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3" name="IconGrantHybridJoinedLabel"/>
          <p:cNvSpPr txBox="1">
            <a:spLocks noChangeArrowheads="1"/>
          </p:cNvSpPr>
          <p:nvPr/>
        </p:nvSpPr>
        <p:spPr bwMode="white">
          <a:xfrm>
            <a:off x="3575836" y="4577975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Hybrid Azure AD joined device</a:t>
            </a:r>
            <a:endParaRPr lang="en-US" sz="1000" dirty="0"/>
          </a:p>
        </p:txBody>
      </p:sp>
      <p:pic>
        <p:nvPicPr>
          <p:cNvPr id="48" name="IconGrantApprovedClientApp"/>
          <p:cNvPicPr>
            <a:picLocks noChangeAspect="1"/>
          </p:cNvPicPr>
          <p:nvPr/>
        </p:nvPicPr>
        <p:blipFill>
          <a:blip r:embed="rId29">
            <a:lum/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rcRect/>
          <a:stretch>
            <a:fillRect/>
          </a:stretch>
        </p:blipFill>
        <p:spPr bwMode="white">
          <a:xfrm>
            <a:off x="3374515" y="491954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5" name="IconGrantApprovedClientAppLabel"/>
          <p:cNvSpPr txBox="1">
            <a:spLocks noChangeArrowheads="1"/>
          </p:cNvSpPr>
          <p:nvPr/>
        </p:nvSpPr>
        <p:spPr bwMode="white">
          <a:xfrm>
            <a:off x="3575836" y="4913301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Approved client app</a:t>
            </a:r>
            <a:endParaRPr lang="en-US" sz="1000" dirty="0"/>
          </a:p>
        </p:txBody>
      </p:sp>
      <p:pic>
        <p:nvPicPr>
          <p:cNvPr id="42" name="IconGrantCustomAuth"/>
          <p:cNvPicPr>
            <a:picLocks noChangeAspect="1"/>
          </p:cNvPicPr>
          <p:nvPr/>
        </p:nvPicPr>
        <p:blipFill>
          <a:blip r:embed="rId31">
            <a:lum/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rcRect/>
          <a:stretch>
            <a:fillRect/>
          </a:stretch>
        </p:blipFill>
        <p:spPr bwMode="white">
          <a:xfrm>
            <a:off x="3374515" y="593406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9" name="IconGrantCustomAuthLabel"/>
          <p:cNvSpPr txBox="1">
            <a:spLocks noChangeArrowheads="1"/>
          </p:cNvSpPr>
          <p:nvPr/>
        </p:nvSpPr>
        <p:spPr bwMode="white">
          <a:xfrm>
            <a:off x="3575836" y="5919279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Custom authentication factor</a:t>
            </a:r>
            <a:endParaRPr lang="en-US" sz="1000" dirty="0"/>
          </a:p>
        </p:txBody>
      </p:sp>
      <p:pic>
        <p:nvPicPr>
          <p:cNvPr id="40" name="IconGrantTermsOfUse"/>
          <p:cNvPicPr>
            <a:picLocks noChangeAspect="1"/>
          </p:cNvPicPr>
          <p:nvPr/>
        </p:nvPicPr>
        <p:blipFill>
          <a:blip r:embed="rId33">
            <a:lum/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rcRect/>
          <a:stretch>
            <a:fillRect/>
          </a:stretch>
        </p:blipFill>
        <p:spPr bwMode="white">
          <a:xfrm>
            <a:off x="3374515" y="627222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3" name="IconGrantTermsOfUseLabel"/>
          <p:cNvSpPr txBox="1">
            <a:spLocks noChangeArrowheads="1"/>
          </p:cNvSpPr>
          <p:nvPr/>
        </p:nvSpPr>
        <p:spPr bwMode="white">
          <a:xfrm>
            <a:off x="3575836" y="625460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Terms of use</a:t>
            </a:r>
            <a:endParaRPr lang="en-US" sz="1000" dirty="0"/>
          </a:p>
        </p:txBody>
      </p:sp>
      <p:sp>
        <p:nvSpPr>
          <p:cNvPr id="56" name="IconGrantAppProtectionLabel"/>
          <p:cNvSpPr txBox="1">
            <a:spLocks noChangeArrowheads="1"/>
          </p:cNvSpPr>
          <p:nvPr/>
        </p:nvSpPr>
        <p:spPr bwMode="white">
          <a:xfrm>
            <a:off x="3575836" y="524862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 protection policy</a:t>
            </a:r>
            <a:endParaRPr lang="en-US" sz="1000" dirty="0"/>
          </a:p>
        </p:txBody>
      </p:sp>
      <p:pic>
        <p:nvPicPr>
          <p:cNvPr id="65" name="IconGrantAppProtection"/>
          <p:cNvPicPr>
            <a:picLocks noChangeAspect="1"/>
          </p:cNvPicPr>
          <p:nvPr/>
        </p:nvPicPr>
        <p:blipFill>
          <a:blip r:embed="rId35">
            <a:lum/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rcRect/>
          <a:stretch>
            <a:fillRect/>
          </a:stretch>
        </p:blipFill>
        <p:spPr bwMode="white">
          <a:xfrm>
            <a:off x="3374515" y="525771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7" name="IconGrantChangePasswordLabel"/>
          <p:cNvSpPr txBox="1">
            <a:spLocks noChangeArrowheads="1"/>
          </p:cNvSpPr>
          <p:nvPr/>
        </p:nvSpPr>
        <p:spPr bwMode="white">
          <a:xfrm>
            <a:off x="3575836" y="5583953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Change password</a:t>
            </a:r>
            <a:endParaRPr lang="en-US" sz="1000" dirty="0"/>
          </a:p>
        </p:txBody>
      </p:sp>
      <p:pic>
        <p:nvPicPr>
          <p:cNvPr id="67" name="IconGrantChangePassword"/>
          <p:cNvPicPr>
            <a:picLocks noChangeAspect="1"/>
          </p:cNvPicPr>
          <p:nvPr/>
        </p:nvPicPr>
        <p:blipFill>
          <a:blip r:embed="rId37">
            <a:lum/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rcRect/>
          <a:stretch>
            <a:fillRect/>
          </a:stretch>
        </p:blipFill>
        <p:spPr bwMode="white">
          <a:xfrm>
            <a:off x="3374515" y="5595889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4" name="ShadeRisk"/>
          <p:cNvSpPr>
            <a:spLocks/>
          </p:cNvSpPr>
          <p:nvPr/>
        </p:nvSpPr>
        <p:spPr bwMode="white">
          <a:xfrm>
            <a:off x="507564" y="650246"/>
            <a:ext cx="976864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66" name="ShadeDevicePlatforms"/>
          <p:cNvSpPr>
            <a:spLocks/>
          </p:cNvSpPr>
          <p:nvPr/>
        </p:nvSpPr>
        <p:spPr bwMode="white">
          <a:xfrm>
            <a:off x="1863623" y="663409"/>
            <a:ext cx="1773927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78" name="ShadeClientApps"/>
          <p:cNvSpPr>
            <a:spLocks/>
          </p:cNvSpPr>
          <p:nvPr/>
        </p:nvSpPr>
        <p:spPr bwMode="white">
          <a:xfrm>
            <a:off x="3802273" y="650246"/>
            <a:ext cx="1481482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2" name="ShadeFilterForDevices"/>
          <p:cNvSpPr>
            <a:spLocks/>
          </p:cNvSpPr>
          <p:nvPr/>
        </p:nvSpPr>
        <p:spPr bwMode="white">
          <a:xfrm>
            <a:off x="5438955" y="627922"/>
            <a:ext cx="1873685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3" name="ShadeGrantMultifactorAuth"/>
          <p:cNvSpPr>
            <a:spLocks/>
          </p:cNvSpPr>
          <p:nvPr/>
        </p:nvSpPr>
        <p:spPr bwMode="white">
          <a:xfrm>
            <a:off x="3369399" y="3534220"/>
            <a:ext cx="2069555" cy="28330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5" name="ShadeGrantCompliantDevice"/>
          <p:cNvSpPr>
            <a:spLocks/>
          </p:cNvSpPr>
          <p:nvPr/>
        </p:nvSpPr>
        <p:spPr bwMode="white">
          <a:xfrm>
            <a:off x="3361852" y="4243205"/>
            <a:ext cx="2077102" cy="26110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6" name="ShadeGrantHybridAzureADJoined"/>
          <p:cNvSpPr>
            <a:spLocks/>
          </p:cNvSpPr>
          <p:nvPr/>
        </p:nvSpPr>
        <p:spPr bwMode="white">
          <a:xfrm>
            <a:off x="3353637" y="4552268"/>
            <a:ext cx="2160906" cy="298395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7" name="ShadeGrantApprovedClientApp"/>
          <p:cNvSpPr>
            <a:spLocks/>
          </p:cNvSpPr>
          <p:nvPr/>
        </p:nvSpPr>
        <p:spPr bwMode="white">
          <a:xfrm>
            <a:off x="3331918" y="4876027"/>
            <a:ext cx="2182625" cy="29839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8" name="ShadeGrantAppProtectionPolicy"/>
          <p:cNvSpPr>
            <a:spLocks/>
          </p:cNvSpPr>
          <p:nvPr/>
        </p:nvSpPr>
        <p:spPr bwMode="white">
          <a:xfrm>
            <a:off x="3350256" y="5207226"/>
            <a:ext cx="2122561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9" name="ShadeGrantChangePassword"/>
          <p:cNvSpPr>
            <a:spLocks/>
          </p:cNvSpPr>
          <p:nvPr/>
        </p:nvSpPr>
        <p:spPr bwMode="white">
          <a:xfrm>
            <a:off x="3350257" y="5557021"/>
            <a:ext cx="2042006" cy="287239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0" name="ShadeGrantCustomAuthFactor"/>
          <p:cNvSpPr>
            <a:spLocks/>
          </p:cNvSpPr>
          <p:nvPr/>
        </p:nvSpPr>
        <p:spPr bwMode="white">
          <a:xfrm>
            <a:off x="3331918" y="5899058"/>
            <a:ext cx="2182625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1" name="ShadeGrantTermsOfUse"/>
          <p:cNvSpPr>
            <a:spLocks/>
          </p:cNvSpPr>
          <p:nvPr/>
        </p:nvSpPr>
        <p:spPr bwMode="white">
          <a:xfrm>
            <a:off x="3313823" y="6192350"/>
            <a:ext cx="101602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99" name="Rectangle 98"/>
          <p:cNvSpPr>
            <a:spLocks/>
          </p:cNvSpPr>
          <p:nvPr/>
        </p:nvSpPr>
        <p:spPr bwMode="white">
          <a:xfrm>
            <a:off x="3268757" y="3253404"/>
            <a:ext cx="2357725" cy="3498546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0" name="Rectangle 109"/>
          <p:cNvSpPr>
            <a:spLocks/>
          </p:cNvSpPr>
          <p:nvPr/>
        </p:nvSpPr>
        <p:spPr bwMode="white">
          <a:xfrm>
            <a:off x="9881750" y="3248255"/>
            <a:ext cx="2220808" cy="3510149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7" name="Rectangle 116"/>
          <p:cNvSpPr>
            <a:spLocks/>
          </p:cNvSpPr>
          <p:nvPr/>
        </p:nvSpPr>
        <p:spPr bwMode="white">
          <a:xfrm>
            <a:off x="26741" y="606825"/>
            <a:ext cx="11985015" cy="2063636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2" name="Conditions Label"/>
          <p:cNvSpPr txBox="1">
            <a:spLocks noChangeArrowheads="1"/>
          </p:cNvSpPr>
          <p:nvPr/>
        </p:nvSpPr>
        <p:spPr bwMode="white">
          <a:xfrm rot="16200000">
            <a:off x="-883507" y="1514324"/>
            <a:ext cx="2081441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Conditions</a:t>
            </a:r>
          </a:p>
        </p:txBody>
      </p:sp>
      <p:sp>
        <p:nvSpPr>
          <p:cNvPr id="109" name="Grant Controls"/>
          <p:cNvSpPr txBox="1">
            <a:spLocks noChangeArrowheads="1"/>
          </p:cNvSpPr>
          <p:nvPr/>
        </p:nvSpPr>
        <p:spPr bwMode="white">
          <a:xfrm>
            <a:off x="3252146" y="3244395"/>
            <a:ext cx="2391873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Grant Controls</a:t>
            </a:r>
          </a:p>
        </p:txBody>
      </p:sp>
      <p:sp>
        <p:nvSpPr>
          <p:cNvPr id="111" name="Session Controls"/>
          <p:cNvSpPr txBox="1">
            <a:spLocks noChangeArrowheads="1"/>
          </p:cNvSpPr>
          <p:nvPr/>
        </p:nvSpPr>
        <p:spPr bwMode="white">
          <a:xfrm>
            <a:off x="9864212" y="3243751"/>
            <a:ext cx="2238346" cy="23786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Session Controls</a:t>
            </a:r>
          </a:p>
        </p:txBody>
      </p:sp>
      <p:pic>
        <p:nvPicPr>
          <p:cNvPr id="72" name="Graphic 71"/>
          <p:cNvPicPr>
            <a:picLocks noChangeAspect="1"/>
          </p:cNvPicPr>
          <p:nvPr/>
        </p:nvPicPr>
        <p:blipFill>
          <a:blip r:embed="rId39">
            <a:lum/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rcRect/>
          <a:stretch>
            <a:fillRect/>
          </a:stretch>
        </p:blipFill>
        <p:spPr bwMode="white">
          <a:xfrm>
            <a:off x="9996846" y="356982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4" name="Graphic 93"/>
          <p:cNvPicPr>
            <a:picLocks noChangeAspect="1"/>
          </p:cNvPicPr>
          <p:nvPr/>
        </p:nvPicPr>
        <p:blipFill>
          <a:blip r:embed="rId41">
            <a:lum/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rcRect/>
          <a:stretch>
            <a:fillRect/>
          </a:stretch>
        </p:blipFill>
        <p:spPr bwMode="white">
          <a:xfrm>
            <a:off x="10009443" y="525644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5" name="TextBox 94"/>
          <p:cNvSpPr txBox="1">
            <a:spLocks noChangeArrowheads="1"/>
          </p:cNvSpPr>
          <p:nvPr/>
        </p:nvSpPr>
        <p:spPr bwMode="white">
          <a:xfrm>
            <a:off x="10207481" y="3578463"/>
            <a:ext cx="150554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App enforced restrictions</a:t>
            </a:r>
          </a:p>
        </p:txBody>
      </p:sp>
      <p:sp>
        <p:nvSpPr>
          <p:cNvPr id="96" name="TextBox 95"/>
          <p:cNvSpPr txBox="1">
            <a:spLocks noChangeArrowheads="1"/>
          </p:cNvSpPr>
          <p:nvPr/>
        </p:nvSpPr>
        <p:spPr bwMode="white">
          <a:xfrm>
            <a:off x="10201167" y="3899846"/>
            <a:ext cx="181011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Conditional Access App Control</a:t>
            </a:r>
          </a:p>
        </p:txBody>
      </p:sp>
      <p:sp>
        <p:nvSpPr>
          <p:cNvPr id="97" name="TextBox 96"/>
          <p:cNvSpPr txBox="1">
            <a:spLocks noChangeArrowheads="1"/>
          </p:cNvSpPr>
          <p:nvPr/>
        </p:nvSpPr>
        <p:spPr bwMode="white">
          <a:xfrm>
            <a:off x="10215627" y="4357505"/>
            <a:ext cx="1090363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Sign-in frequency</a:t>
            </a:r>
          </a:p>
        </p:txBody>
      </p:sp>
      <p:sp>
        <p:nvSpPr>
          <p:cNvPr id="98" name="TextBox 97"/>
          <p:cNvSpPr txBox="1">
            <a:spLocks noChangeArrowheads="1"/>
          </p:cNvSpPr>
          <p:nvPr/>
        </p:nvSpPr>
        <p:spPr bwMode="white">
          <a:xfrm>
            <a:off x="10225446" y="4793305"/>
            <a:ext cx="156966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Persistent browser session</a:t>
            </a:r>
          </a:p>
        </p:txBody>
      </p:sp>
      <p:sp>
        <p:nvSpPr>
          <p:cNvPr id="100" name="TextBox 99"/>
          <p:cNvSpPr txBox="1">
            <a:spLocks noChangeArrowheads="1"/>
          </p:cNvSpPr>
          <p:nvPr/>
        </p:nvSpPr>
        <p:spPr bwMode="white">
          <a:xfrm>
            <a:off x="10229552" y="5232376"/>
            <a:ext cx="1717137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Continuous access evaluation</a:t>
            </a:r>
          </a:p>
        </p:txBody>
      </p:sp>
      <p:sp>
        <p:nvSpPr>
          <p:cNvPr id="101" name="TextBox 100"/>
          <p:cNvSpPr txBox="1">
            <a:spLocks noChangeArrowheads="1"/>
          </p:cNvSpPr>
          <p:nvPr/>
        </p:nvSpPr>
        <p:spPr bwMode="white">
          <a:xfrm>
            <a:off x="10259108" y="5658625"/>
            <a:ext cx="153599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Disable resilience defaults</a:t>
            </a:r>
          </a:p>
        </p:txBody>
      </p:sp>
      <p:pic>
        <p:nvPicPr>
          <p:cNvPr id="103" name="Graphic 102"/>
          <p:cNvPicPr>
            <a:picLocks noChangeAspect="1"/>
          </p:cNvPicPr>
          <p:nvPr/>
        </p:nvPicPr>
        <p:blipFill>
          <a:blip r:embed="rId43">
            <a:lum/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rcRect/>
          <a:stretch>
            <a:fillRect/>
          </a:stretch>
        </p:blipFill>
        <p:spPr bwMode="white">
          <a:xfrm>
            <a:off x="9996846" y="479900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5" name="Graphic 104"/>
          <p:cNvPicPr>
            <a:picLocks noChangeAspect="1"/>
          </p:cNvPicPr>
          <p:nvPr/>
        </p:nvPicPr>
        <p:blipFill>
          <a:blip r:embed="rId45">
            <a:lum/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rcRect/>
          <a:stretch>
            <a:fillRect/>
          </a:stretch>
        </p:blipFill>
        <p:spPr bwMode="white">
          <a:xfrm>
            <a:off x="9996846" y="437457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7" name="Graphic 106"/>
          <p:cNvPicPr>
            <a:picLocks noChangeAspect="1"/>
          </p:cNvPicPr>
          <p:nvPr/>
        </p:nvPicPr>
        <p:blipFill>
          <a:blip r:embed="rId7">
            <a:lum/>
            <a:extLst>
              <a:ext uri="{96DAC541-7B7A-43D3-8B79-37D633B846F1}">
                <asvg:svgBlip xmlns:asvg="http://schemas.microsoft.com/office/drawing/2016/SVG/main" r:embed="rId47"/>
              </a:ext>
            </a:extLst>
          </a:blip>
          <a:srcRect/>
          <a:stretch>
            <a:fillRect/>
          </a:stretch>
        </p:blipFill>
        <p:spPr bwMode="white">
          <a:xfrm>
            <a:off x="9996846" y="391529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15" name="SessionSifInterval"/>
          <p:cNvSpPr txBox="1">
            <a:spLocks noChangeArrowheads="1"/>
          </p:cNvSpPr>
          <p:nvPr/>
        </p:nvSpPr>
        <p:spPr bwMode="white">
          <a:xfrm>
            <a:off x="10296745" y="4516775"/>
            <a:ext cx="1249060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Periodic reauthentication</a:t>
            </a:r>
          </a:p>
        </p:txBody>
      </p:sp>
      <p:sp>
        <p:nvSpPr>
          <p:cNvPr id="114" name="SessionCasType"/>
          <p:cNvSpPr txBox="1">
            <a:spLocks noChangeArrowheads="1"/>
          </p:cNvSpPr>
          <p:nvPr/>
        </p:nvSpPr>
        <p:spPr bwMode="white">
          <a:xfrm>
            <a:off x="10296745" y="4075500"/>
            <a:ext cx="95410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App Control Policy</a:t>
            </a:r>
          </a:p>
        </p:txBody>
      </p:sp>
      <p:sp>
        <p:nvSpPr>
          <p:cNvPr id="116" name="SessionPersistenBrowserMode"/>
          <p:cNvSpPr txBox="1">
            <a:spLocks noChangeArrowheads="1"/>
          </p:cNvSpPr>
          <p:nvPr/>
        </p:nvSpPr>
        <p:spPr bwMode="white">
          <a:xfrm>
            <a:off x="10309761" y="4945281"/>
            <a:ext cx="918841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Always persistent</a:t>
            </a:r>
          </a:p>
        </p:txBody>
      </p:sp>
      <p:sp>
        <p:nvSpPr>
          <p:cNvPr id="118" name="SessionCaeMode"/>
          <p:cNvSpPr txBox="1">
            <a:spLocks noChangeArrowheads="1"/>
          </p:cNvSpPr>
          <p:nvPr/>
        </p:nvSpPr>
        <p:spPr bwMode="white">
          <a:xfrm>
            <a:off x="10301386" y="5393378"/>
            <a:ext cx="15359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US" sz="800" dirty="0"/>
              <a:t>Strictly enforce location policies</a:t>
            </a:r>
          </a:p>
        </p:txBody>
      </p:sp>
      <p:sp>
        <p:nvSpPr>
          <p:cNvPr id="119" name="ShadeSessionAppEnforced"/>
          <p:cNvSpPr>
            <a:spLocks/>
          </p:cNvSpPr>
          <p:nvPr/>
        </p:nvSpPr>
        <p:spPr bwMode="white">
          <a:xfrm>
            <a:off x="9959680" y="3548808"/>
            <a:ext cx="2051597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0" name="ShadeSessionCas"/>
          <p:cNvSpPr>
            <a:spLocks/>
          </p:cNvSpPr>
          <p:nvPr/>
        </p:nvSpPr>
        <p:spPr bwMode="white">
          <a:xfrm>
            <a:off x="9978939" y="3884212"/>
            <a:ext cx="2087576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1" name="ShadeSessionSif"/>
          <p:cNvSpPr>
            <a:spLocks/>
          </p:cNvSpPr>
          <p:nvPr/>
        </p:nvSpPr>
        <p:spPr bwMode="white">
          <a:xfrm>
            <a:off x="9940787" y="4320077"/>
            <a:ext cx="2125728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2" name="ShadeSessionPersistentBrowser"/>
          <p:cNvSpPr>
            <a:spLocks/>
          </p:cNvSpPr>
          <p:nvPr/>
        </p:nvSpPr>
        <p:spPr bwMode="white">
          <a:xfrm>
            <a:off x="9938833" y="4746195"/>
            <a:ext cx="207244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" name="Label Secure Sign In Session"/>
          <p:cNvSpPr txBox="1">
            <a:spLocks noChangeArrowheads="1"/>
          </p:cNvSpPr>
          <p:nvPr/>
        </p:nvSpPr>
        <p:spPr bwMode="white">
          <a:xfrm>
            <a:off x="10260000" y="6084874"/>
            <a:ext cx="166584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Token protection for session</a:t>
            </a:r>
          </a:p>
        </p:txBody>
      </p:sp>
      <p:pic>
        <p:nvPicPr>
          <p:cNvPr id="77" name="IconSessionCaeDisable" descr="Close with solid fill"/>
          <p:cNvPicPr>
            <a:picLocks noChangeAspect="1"/>
          </p:cNvPicPr>
          <p:nvPr/>
        </p:nvPicPr>
        <p:blipFill>
          <a:blip r:embed="rId48">
            <a:lum/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rcRect/>
          <a:stretch>
            <a:fillRect/>
          </a:stretch>
        </p:blipFill>
        <p:spPr bwMode="white">
          <a:xfrm>
            <a:off x="9979885" y="5218651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2" name="IconSessionSecureSignInSession 1"/>
          <p:cNvPicPr>
            <a:picLocks noChangeAspect="1"/>
          </p:cNvPicPr>
          <p:nvPr/>
        </p:nvPicPr>
        <p:blipFill>
          <a:blip r:embed="rId50">
            <a:lum/>
            <a:extLst>
              <a:ext uri="{96DAC541-7B7A-43D3-8B79-37D633B846F1}">
                <asvg:svgBlip xmlns:asvg="http://schemas.microsoft.com/office/drawing/2016/SVG/main" r:embed="rId51"/>
              </a:ext>
            </a:extLst>
          </a:blip>
          <a:srcRect/>
          <a:stretch>
            <a:fillRect/>
          </a:stretch>
        </p:blipFill>
        <p:spPr bwMode="white">
          <a:xfrm>
            <a:off x="9997200" y="6085768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3" name="ShadeSessionCae"/>
          <p:cNvSpPr>
            <a:spLocks/>
          </p:cNvSpPr>
          <p:nvPr/>
        </p:nvSpPr>
        <p:spPr bwMode="white">
          <a:xfrm>
            <a:off x="9987595" y="5219780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76" name="ShadeSessionSecureSignIn"/>
          <p:cNvSpPr>
            <a:spLocks/>
          </p:cNvSpPr>
          <p:nvPr/>
        </p:nvSpPr>
        <p:spPr bwMode="white">
          <a:xfrm>
            <a:off x="9996846" y="5986498"/>
            <a:ext cx="2014431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pic>
        <p:nvPicPr>
          <p:cNvPr id="102" name="Graphic 101"/>
          <p:cNvPicPr>
            <a:picLocks noChangeAspect="1"/>
          </p:cNvPicPr>
          <p:nvPr/>
        </p:nvPicPr>
        <p:blipFill>
          <a:blip r:embed="rId52">
            <a:lum/>
            <a:extLst>
              <a:ext uri="{96DAC541-7B7A-43D3-8B79-37D633B846F1}">
                <asvg:svgBlip xmlns:asvg="http://schemas.microsoft.com/office/drawing/2016/SVG/main" r:embed="rId53"/>
              </a:ext>
            </a:extLst>
          </a:blip>
          <a:srcRect/>
          <a:stretch>
            <a:fillRect/>
          </a:stretch>
        </p:blipFill>
        <p:spPr bwMode="white">
          <a:xfrm>
            <a:off x="9997200" y="5663777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80" name="Graphic 79" descr="Close with solid fill"/>
          <p:cNvPicPr>
            <a:picLocks noChangeAspect="1"/>
          </p:cNvPicPr>
          <p:nvPr/>
        </p:nvPicPr>
        <p:blipFill>
          <a:blip r:embed="rId48">
            <a:lum/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rcRect/>
          <a:stretch>
            <a:fillRect/>
          </a:stretch>
        </p:blipFill>
        <p:spPr bwMode="white">
          <a:xfrm>
            <a:off x="9963899" y="5637424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4" name="ShadeSessionDisableResilience"/>
          <p:cNvSpPr>
            <a:spLocks/>
          </p:cNvSpPr>
          <p:nvPr/>
        </p:nvSpPr>
        <p:spPr bwMode="white">
          <a:xfrm>
            <a:off x="9959681" y="5602709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2" name="PolicyName">
            <a:hlinkClick r:id="" action="ppaction://hlinkfile"/>
          </p:cNvPr>
          <p:cNvSpPr>
            <a:spLocks noGrp="1"/>
          </p:cNvSpPr>
          <p:nvPr>
            <p:ph type="title"/>
          </p:nvPr>
        </p:nvSpPr>
        <p:spPr bwMode="white">
          <a:xfrm>
            <a:off x="838200" y="115511"/>
            <a:ext cx="10003967" cy="609565"/>
          </a:xfrm>
          <a:ln>
            <a:headEnd type="none"/>
            <a:tailEnd type="none"/>
          </a:ln>
        </p:spPr>
        <p:txBody>
          <a:bodyPr wrap="square">
            <a:noAutofit/>
          </a:bodyPr>
          <a:lstStyle/>
          <a:p>
            <a:pPr defTabSz="914400"/>
            <a:r>
              <a:rPr lang="en-US" sz="2000" b="1" dirty="0"/>
              <a:t>[All Apps] [SVo365 SharePoint] Service Account Login Requires Phishing-Resistant MFA </a:t>
            </a:r>
          </a:p>
        </p:txBody>
      </p:sp>
      <p:sp>
        <p:nvSpPr>
          <p:cNvPr id="16" name="LastModified"/>
          <p:cNvSpPr txBox="1">
            <a:spLocks noChangeArrowheads="1"/>
          </p:cNvSpPr>
          <p:nvPr/>
        </p:nvSpPr>
        <p:spPr bwMode="white">
          <a:xfrm>
            <a:off x="10556111" y="388376"/>
            <a:ext cx="15483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algn="r" defTabSz="457200"/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Last modified: 2025-06-12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UserWorkload"/>
          <p:cNvSpPr>
            <a:spLocks/>
          </p:cNvSpPr>
          <p:nvPr/>
        </p:nvSpPr>
        <p:spPr bwMode="auto">
          <a:xfrm>
            <a:off x="175820" y="2709769"/>
            <a:ext cx="2202823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Users</a:t>
            </a:r>
          </a:p>
        </p:txBody>
      </p:sp>
      <p:sp>
        <p:nvSpPr>
          <p:cNvPr id="7" name="UserWorkloadIncExc"/>
          <p:cNvSpPr txBox="1">
            <a:spLocks noChangeArrowheads="1"/>
          </p:cNvSpPr>
          <p:nvPr/>
        </p:nvSpPr>
        <p:spPr bwMode="white">
          <a:xfrm>
            <a:off x="125485" y="3698952"/>
            <a:ext cx="3062115" cy="313265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 numCol="1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b="1" dirty="0"/>
            </a:pPr>
            <a:r>
              <a:t> Groups</a:t>
            </a:r>
          </a:p>
          <a:p>
            <a:pPr defTabSz="457200">
              <a:defRPr sz="1100" dirty="0"/>
            </a:pPr>
            <a:r>
              <a:t> - CO_MacUsers (7)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19" name="Risks"/>
          <p:cNvSpPr txBox="1">
            <a:spLocks noChangeArrowheads="1"/>
          </p:cNvSpPr>
          <p:nvPr/>
        </p:nvSpPr>
        <p:spPr bwMode="white">
          <a:xfrm>
            <a:off x="524485" y="1021946"/>
            <a:ext cx="1348869" cy="166886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0" name="Platforms"/>
          <p:cNvSpPr txBox="1">
            <a:spLocks noChangeArrowheads="1"/>
          </p:cNvSpPr>
          <p:nvPr/>
        </p:nvSpPr>
        <p:spPr bwMode="white">
          <a:xfrm>
            <a:off x="1826931" y="1021947"/>
            <a:ext cx="2061056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b="1" dirty="0"/>
            </a:pPr>
            <a:r>
              <a:t>✅ Include</a:t>
            </a:r>
          </a:p>
          <a:p>
            <a:pPr defTabSz="457200">
              <a:defRPr sz="1100" dirty="0"/>
            </a:pPr>
            <a:r>
              <a:t> - 💻 macOS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23" name="Locations"/>
          <p:cNvSpPr txBox="1">
            <a:spLocks noChangeArrowheads="1"/>
          </p:cNvSpPr>
          <p:nvPr/>
        </p:nvSpPr>
        <p:spPr bwMode="white">
          <a:xfrm>
            <a:off x="8324941" y="1021947"/>
            <a:ext cx="3513702" cy="159258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b="1" dirty="0"/>
            </a:pPr>
            <a:r>
              <a:t>✅ Include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r>
              <a:t>🚫 Exclude</a:t>
            </a:r>
          </a:p>
          <a:p>
            <a:pPr defTabSz="457200">
              <a:defRPr sz="1100" dirty="0"/>
            </a:pPr>
            <a:r>
              <a:t> - Trusted OCC Network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24" name="ClientAppTypes"/>
          <p:cNvSpPr txBox="1">
            <a:spLocks noChangeArrowheads="1"/>
          </p:cNvSpPr>
          <p:nvPr/>
        </p:nvSpPr>
        <p:spPr bwMode="white">
          <a:xfrm>
            <a:off x="3810664" y="1021947"/>
            <a:ext cx="1581599" cy="165343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5" name="DeviceFilters"/>
          <p:cNvSpPr txBox="1">
            <a:spLocks noChangeArrowheads="1"/>
          </p:cNvSpPr>
          <p:nvPr/>
        </p:nvSpPr>
        <p:spPr bwMode="white">
          <a:xfrm>
            <a:off x="5818151" y="1022762"/>
            <a:ext cx="2248808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cxnSp>
        <p:nvCxnSpPr>
          <p:cNvPr id="27" name="Straight Arrow Connector 26" descr="Arrow drawn from user/workload  to the action being performed by the user such as accessing cloud apps."/>
          <p:cNvCxnSpPr/>
          <p:nvPr/>
        </p:nvCxnSpPr>
        <p:spPr bwMode="white">
          <a:xfrm>
            <a:off x="2195232" y="3159047"/>
            <a:ext cx="3959471" cy="1"/>
          </a:xfrm>
          <a:prstGeom prst="straightConnector1">
            <a:avLst/>
          </a:prstGeom>
          <a:ln w="76200"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30" name="IconBlockAccess" descr="Picture with red color stop sign to indicate blocked access"/>
          <p:cNvPicPr>
            <a:picLocks noChangeAspect="1"/>
          </p:cNvPicPr>
          <p:nvPr/>
        </p:nvPicPr>
        <p:blipFill>
          <a:blip r:embed="rId3">
            <a:lum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 bwMode="white">
          <a:xfrm>
            <a:off x="5306633" y="2735805"/>
            <a:ext cx="356616" cy="35661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34" name="GrantLabelBlockAccess"/>
          <p:cNvSpPr txBox="1">
            <a:spLocks noChangeArrowheads="1"/>
          </p:cNvSpPr>
          <p:nvPr/>
        </p:nvSpPr>
        <p:spPr bwMode="white">
          <a:xfrm>
            <a:off x="3936931" y="2734375"/>
            <a:ext cx="1358065" cy="369332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algn="ctr" defTabSz="457200"/>
            <a:r>
              <a:rPr lang="en-US" b="1" dirty="0">
                <a:solidFill>
                  <a:srgbClr val="FF0000"/>
                </a:solidFill>
              </a:rPr>
              <a:t>Block access</a:t>
            </a:r>
          </a:p>
        </p:txBody>
      </p:sp>
      <p:sp>
        <p:nvSpPr>
          <p:cNvPr id="3" name="CloudAppActionIncExc"/>
          <p:cNvSpPr txBox="1">
            <a:spLocks noChangeArrowheads="1"/>
          </p:cNvSpPr>
          <p:nvPr/>
        </p:nvSpPr>
        <p:spPr bwMode="white">
          <a:xfrm>
            <a:off x="6039518" y="3662782"/>
            <a:ext cx="3649518" cy="315161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r>
              <a:t>🚫 Exclude:</a:t>
            </a:r>
          </a:p>
          <a:p>
            <a:pPr defTabSz="457200">
              <a:defRPr sz="1100" dirty="0"/>
            </a:pPr>
            <a:r>
              <a:t> - Device Registration Service</a:t>
            </a:r>
          </a:p>
          <a:p>
            <a:pPr defTabSz="457200">
              <a:defRPr sz="1100" dirty="0"/>
            </a:pPr>
            <a:r>
              <a:t> - Microsoft Intune</a:t>
            </a:r>
          </a:p>
          <a:p>
            <a:pPr defTabSz="457200">
              <a:defRPr sz="1100" dirty="0"/>
            </a:pPr>
            <a:r>
              <a:t> - Microsoft Intune Enrollment</a:t>
            </a:r>
          </a:p>
          <a:p>
            <a:pPr defTabSz="457200">
              <a:defRPr sz="1100" b="1" dirty="0"/>
            </a:pPr>
            <a:endParaRPr/>
          </a:p>
        </p:txBody>
      </p:sp>
      <p:pic>
        <p:nvPicPr>
          <p:cNvPr id="26" name="IconGroupIdentity"/>
          <p:cNvPicPr>
            <a:picLocks noChangeAspect="1"/>
          </p:cNvPicPr>
          <p:nvPr/>
        </p:nvPicPr>
        <p:blipFill>
          <a:blip r:embed="rId5">
            <a:lum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 bwMode="white">
          <a:xfrm>
            <a:off x="327701" y="2839007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36" name="Graphic 35"/>
          <p:cNvPicPr>
            <a:picLocks noChangeAspect="1"/>
          </p:cNvPicPr>
          <p:nvPr/>
        </p:nvPicPr>
        <p:blipFill>
          <a:blip r:embed="rId7">
            <a:lum/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p:blipFill>
        <p:spPr bwMode="white">
          <a:xfrm>
            <a:off x="495610" y="197468"/>
            <a:ext cx="381196" cy="38119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" name="CloudAppAction"/>
          <p:cNvSpPr>
            <a:spLocks/>
          </p:cNvSpPr>
          <p:nvPr/>
        </p:nvSpPr>
        <p:spPr bwMode="auto">
          <a:xfrm>
            <a:off x="6206089" y="2718506"/>
            <a:ext cx="3227026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All cloud apps</a:t>
            </a:r>
          </a:p>
        </p:txBody>
      </p:sp>
      <p:pic>
        <p:nvPicPr>
          <p:cNvPr id="75" name="IconAccessAllCloudApps"/>
          <p:cNvPicPr>
            <a:picLocks noChangeAspect="1"/>
          </p:cNvPicPr>
          <p:nvPr/>
        </p:nvPicPr>
        <p:blipFill>
          <a:blip r:embed="rId9">
            <a:lum/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p:blipFill>
        <p:spPr bwMode="white">
          <a:xfrm>
            <a:off x="6439264" y="2836824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21" name="StateEnabled"/>
          <p:cNvSpPr>
            <a:spLocks/>
          </p:cNvSpPr>
          <p:nvPr/>
        </p:nvSpPr>
        <p:spPr bwMode="white">
          <a:xfrm>
            <a:off x="10842171" y="83487"/>
            <a:ext cx="1260389" cy="264812"/>
          </a:xfrm>
          <a:prstGeom prst="round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r>
              <a:rPr lang="en-US" sz="800" dirty="0"/>
              <a:t>Policy Enabled</a:t>
            </a:r>
          </a:p>
        </p:txBody>
      </p:sp>
      <p:grpSp>
        <p:nvGrpSpPr>
          <p:cNvPr id="10" name="IconRiskyUsers"/>
          <p:cNvGrpSpPr>
            <a:grpSpLocks/>
          </p:cNvGrpSpPr>
          <p:nvPr/>
        </p:nvGrpSpPr>
        <p:grpSpPr bwMode="white">
          <a:xfrm>
            <a:off x="635426" y="738677"/>
            <a:ext cx="1202553" cy="274320"/>
            <a:chOff x="2013768" y="1033956"/>
            <a:chExt cx="1342320" cy="274320"/>
          </a:xfrm>
        </p:grpSpPr>
        <p:pic>
          <p:nvPicPr>
            <p:cNvPr id="46" name="Graphic 1"/>
            <p:cNvPicPr>
              <a:picLocks noChangeAspect="1"/>
            </p:cNvPicPr>
            <p:nvPr/>
          </p:nvPicPr>
          <p:blipFill>
            <a:blip r:embed="rId11">
              <a:lum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013768" y="1033956"/>
              <a:ext cx="274320" cy="27432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5" name="Label 1"/>
            <p:cNvSpPr txBox="1">
              <a:spLocks noChangeArrowheads="1"/>
            </p:cNvSpPr>
            <p:nvPr/>
          </p:nvSpPr>
          <p:spPr bwMode="white">
            <a:xfrm>
              <a:off x="2240077" y="1040706"/>
              <a:ext cx="1116011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Risk</a:t>
              </a:r>
            </a:p>
          </p:txBody>
        </p:sp>
      </p:grpSp>
      <p:grpSp>
        <p:nvGrpSpPr>
          <p:cNvPr id="14" name="IconPlatforms"/>
          <p:cNvGrpSpPr>
            <a:grpSpLocks/>
          </p:cNvGrpSpPr>
          <p:nvPr/>
        </p:nvGrpSpPr>
        <p:grpSpPr bwMode="white">
          <a:xfrm>
            <a:off x="1927788" y="715249"/>
            <a:ext cx="1719285" cy="365760"/>
            <a:chOff x="3262737" y="994835"/>
            <a:chExt cx="1719285" cy="365760"/>
          </a:xfrm>
        </p:grpSpPr>
        <p:pic>
          <p:nvPicPr>
            <p:cNvPr id="29" name="Graphic 1"/>
            <p:cNvPicPr>
              <a:picLocks noChangeAspect="1"/>
            </p:cNvPicPr>
            <p:nvPr/>
          </p:nvPicPr>
          <p:blipFill>
            <a:blip r:embed="rId13">
              <a:lum/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3262737" y="994835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1" name="Label 1"/>
            <p:cNvSpPr txBox="1">
              <a:spLocks noChangeArrowheads="1"/>
            </p:cNvSpPr>
            <p:nvPr/>
          </p:nvSpPr>
          <p:spPr bwMode="white">
            <a:xfrm>
              <a:off x="3582397" y="1027255"/>
              <a:ext cx="1399625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Device platforms</a:t>
              </a:r>
            </a:p>
          </p:txBody>
        </p:sp>
      </p:grpSp>
      <p:grpSp>
        <p:nvGrpSpPr>
          <p:cNvPr id="17" name="IconClientAppTypes"/>
          <p:cNvGrpSpPr>
            <a:grpSpLocks/>
          </p:cNvGrpSpPr>
          <p:nvPr/>
        </p:nvGrpSpPr>
        <p:grpSpPr bwMode="white">
          <a:xfrm>
            <a:off x="3908159" y="670015"/>
            <a:ext cx="1852971" cy="365760"/>
            <a:chOff x="4858970" y="975927"/>
            <a:chExt cx="1852971" cy="365760"/>
          </a:xfrm>
        </p:grpSpPr>
        <p:pic>
          <p:nvPicPr>
            <p:cNvPr id="58" name="Graphic 1"/>
            <p:cNvPicPr>
              <a:picLocks noChangeAspect="1"/>
            </p:cNvPicPr>
            <p:nvPr/>
          </p:nvPicPr>
          <p:blipFill>
            <a:blip r:embed="rId15">
              <a:lum/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858970" y="975927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5" name="Label 1"/>
            <p:cNvSpPr txBox="1">
              <a:spLocks noChangeArrowheads="1"/>
            </p:cNvSpPr>
            <p:nvPr/>
          </p:nvSpPr>
          <p:spPr bwMode="white">
            <a:xfrm>
              <a:off x="5193983" y="1009899"/>
              <a:ext cx="1517958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Client apps</a:t>
              </a:r>
            </a:p>
          </p:txBody>
        </p:sp>
      </p:grpSp>
      <p:grpSp>
        <p:nvGrpSpPr>
          <p:cNvPr id="37" name="IconLocations"/>
          <p:cNvGrpSpPr>
            <a:grpSpLocks/>
          </p:cNvGrpSpPr>
          <p:nvPr/>
        </p:nvGrpSpPr>
        <p:grpSpPr bwMode="white">
          <a:xfrm>
            <a:off x="8411896" y="646848"/>
            <a:ext cx="1850168" cy="388465"/>
            <a:chOff x="2321433" y="3262888"/>
            <a:chExt cx="1850168" cy="388465"/>
          </a:xfrm>
        </p:grpSpPr>
        <p:pic>
          <p:nvPicPr>
            <p:cNvPr id="33" name="Graphic 1"/>
            <p:cNvPicPr>
              <a:picLocks noChangeAspect="1"/>
            </p:cNvPicPr>
            <p:nvPr/>
          </p:nvPicPr>
          <p:blipFill>
            <a:blip r:embed="rId17">
              <a:lum/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321433" y="3262888"/>
              <a:ext cx="388465" cy="388465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28" name="Label 1"/>
            <p:cNvSpPr txBox="1">
              <a:spLocks noChangeArrowheads="1"/>
            </p:cNvSpPr>
            <p:nvPr/>
          </p:nvSpPr>
          <p:spPr bwMode="white">
            <a:xfrm>
              <a:off x="2713321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Locations</a:t>
              </a:r>
              <a:endParaRPr lang="en-US" sz="1100" b="1" dirty="0"/>
            </a:p>
          </p:txBody>
        </p:sp>
      </p:grpSp>
      <p:grpSp>
        <p:nvGrpSpPr>
          <p:cNvPr id="39" name="IconDeviceFilters"/>
          <p:cNvGrpSpPr>
            <a:grpSpLocks/>
          </p:cNvGrpSpPr>
          <p:nvPr/>
        </p:nvGrpSpPr>
        <p:grpSpPr bwMode="white">
          <a:xfrm>
            <a:off x="5472818" y="661958"/>
            <a:ext cx="1839823" cy="364111"/>
            <a:chOff x="4195414" y="3273669"/>
            <a:chExt cx="1839823" cy="364111"/>
          </a:xfrm>
        </p:grpSpPr>
        <p:pic>
          <p:nvPicPr>
            <p:cNvPr id="60" name="Graphic 1"/>
            <p:cNvPicPr>
              <a:picLocks noChangeAspect="1"/>
            </p:cNvPicPr>
            <p:nvPr/>
          </p:nvPicPr>
          <p:blipFill>
            <a:blip r:embed="rId19">
              <a:lum/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195414" y="3273669"/>
              <a:ext cx="364111" cy="364111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31" name="Label 1"/>
            <p:cNvSpPr txBox="1">
              <a:spLocks noChangeArrowheads="1"/>
            </p:cNvSpPr>
            <p:nvPr/>
          </p:nvSpPr>
          <p:spPr bwMode="white">
            <a:xfrm>
              <a:off x="4576957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Filter for devices</a:t>
              </a:r>
              <a:endParaRPr lang="en-US" sz="1100" b="1" dirty="0"/>
            </a:p>
          </p:txBody>
        </p:sp>
      </p:grpSp>
      <p:pic>
        <p:nvPicPr>
          <p:cNvPr id="62" name="IconGrantMultifactorAuthentication"/>
          <p:cNvPicPr>
            <a:picLocks noChangeAspect="1"/>
          </p:cNvPicPr>
          <p:nvPr/>
        </p:nvPicPr>
        <p:blipFill>
          <a:blip r:embed="rId21">
            <a:lum/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>
            <a:fillRect/>
          </a:stretch>
        </p:blipFill>
        <p:spPr bwMode="white">
          <a:xfrm>
            <a:off x="3410647" y="3566863"/>
            <a:ext cx="17145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5" name="IconGrantMultifactorAuthenticationLabel"/>
          <p:cNvSpPr txBox="1">
            <a:spLocks noChangeArrowheads="1"/>
          </p:cNvSpPr>
          <p:nvPr/>
        </p:nvSpPr>
        <p:spPr bwMode="white">
          <a:xfrm>
            <a:off x="3575836" y="3571997"/>
            <a:ext cx="19007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Multifactor authentication</a:t>
            </a:r>
            <a:endParaRPr lang="en-US" sz="1000" dirty="0"/>
          </a:p>
        </p:txBody>
      </p:sp>
      <p:pic>
        <p:nvPicPr>
          <p:cNvPr id="38" name="IconGrantAuthenticationStrength"/>
          <p:cNvPicPr>
            <a:picLocks noChangeAspect="1"/>
          </p:cNvPicPr>
          <p:nvPr/>
        </p:nvPicPr>
        <p:blipFill>
          <a:blip r:embed="rId23">
            <a:lum/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/>
          <a:stretch>
            <a:fillRect/>
          </a:stretch>
        </p:blipFill>
        <p:spPr bwMode="white">
          <a:xfrm>
            <a:off x="3374515" y="3905034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7" name="IconGrantAuthenticationStrengthLabel"/>
          <p:cNvSpPr txBox="1">
            <a:spLocks noChangeArrowheads="1"/>
          </p:cNvSpPr>
          <p:nvPr/>
        </p:nvSpPr>
        <p:spPr bwMode="white">
          <a:xfrm>
            <a:off x="3575836" y="3907323"/>
            <a:ext cx="2185294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Authentication strength</a:t>
            </a:r>
            <a:endParaRPr lang="en-US" sz="1000" dirty="0"/>
          </a:p>
        </p:txBody>
      </p:sp>
      <p:pic>
        <p:nvPicPr>
          <p:cNvPr id="52" name="IconGrantDeviceCompliance"/>
          <p:cNvPicPr>
            <a:picLocks noChangeAspect="1"/>
          </p:cNvPicPr>
          <p:nvPr/>
        </p:nvPicPr>
        <p:blipFill>
          <a:blip r:embed="rId25">
            <a:lum/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/>
          <a:stretch>
            <a:fillRect/>
          </a:stretch>
        </p:blipFill>
        <p:spPr bwMode="white">
          <a:xfrm>
            <a:off x="3374515" y="4243205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9" name="IconGrantDeviceComplianceLabel"/>
          <p:cNvSpPr txBox="1">
            <a:spLocks noChangeArrowheads="1"/>
          </p:cNvSpPr>
          <p:nvPr/>
        </p:nvSpPr>
        <p:spPr bwMode="white">
          <a:xfrm>
            <a:off x="3575836" y="4242649"/>
            <a:ext cx="17378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Compliant device</a:t>
            </a:r>
            <a:endParaRPr lang="en-US" sz="1000" dirty="0"/>
          </a:p>
        </p:txBody>
      </p:sp>
      <p:pic>
        <p:nvPicPr>
          <p:cNvPr id="43" name="IconGrantHybridJoined"/>
          <p:cNvPicPr>
            <a:picLocks noChangeAspect="1"/>
          </p:cNvPicPr>
          <p:nvPr/>
        </p:nvPicPr>
        <p:blipFill>
          <a:blip r:embed="rId27">
            <a:lum/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/>
          <a:stretch>
            <a:fillRect/>
          </a:stretch>
        </p:blipFill>
        <p:spPr bwMode="white">
          <a:xfrm>
            <a:off x="3374515" y="4581376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3" name="IconGrantHybridJoinedLabel"/>
          <p:cNvSpPr txBox="1">
            <a:spLocks noChangeArrowheads="1"/>
          </p:cNvSpPr>
          <p:nvPr/>
        </p:nvSpPr>
        <p:spPr bwMode="white">
          <a:xfrm>
            <a:off x="3575836" y="4577975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Hybrid Azure AD joined device</a:t>
            </a:r>
            <a:endParaRPr lang="en-US" sz="1000" dirty="0"/>
          </a:p>
        </p:txBody>
      </p:sp>
      <p:pic>
        <p:nvPicPr>
          <p:cNvPr id="48" name="IconGrantApprovedClientApp"/>
          <p:cNvPicPr>
            <a:picLocks noChangeAspect="1"/>
          </p:cNvPicPr>
          <p:nvPr/>
        </p:nvPicPr>
        <p:blipFill>
          <a:blip r:embed="rId29">
            <a:lum/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rcRect/>
          <a:stretch>
            <a:fillRect/>
          </a:stretch>
        </p:blipFill>
        <p:spPr bwMode="white">
          <a:xfrm>
            <a:off x="3374515" y="491954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5" name="IconGrantApprovedClientAppLabel"/>
          <p:cNvSpPr txBox="1">
            <a:spLocks noChangeArrowheads="1"/>
          </p:cNvSpPr>
          <p:nvPr/>
        </p:nvSpPr>
        <p:spPr bwMode="white">
          <a:xfrm>
            <a:off x="3575836" y="4913301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Approved client app</a:t>
            </a:r>
            <a:endParaRPr lang="en-US" sz="1000" dirty="0"/>
          </a:p>
        </p:txBody>
      </p:sp>
      <p:pic>
        <p:nvPicPr>
          <p:cNvPr id="42" name="IconGrantCustomAuth"/>
          <p:cNvPicPr>
            <a:picLocks noChangeAspect="1"/>
          </p:cNvPicPr>
          <p:nvPr/>
        </p:nvPicPr>
        <p:blipFill>
          <a:blip r:embed="rId31">
            <a:lum/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rcRect/>
          <a:stretch>
            <a:fillRect/>
          </a:stretch>
        </p:blipFill>
        <p:spPr bwMode="white">
          <a:xfrm>
            <a:off x="3374515" y="593406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9" name="IconGrantCustomAuthLabel"/>
          <p:cNvSpPr txBox="1">
            <a:spLocks noChangeArrowheads="1"/>
          </p:cNvSpPr>
          <p:nvPr/>
        </p:nvSpPr>
        <p:spPr bwMode="white">
          <a:xfrm>
            <a:off x="3575836" y="5919279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Custom authentication factor</a:t>
            </a:r>
            <a:endParaRPr lang="en-US" sz="1000" dirty="0"/>
          </a:p>
        </p:txBody>
      </p:sp>
      <p:pic>
        <p:nvPicPr>
          <p:cNvPr id="40" name="IconGrantTermsOfUse"/>
          <p:cNvPicPr>
            <a:picLocks noChangeAspect="1"/>
          </p:cNvPicPr>
          <p:nvPr/>
        </p:nvPicPr>
        <p:blipFill>
          <a:blip r:embed="rId33">
            <a:lum/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rcRect/>
          <a:stretch>
            <a:fillRect/>
          </a:stretch>
        </p:blipFill>
        <p:spPr bwMode="white">
          <a:xfrm>
            <a:off x="3374515" y="627222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3" name="IconGrantTermsOfUseLabel"/>
          <p:cNvSpPr txBox="1">
            <a:spLocks noChangeArrowheads="1"/>
          </p:cNvSpPr>
          <p:nvPr/>
        </p:nvSpPr>
        <p:spPr bwMode="white">
          <a:xfrm>
            <a:off x="3575836" y="625460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Terms of use</a:t>
            </a:r>
            <a:endParaRPr lang="en-US" sz="1000" dirty="0"/>
          </a:p>
        </p:txBody>
      </p:sp>
      <p:sp>
        <p:nvSpPr>
          <p:cNvPr id="56" name="IconGrantAppProtectionLabel"/>
          <p:cNvSpPr txBox="1">
            <a:spLocks noChangeArrowheads="1"/>
          </p:cNvSpPr>
          <p:nvPr/>
        </p:nvSpPr>
        <p:spPr bwMode="white">
          <a:xfrm>
            <a:off x="3575836" y="524862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 protection policy</a:t>
            </a:r>
            <a:endParaRPr lang="en-US" sz="1000" dirty="0"/>
          </a:p>
        </p:txBody>
      </p:sp>
      <p:pic>
        <p:nvPicPr>
          <p:cNvPr id="65" name="IconGrantAppProtection"/>
          <p:cNvPicPr>
            <a:picLocks noChangeAspect="1"/>
          </p:cNvPicPr>
          <p:nvPr/>
        </p:nvPicPr>
        <p:blipFill>
          <a:blip r:embed="rId35">
            <a:lum/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rcRect/>
          <a:stretch>
            <a:fillRect/>
          </a:stretch>
        </p:blipFill>
        <p:spPr bwMode="white">
          <a:xfrm>
            <a:off x="3374515" y="525771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7" name="IconGrantChangePasswordLabel"/>
          <p:cNvSpPr txBox="1">
            <a:spLocks noChangeArrowheads="1"/>
          </p:cNvSpPr>
          <p:nvPr/>
        </p:nvSpPr>
        <p:spPr bwMode="white">
          <a:xfrm>
            <a:off x="3575836" y="5583953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Change password</a:t>
            </a:r>
            <a:endParaRPr lang="en-US" sz="1000" dirty="0"/>
          </a:p>
        </p:txBody>
      </p:sp>
      <p:pic>
        <p:nvPicPr>
          <p:cNvPr id="67" name="IconGrantChangePassword"/>
          <p:cNvPicPr>
            <a:picLocks noChangeAspect="1"/>
          </p:cNvPicPr>
          <p:nvPr/>
        </p:nvPicPr>
        <p:blipFill>
          <a:blip r:embed="rId37">
            <a:lum/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rcRect/>
          <a:stretch>
            <a:fillRect/>
          </a:stretch>
        </p:blipFill>
        <p:spPr bwMode="white">
          <a:xfrm>
            <a:off x="3374515" y="5595889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4" name="ShadeRisk"/>
          <p:cNvSpPr>
            <a:spLocks/>
          </p:cNvSpPr>
          <p:nvPr/>
        </p:nvSpPr>
        <p:spPr bwMode="white">
          <a:xfrm>
            <a:off x="507564" y="650246"/>
            <a:ext cx="976864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78" name="ShadeClientApps"/>
          <p:cNvSpPr>
            <a:spLocks/>
          </p:cNvSpPr>
          <p:nvPr/>
        </p:nvSpPr>
        <p:spPr bwMode="white">
          <a:xfrm>
            <a:off x="3802273" y="650246"/>
            <a:ext cx="1481482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2" name="ShadeFilterForDevices"/>
          <p:cNvSpPr>
            <a:spLocks/>
          </p:cNvSpPr>
          <p:nvPr/>
        </p:nvSpPr>
        <p:spPr bwMode="white">
          <a:xfrm>
            <a:off x="5438955" y="627922"/>
            <a:ext cx="1873685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3" name="ShadeGrantMultifactorAuth"/>
          <p:cNvSpPr>
            <a:spLocks/>
          </p:cNvSpPr>
          <p:nvPr/>
        </p:nvSpPr>
        <p:spPr bwMode="white">
          <a:xfrm>
            <a:off x="3369399" y="3534220"/>
            <a:ext cx="2069555" cy="28330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4" name="ShadeGrantAuthStrength"/>
          <p:cNvSpPr>
            <a:spLocks/>
          </p:cNvSpPr>
          <p:nvPr/>
        </p:nvSpPr>
        <p:spPr bwMode="white">
          <a:xfrm>
            <a:off x="3350256" y="3869846"/>
            <a:ext cx="2069555" cy="27801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5" name="ShadeGrantCompliantDevice"/>
          <p:cNvSpPr>
            <a:spLocks/>
          </p:cNvSpPr>
          <p:nvPr/>
        </p:nvSpPr>
        <p:spPr bwMode="white">
          <a:xfrm>
            <a:off x="3361852" y="4243205"/>
            <a:ext cx="2077102" cy="26110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6" name="ShadeGrantHybridAzureADJoined"/>
          <p:cNvSpPr>
            <a:spLocks/>
          </p:cNvSpPr>
          <p:nvPr/>
        </p:nvSpPr>
        <p:spPr bwMode="white">
          <a:xfrm>
            <a:off x="3353637" y="4552268"/>
            <a:ext cx="2160906" cy="298395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7" name="ShadeGrantApprovedClientApp"/>
          <p:cNvSpPr>
            <a:spLocks/>
          </p:cNvSpPr>
          <p:nvPr/>
        </p:nvSpPr>
        <p:spPr bwMode="white">
          <a:xfrm>
            <a:off x="3331918" y="4876027"/>
            <a:ext cx="2182625" cy="29839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8" name="ShadeGrantAppProtectionPolicy"/>
          <p:cNvSpPr>
            <a:spLocks/>
          </p:cNvSpPr>
          <p:nvPr/>
        </p:nvSpPr>
        <p:spPr bwMode="white">
          <a:xfrm>
            <a:off x="3350256" y="5207226"/>
            <a:ext cx="2122561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9" name="ShadeGrantChangePassword"/>
          <p:cNvSpPr>
            <a:spLocks/>
          </p:cNvSpPr>
          <p:nvPr/>
        </p:nvSpPr>
        <p:spPr bwMode="white">
          <a:xfrm>
            <a:off x="3350257" y="5557021"/>
            <a:ext cx="2042006" cy="287239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0" name="ShadeGrantCustomAuthFactor"/>
          <p:cNvSpPr>
            <a:spLocks/>
          </p:cNvSpPr>
          <p:nvPr/>
        </p:nvSpPr>
        <p:spPr bwMode="white">
          <a:xfrm>
            <a:off x="3331918" y="5899058"/>
            <a:ext cx="2182625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1" name="ShadeGrantTermsOfUse"/>
          <p:cNvSpPr>
            <a:spLocks/>
          </p:cNvSpPr>
          <p:nvPr/>
        </p:nvSpPr>
        <p:spPr bwMode="white">
          <a:xfrm>
            <a:off x="3313823" y="6192350"/>
            <a:ext cx="101602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99" name="Rectangle 98"/>
          <p:cNvSpPr>
            <a:spLocks/>
          </p:cNvSpPr>
          <p:nvPr/>
        </p:nvSpPr>
        <p:spPr bwMode="white">
          <a:xfrm>
            <a:off x="3268757" y="3253404"/>
            <a:ext cx="2357725" cy="3498546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0" name="Rectangle 109"/>
          <p:cNvSpPr>
            <a:spLocks/>
          </p:cNvSpPr>
          <p:nvPr/>
        </p:nvSpPr>
        <p:spPr bwMode="white">
          <a:xfrm>
            <a:off x="9881750" y="3248255"/>
            <a:ext cx="2220808" cy="3510149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7" name="Rectangle 116"/>
          <p:cNvSpPr>
            <a:spLocks/>
          </p:cNvSpPr>
          <p:nvPr/>
        </p:nvSpPr>
        <p:spPr bwMode="white">
          <a:xfrm>
            <a:off x="26741" y="606825"/>
            <a:ext cx="11985015" cy="2063636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2" name="Conditions Label"/>
          <p:cNvSpPr txBox="1">
            <a:spLocks noChangeArrowheads="1"/>
          </p:cNvSpPr>
          <p:nvPr/>
        </p:nvSpPr>
        <p:spPr bwMode="white">
          <a:xfrm rot="16200000">
            <a:off x="-883507" y="1514324"/>
            <a:ext cx="2081441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Conditions</a:t>
            </a:r>
          </a:p>
        </p:txBody>
      </p:sp>
      <p:sp>
        <p:nvSpPr>
          <p:cNvPr id="109" name="Grant Controls"/>
          <p:cNvSpPr txBox="1">
            <a:spLocks noChangeArrowheads="1"/>
          </p:cNvSpPr>
          <p:nvPr/>
        </p:nvSpPr>
        <p:spPr bwMode="white">
          <a:xfrm>
            <a:off x="3252146" y="3244395"/>
            <a:ext cx="2391873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Grant Controls</a:t>
            </a:r>
          </a:p>
        </p:txBody>
      </p:sp>
      <p:sp>
        <p:nvSpPr>
          <p:cNvPr id="111" name="Session Controls"/>
          <p:cNvSpPr txBox="1">
            <a:spLocks noChangeArrowheads="1"/>
          </p:cNvSpPr>
          <p:nvPr/>
        </p:nvSpPr>
        <p:spPr bwMode="white">
          <a:xfrm>
            <a:off x="9864212" y="3243751"/>
            <a:ext cx="2238346" cy="23786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Session Controls</a:t>
            </a:r>
          </a:p>
        </p:txBody>
      </p:sp>
      <p:pic>
        <p:nvPicPr>
          <p:cNvPr id="72" name="Graphic 71"/>
          <p:cNvPicPr>
            <a:picLocks noChangeAspect="1"/>
          </p:cNvPicPr>
          <p:nvPr/>
        </p:nvPicPr>
        <p:blipFill>
          <a:blip r:embed="rId39">
            <a:lum/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rcRect/>
          <a:stretch>
            <a:fillRect/>
          </a:stretch>
        </p:blipFill>
        <p:spPr bwMode="white">
          <a:xfrm>
            <a:off x="9996846" y="356982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4" name="Graphic 93"/>
          <p:cNvPicPr>
            <a:picLocks noChangeAspect="1"/>
          </p:cNvPicPr>
          <p:nvPr/>
        </p:nvPicPr>
        <p:blipFill>
          <a:blip r:embed="rId41">
            <a:lum/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rcRect/>
          <a:stretch>
            <a:fillRect/>
          </a:stretch>
        </p:blipFill>
        <p:spPr bwMode="white">
          <a:xfrm>
            <a:off x="10009443" y="525644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5" name="TextBox 94"/>
          <p:cNvSpPr txBox="1">
            <a:spLocks noChangeArrowheads="1"/>
          </p:cNvSpPr>
          <p:nvPr/>
        </p:nvSpPr>
        <p:spPr bwMode="white">
          <a:xfrm>
            <a:off x="10207481" y="3578463"/>
            <a:ext cx="150554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App enforced restrictions</a:t>
            </a:r>
          </a:p>
        </p:txBody>
      </p:sp>
      <p:sp>
        <p:nvSpPr>
          <p:cNvPr id="96" name="TextBox 95"/>
          <p:cNvSpPr txBox="1">
            <a:spLocks noChangeArrowheads="1"/>
          </p:cNvSpPr>
          <p:nvPr/>
        </p:nvSpPr>
        <p:spPr bwMode="white">
          <a:xfrm>
            <a:off x="10201167" y="3899846"/>
            <a:ext cx="181011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Conditional Access App Control</a:t>
            </a:r>
          </a:p>
        </p:txBody>
      </p:sp>
      <p:sp>
        <p:nvSpPr>
          <p:cNvPr id="97" name="TextBox 96"/>
          <p:cNvSpPr txBox="1">
            <a:spLocks noChangeArrowheads="1"/>
          </p:cNvSpPr>
          <p:nvPr/>
        </p:nvSpPr>
        <p:spPr bwMode="white">
          <a:xfrm>
            <a:off x="10215627" y="4357505"/>
            <a:ext cx="1090363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Sign-in frequency</a:t>
            </a:r>
          </a:p>
        </p:txBody>
      </p:sp>
      <p:sp>
        <p:nvSpPr>
          <p:cNvPr id="98" name="TextBox 97"/>
          <p:cNvSpPr txBox="1">
            <a:spLocks noChangeArrowheads="1"/>
          </p:cNvSpPr>
          <p:nvPr/>
        </p:nvSpPr>
        <p:spPr bwMode="white">
          <a:xfrm>
            <a:off x="10225446" y="4793305"/>
            <a:ext cx="156966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Persistent browser session</a:t>
            </a:r>
          </a:p>
        </p:txBody>
      </p:sp>
      <p:sp>
        <p:nvSpPr>
          <p:cNvPr id="100" name="TextBox 99"/>
          <p:cNvSpPr txBox="1">
            <a:spLocks noChangeArrowheads="1"/>
          </p:cNvSpPr>
          <p:nvPr/>
        </p:nvSpPr>
        <p:spPr bwMode="white">
          <a:xfrm>
            <a:off x="10229552" y="5232376"/>
            <a:ext cx="1717137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Continuous access evaluation</a:t>
            </a:r>
          </a:p>
        </p:txBody>
      </p:sp>
      <p:sp>
        <p:nvSpPr>
          <p:cNvPr id="101" name="TextBox 100"/>
          <p:cNvSpPr txBox="1">
            <a:spLocks noChangeArrowheads="1"/>
          </p:cNvSpPr>
          <p:nvPr/>
        </p:nvSpPr>
        <p:spPr bwMode="white">
          <a:xfrm>
            <a:off x="10259108" y="5658625"/>
            <a:ext cx="153599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Disable resilience defaults</a:t>
            </a:r>
          </a:p>
        </p:txBody>
      </p:sp>
      <p:pic>
        <p:nvPicPr>
          <p:cNvPr id="103" name="Graphic 102"/>
          <p:cNvPicPr>
            <a:picLocks noChangeAspect="1"/>
          </p:cNvPicPr>
          <p:nvPr/>
        </p:nvPicPr>
        <p:blipFill>
          <a:blip r:embed="rId43">
            <a:lum/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rcRect/>
          <a:stretch>
            <a:fillRect/>
          </a:stretch>
        </p:blipFill>
        <p:spPr bwMode="white">
          <a:xfrm>
            <a:off x="9996846" y="479900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5" name="Graphic 104"/>
          <p:cNvPicPr>
            <a:picLocks noChangeAspect="1"/>
          </p:cNvPicPr>
          <p:nvPr/>
        </p:nvPicPr>
        <p:blipFill>
          <a:blip r:embed="rId45">
            <a:lum/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rcRect/>
          <a:stretch>
            <a:fillRect/>
          </a:stretch>
        </p:blipFill>
        <p:spPr bwMode="white">
          <a:xfrm>
            <a:off x="9996846" y="437457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7" name="Graphic 106"/>
          <p:cNvPicPr>
            <a:picLocks noChangeAspect="1"/>
          </p:cNvPicPr>
          <p:nvPr/>
        </p:nvPicPr>
        <p:blipFill>
          <a:blip r:embed="rId7">
            <a:lum/>
            <a:extLst>
              <a:ext uri="{96DAC541-7B7A-43D3-8B79-37D633B846F1}">
                <asvg:svgBlip xmlns:asvg="http://schemas.microsoft.com/office/drawing/2016/SVG/main" r:embed="rId47"/>
              </a:ext>
            </a:extLst>
          </a:blip>
          <a:srcRect/>
          <a:stretch>
            <a:fillRect/>
          </a:stretch>
        </p:blipFill>
        <p:spPr bwMode="white">
          <a:xfrm>
            <a:off x="9996846" y="391529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15" name="SessionSifInterval"/>
          <p:cNvSpPr txBox="1">
            <a:spLocks noChangeArrowheads="1"/>
          </p:cNvSpPr>
          <p:nvPr/>
        </p:nvSpPr>
        <p:spPr bwMode="white">
          <a:xfrm>
            <a:off x="10296745" y="4516775"/>
            <a:ext cx="1249060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Periodic reauthentication</a:t>
            </a:r>
          </a:p>
        </p:txBody>
      </p:sp>
      <p:sp>
        <p:nvSpPr>
          <p:cNvPr id="114" name="SessionCasType"/>
          <p:cNvSpPr txBox="1">
            <a:spLocks noChangeArrowheads="1"/>
          </p:cNvSpPr>
          <p:nvPr/>
        </p:nvSpPr>
        <p:spPr bwMode="white">
          <a:xfrm>
            <a:off x="10296745" y="4075500"/>
            <a:ext cx="95410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App Control Policy</a:t>
            </a:r>
          </a:p>
        </p:txBody>
      </p:sp>
      <p:sp>
        <p:nvSpPr>
          <p:cNvPr id="116" name="SessionPersistenBrowserMode"/>
          <p:cNvSpPr txBox="1">
            <a:spLocks noChangeArrowheads="1"/>
          </p:cNvSpPr>
          <p:nvPr/>
        </p:nvSpPr>
        <p:spPr bwMode="white">
          <a:xfrm>
            <a:off x="10309761" y="4945281"/>
            <a:ext cx="918841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Always persistent</a:t>
            </a:r>
          </a:p>
        </p:txBody>
      </p:sp>
      <p:sp>
        <p:nvSpPr>
          <p:cNvPr id="118" name="SessionCaeMode"/>
          <p:cNvSpPr txBox="1">
            <a:spLocks noChangeArrowheads="1"/>
          </p:cNvSpPr>
          <p:nvPr/>
        </p:nvSpPr>
        <p:spPr bwMode="white">
          <a:xfrm>
            <a:off x="10301386" y="5393378"/>
            <a:ext cx="15359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US" sz="800" dirty="0"/>
              <a:t>Strictly enforce location policies</a:t>
            </a:r>
          </a:p>
        </p:txBody>
      </p:sp>
      <p:sp>
        <p:nvSpPr>
          <p:cNvPr id="119" name="ShadeSessionAppEnforced"/>
          <p:cNvSpPr>
            <a:spLocks/>
          </p:cNvSpPr>
          <p:nvPr/>
        </p:nvSpPr>
        <p:spPr bwMode="white">
          <a:xfrm>
            <a:off x="9959680" y="3548808"/>
            <a:ext cx="2051597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0" name="ShadeSessionCas"/>
          <p:cNvSpPr>
            <a:spLocks/>
          </p:cNvSpPr>
          <p:nvPr/>
        </p:nvSpPr>
        <p:spPr bwMode="white">
          <a:xfrm>
            <a:off x="9978939" y="3884212"/>
            <a:ext cx="2087576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1" name="ShadeSessionSif"/>
          <p:cNvSpPr>
            <a:spLocks/>
          </p:cNvSpPr>
          <p:nvPr/>
        </p:nvSpPr>
        <p:spPr bwMode="white">
          <a:xfrm>
            <a:off x="9940787" y="4320077"/>
            <a:ext cx="2125728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2" name="ShadeSessionPersistentBrowser"/>
          <p:cNvSpPr>
            <a:spLocks/>
          </p:cNvSpPr>
          <p:nvPr/>
        </p:nvSpPr>
        <p:spPr bwMode="white">
          <a:xfrm>
            <a:off x="9938833" y="4746195"/>
            <a:ext cx="207244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" name="Label Secure Sign In Session"/>
          <p:cNvSpPr txBox="1">
            <a:spLocks noChangeArrowheads="1"/>
          </p:cNvSpPr>
          <p:nvPr/>
        </p:nvSpPr>
        <p:spPr bwMode="white">
          <a:xfrm>
            <a:off x="10260000" y="6084874"/>
            <a:ext cx="166584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Token protection for session</a:t>
            </a:r>
          </a:p>
        </p:txBody>
      </p:sp>
      <p:pic>
        <p:nvPicPr>
          <p:cNvPr id="77" name="IconSessionCaeDisable" descr="Close with solid fill"/>
          <p:cNvPicPr>
            <a:picLocks noChangeAspect="1"/>
          </p:cNvPicPr>
          <p:nvPr/>
        </p:nvPicPr>
        <p:blipFill>
          <a:blip r:embed="rId48">
            <a:lum/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rcRect/>
          <a:stretch>
            <a:fillRect/>
          </a:stretch>
        </p:blipFill>
        <p:spPr bwMode="white">
          <a:xfrm>
            <a:off x="9979885" y="5218651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2" name="IconSessionSecureSignInSession 1"/>
          <p:cNvPicPr>
            <a:picLocks noChangeAspect="1"/>
          </p:cNvPicPr>
          <p:nvPr/>
        </p:nvPicPr>
        <p:blipFill>
          <a:blip r:embed="rId50">
            <a:lum/>
            <a:extLst>
              <a:ext uri="{96DAC541-7B7A-43D3-8B79-37D633B846F1}">
                <asvg:svgBlip xmlns:asvg="http://schemas.microsoft.com/office/drawing/2016/SVG/main" r:embed="rId51"/>
              </a:ext>
            </a:extLst>
          </a:blip>
          <a:srcRect/>
          <a:stretch>
            <a:fillRect/>
          </a:stretch>
        </p:blipFill>
        <p:spPr bwMode="white">
          <a:xfrm>
            <a:off x="9997200" y="6085768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3" name="ShadeSessionCae"/>
          <p:cNvSpPr>
            <a:spLocks/>
          </p:cNvSpPr>
          <p:nvPr/>
        </p:nvSpPr>
        <p:spPr bwMode="white">
          <a:xfrm>
            <a:off x="9987595" y="5219780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76" name="ShadeSessionSecureSignIn"/>
          <p:cNvSpPr>
            <a:spLocks/>
          </p:cNvSpPr>
          <p:nvPr/>
        </p:nvSpPr>
        <p:spPr bwMode="white">
          <a:xfrm>
            <a:off x="9996846" y="5986498"/>
            <a:ext cx="2014431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pic>
        <p:nvPicPr>
          <p:cNvPr id="102" name="Graphic 101"/>
          <p:cNvPicPr>
            <a:picLocks noChangeAspect="1"/>
          </p:cNvPicPr>
          <p:nvPr/>
        </p:nvPicPr>
        <p:blipFill>
          <a:blip r:embed="rId52">
            <a:lum/>
            <a:extLst>
              <a:ext uri="{96DAC541-7B7A-43D3-8B79-37D633B846F1}">
                <asvg:svgBlip xmlns:asvg="http://schemas.microsoft.com/office/drawing/2016/SVG/main" r:embed="rId53"/>
              </a:ext>
            </a:extLst>
          </a:blip>
          <a:srcRect/>
          <a:stretch>
            <a:fillRect/>
          </a:stretch>
        </p:blipFill>
        <p:spPr bwMode="white">
          <a:xfrm>
            <a:off x="9997200" y="5663777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80" name="Graphic 79" descr="Close with solid fill"/>
          <p:cNvPicPr>
            <a:picLocks noChangeAspect="1"/>
          </p:cNvPicPr>
          <p:nvPr/>
        </p:nvPicPr>
        <p:blipFill>
          <a:blip r:embed="rId48">
            <a:lum/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rcRect/>
          <a:stretch>
            <a:fillRect/>
          </a:stretch>
        </p:blipFill>
        <p:spPr bwMode="white">
          <a:xfrm>
            <a:off x="9963899" y="5637424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4" name="ShadeSessionDisableResilience"/>
          <p:cNvSpPr>
            <a:spLocks/>
          </p:cNvSpPr>
          <p:nvPr/>
        </p:nvSpPr>
        <p:spPr bwMode="white">
          <a:xfrm>
            <a:off x="9959681" y="5602709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2" name="PolicyName">
            <a:hlinkClick r:id="" action="ppaction://hlinkfile"/>
          </p:cNvPr>
          <p:cNvSpPr>
            <a:spLocks noGrp="1"/>
          </p:cNvSpPr>
          <p:nvPr>
            <p:ph type="title"/>
          </p:nvPr>
        </p:nvSpPr>
        <p:spPr bwMode="white">
          <a:xfrm>
            <a:off x="838200" y="115511"/>
            <a:ext cx="10003967" cy="609565"/>
          </a:xfrm>
          <a:ln>
            <a:headEnd type="none"/>
            <a:tailEnd type="none"/>
          </a:ln>
        </p:spPr>
        <p:txBody>
          <a:bodyPr wrap="square">
            <a:noAutofit/>
          </a:bodyPr>
          <a:lstStyle/>
          <a:p>
            <a:pPr defTabSz="914400"/>
            <a:r>
              <a:rPr lang="en-US" sz="2000" b="1" dirty="0"/>
              <a:t>[All Apps] BLOCK Mac Users from Non-OCC IPs </a:t>
            </a:r>
          </a:p>
        </p:txBody>
      </p:sp>
      <p:sp>
        <p:nvSpPr>
          <p:cNvPr id="16" name="LastModified"/>
          <p:cNvSpPr txBox="1">
            <a:spLocks noChangeArrowheads="1"/>
          </p:cNvSpPr>
          <p:nvPr/>
        </p:nvSpPr>
        <p:spPr bwMode="white">
          <a:xfrm>
            <a:off x="10556111" y="388376"/>
            <a:ext cx="15483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algn="r" defTabSz="457200"/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Last modified: 2025-06-24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UserWorkload"/>
          <p:cNvSpPr>
            <a:spLocks/>
          </p:cNvSpPr>
          <p:nvPr/>
        </p:nvSpPr>
        <p:spPr bwMode="auto">
          <a:xfrm>
            <a:off x="175820" y="2709769"/>
            <a:ext cx="2202823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Users</a:t>
            </a:r>
          </a:p>
        </p:txBody>
      </p:sp>
      <p:sp>
        <p:nvSpPr>
          <p:cNvPr id="7" name="UserWorkloadIncExc"/>
          <p:cNvSpPr txBox="1">
            <a:spLocks noChangeArrowheads="1"/>
          </p:cNvSpPr>
          <p:nvPr/>
        </p:nvSpPr>
        <p:spPr bwMode="white">
          <a:xfrm>
            <a:off x="125485" y="3698952"/>
            <a:ext cx="3062115" cy="313265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 numCol="1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b="1" dirty="0"/>
            </a:pPr>
            <a:r>
              <a:t> Groups</a:t>
            </a:r>
          </a:p>
          <a:p>
            <a:pPr defTabSz="457200">
              <a:defRPr sz="1100" dirty="0"/>
            </a:pPr>
            <a:r>
              <a:t> - CSO_CrowdstrikeAssessment (11)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19" name="Risks"/>
          <p:cNvSpPr txBox="1">
            <a:spLocks noChangeArrowheads="1"/>
          </p:cNvSpPr>
          <p:nvPr/>
        </p:nvSpPr>
        <p:spPr bwMode="white">
          <a:xfrm>
            <a:off x="524485" y="1021946"/>
            <a:ext cx="1348869" cy="166886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0" name="Platforms"/>
          <p:cNvSpPr txBox="1">
            <a:spLocks noChangeArrowheads="1"/>
          </p:cNvSpPr>
          <p:nvPr/>
        </p:nvSpPr>
        <p:spPr bwMode="white">
          <a:xfrm>
            <a:off x="1826931" y="1021947"/>
            <a:ext cx="2061056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3" name="Locations"/>
          <p:cNvSpPr txBox="1">
            <a:spLocks noChangeArrowheads="1"/>
          </p:cNvSpPr>
          <p:nvPr/>
        </p:nvSpPr>
        <p:spPr bwMode="white">
          <a:xfrm>
            <a:off x="8324941" y="1021947"/>
            <a:ext cx="3513702" cy="159258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b="1" dirty="0"/>
            </a:pPr>
            <a:r>
              <a:t>✅ Include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24" name="ClientAppTypes"/>
          <p:cNvSpPr txBox="1">
            <a:spLocks noChangeArrowheads="1"/>
          </p:cNvSpPr>
          <p:nvPr/>
        </p:nvSpPr>
        <p:spPr bwMode="white">
          <a:xfrm>
            <a:off x="3810664" y="1021947"/>
            <a:ext cx="1581599" cy="165343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5" name="DeviceFilters"/>
          <p:cNvSpPr txBox="1">
            <a:spLocks noChangeArrowheads="1"/>
          </p:cNvSpPr>
          <p:nvPr/>
        </p:nvSpPr>
        <p:spPr bwMode="white">
          <a:xfrm>
            <a:off x="5818151" y="1022762"/>
            <a:ext cx="2248808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cxnSp>
        <p:nvCxnSpPr>
          <p:cNvPr id="27" name="Straight Arrow Connector 26" descr="Arrow drawn from user/workload  to the action being performed by the user such as accessing cloud apps."/>
          <p:cNvCxnSpPr/>
          <p:nvPr/>
        </p:nvCxnSpPr>
        <p:spPr bwMode="white">
          <a:xfrm>
            <a:off x="2195232" y="3159047"/>
            <a:ext cx="3959471" cy="1"/>
          </a:xfrm>
          <a:prstGeom prst="straightConnector1">
            <a:avLst/>
          </a:prstGeom>
          <a:ln w="76200"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2" name="GrantLabelGrantAccess"/>
          <p:cNvSpPr txBox="1">
            <a:spLocks noChangeArrowheads="1"/>
          </p:cNvSpPr>
          <p:nvPr/>
        </p:nvSpPr>
        <p:spPr bwMode="white">
          <a:xfrm>
            <a:off x="3928464" y="2723089"/>
            <a:ext cx="1381340" cy="369332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algn="ctr" defTabSz="457200"/>
            <a:r>
              <a:rPr lang="en-US" b="1" dirty="0">
                <a:solidFill>
                  <a:srgbClr val="00B050"/>
                </a:solidFill>
              </a:rPr>
              <a:t>Grant access</a:t>
            </a:r>
          </a:p>
        </p:txBody>
      </p:sp>
      <p:pic>
        <p:nvPicPr>
          <p:cNvPr id="35" name="IconGrantAccess" descr="Picture with gren tick sign to indicate access was granted"/>
          <p:cNvPicPr>
            <a:picLocks noChangeAspect="1"/>
          </p:cNvPicPr>
          <p:nvPr/>
        </p:nvPicPr>
        <p:blipFill>
          <a:blip r:embed="rId3">
            <a:lum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 bwMode="white">
          <a:xfrm>
            <a:off x="5309361" y="2730170"/>
            <a:ext cx="356616" cy="35661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3" name="CloudAppActionIncExc"/>
          <p:cNvSpPr txBox="1">
            <a:spLocks noChangeArrowheads="1"/>
          </p:cNvSpPr>
          <p:nvPr/>
        </p:nvSpPr>
        <p:spPr bwMode="white">
          <a:xfrm>
            <a:off x="6039518" y="3662782"/>
            <a:ext cx="3649518" cy="315161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</p:txBody>
      </p:sp>
      <p:pic>
        <p:nvPicPr>
          <p:cNvPr id="26" name="IconGroupIdentity"/>
          <p:cNvPicPr>
            <a:picLocks noChangeAspect="1"/>
          </p:cNvPicPr>
          <p:nvPr/>
        </p:nvPicPr>
        <p:blipFill>
          <a:blip r:embed="rId5">
            <a:lum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 bwMode="white">
          <a:xfrm>
            <a:off x="327701" y="2839007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36" name="Graphic 35"/>
          <p:cNvPicPr>
            <a:picLocks noChangeAspect="1"/>
          </p:cNvPicPr>
          <p:nvPr/>
        </p:nvPicPr>
        <p:blipFill>
          <a:blip r:embed="rId7">
            <a:lum/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p:blipFill>
        <p:spPr bwMode="white">
          <a:xfrm>
            <a:off x="495610" y="197468"/>
            <a:ext cx="381196" cy="38119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" name="CloudAppAction"/>
          <p:cNvSpPr>
            <a:spLocks/>
          </p:cNvSpPr>
          <p:nvPr/>
        </p:nvSpPr>
        <p:spPr bwMode="auto">
          <a:xfrm>
            <a:off x="6206089" y="2718506"/>
            <a:ext cx="3227026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All cloud apps</a:t>
            </a:r>
          </a:p>
        </p:txBody>
      </p:sp>
      <p:pic>
        <p:nvPicPr>
          <p:cNvPr id="75" name="IconAccessAllCloudApps"/>
          <p:cNvPicPr>
            <a:picLocks noChangeAspect="1"/>
          </p:cNvPicPr>
          <p:nvPr/>
        </p:nvPicPr>
        <p:blipFill>
          <a:blip r:embed="rId9">
            <a:lum/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p:blipFill>
        <p:spPr bwMode="white">
          <a:xfrm>
            <a:off x="6439264" y="2836824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21" name="StateEnabled"/>
          <p:cNvSpPr>
            <a:spLocks/>
          </p:cNvSpPr>
          <p:nvPr/>
        </p:nvSpPr>
        <p:spPr bwMode="white">
          <a:xfrm>
            <a:off x="10842171" y="83487"/>
            <a:ext cx="1260389" cy="264812"/>
          </a:xfrm>
          <a:prstGeom prst="round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r>
              <a:rPr lang="en-US" sz="800" dirty="0"/>
              <a:t>Policy Enabled</a:t>
            </a:r>
          </a:p>
        </p:txBody>
      </p:sp>
      <p:grpSp>
        <p:nvGrpSpPr>
          <p:cNvPr id="10" name="IconRiskyUsers"/>
          <p:cNvGrpSpPr>
            <a:grpSpLocks/>
          </p:cNvGrpSpPr>
          <p:nvPr/>
        </p:nvGrpSpPr>
        <p:grpSpPr bwMode="white">
          <a:xfrm>
            <a:off x="635426" y="738677"/>
            <a:ext cx="1202553" cy="274320"/>
            <a:chOff x="2013768" y="1033956"/>
            <a:chExt cx="1342320" cy="274320"/>
          </a:xfrm>
        </p:grpSpPr>
        <p:pic>
          <p:nvPicPr>
            <p:cNvPr id="46" name="Graphic 1"/>
            <p:cNvPicPr>
              <a:picLocks noChangeAspect="1"/>
            </p:cNvPicPr>
            <p:nvPr/>
          </p:nvPicPr>
          <p:blipFill>
            <a:blip r:embed="rId11">
              <a:lum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013768" y="1033956"/>
              <a:ext cx="274320" cy="27432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5" name="Label 1"/>
            <p:cNvSpPr txBox="1">
              <a:spLocks noChangeArrowheads="1"/>
            </p:cNvSpPr>
            <p:nvPr/>
          </p:nvSpPr>
          <p:spPr bwMode="white">
            <a:xfrm>
              <a:off x="2240077" y="1040706"/>
              <a:ext cx="1116011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Risk</a:t>
              </a:r>
            </a:p>
          </p:txBody>
        </p:sp>
      </p:grpSp>
      <p:grpSp>
        <p:nvGrpSpPr>
          <p:cNvPr id="14" name="IconPlatforms"/>
          <p:cNvGrpSpPr>
            <a:grpSpLocks/>
          </p:cNvGrpSpPr>
          <p:nvPr/>
        </p:nvGrpSpPr>
        <p:grpSpPr bwMode="white">
          <a:xfrm>
            <a:off x="1927788" y="715249"/>
            <a:ext cx="1719285" cy="365760"/>
            <a:chOff x="3262737" y="994835"/>
            <a:chExt cx="1719285" cy="365760"/>
          </a:xfrm>
        </p:grpSpPr>
        <p:pic>
          <p:nvPicPr>
            <p:cNvPr id="29" name="Graphic 1"/>
            <p:cNvPicPr>
              <a:picLocks noChangeAspect="1"/>
            </p:cNvPicPr>
            <p:nvPr/>
          </p:nvPicPr>
          <p:blipFill>
            <a:blip r:embed="rId13">
              <a:lum/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3262737" y="994835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1" name="Label 1"/>
            <p:cNvSpPr txBox="1">
              <a:spLocks noChangeArrowheads="1"/>
            </p:cNvSpPr>
            <p:nvPr/>
          </p:nvSpPr>
          <p:spPr bwMode="white">
            <a:xfrm>
              <a:off x="3582397" y="1027255"/>
              <a:ext cx="1399625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Device platforms</a:t>
              </a:r>
            </a:p>
          </p:txBody>
        </p:sp>
      </p:grpSp>
      <p:grpSp>
        <p:nvGrpSpPr>
          <p:cNvPr id="17" name="IconClientAppTypes"/>
          <p:cNvGrpSpPr>
            <a:grpSpLocks/>
          </p:cNvGrpSpPr>
          <p:nvPr/>
        </p:nvGrpSpPr>
        <p:grpSpPr bwMode="white">
          <a:xfrm>
            <a:off x="3908159" y="670015"/>
            <a:ext cx="1852971" cy="365760"/>
            <a:chOff x="4858970" y="975927"/>
            <a:chExt cx="1852971" cy="365760"/>
          </a:xfrm>
        </p:grpSpPr>
        <p:pic>
          <p:nvPicPr>
            <p:cNvPr id="58" name="Graphic 1"/>
            <p:cNvPicPr>
              <a:picLocks noChangeAspect="1"/>
            </p:cNvPicPr>
            <p:nvPr/>
          </p:nvPicPr>
          <p:blipFill>
            <a:blip r:embed="rId15">
              <a:lum/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858970" y="975927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5" name="Label 1"/>
            <p:cNvSpPr txBox="1">
              <a:spLocks noChangeArrowheads="1"/>
            </p:cNvSpPr>
            <p:nvPr/>
          </p:nvSpPr>
          <p:spPr bwMode="white">
            <a:xfrm>
              <a:off x="5193983" y="1009899"/>
              <a:ext cx="1517958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Client apps</a:t>
              </a:r>
            </a:p>
          </p:txBody>
        </p:sp>
      </p:grpSp>
      <p:grpSp>
        <p:nvGrpSpPr>
          <p:cNvPr id="37" name="IconLocations"/>
          <p:cNvGrpSpPr>
            <a:grpSpLocks/>
          </p:cNvGrpSpPr>
          <p:nvPr/>
        </p:nvGrpSpPr>
        <p:grpSpPr bwMode="white">
          <a:xfrm>
            <a:off x="8411896" y="646848"/>
            <a:ext cx="1850168" cy="388465"/>
            <a:chOff x="2321433" y="3262888"/>
            <a:chExt cx="1850168" cy="388465"/>
          </a:xfrm>
        </p:grpSpPr>
        <p:pic>
          <p:nvPicPr>
            <p:cNvPr id="33" name="Graphic 1"/>
            <p:cNvPicPr>
              <a:picLocks noChangeAspect="1"/>
            </p:cNvPicPr>
            <p:nvPr/>
          </p:nvPicPr>
          <p:blipFill>
            <a:blip r:embed="rId17">
              <a:lum/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321433" y="3262888"/>
              <a:ext cx="388465" cy="388465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28" name="Label 1"/>
            <p:cNvSpPr txBox="1">
              <a:spLocks noChangeArrowheads="1"/>
            </p:cNvSpPr>
            <p:nvPr/>
          </p:nvSpPr>
          <p:spPr bwMode="white">
            <a:xfrm>
              <a:off x="2713321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Locations</a:t>
              </a:r>
              <a:endParaRPr lang="en-US" sz="1100" b="1" dirty="0"/>
            </a:p>
          </p:txBody>
        </p:sp>
      </p:grpSp>
      <p:grpSp>
        <p:nvGrpSpPr>
          <p:cNvPr id="39" name="IconDeviceFilters"/>
          <p:cNvGrpSpPr>
            <a:grpSpLocks/>
          </p:cNvGrpSpPr>
          <p:nvPr/>
        </p:nvGrpSpPr>
        <p:grpSpPr bwMode="white">
          <a:xfrm>
            <a:off x="5472818" y="661958"/>
            <a:ext cx="1839823" cy="364111"/>
            <a:chOff x="4195414" y="3273669"/>
            <a:chExt cx="1839823" cy="364111"/>
          </a:xfrm>
        </p:grpSpPr>
        <p:pic>
          <p:nvPicPr>
            <p:cNvPr id="60" name="Graphic 1"/>
            <p:cNvPicPr>
              <a:picLocks noChangeAspect="1"/>
            </p:cNvPicPr>
            <p:nvPr/>
          </p:nvPicPr>
          <p:blipFill>
            <a:blip r:embed="rId19">
              <a:lum/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195414" y="3273669"/>
              <a:ext cx="364111" cy="364111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31" name="Label 1"/>
            <p:cNvSpPr txBox="1">
              <a:spLocks noChangeArrowheads="1"/>
            </p:cNvSpPr>
            <p:nvPr/>
          </p:nvSpPr>
          <p:spPr bwMode="white">
            <a:xfrm>
              <a:off x="4576957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Filter for devices</a:t>
              </a:r>
              <a:endParaRPr lang="en-US" sz="1100" b="1" dirty="0"/>
            </a:p>
          </p:txBody>
        </p:sp>
      </p:grpSp>
      <p:pic>
        <p:nvPicPr>
          <p:cNvPr id="62" name="IconGrantMultifactorAuthentication"/>
          <p:cNvPicPr>
            <a:picLocks noChangeAspect="1"/>
          </p:cNvPicPr>
          <p:nvPr/>
        </p:nvPicPr>
        <p:blipFill>
          <a:blip r:embed="rId21">
            <a:lum/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>
            <a:fillRect/>
          </a:stretch>
        </p:blipFill>
        <p:spPr bwMode="white">
          <a:xfrm>
            <a:off x="3410647" y="3566863"/>
            <a:ext cx="17145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5" name="IconGrantMultifactorAuthenticationLabel"/>
          <p:cNvSpPr txBox="1">
            <a:spLocks noChangeArrowheads="1"/>
          </p:cNvSpPr>
          <p:nvPr/>
        </p:nvSpPr>
        <p:spPr bwMode="white">
          <a:xfrm>
            <a:off x="3575836" y="3571997"/>
            <a:ext cx="19007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Multifactor authentication</a:t>
            </a:r>
            <a:endParaRPr lang="en-US" sz="1000" dirty="0"/>
          </a:p>
        </p:txBody>
      </p:sp>
      <p:pic>
        <p:nvPicPr>
          <p:cNvPr id="38" name="IconGrantAuthenticationStrength"/>
          <p:cNvPicPr>
            <a:picLocks noChangeAspect="1"/>
          </p:cNvPicPr>
          <p:nvPr/>
        </p:nvPicPr>
        <p:blipFill>
          <a:blip r:embed="rId23">
            <a:lum/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/>
          <a:stretch>
            <a:fillRect/>
          </a:stretch>
        </p:blipFill>
        <p:spPr bwMode="white">
          <a:xfrm>
            <a:off x="3374515" y="3905034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7" name="IconGrantAuthenticationStrengthLabel"/>
          <p:cNvSpPr txBox="1">
            <a:spLocks noChangeArrowheads="1"/>
          </p:cNvSpPr>
          <p:nvPr/>
        </p:nvSpPr>
        <p:spPr bwMode="white">
          <a:xfrm>
            <a:off x="3575836" y="3907323"/>
            <a:ext cx="2185294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Authentication strength</a:t>
            </a:r>
            <a:endParaRPr lang="en-US" sz="1000" dirty="0"/>
          </a:p>
        </p:txBody>
      </p:sp>
      <p:pic>
        <p:nvPicPr>
          <p:cNvPr id="52" name="IconGrantDeviceCompliance"/>
          <p:cNvPicPr>
            <a:picLocks noChangeAspect="1"/>
          </p:cNvPicPr>
          <p:nvPr/>
        </p:nvPicPr>
        <p:blipFill>
          <a:blip r:embed="rId25">
            <a:lum/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/>
          <a:stretch>
            <a:fillRect/>
          </a:stretch>
        </p:blipFill>
        <p:spPr bwMode="white">
          <a:xfrm>
            <a:off x="3374515" y="4243205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9" name="IconGrantDeviceComplianceLabel"/>
          <p:cNvSpPr txBox="1">
            <a:spLocks noChangeArrowheads="1"/>
          </p:cNvSpPr>
          <p:nvPr/>
        </p:nvSpPr>
        <p:spPr bwMode="white">
          <a:xfrm>
            <a:off x="3575836" y="4242649"/>
            <a:ext cx="17378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Compliant device</a:t>
            </a:r>
            <a:endParaRPr lang="en-US" sz="1000" dirty="0"/>
          </a:p>
        </p:txBody>
      </p:sp>
      <p:pic>
        <p:nvPicPr>
          <p:cNvPr id="43" name="IconGrantHybridJoined"/>
          <p:cNvPicPr>
            <a:picLocks noChangeAspect="1"/>
          </p:cNvPicPr>
          <p:nvPr/>
        </p:nvPicPr>
        <p:blipFill>
          <a:blip r:embed="rId27">
            <a:lum/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/>
          <a:stretch>
            <a:fillRect/>
          </a:stretch>
        </p:blipFill>
        <p:spPr bwMode="white">
          <a:xfrm>
            <a:off x="3374515" y="4581376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3" name="IconGrantHybridJoinedLabel"/>
          <p:cNvSpPr txBox="1">
            <a:spLocks noChangeArrowheads="1"/>
          </p:cNvSpPr>
          <p:nvPr/>
        </p:nvSpPr>
        <p:spPr bwMode="white">
          <a:xfrm>
            <a:off x="3575836" y="4577975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Hybrid Azure AD joined device</a:t>
            </a:r>
            <a:endParaRPr lang="en-US" sz="1000" dirty="0"/>
          </a:p>
        </p:txBody>
      </p:sp>
      <p:pic>
        <p:nvPicPr>
          <p:cNvPr id="48" name="IconGrantApprovedClientApp"/>
          <p:cNvPicPr>
            <a:picLocks noChangeAspect="1"/>
          </p:cNvPicPr>
          <p:nvPr/>
        </p:nvPicPr>
        <p:blipFill>
          <a:blip r:embed="rId29">
            <a:lum/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rcRect/>
          <a:stretch>
            <a:fillRect/>
          </a:stretch>
        </p:blipFill>
        <p:spPr bwMode="white">
          <a:xfrm>
            <a:off x="3374515" y="491954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5" name="IconGrantApprovedClientAppLabel"/>
          <p:cNvSpPr txBox="1">
            <a:spLocks noChangeArrowheads="1"/>
          </p:cNvSpPr>
          <p:nvPr/>
        </p:nvSpPr>
        <p:spPr bwMode="white">
          <a:xfrm>
            <a:off x="3575836" y="4913301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Approved client app</a:t>
            </a:r>
            <a:endParaRPr lang="en-US" sz="1000" dirty="0"/>
          </a:p>
        </p:txBody>
      </p:sp>
      <p:pic>
        <p:nvPicPr>
          <p:cNvPr id="42" name="IconGrantCustomAuth"/>
          <p:cNvPicPr>
            <a:picLocks noChangeAspect="1"/>
          </p:cNvPicPr>
          <p:nvPr/>
        </p:nvPicPr>
        <p:blipFill>
          <a:blip r:embed="rId31">
            <a:lum/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rcRect/>
          <a:stretch>
            <a:fillRect/>
          </a:stretch>
        </p:blipFill>
        <p:spPr bwMode="white">
          <a:xfrm>
            <a:off x="3374515" y="593406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9" name="IconGrantCustomAuthLabel"/>
          <p:cNvSpPr txBox="1">
            <a:spLocks noChangeArrowheads="1"/>
          </p:cNvSpPr>
          <p:nvPr/>
        </p:nvSpPr>
        <p:spPr bwMode="white">
          <a:xfrm>
            <a:off x="3575836" y="5919279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Custom authentication factor</a:t>
            </a:r>
            <a:endParaRPr lang="en-US" sz="1000" dirty="0"/>
          </a:p>
        </p:txBody>
      </p:sp>
      <p:pic>
        <p:nvPicPr>
          <p:cNvPr id="40" name="IconGrantTermsOfUse"/>
          <p:cNvPicPr>
            <a:picLocks noChangeAspect="1"/>
          </p:cNvPicPr>
          <p:nvPr/>
        </p:nvPicPr>
        <p:blipFill>
          <a:blip r:embed="rId33">
            <a:lum/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rcRect/>
          <a:stretch>
            <a:fillRect/>
          </a:stretch>
        </p:blipFill>
        <p:spPr bwMode="white">
          <a:xfrm>
            <a:off x="3374515" y="627222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3" name="IconGrantTermsOfUseLabel"/>
          <p:cNvSpPr txBox="1">
            <a:spLocks noChangeArrowheads="1"/>
          </p:cNvSpPr>
          <p:nvPr/>
        </p:nvSpPr>
        <p:spPr bwMode="white">
          <a:xfrm>
            <a:off x="3575836" y="625460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Terms of use</a:t>
            </a:r>
            <a:endParaRPr lang="en-US" sz="1000" dirty="0"/>
          </a:p>
        </p:txBody>
      </p:sp>
      <p:sp>
        <p:nvSpPr>
          <p:cNvPr id="56" name="IconGrantAppProtectionLabel"/>
          <p:cNvSpPr txBox="1">
            <a:spLocks noChangeArrowheads="1"/>
          </p:cNvSpPr>
          <p:nvPr/>
        </p:nvSpPr>
        <p:spPr bwMode="white">
          <a:xfrm>
            <a:off x="3575836" y="524862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 protection policy</a:t>
            </a:r>
            <a:endParaRPr lang="en-US" sz="1000" dirty="0"/>
          </a:p>
        </p:txBody>
      </p:sp>
      <p:pic>
        <p:nvPicPr>
          <p:cNvPr id="65" name="IconGrantAppProtection"/>
          <p:cNvPicPr>
            <a:picLocks noChangeAspect="1"/>
          </p:cNvPicPr>
          <p:nvPr/>
        </p:nvPicPr>
        <p:blipFill>
          <a:blip r:embed="rId35">
            <a:lum/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rcRect/>
          <a:stretch>
            <a:fillRect/>
          </a:stretch>
        </p:blipFill>
        <p:spPr bwMode="white">
          <a:xfrm>
            <a:off x="3374515" y="525771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7" name="IconGrantChangePasswordLabel"/>
          <p:cNvSpPr txBox="1">
            <a:spLocks noChangeArrowheads="1"/>
          </p:cNvSpPr>
          <p:nvPr/>
        </p:nvSpPr>
        <p:spPr bwMode="white">
          <a:xfrm>
            <a:off x="3575836" y="5583953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Change password</a:t>
            </a:r>
            <a:endParaRPr lang="en-US" sz="1000" dirty="0"/>
          </a:p>
        </p:txBody>
      </p:sp>
      <p:pic>
        <p:nvPicPr>
          <p:cNvPr id="67" name="IconGrantChangePassword"/>
          <p:cNvPicPr>
            <a:picLocks noChangeAspect="1"/>
          </p:cNvPicPr>
          <p:nvPr/>
        </p:nvPicPr>
        <p:blipFill>
          <a:blip r:embed="rId37">
            <a:lum/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rcRect/>
          <a:stretch>
            <a:fillRect/>
          </a:stretch>
        </p:blipFill>
        <p:spPr bwMode="white">
          <a:xfrm>
            <a:off x="3374515" y="5595889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4" name="ShadeRisk"/>
          <p:cNvSpPr>
            <a:spLocks/>
          </p:cNvSpPr>
          <p:nvPr/>
        </p:nvSpPr>
        <p:spPr bwMode="white">
          <a:xfrm>
            <a:off x="507564" y="650246"/>
            <a:ext cx="976864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66" name="ShadeDevicePlatforms"/>
          <p:cNvSpPr>
            <a:spLocks/>
          </p:cNvSpPr>
          <p:nvPr/>
        </p:nvSpPr>
        <p:spPr bwMode="white">
          <a:xfrm>
            <a:off x="1863623" y="663409"/>
            <a:ext cx="1773927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78" name="ShadeClientApps"/>
          <p:cNvSpPr>
            <a:spLocks/>
          </p:cNvSpPr>
          <p:nvPr/>
        </p:nvSpPr>
        <p:spPr bwMode="white">
          <a:xfrm>
            <a:off x="3802273" y="650246"/>
            <a:ext cx="1481482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2" name="ShadeFilterForDevices"/>
          <p:cNvSpPr>
            <a:spLocks/>
          </p:cNvSpPr>
          <p:nvPr/>
        </p:nvSpPr>
        <p:spPr bwMode="white">
          <a:xfrm>
            <a:off x="5438955" y="627922"/>
            <a:ext cx="1873685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4" name="ShadeGrantAuthStrength"/>
          <p:cNvSpPr>
            <a:spLocks/>
          </p:cNvSpPr>
          <p:nvPr/>
        </p:nvSpPr>
        <p:spPr bwMode="white">
          <a:xfrm>
            <a:off x="3350256" y="3869846"/>
            <a:ext cx="2069555" cy="27801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5" name="ShadeGrantCompliantDevice"/>
          <p:cNvSpPr>
            <a:spLocks/>
          </p:cNvSpPr>
          <p:nvPr/>
        </p:nvSpPr>
        <p:spPr bwMode="white">
          <a:xfrm>
            <a:off x="3361852" y="4243205"/>
            <a:ext cx="2077102" cy="26110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6" name="ShadeGrantHybridAzureADJoined"/>
          <p:cNvSpPr>
            <a:spLocks/>
          </p:cNvSpPr>
          <p:nvPr/>
        </p:nvSpPr>
        <p:spPr bwMode="white">
          <a:xfrm>
            <a:off x="3353637" y="4552268"/>
            <a:ext cx="2160906" cy="298395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7" name="ShadeGrantApprovedClientApp"/>
          <p:cNvSpPr>
            <a:spLocks/>
          </p:cNvSpPr>
          <p:nvPr/>
        </p:nvSpPr>
        <p:spPr bwMode="white">
          <a:xfrm>
            <a:off x="3331918" y="4876027"/>
            <a:ext cx="2182625" cy="29839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8" name="ShadeGrantAppProtectionPolicy"/>
          <p:cNvSpPr>
            <a:spLocks/>
          </p:cNvSpPr>
          <p:nvPr/>
        </p:nvSpPr>
        <p:spPr bwMode="white">
          <a:xfrm>
            <a:off x="3350256" y="5207226"/>
            <a:ext cx="2122561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9" name="ShadeGrantChangePassword"/>
          <p:cNvSpPr>
            <a:spLocks/>
          </p:cNvSpPr>
          <p:nvPr/>
        </p:nvSpPr>
        <p:spPr bwMode="white">
          <a:xfrm>
            <a:off x="3350257" y="5557021"/>
            <a:ext cx="2042006" cy="287239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0" name="ShadeGrantCustomAuthFactor"/>
          <p:cNvSpPr>
            <a:spLocks/>
          </p:cNvSpPr>
          <p:nvPr/>
        </p:nvSpPr>
        <p:spPr bwMode="white">
          <a:xfrm>
            <a:off x="3331918" y="5899058"/>
            <a:ext cx="2182625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1" name="ShadeGrantTermsOfUse"/>
          <p:cNvSpPr>
            <a:spLocks/>
          </p:cNvSpPr>
          <p:nvPr/>
        </p:nvSpPr>
        <p:spPr bwMode="white">
          <a:xfrm>
            <a:off x="3313823" y="6192350"/>
            <a:ext cx="101602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99" name="Rectangle 98"/>
          <p:cNvSpPr>
            <a:spLocks/>
          </p:cNvSpPr>
          <p:nvPr/>
        </p:nvSpPr>
        <p:spPr bwMode="white">
          <a:xfrm>
            <a:off x="3268757" y="3253404"/>
            <a:ext cx="2357725" cy="3498546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0" name="Rectangle 109"/>
          <p:cNvSpPr>
            <a:spLocks/>
          </p:cNvSpPr>
          <p:nvPr/>
        </p:nvSpPr>
        <p:spPr bwMode="white">
          <a:xfrm>
            <a:off x="9881750" y="3248255"/>
            <a:ext cx="2220808" cy="3510149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7" name="Rectangle 116"/>
          <p:cNvSpPr>
            <a:spLocks/>
          </p:cNvSpPr>
          <p:nvPr/>
        </p:nvSpPr>
        <p:spPr bwMode="white">
          <a:xfrm>
            <a:off x="26741" y="606825"/>
            <a:ext cx="11985015" cy="2063636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2" name="Conditions Label"/>
          <p:cNvSpPr txBox="1">
            <a:spLocks noChangeArrowheads="1"/>
          </p:cNvSpPr>
          <p:nvPr/>
        </p:nvSpPr>
        <p:spPr bwMode="white">
          <a:xfrm rot="16200000">
            <a:off x="-883507" y="1514324"/>
            <a:ext cx="2081441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Conditions</a:t>
            </a:r>
          </a:p>
        </p:txBody>
      </p:sp>
      <p:sp>
        <p:nvSpPr>
          <p:cNvPr id="109" name="Grant Controls"/>
          <p:cNvSpPr txBox="1">
            <a:spLocks noChangeArrowheads="1"/>
          </p:cNvSpPr>
          <p:nvPr/>
        </p:nvSpPr>
        <p:spPr bwMode="white">
          <a:xfrm>
            <a:off x="3252146" y="3244395"/>
            <a:ext cx="2391873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Grant Controls</a:t>
            </a:r>
          </a:p>
        </p:txBody>
      </p:sp>
      <p:sp>
        <p:nvSpPr>
          <p:cNvPr id="111" name="Session Controls"/>
          <p:cNvSpPr txBox="1">
            <a:spLocks noChangeArrowheads="1"/>
          </p:cNvSpPr>
          <p:nvPr/>
        </p:nvSpPr>
        <p:spPr bwMode="white">
          <a:xfrm>
            <a:off x="9864212" y="3243751"/>
            <a:ext cx="2238346" cy="23786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Session Controls</a:t>
            </a:r>
          </a:p>
        </p:txBody>
      </p:sp>
      <p:pic>
        <p:nvPicPr>
          <p:cNvPr id="72" name="Graphic 71"/>
          <p:cNvPicPr>
            <a:picLocks noChangeAspect="1"/>
          </p:cNvPicPr>
          <p:nvPr/>
        </p:nvPicPr>
        <p:blipFill>
          <a:blip r:embed="rId39">
            <a:lum/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rcRect/>
          <a:stretch>
            <a:fillRect/>
          </a:stretch>
        </p:blipFill>
        <p:spPr bwMode="white">
          <a:xfrm>
            <a:off x="9996846" y="356982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4" name="Graphic 93"/>
          <p:cNvPicPr>
            <a:picLocks noChangeAspect="1"/>
          </p:cNvPicPr>
          <p:nvPr/>
        </p:nvPicPr>
        <p:blipFill>
          <a:blip r:embed="rId41">
            <a:lum/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rcRect/>
          <a:stretch>
            <a:fillRect/>
          </a:stretch>
        </p:blipFill>
        <p:spPr bwMode="white">
          <a:xfrm>
            <a:off x="10009443" y="525644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5" name="TextBox 94"/>
          <p:cNvSpPr txBox="1">
            <a:spLocks noChangeArrowheads="1"/>
          </p:cNvSpPr>
          <p:nvPr/>
        </p:nvSpPr>
        <p:spPr bwMode="white">
          <a:xfrm>
            <a:off x="10207481" y="3578463"/>
            <a:ext cx="150554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App enforced restrictions</a:t>
            </a:r>
          </a:p>
        </p:txBody>
      </p:sp>
      <p:sp>
        <p:nvSpPr>
          <p:cNvPr id="96" name="TextBox 95"/>
          <p:cNvSpPr txBox="1">
            <a:spLocks noChangeArrowheads="1"/>
          </p:cNvSpPr>
          <p:nvPr/>
        </p:nvSpPr>
        <p:spPr bwMode="white">
          <a:xfrm>
            <a:off x="10201167" y="3899846"/>
            <a:ext cx="181011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Conditional Access App Control</a:t>
            </a:r>
          </a:p>
        </p:txBody>
      </p:sp>
      <p:sp>
        <p:nvSpPr>
          <p:cNvPr id="97" name="TextBox 96"/>
          <p:cNvSpPr txBox="1">
            <a:spLocks noChangeArrowheads="1"/>
          </p:cNvSpPr>
          <p:nvPr/>
        </p:nvSpPr>
        <p:spPr bwMode="white">
          <a:xfrm>
            <a:off x="10215627" y="4357505"/>
            <a:ext cx="1090363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Sign-in frequency</a:t>
            </a:r>
          </a:p>
        </p:txBody>
      </p:sp>
      <p:sp>
        <p:nvSpPr>
          <p:cNvPr id="98" name="TextBox 97"/>
          <p:cNvSpPr txBox="1">
            <a:spLocks noChangeArrowheads="1"/>
          </p:cNvSpPr>
          <p:nvPr/>
        </p:nvSpPr>
        <p:spPr bwMode="white">
          <a:xfrm>
            <a:off x="10225446" y="4793305"/>
            <a:ext cx="156966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Persistent browser session</a:t>
            </a:r>
          </a:p>
        </p:txBody>
      </p:sp>
      <p:sp>
        <p:nvSpPr>
          <p:cNvPr id="100" name="TextBox 99"/>
          <p:cNvSpPr txBox="1">
            <a:spLocks noChangeArrowheads="1"/>
          </p:cNvSpPr>
          <p:nvPr/>
        </p:nvSpPr>
        <p:spPr bwMode="white">
          <a:xfrm>
            <a:off x="10229552" y="5232376"/>
            <a:ext cx="1717137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Continuous access evaluation</a:t>
            </a:r>
          </a:p>
        </p:txBody>
      </p:sp>
      <p:sp>
        <p:nvSpPr>
          <p:cNvPr id="101" name="TextBox 100"/>
          <p:cNvSpPr txBox="1">
            <a:spLocks noChangeArrowheads="1"/>
          </p:cNvSpPr>
          <p:nvPr/>
        </p:nvSpPr>
        <p:spPr bwMode="white">
          <a:xfrm>
            <a:off x="10259108" y="5658625"/>
            <a:ext cx="153599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Disable resilience defaults</a:t>
            </a:r>
          </a:p>
        </p:txBody>
      </p:sp>
      <p:pic>
        <p:nvPicPr>
          <p:cNvPr id="103" name="Graphic 102"/>
          <p:cNvPicPr>
            <a:picLocks noChangeAspect="1"/>
          </p:cNvPicPr>
          <p:nvPr/>
        </p:nvPicPr>
        <p:blipFill>
          <a:blip r:embed="rId43">
            <a:lum/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rcRect/>
          <a:stretch>
            <a:fillRect/>
          </a:stretch>
        </p:blipFill>
        <p:spPr bwMode="white">
          <a:xfrm>
            <a:off x="9996846" y="479900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5" name="Graphic 104"/>
          <p:cNvPicPr>
            <a:picLocks noChangeAspect="1"/>
          </p:cNvPicPr>
          <p:nvPr/>
        </p:nvPicPr>
        <p:blipFill>
          <a:blip r:embed="rId45">
            <a:lum/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rcRect/>
          <a:stretch>
            <a:fillRect/>
          </a:stretch>
        </p:blipFill>
        <p:spPr bwMode="white">
          <a:xfrm>
            <a:off x="9996846" y="437457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7" name="Graphic 106"/>
          <p:cNvPicPr>
            <a:picLocks noChangeAspect="1"/>
          </p:cNvPicPr>
          <p:nvPr/>
        </p:nvPicPr>
        <p:blipFill>
          <a:blip r:embed="rId7">
            <a:lum/>
            <a:extLst>
              <a:ext uri="{96DAC541-7B7A-43D3-8B79-37D633B846F1}">
                <asvg:svgBlip xmlns:asvg="http://schemas.microsoft.com/office/drawing/2016/SVG/main" r:embed="rId47"/>
              </a:ext>
            </a:extLst>
          </a:blip>
          <a:srcRect/>
          <a:stretch>
            <a:fillRect/>
          </a:stretch>
        </p:blipFill>
        <p:spPr bwMode="white">
          <a:xfrm>
            <a:off x="9996846" y="391529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15" name="SessionSifInterval"/>
          <p:cNvSpPr txBox="1">
            <a:spLocks noChangeArrowheads="1"/>
          </p:cNvSpPr>
          <p:nvPr/>
        </p:nvSpPr>
        <p:spPr bwMode="white">
          <a:xfrm>
            <a:off x="10296745" y="4516775"/>
            <a:ext cx="1249060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Periodic reauthentication</a:t>
            </a:r>
          </a:p>
        </p:txBody>
      </p:sp>
      <p:sp>
        <p:nvSpPr>
          <p:cNvPr id="114" name="SessionCasType"/>
          <p:cNvSpPr txBox="1">
            <a:spLocks noChangeArrowheads="1"/>
          </p:cNvSpPr>
          <p:nvPr/>
        </p:nvSpPr>
        <p:spPr bwMode="white">
          <a:xfrm>
            <a:off x="10296745" y="4075500"/>
            <a:ext cx="95410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App Control Policy</a:t>
            </a:r>
          </a:p>
        </p:txBody>
      </p:sp>
      <p:sp>
        <p:nvSpPr>
          <p:cNvPr id="116" name="SessionPersistenBrowserMode"/>
          <p:cNvSpPr txBox="1">
            <a:spLocks noChangeArrowheads="1"/>
          </p:cNvSpPr>
          <p:nvPr/>
        </p:nvSpPr>
        <p:spPr bwMode="white">
          <a:xfrm>
            <a:off x="10309761" y="4945281"/>
            <a:ext cx="918841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Always persistent</a:t>
            </a:r>
          </a:p>
        </p:txBody>
      </p:sp>
      <p:sp>
        <p:nvSpPr>
          <p:cNvPr id="118" name="SessionCaeMode"/>
          <p:cNvSpPr txBox="1">
            <a:spLocks noChangeArrowheads="1"/>
          </p:cNvSpPr>
          <p:nvPr/>
        </p:nvSpPr>
        <p:spPr bwMode="white">
          <a:xfrm>
            <a:off x="10301386" y="5393378"/>
            <a:ext cx="15359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US" sz="800" dirty="0"/>
              <a:t>Strictly enforce location policies</a:t>
            </a:r>
          </a:p>
        </p:txBody>
      </p:sp>
      <p:sp>
        <p:nvSpPr>
          <p:cNvPr id="119" name="ShadeSessionAppEnforced"/>
          <p:cNvSpPr>
            <a:spLocks/>
          </p:cNvSpPr>
          <p:nvPr/>
        </p:nvSpPr>
        <p:spPr bwMode="white">
          <a:xfrm>
            <a:off x="9959680" y="3548808"/>
            <a:ext cx="2051597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0" name="ShadeSessionCas"/>
          <p:cNvSpPr>
            <a:spLocks/>
          </p:cNvSpPr>
          <p:nvPr/>
        </p:nvSpPr>
        <p:spPr bwMode="white">
          <a:xfrm>
            <a:off x="9978939" y="3884212"/>
            <a:ext cx="2087576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1" name="ShadeSessionSif"/>
          <p:cNvSpPr>
            <a:spLocks/>
          </p:cNvSpPr>
          <p:nvPr/>
        </p:nvSpPr>
        <p:spPr bwMode="white">
          <a:xfrm>
            <a:off x="9940787" y="4320077"/>
            <a:ext cx="2125728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2" name="ShadeSessionPersistentBrowser"/>
          <p:cNvSpPr>
            <a:spLocks/>
          </p:cNvSpPr>
          <p:nvPr/>
        </p:nvSpPr>
        <p:spPr bwMode="white">
          <a:xfrm>
            <a:off x="9938833" y="4746195"/>
            <a:ext cx="207244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" name="Label Secure Sign In Session"/>
          <p:cNvSpPr txBox="1">
            <a:spLocks noChangeArrowheads="1"/>
          </p:cNvSpPr>
          <p:nvPr/>
        </p:nvSpPr>
        <p:spPr bwMode="white">
          <a:xfrm>
            <a:off x="10260000" y="6084874"/>
            <a:ext cx="166584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Token protection for session</a:t>
            </a:r>
          </a:p>
        </p:txBody>
      </p:sp>
      <p:pic>
        <p:nvPicPr>
          <p:cNvPr id="77" name="IconSessionCaeDisable" descr="Close with solid fill"/>
          <p:cNvPicPr>
            <a:picLocks noChangeAspect="1"/>
          </p:cNvPicPr>
          <p:nvPr/>
        </p:nvPicPr>
        <p:blipFill>
          <a:blip r:embed="rId48">
            <a:lum/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rcRect/>
          <a:stretch>
            <a:fillRect/>
          </a:stretch>
        </p:blipFill>
        <p:spPr bwMode="white">
          <a:xfrm>
            <a:off x="9979885" y="5218651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2" name="IconSessionSecureSignInSession 1"/>
          <p:cNvPicPr>
            <a:picLocks noChangeAspect="1"/>
          </p:cNvPicPr>
          <p:nvPr/>
        </p:nvPicPr>
        <p:blipFill>
          <a:blip r:embed="rId50">
            <a:lum/>
            <a:extLst>
              <a:ext uri="{96DAC541-7B7A-43D3-8B79-37D633B846F1}">
                <asvg:svgBlip xmlns:asvg="http://schemas.microsoft.com/office/drawing/2016/SVG/main" r:embed="rId51"/>
              </a:ext>
            </a:extLst>
          </a:blip>
          <a:srcRect/>
          <a:stretch>
            <a:fillRect/>
          </a:stretch>
        </p:blipFill>
        <p:spPr bwMode="white">
          <a:xfrm>
            <a:off x="9997200" y="6085768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3" name="ShadeSessionCae"/>
          <p:cNvSpPr>
            <a:spLocks/>
          </p:cNvSpPr>
          <p:nvPr/>
        </p:nvSpPr>
        <p:spPr bwMode="white">
          <a:xfrm>
            <a:off x="9987595" y="5219780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76" name="ShadeSessionSecureSignIn"/>
          <p:cNvSpPr>
            <a:spLocks/>
          </p:cNvSpPr>
          <p:nvPr/>
        </p:nvSpPr>
        <p:spPr bwMode="white">
          <a:xfrm>
            <a:off x="9996846" y="5986498"/>
            <a:ext cx="2014431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pic>
        <p:nvPicPr>
          <p:cNvPr id="102" name="Graphic 101"/>
          <p:cNvPicPr>
            <a:picLocks noChangeAspect="1"/>
          </p:cNvPicPr>
          <p:nvPr/>
        </p:nvPicPr>
        <p:blipFill>
          <a:blip r:embed="rId52">
            <a:lum/>
            <a:extLst>
              <a:ext uri="{96DAC541-7B7A-43D3-8B79-37D633B846F1}">
                <asvg:svgBlip xmlns:asvg="http://schemas.microsoft.com/office/drawing/2016/SVG/main" r:embed="rId53"/>
              </a:ext>
            </a:extLst>
          </a:blip>
          <a:srcRect/>
          <a:stretch>
            <a:fillRect/>
          </a:stretch>
        </p:blipFill>
        <p:spPr bwMode="white">
          <a:xfrm>
            <a:off x="9997200" y="5663777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80" name="Graphic 79" descr="Close with solid fill"/>
          <p:cNvPicPr>
            <a:picLocks noChangeAspect="1"/>
          </p:cNvPicPr>
          <p:nvPr/>
        </p:nvPicPr>
        <p:blipFill>
          <a:blip r:embed="rId48">
            <a:lum/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rcRect/>
          <a:stretch>
            <a:fillRect/>
          </a:stretch>
        </p:blipFill>
        <p:spPr bwMode="white">
          <a:xfrm>
            <a:off x="9963899" y="5637424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4" name="ShadeSessionDisableResilience"/>
          <p:cNvSpPr>
            <a:spLocks/>
          </p:cNvSpPr>
          <p:nvPr/>
        </p:nvSpPr>
        <p:spPr bwMode="white">
          <a:xfrm>
            <a:off x="9959681" y="5602709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2" name="PolicyName">
            <a:hlinkClick r:id="" action="ppaction://hlinkfile"/>
          </p:cNvPr>
          <p:cNvSpPr>
            <a:spLocks noGrp="1"/>
          </p:cNvSpPr>
          <p:nvPr>
            <p:ph type="title"/>
          </p:nvPr>
        </p:nvSpPr>
        <p:spPr bwMode="white">
          <a:xfrm>
            <a:off x="838200" y="115511"/>
            <a:ext cx="10003967" cy="609565"/>
          </a:xfrm>
          <a:ln>
            <a:headEnd type="none"/>
            <a:tailEnd type="none"/>
          </a:ln>
        </p:spPr>
        <p:txBody>
          <a:bodyPr wrap="square">
            <a:noAutofit/>
          </a:bodyPr>
          <a:lstStyle/>
          <a:p>
            <a:pPr defTabSz="914400"/>
            <a:r>
              <a:rPr lang="en-US" sz="2000" b="1" dirty="0"/>
              <a:t>[All Apps] CrowdStrike Users MFA</a:t>
            </a:r>
          </a:p>
        </p:txBody>
      </p:sp>
      <p:sp>
        <p:nvSpPr>
          <p:cNvPr id="16" name="LastModified"/>
          <p:cNvSpPr txBox="1">
            <a:spLocks noChangeArrowheads="1"/>
          </p:cNvSpPr>
          <p:nvPr/>
        </p:nvSpPr>
        <p:spPr bwMode="white">
          <a:xfrm>
            <a:off x="10556111" y="388376"/>
            <a:ext cx="15483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algn="r" defTabSz="457200"/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Last modified: 2025-06-11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UserWorkload"/>
          <p:cNvSpPr>
            <a:spLocks/>
          </p:cNvSpPr>
          <p:nvPr/>
        </p:nvSpPr>
        <p:spPr bwMode="auto">
          <a:xfrm>
            <a:off x="175820" y="2709769"/>
            <a:ext cx="2202823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Users</a:t>
            </a:r>
          </a:p>
        </p:txBody>
      </p:sp>
      <p:sp>
        <p:nvSpPr>
          <p:cNvPr id="7" name="UserWorkloadIncExc"/>
          <p:cNvSpPr txBox="1">
            <a:spLocks noChangeArrowheads="1"/>
          </p:cNvSpPr>
          <p:nvPr/>
        </p:nvSpPr>
        <p:spPr bwMode="white">
          <a:xfrm>
            <a:off x="125485" y="3698952"/>
            <a:ext cx="3062115" cy="313265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 numCol="1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b="1" dirty="0"/>
            </a:pPr>
            <a:r>
              <a:t> Users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r>
              <a:t>🚫 Exclude:</a:t>
            </a:r>
          </a:p>
          <a:p>
            <a:pPr defTabSz="457200">
              <a:defRPr sz="1100" b="1" dirty="0"/>
            </a:pPr>
            <a:r>
              <a:t> Directory roles</a:t>
            </a:r>
          </a:p>
          <a:p>
            <a:pPr defTabSz="457200">
              <a:defRPr sz="1100" dirty="0"/>
            </a:pPr>
            <a:r>
              <a:t> - Directory Synchronization Accounts</a:t>
            </a:r>
          </a:p>
          <a:p>
            <a:pPr defTabSz="457200">
              <a:defRPr sz="1100" b="1" dirty="0"/>
            </a:pPr>
            <a:r>
              <a:t> Groups</a:t>
            </a:r>
          </a:p>
          <a:p>
            <a:pPr defTabSz="457200">
              <a:defRPr sz="1100" dirty="0"/>
            </a:pPr>
            <a:r>
              <a:t> - CO_SVO365ServiceAccounts (25)</a:t>
            </a:r>
          </a:p>
          <a:p>
            <a:pPr defTabSz="457200">
              <a:defRPr sz="1100" dirty="0"/>
            </a:pPr>
            <a:r>
              <a:t> - CO_MacUsers (7)</a:t>
            </a:r>
          </a:p>
          <a:p>
            <a:pPr defTabSz="457200">
              <a:defRPr sz="1100" dirty="0"/>
            </a:pPr>
            <a:r>
              <a:t> - CSO_CrowdstrikeAssessment (11)</a:t>
            </a:r>
          </a:p>
          <a:p>
            <a:pPr defTabSz="457200">
              <a:defRPr sz="1100" dirty="0"/>
            </a:pPr>
            <a:r>
              <a:t> - Trusted_Device_Exception (1)</a:t>
            </a:r>
          </a:p>
          <a:p>
            <a:pPr defTabSz="457200">
              <a:defRPr sz="1100" b="1" dirty="0"/>
            </a:pPr>
            <a:r>
              <a:t> Users</a:t>
            </a:r>
          </a:p>
          <a:p>
            <a:pPr defTabSz="457200">
              <a:defRPr sz="1100" dirty="0"/>
            </a:pPr>
            <a:r>
              <a:t> - BGA OCC01</a:t>
            </a:r>
          </a:p>
          <a:p>
            <a:pPr defTabSz="457200">
              <a:defRPr sz="1100" dirty="0"/>
            </a:pPr>
            <a:r>
              <a:t> - BGA OCC02</a:t>
            </a:r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19" name="Risks"/>
          <p:cNvSpPr txBox="1">
            <a:spLocks noChangeArrowheads="1"/>
          </p:cNvSpPr>
          <p:nvPr/>
        </p:nvSpPr>
        <p:spPr bwMode="white">
          <a:xfrm>
            <a:off x="524485" y="1021946"/>
            <a:ext cx="1348869" cy="166886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0" name="Platforms"/>
          <p:cNvSpPr txBox="1">
            <a:spLocks noChangeArrowheads="1"/>
          </p:cNvSpPr>
          <p:nvPr/>
        </p:nvSpPr>
        <p:spPr bwMode="white">
          <a:xfrm>
            <a:off x="1826931" y="1021947"/>
            <a:ext cx="2061056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b="1" dirty="0"/>
            </a:pPr>
            <a:r>
              <a:t>✅ Include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23" name="Locations"/>
          <p:cNvSpPr txBox="1">
            <a:spLocks noChangeArrowheads="1"/>
          </p:cNvSpPr>
          <p:nvPr/>
        </p:nvSpPr>
        <p:spPr bwMode="white">
          <a:xfrm>
            <a:off x="8324941" y="1021947"/>
            <a:ext cx="3513702" cy="159258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b="1" dirty="0"/>
            </a:pPr>
            <a:r>
              <a:t>✅ Include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24" name="ClientAppTypes"/>
          <p:cNvSpPr txBox="1">
            <a:spLocks noChangeArrowheads="1"/>
          </p:cNvSpPr>
          <p:nvPr/>
        </p:nvSpPr>
        <p:spPr bwMode="white">
          <a:xfrm>
            <a:off x="3810664" y="1021947"/>
            <a:ext cx="1581599" cy="165343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5" name="DeviceFilters"/>
          <p:cNvSpPr txBox="1">
            <a:spLocks noChangeArrowheads="1"/>
          </p:cNvSpPr>
          <p:nvPr/>
        </p:nvSpPr>
        <p:spPr bwMode="white">
          <a:xfrm>
            <a:off x="5818151" y="1022762"/>
            <a:ext cx="2248808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dirty="0"/>
            </a:pPr>
            <a:r>
              <a:t>Exclude when</a:t>
            </a:r>
          </a:p>
          <a:p>
            <a:pPr defTabSz="457200">
              <a:defRPr sz="1100" dirty="0"/>
            </a:pPr>
            <a:r>
              <a:t>device.trustType -eq "ServerAD" -or device.trustType -eq "AzureAD" -or device.trustType -eq "Workplace"</a:t>
            </a:r>
          </a:p>
          <a:p>
            <a:pPr defTabSz="457200">
              <a:defRPr sz="1100" dirty="0"/>
            </a:pPr>
            <a:endParaRPr/>
          </a:p>
        </p:txBody>
      </p:sp>
      <p:cxnSp>
        <p:nvCxnSpPr>
          <p:cNvPr id="27" name="Straight Arrow Connector 26" descr="Arrow drawn from user/workload  to the action being performed by the user such as accessing cloud apps."/>
          <p:cNvCxnSpPr/>
          <p:nvPr/>
        </p:nvCxnSpPr>
        <p:spPr bwMode="white">
          <a:xfrm>
            <a:off x="2195232" y="3159047"/>
            <a:ext cx="3959471" cy="1"/>
          </a:xfrm>
          <a:prstGeom prst="straightConnector1">
            <a:avLst/>
          </a:prstGeom>
          <a:ln w="76200"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30" name="IconBlockAccess" descr="Picture with red color stop sign to indicate blocked access"/>
          <p:cNvPicPr>
            <a:picLocks noChangeAspect="1"/>
          </p:cNvPicPr>
          <p:nvPr/>
        </p:nvPicPr>
        <p:blipFill>
          <a:blip r:embed="rId3">
            <a:lum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 bwMode="white">
          <a:xfrm>
            <a:off x="5306633" y="2735805"/>
            <a:ext cx="356616" cy="35661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34" name="GrantLabelBlockAccess"/>
          <p:cNvSpPr txBox="1">
            <a:spLocks noChangeArrowheads="1"/>
          </p:cNvSpPr>
          <p:nvPr/>
        </p:nvSpPr>
        <p:spPr bwMode="white">
          <a:xfrm>
            <a:off x="3936931" y="2734375"/>
            <a:ext cx="1358065" cy="369332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algn="ctr" defTabSz="457200"/>
            <a:r>
              <a:rPr lang="en-US" b="1" dirty="0">
                <a:solidFill>
                  <a:srgbClr val="FF0000"/>
                </a:solidFill>
              </a:rPr>
              <a:t>Block access</a:t>
            </a:r>
          </a:p>
        </p:txBody>
      </p:sp>
      <p:sp>
        <p:nvSpPr>
          <p:cNvPr id="3" name="CloudAppActionIncExc"/>
          <p:cNvSpPr txBox="1">
            <a:spLocks noChangeArrowheads="1"/>
          </p:cNvSpPr>
          <p:nvPr/>
        </p:nvSpPr>
        <p:spPr bwMode="white">
          <a:xfrm>
            <a:off x="6039518" y="3662782"/>
            <a:ext cx="3649518" cy="315161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r>
              <a:t>🚫 Exclude:</a:t>
            </a:r>
          </a:p>
          <a:p>
            <a:pPr defTabSz="457200">
              <a:defRPr sz="1100" dirty="0"/>
            </a:pPr>
            <a:r>
              <a:t> - Windows 365</a:t>
            </a:r>
          </a:p>
          <a:p>
            <a:pPr defTabSz="457200">
              <a:defRPr sz="1100" dirty="0"/>
            </a:pPr>
            <a:r>
              <a:t> - Microsoft Remote Desktop</a:t>
            </a:r>
          </a:p>
          <a:p>
            <a:pPr defTabSz="457200">
              <a:defRPr sz="1100" dirty="0"/>
            </a:pPr>
            <a:r>
              <a:t> - Windows Cloud Login</a:t>
            </a:r>
          </a:p>
          <a:p>
            <a:pPr defTabSz="457200">
              <a:defRPr sz="1100" dirty="0"/>
            </a:pPr>
            <a:r>
              <a:t> - Device Registration Service</a:t>
            </a:r>
          </a:p>
          <a:p>
            <a:pPr defTabSz="457200">
              <a:defRPr sz="1100" dirty="0"/>
            </a:pPr>
            <a:r>
              <a:t> - Microsoft Intune</a:t>
            </a:r>
          </a:p>
          <a:p>
            <a:pPr defTabSz="457200">
              <a:defRPr sz="1100" dirty="0"/>
            </a:pPr>
            <a:r>
              <a:t> - Microsoft Intune Enrollment</a:t>
            </a:r>
          </a:p>
          <a:p>
            <a:pPr defTabSz="457200">
              <a:defRPr sz="1100" dirty="0"/>
            </a:pPr>
            <a:r>
              <a:t> - Azure Virtual Desktop</a:t>
            </a:r>
          </a:p>
          <a:p>
            <a:pPr defTabSz="457200">
              <a:defRPr sz="1100" dirty="0"/>
            </a:pPr>
            <a:r>
              <a:t> - Citrix Gateway</a:t>
            </a:r>
          </a:p>
          <a:p>
            <a:pPr defTabSz="457200">
              <a:defRPr sz="1100" b="1" dirty="0"/>
            </a:pPr>
            <a:endParaRPr/>
          </a:p>
        </p:txBody>
      </p:sp>
      <p:pic>
        <p:nvPicPr>
          <p:cNvPr id="26" name="IconGroupIdentity"/>
          <p:cNvPicPr>
            <a:picLocks noChangeAspect="1"/>
          </p:cNvPicPr>
          <p:nvPr/>
        </p:nvPicPr>
        <p:blipFill>
          <a:blip r:embed="rId5">
            <a:lum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 bwMode="white">
          <a:xfrm>
            <a:off x="327701" y="2839007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36" name="Graphic 35"/>
          <p:cNvPicPr>
            <a:picLocks noChangeAspect="1"/>
          </p:cNvPicPr>
          <p:nvPr/>
        </p:nvPicPr>
        <p:blipFill>
          <a:blip r:embed="rId7">
            <a:lum/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p:blipFill>
        <p:spPr bwMode="white">
          <a:xfrm>
            <a:off x="495610" y="197468"/>
            <a:ext cx="381196" cy="38119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" name="CloudAppAction"/>
          <p:cNvSpPr>
            <a:spLocks/>
          </p:cNvSpPr>
          <p:nvPr/>
        </p:nvSpPr>
        <p:spPr bwMode="auto">
          <a:xfrm>
            <a:off x="6206089" y="2718506"/>
            <a:ext cx="3227026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All cloud apps</a:t>
            </a:r>
          </a:p>
        </p:txBody>
      </p:sp>
      <p:pic>
        <p:nvPicPr>
          <p:cNvPr id="75" name="IconAccessAllCloudApps"/>
          <p:cNvPicPr>
            <a:picLocks noChangeAspect="1"/>
          </p:cNvPicPr>
          <p:nvPr/>
        </p:nvPicPr>
        <p:blipFill>
          <a:blip r:embed="rId9">
            <a:lum/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p:blipFill>
        <p:spPr bwMode="white">
          <a:xfrm>
            <a:off x="6439264" y="2836824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21" name="StateEnabled"/>
          <p:cNvSpPr>
            <a:spLocks/>
          </p:cNvSpPr>
          <p:nvPr/>
        </p:nvSpPr>
        <p:spPr bwMode="white">
          <a:xfrm>
            <a:off x="10842171" y="83487"/>
            <a:ext cx="1260389" cy="264812"/>
          </a:xfrm>
          <a:prstGeom prst="round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r>
              <a:rPr lang="en-US" sz="800" dirty="0"/>
              <a:t>Policy Enabled</a:t>
            </a:r>
          </a:p>
        </p:txBody>
      </p:sp>
      <p:grpSp>
        <p:nvGrpSpPr>
          <p:cNvPr id="10" name="IconRiskyUsers"/>
          <p:cNvGrpSpPr>
            <a:grpSpLocks/>
          </p:cNvGrpSpPr>
          <p:nvPr/>
        </p:nvGrpSpPr>
        <p:grpSpPr bwMode="white">
          <a:xfrm>
            <a:off x="635426" y="738677"/>
            <a:ext cx="1202553" cy="274320"/>
            <a:chOff x="2013768" y="1033956"/>
            <a:chExt cx="1342320" cy="274320"/>
          </a:xfrm>
        </p:grpSpPr>
        <p:pic>
          <p:nvPicPr>
            <p:cNvPr id="46" name="Graphic 1"/>
            <p:cNvPicPr>
              <a:picLocks noChangeAspect="1"/>
            </p:cNvPicPr>
            <p:nvPr/>
          </p:nvPicPr>
          <p:blipFill>
            <a:blip r:embed="rId11">
              <a:lum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013768" y="1033956"/>
              <a:ext cx="274320" cy="27432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5" name="Label 1"/>
            <p:cNvSpPr txBox="1">
              <a:spLocks noChangeArrowheads="1"/>
            </p:cNvSpPr>
            <p:nvPr/>
          </p:nvSpPr>
          <p:spPr bwMode="white">
            <a:xfrm>
              <a:off x="2240077" y="1040706"/>
              <a:ext cx="1116011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Risk</a:t>
              </a:r>
            </a:p>
          </p:txBody>
        </p:sp>
      </p:grpSp>
      <p:grpSp>
        <p:nvGrpSpPr>
          <p:cNvPr id="14" name="IconPlatforms"/>
          <p:cNvGrpSpPr>
            <a:grpSpLocks/>
          </p:cNvGrpSpPr>
          <p:nvPr/>
        </p:nvGrpSpPr>
        <p:grpSpPr bwMode="white">
          <a:xfrm>
            <a:off x="1927788" y="715249"/>
            <a:ext cx="1719285" cy="365760"/>
            <a:chOff x="3262737" y="994835"/>
            <a:chExt cx="1719285" cy="365760"/>
          </a:xfrm>
        </p:grpSpPr>
        <p:pic>
          <p:nvPicPr>
            <p:cNvPr id="29" name="Graphic 1"/>
            <p:cNvPicPr>
              <a:picLocks noChangeAspect="1"/>
            </p:cNvPicPr>
            <p:nvPr/>
          </p:nvPicPr>
          <p:blipFill>
            <a:blip r:embed="rId13">
              <a:lum/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3262737" y="994835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1" name="Label 1"/>
            <p:cNvSpPr txBox="1">
              <a:spLocks noChangeArrowheads="1"/>
            </p:cNvSpPr>
            <p:nvPr/>
          </p:nvSpPr>
          <p:spPr bwMode="white">
            <a:xfrm>
              <a:off x="3582397" y="1027255"/>
              <a:ext cx="1399625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Device platforms</a:t>
              </a:r>
            </a:p>
          </p:txBody>
        </p:sp>
      </p:grpSp>
      <p:grpSp>
        <p:nvGrpSpPr>
          <p:cNvPr id="17" name="IconClientAppTypes"/>
          <p:cNvGrpSpPr>
            <a:grpSpLocks/>
          </p:cNvGrpSpPr>
          <p:nvPr/>
        </p:nvGrpSpPr>
        <p:grpSpPr bwMode="white">
          <a:xfrm>
            <a:off x="3908159" y="670015"/>
            <a:ext cx="1852971" cy="365760"/>
            <a:chOff x="4858970" y="975927"/>
            <a:chExt cx="1852971" cy="365760"/>
          </a:xfrm>
        </p:grpSpPr>
        <p:pic>
          <p:nvPicPr>
            <p:cNvPr id="58" name="Graphic 1"/>
            <p:cNvPicPr>
              <a:picLocks noChangeAspect="1"/>
            </p:cNvPicPr>
            <p:nvPr/>
          </p:nvPicPr>
          <p:blipFill>
            <a:blip r:embed="rId15">
              <a:lum/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858970" y="975927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5" name="Label 1"/>
            <p:cNvSpPr txBox="1">
              <a:spLocks noChangeArrowheads="1"/>
            </p:cNvSpPr>
            <p:nvPr/>
          </p:nvSpPr>
          <p:spPr bwMode="white">
            <a:xfrm>
              <a:off x="5193983" y="1009899"/>
              <a:ext cx="1517958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Client apps</a:t>
              </a:r>
            </a:p>
          </p:txBody>
        </p:sp>
      </p:grpSp>
      <p:grpSp>
        <p:nvGrpSpPr>
          <p:cNvPr id="37" name="IconLocations"/>
          <p:cNvGrpSpPr>
            <a:grpSpLocks/>
          </p:cNvGrpSpPr>
          <p:nvPr/>
        </p:nvGrpSpPr>
        <p:grpSpPr bwMode="white">
          <a:xfrm>
            <a:off x="8411896" y="646848"/>
            <a:ext cx="1850168" cy="388465"/>
            <a:chOff x="2321433" y="3262888"/>
            <a:chExt cx="1850168" cy="388465"/>
          </a:xfrm>
        </p:grpSpPr>
        <p:pic>
          <p:nvPicPr>
            <p:cNvPr id="33" name="Graphic 1"/>
            <p:cNvPicPr>
              <a:picLocks noChangeAspect="1"/>
            </p:cNvPicPr>
            <p:nvPr/>
          </p:nvPicPr>
          <p:blipFill>
            <a:blip r:embed="rId17">
              <a:lum/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321433" y="3262888"/>
              <a:ext cx="388465" cy="388465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28" name="Label 1"/>
            <p:cNvSpPr txBox="1">
              <a:spLocks noChangeArrowheads="1"/>
            </p:cNvSpPr>
            <p:nvPr/>
          </p:nvSpPr>
          <p:spPr bwMode="white">
            <a:xfrm>
              <a:off x="2713321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Locations</a:t>
              </a:r>
              <a:endParaRPr lang="en-US" sz="1100" b="1" dirty="0"/>
            </a:p>
          </p:txBody>
        </p:sp>
      </p:grpSp>
      <p:grpSp>
        <p:nvGrpSpPr>
          <p:cNvPr id="39" name="IconDeviceFilters"/>
          <p:cNvGrpSpPr>
            <a:grpSpLocks/>
          </p:cNvGrpSpPr>
          <p:nvPr/>
        </p:nvGrpSpPr>
        <p:grpSpPr bwMode="white">
          <a:xfrm>
            <a:off x="5472818" y="661958"/>
            <a:ext cx="1839823" cy="364111"/>
            <a:chOff x="4195414" y="3273669"/>
            <a:chExt cx="1839823" cy="364111"/>
          </a:xfrm>
        </p:grpSpPr>
        <p:pic>
          <p:nvPicPr>
            <p:cNvPr id="60" name="Graphic 1"/>
            <p:cNvPicPr>
              <a:picLocks noChangeAspect="1"/>
            </p:cNvPicPr>
            <p:nvPr/>
          </p:nvPicPr>
          <p:blipFill>
            <a:blip r:embed="rId19">
              <a:lum/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195414" y="3273669"/>
              <a:ext cx="364111" cy="364111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31" name="Label 1"/>
            <p:cNvSpPr txBox="1">
              <a:spLocks noChangeArrowheads="1"/>
            </p:cNvSpPr>
            <p:nvPr/>
          </p:nvSpPr>
          <p:spPr bwMode="white">
            <a:xfrm>
              <a:off x="4576957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Filter for devices</a:t>
              </a:r>
              <a:endParaRPr lang="en-US" sz="1100" b="1" dirty="0"/>
            </a:p>
          </p:txBody>
        </p:sp>
      </p:grpSp>
      <p:pic>
        <p:nvPicPr>
          <p:cNvPr id="62" name="IconGrantMultifactorAuthentication"/>
          <p:cNvPicPr>
            <a:picLocks noChangeAspect="1"/>
          </p:cNvPicPr>
          <p:nvPr/>
        </p:nvPicPr>
        <p:blipFill>
          <a:blip r:embed="rId21">
            <a:lum/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>
            <a:fillRect/>
          </a:stretch>
        </p:blipFill>
        <p:spPr bwMode="white">
          <a:xfrm>
            <a:off x="3410647" y="3566863"/>
            <a:ext cx="17145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5" name="IconGrantMultifactorAuthenticationLabel"/>
          <p:cNvSpPr txBox="1">
            <a:spLocks noChangeArrowheads="1"/>
          </p:cNvSpPr>
          <p:nvPr/>
        </p:nvSpPr>
        <p:spPr bwMode="white">
          <a:xfrm>
            <a:off x="3575836" y="3571997"/>
            <a:ext cx="19007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Multifactor authentication</a:t>
            </a:r>
            <a:endParaRPr lang="en-US" sz="1000" dirty="0"/>
          </a:p>
        </p:txBody>
      </p:sp>
      <p:pic>
        <p:nvPicPr>
          <p:cNvPr id="38" name="IconGrantAuthenticationStrength"/>
          <p:cNvPicPr>
            <a:picLocks noChangeAspect="1"/>
          </p:cNvPicPr>
          <p:nvPr/>
        </p:nvPicPr>
        <p:blipFill>
          <a:blip r:embed="rId23">
            <a:lum/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/>
          <a:stretch>
            <a:fillRect/>
          </a:stretch>
        </p:blipFill>
        <p:spPr bwMode="white">
          <a:xfrm>
            <a:off x="3374515" y="3905034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7" name="IconGrantAuthenticationStrengthLabel"/>
          <p:cNvSpPr txBox="1">
            <a:spLocks noChangeArrowheads="1"/>
          </p:cNvSpPr>
          <p:nvPr/>
        </p:nvSpPr>
        <p:spPr bwMode="white">
          <a:xfrm>
            <a:off x="3575836" y="3907323"/>
            <a:ext cx="2185294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Authentication strength</a:t>
            </a:r>
            <a:endParaRPr lang="en-US" sz="1000" dirty="0"/>
          </a:p>
        </p:txBody>
      </p:sp>
      <p:pic>
        <p:nvPicPr>
          <p:cNvPr id="52" name="IconGrantDeviceCompliance"/>
          <p:cNvPicPr>
            <a:picLocks noChangeAspect="1"/>
          </p:cNvPicPr>
          <p:nvPr/>
        </p:nvPicPr>
        <p:blipFill>
          <a:blip r:embed="rId25">
            <a:lum/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/>
          <a:stretch>
            <a:fillRect/>
          </a:stretch>
        </p:blipFill>
        <p:spPr bwMode="white">
          <a:xfrm>
            <a:off x="3374515" y="4243205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9" name="IconGrantDeviceComplianceLabel"/>
          <p:cNvSpPr txBox="1">
            <a:spLocks noChangeArrowheads="1"/>
          </p:cNvSpPr>
          <p:nvPr/>
        </p:nvSpPr>
        <p:spPr bwMode="white">
          <a:xfrm>
            <a:off x="3575836" y="4242649"/>
            <a:ext cx="17378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Compliant device</a:t>
            </a:r>
            <a:endParaRPr lang="en-US" sz="1000" dirty="0"/>
          </a:p>
        </p:txBody>
      </p:sp>
      <p:pic>
        <p:nvPicPr>
          <p:cNvPr id="43" name="IconGrantHybridJoined"/>
          <p:cNvPicPr>
            <a:picLocks noChangeAspect="1"/>
          </p:cNvPicPr>
          <p:nvPr/>
        </p:nvPicPr>
        <p:blipFill>
          <a:blip r:embed="rId27">
            <a:lum/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/>
          <a:stretch>
            <a:fillRect/>
          </a:stretch>
        </p:blipFill>
        <p:spPr bwMode="white">
          <a:xfrm>
            <a:off x="3374515" y="4581376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3" name="IconGrantHybridJoinedLabel"/>
          <p:cNvSpPr txBox="1">
            <a:spLocks noChangeArrowheads="1"/>
          </p:cNvSpPr>
          <p:nvPr/>
        </p:nvSpPr>
        <p:spPr bwMode="white">
          <a:xfrm>
            <a:off x="3575836" y="4577975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Hybrid Azure AD joined device</a:t>
            </a:r>
            <a:endParaRPr lang="en-US" sz="1000" dirty="0"/>
          </a:p>
        </p:txBody>
      </p:sp>
      <p:pic>
        <p:nvPicPr>
          <p:cNvPr id="48" name="IconGrantApprovedClientApp"/>
          <p:cNvPicPr>
            <a:picLocks noChangeAspect="1"/>
          </p:cNvPicPr>
          <p:nvPr/>
        </p:nvPicPr>
        <p:blipFill>
          <a:blip r:embed="rId29">
            <a:lum/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rcRect/>
          <a:stretch>
            <a:fillRect/>
          </a:stretch>
        </p:blipFill>
        <p:spPr bwMode="white">
          <a:xfrm>
            <a:off x="3374515" y="491954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5" name="IconGrantApprovedClientAppLabel"/>
          <p:cNvSpPr txBox="1">
            <a:spLocks noChangeArrowheads="1"/>
          </p:cNvSpPr>
          <p:nvPr/>
        </p:nvSpPr>
        <p:spPr bwMode="white">
          <a:xfrm>
            <a:off x="3575836" y="4913301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Approved client app</a:t>
            </a:r>
            <a:endParaRPr lang="en-US" sz="1000" dirty="0"/>
          </a:p>
        </p:txBody>
      </p:sp>
      <p:pic>
        <p:nvPicPr>
          <p:cNvPr id="42" name="IconGrantCustomAuth"/>
          <p:cNvPicPr>
            <a:picLocks noChangeAspect="1"/>
          </p:cNvPicPr>
          <p:nvPr/>
        </p:nvPicPr>
        <p:blipFill>
          <a:blip r:embed="rId31">
            <a:lum/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rcRect/>
          <a:stretch>
            <a:fillRect/>
          </a:stretch>
        </p:blipFill>
        <p:spPr bwMode="white">
          <a:xfrm>
            <a:off x="3374515" y="593406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9" name="IconGrantCustomAuthLabel"/>
          <p:cNvSpPr txBox="1">
            <a:spLocks noChangeArrowheads="1"/>
          </p:cNvSpPr>
          <p:nvPr/>
        </p:nvSpPr>
        <p:spPr bwMode="white">
          <a:xfrm>
            <a:off x="3575836" y="5919279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Custom authentication factor</a:t>
            </a:r>
            <a:endParaRPr lang="en-US" sz="1000" dirty="0"/>
          </a:p>
        </p:txBody>
      </p:sp>
      <p:pic>
        <p:nvPicPr>
          <p:cNvPr id="40" name="IconGrantTermsOfUse"/>
          <p:cNvPicPr>
            <a:picLocks noChangeAspect="1"/>
          </p:cNvPicPr>
          <p:nvPr/>
        </p:nvPicPr>
        <p:blipFill>
          <a:blip r:embed="rId33">
            <a:lum/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rcRect/>
          <a:stretch>
            <a:fillRect/>
          </a:stretch>
        </p:blipFill>
        <p:spPr bwMode="white">
          <a:xfrm>
            <a:off x="3374515" y="627222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3" name="IconGrantTermsOfUseLabel"/>
          <p:cNvSpPr txBox="1">
            <a:spLocks noChangeArrowheads="1"/>
          </p:cNvSpPr>
          <p:nvPr/>
        </p:nvSpPr>
        <p:spPr bwMode="white">
          <a:xfrm>
            <a:off x="3575836" y="625460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Terms of use</a:t>
            </a:r>
            <a:endParaRPr lang="en-US" sz="1000" dirty="0"/>
          </a:p>
        </p:txBody>
      </p:sp>
      <p:sp>
        <p:nvSpPr>
          <p:cNvPr id="56" name="IconGrantAppProtectionLabel"/>
          <p:cNvSpPr txBox="1">
            <a:spLocks noChangeArrowheads="1"/>
          </p:cNvSpPr>
          <p:nvPr/>
        </p:nvSpPr>
        <p:spPr bwMode="white">
          <a:xfrm>
            <a:off x="3575836" y="524862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 protection policy</a:t>
            </a:r>
            <a:endParaRPr lang="en-US" sz="1000" dirty="0"/>
          </a:p>
        </p:txBody>
      </p:sp>
      <p:pic>
        <p:nvPicPr>
          <p:cNvPr id="65" name="IconGrantAppProtection"/>
          <p:cNvPicPr>
            <a:picLocks noChangeAspect="1"/>
          </p:cNvPicPr>
          <p:nvPr/>
        </p:nvPicPr>
        <p:blipFill>
          <a:blip r:embed="rId35">
            <a:lum/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rcRect/>
          <a:stretch>
            <a:fillRect/>
          </a:stretch>
        </p:blipFill>
        <p:spPr bwMode="white">
          <a:xfrm>
            <a:off x="3374515" y="525771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7" name="IconGrantChangePasswordLabel"/>
          <p:cNvSpPr txBox="1">
            <a:spLocks noChangeArrowheads="1"/>
          </p:cNvSpPr>
          <p:nvPr/>
        </p:nvSpPr>
        <p:spPr bwMode="white">
          <a:xfrm>
            <a:off x="3575836" y="5583953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Change password</a:t>
            </a:r>
            <a:endParaRPr lang="en-US" sz="1000" dirty="0"/>
          </a:p>
        </p:txBody>
      </p:sp>
      <p:pic>
        <p:nvPicPr>
          <p:cNvPr id="67" name="IconGrantChangePassword"/>
          <p:cNvPicPr>
            <a:picLocks noChangeAspect="1"/>
          </p:cNvPicPr>
          <p:nvPr/>
        </p:nvPicPr>
        <p:blipFill>
          <a:blip r:embed="rId37">
            <a:lum/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rcRect/>
          <a:stretch>
            <a:fillRect/>
          </a:stretch>
        </p:blipFill>
        <p:spPr bwMode="white">
          <a:xfrm>
            <a:off x="3374515" y="5595889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4" name="ShadeRisk"/>
          <p:cNvSpPr>
            <a:spLocks/>
          </p:cNvSpPr>
          <p:nvPr/>
        </p:nvSpPr>
        <p:spPr bwMode="white">
          <a:xfrm>
            <a:off x="507564" y="650246"/>
            <a:ext cx="976864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78" name="ShadeClientApps"/>
          <p:cNvSpPr>
            <a:spLocks/>
          </p:cNvSpPr>
          <p:nvPr/>
        </p:nvSpPr>
        <p:spPr bwMode="white">
          <a:xfrm>
            <a:off x="3802273" y="650246"/>
            <a:ext cx="1481482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3" name="ShadeGrantMultifactorAuth"/>
          <p:cNvSpPr>
            <a:spLocks/>
          </p:cNvSpPr>
          <p:nvPr/>
        </p:nvSpPr>
        <p:spPr bwMode="white">
          <a:xfrm>
            <a:off x="3369399" y="3534220"/>
            <a:ext cx="2069555" cy="28330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4" name="ShadeGrantAuthStrength"/>
          <p:cNvSpPr>
            <a:spLocks/>
          </p:cNvSpPr>
          <p:nvPr/>
        </p:nvSpPr>
        <p:spPr bwMode="white">
          <a:xfrm>
            <a:off x="3350256" y="3869846"/>
            <a:ext cx="2069555" cy="27801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5" name="ShadeGrantCompliantDevice"/>
          <p:cNvSpPr>
            <a:spLocks/>
          </p:cNvSpPr>
          <p:nvPr/>
        </p:nvSpPr>
        <p:spPr bwMode="white">
          <a:xfrm>
            <a:off x="3361852" y="4243205"/>
            <a:ext cx="2077102" cy="26110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6" name="ShadeGrantHybridAzureADJoined"/>
          <p:cNvSpPr>
            <a:spLocks/>
          </p:cNvSpPr>
          <p:nvPr/>
        </p:nvSpPr>
        <p:spPr bwMode="white">
          <a:xfrm>
            <a:off x="3353637" y="4552268"/>
            <a:ext cx="2160906" cy="298395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7" name="ShadeGrantApprovedClientApp"/>
          <p:cNvSpPr>
            <a:spLocks/>
          </p:cNvSpPr>
          <p:nvPr/>
        </p:nvSpPr>
        <p:spPr bwMode="white">
          <a:xfrm>
            <a:off x="3331918" y="4876027"/>
            <a:ext cx="2182625" cy="29839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8" name="ShadeGrantAppProtectionPolicy"/>
          <p:cNvSpPr>
            <a:spLocks/>
          </p:cNvSpPr>
          <p:nvPr/>
        </p:nvSpPr>
        <p:spPr bwMode="white">
          <a:xfrm>
            <a:off x="3350256" y="5207226"/>
            <a:ext cx="2122561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9" name="ShadeGrantChangePassword"/>
          <p:cNvSpPr>
            <a:spLocks/>
          </p:cNvSpPr>
          <p:nvPr/>
        </p:nvSpPr>
        <p:spPr bwMode="white">
          <a:xfrm>
            <a:off x="3350257" y="5557021"/>
            <a:ext cx="2042006" cy="287239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0" name="ShadeGrantCustomAuthFactor"/>
          <p:cNvSpPr>
            <a:spLocks/>
          </p:cNvSpPr>
          <p:nvPr/>
        </p:nvSpPr>
        <p:spPr bwMode="white">
          <a:xfrm>
            <a:off x="3331918" y="5899058"/>
            <a:ext cx="2182625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1" name="ShadeGrantTermsOfUse"/>
          <p:cNvSpPr>
            <a:spLocks/>
          </p:cNvSpPr>
          <p:nvPr/>
        </p:nvSpPr>
        <p:spPr bwMode="white">
          <a:xfrm>
            <a:off x="3313823" y="6192350"/>
            <a:ext cx="101602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99" name="Rectangle 98"/>
          <p:cNvSpPr>
            <a:spLocks/>
          </p:cNvSpPr>
          <p:nvPr/>
        </p:nvSpPr>
        <p:spPr bwMode="white">
          <a:xfrm>
            <a:off x="3268757" y="3253404"/>
            <a:ext cx="2357725" cy="3498546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0" name="Rectangle 109"/>
          <p:cNvSpPr>
            <a:spLocks/>
          </p:cNvSpPr>
          <p:nvPr/>
        </p:nvSpPr>
        <p:spPr bwMode="white">
          <a:xfrm>
            <a:off x="9881750" y="3248255"/>
            <a:ext cx="2220808" cy="3510149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7" name="Rectangle 116"/>
          <p:cNvSpPr>
            <a:spLocks/>
          </p:cNvSpPr>
          <p:nvPr/>
        </p:nvSpPr>
        <p:spPr bwMode="white">
          <a:xfrm>
            <a:off x="26741" y="606825"/>
            <a:ext cx="11985015" cy="2063636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2" name="Conditions Label"/>
          <p:cNvSpPr txBox="1">
            <a:spLocks noChangeArrowheads="1"/>
          </p:cNvSpPr>
          <p:nvPr/>
        </p:nvSpPr>
        <p:spPr bwMode="white">
          <a:xfrm rot="16200000">
            <a:off x="-883507" y="1514324"/>
            <a:ext cx="2081441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Conditions</a:t>
            </a:r>
          </a:p>
        </p:txBody>
      </p:sp>
      <p:sp>
        <p:nvSpPr>
          <p:cNvPr id="109" name="Grant Controls"/>
          <p:cNvSpPr txBox="1">
            <a:spLocks noChangeArrowheads="1"/>
          </p:cNvSpPr>
          <p:nvPr/>
        </p:nvSpPr>
        <p:spPr bwMode="white">
          <a:xfrm>
            <a:off x="3252146" y="3244395"/>
            <a:ext cx="2391873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Grant Controls</a:t>
            </a:r>
          </a:p>
        </p:txBody>
      </p:sp>
      <p:sp>
        <p:nvSpPr>
          <p:cNvPr id="111" name="Session Controls"/>
          <p:cNvSpPr txBox="1">
            <a:spLocks noChangeArrowheads="1"/>
          </p:cNvSpPr>
          <p:nvPr/>
        </p:nvSpPr>
        <p:spPr bwMode="white">
          <a:xfrm>
            <a:off x="9864212" y="3243751"/>
            <a:ext cx="2238346" cy="23786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Session Controls</a:t>
            </a:r>
          </a:p>
        </p:txBody>
      </p:sp>
      <p:pic>
        <p:nvPicPr>
          <p:cNvPr id="72" name="Graphic 71"/>
          <p:cNvPicPr>
            <a:picLocks noChangeAspect="1"/>
          </p:cNvPicPr>
          <p:nvPr/>
        </p:nvPicPr>
        <p:blipFill>
          <a:blip r:embed="rId39">
            <a:lum/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rcRect/>
          <a:stretch>
            <a:fillRect/>
          </a:stretch>
        </p:blipFill>
        <p:spPr bwMode="white">
          <a:xfrm>
            <a:off x="9996846" y="356982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4" name="Graphic 93"/>
          <p:cNvPicPr>
            <a:picLocks noChangeAspect="1"/>
          </p:cNvPicPr>
          <p:nvPr/>
        </p:nvPicPr>
        <p:blipFill>
          <a:blip r:embed="rId41">
            <a:lum/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rcRect/>
          <a:stretch>
            <a:fillRect/>
          </a:stretch>
        </p:blipFill>
        <p:spPr bwMode="white">
          <a:xfrm>
            <a:off x="10009443" y="525644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5" name="TextBox 94"/>
          <p:cNvSpPr txBox="1">
            <a:spLocks noChangeArrowheads="1"/>
          </p:cNvSpPr>
          <p:nvPr/>
        </p:nvSpPr>
        <p:spPr bwMode="white">
          <a:xfrm>
            <a:off x="10207481" y="3578463"/>
            <a:ext cx="150554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App enforced restrictions</a:t>
            </a:r>
          </a:p>
        </p:txBody>
      </p:sp>
      <p:sp>
        <p:nvSpPr>
          <p:cNvPr id="96" name="TextBox 95"/>
          <p:cNvSpPr txBox="1">
            <a:spLocks noChangeArrowheads="1"/>
          </p:cNvSpPr>
          <p:nvPr/>
        </p:nvSpPr>
        <p:spPr bwMode="white">
          <a:xfrm>
            <a:off x="10201167" y="3899846"/>
            <a:ext cx="181011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Conditional Access App Control</a:t>
            </a:r>
          </a:p>
        </p:txBody>
      </p:sp>
      <p:sp>
        <p:nvSpPr>
          <p:cNvPr id="97" name="TextBox 96"/>
          <p:cNvSpPr txBox="1">
            <a:spLocks noChangeArrowheads="1"/>
          </p:cNvSpPr>
          <p:nvPr/>
        </p:nvSpPr>
        <p:spPr bwMode="white">
          <a:xfrm>
            <a:off x="10215627" y="4357505"/>
            <a:ext cx="1090363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Sign-in frequency</a:t>
            </a:r>
          </a:p>
        </p:txBody>
      </p:sp>
      <p:sp>
        <p:nvSpPr>
          <p:cNvPr id="98" name="TextBox 97"/>
          <p:cNvSpPr txBox="1">
            <a:spLocks noChangeArrowheads="1"/>
          </p:cNvSpPr>
          <p:nvPr/>
        </p:nvSpPr>
        <p:spPr bwMode="white">
          <a:xfrm>
            <a:off x="10225446" y="4793305"/>
            <a:ext cx="156966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Persistent browser session</a:t>
            </a:r>
          </a:p>
        </p:txBody>
      </p:sp>
      <p:sp>
        <p:nvSpPr>
          <p:cNvPr id="100" name="TextBox 99"/>
          <p:cNvSpPr txBox="1">
            <a:spLocks noChangeArrowheads="1"/>
          </p:cNvSpPr>
          <p:nvPr/>
        </p:nvSpPr>
        <p:spPr bwMode="white">
          <a:xfrm>
            <a:off x="10229552" y="5232376"/>
            <a:ext cx="1717137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Continuous access evaluation</a:t>
            </a:r>
          </a:p>
        </p:txBody>
      </p:sp>
      <p:sp>
        <p:nvSpPr>
          <p:cNvPr id="101" name="TextBox 100"/>
          <p:cNvSpPr txBox="1">
            <a:spLocks noChangeArrowheads="1"/>
          </p:cNvSpPr>
          <p:nvPr/>
        </p:nvSpPr>
        <p:spPr bwMode="white">
          <a:xfrm>
            <a:off x="10259108" y="5658625"/>
            <a:ext cx="153599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Disable resilience defaults</a:t>
            </a:r>
          </a:p>
        </p:txBody>
      </p:sp>
      <p:pic>
        <p:nvPicPr>
          <p:cNvPr id="103" name="Graphic 102"/>
          <p:cNvPicPr>
            <a:picLocks noChangeAspect="1"/>
          </p:cNvPicPr>
          <p:nvPr/>
        </p:nvPicPr>
        <p:blipFill>
          <a:blip r:embed="rId43">
            <a:lum/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rcRect/>
          <a:stretch>
            <a:fillRect/>
          </a:stretch>
        </p:blipFill>
        <p:spPr bwMode="white">
          <a:xfrm>
            <a:off x="9996846" y="479900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5" name="Graphic 104"/>
          <p:cNvPicPr>
            <a:picLocks noChangeAspect="1"/>
          </p:cNvPicPr>
          <p:nvPr/>
        </p:nvPicPr>
        <p:blipFill>
          <a:blip r:embed="rId45">
            <a:lum/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rcRect/>
          <a:stretch>
            <a:fillRect/>
          </a:stretch>
        </p:blipFill>
        <p:spPr bwMode="white">
          <a:xfrm>
            <a:off x="9996846" y="437457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7" name="Graphic 106"/>
          <p:cNvPicPr>
            <a:picLocks noChangeAspect="1"/>
          </p:cNvPicPr>
          <p:nvPr/>
        </p:nvPicPr>
        <p:blipFill>
          <a:blip r:embed="rId7">
            <a:lum/>
            <a:extLst>
              <a:ext uri="{96DAC541-7B7A-43D3-8B79-37D633B846F1}">
                <asvg:svgBlip xmlns:asvg="http://schemas.microsoft.com/office/drawing/2016/SVG/main" r:embed="rId47"/>
              </a:ext>
            </a:extLst>
          </a:blip>
          <a:srcRect/>
          <a:stretch>
            <a:fillRect/>
          </a:stretch>
        </p:blipFill>
        <p:spPr bwMode="white">
          <a:xfrm>
            <a:off x="9996846" y="391529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15" name="SessionSifInterval"/>
          <p:cNvSpPr txBox="1">
            <a:spLocks noChangeArrowheads="1"/>
          </p:cNvSpPr>
          <p:nvPr/>
        </p:nvSpPr>
        <p:spPr bwMode="white">
          <a:xfrm>
            <a:off x="10296745" y="4516775"/>
            <a:ext cx="1249060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Periodic reauthentication</a:t>
            </a:r>
          </a:p>
        </p:txBody>
      </p:sp>
      <p:sp>
        <p:nvSpPr>
          <p:cNvPr id="114" name="SessionCasType"/>
          <p:cNvSpPr txBox="1">
            <a:spLocks noChangeArrowheads="1"/>
          </p:cNvSpPr>
          <p:nvPr/>
        </p:nvSpPr>
        <p:spPr bwMode="white">
          <a:xfrm>
            <a:off x="10296745" y="4075500"/>
            <a:ext cx="95410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App Control Policy</a:t>
            </a:r>
          </a:p>
        </p:txBody>
      </p:sp>
      <p:sp>
        <p:nvSpPr>
          <p:cNvPr id="116" name="SessionPersistenBrowserMode"/>
          <p:cNvSpPr txBox="1">
            <a:spLocks noChangeArrowheads="1"/>
          </p:cNvSpPr>
          <p:nvPr/>
        </p:nvSpPr>
        <p:spPr bwMode="white">
          <a:xfrm>
            <a:off x="10309761" y="4945281"/>
            <a:ext cx="918841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Always persistent</a:t>
            </a:r>
          </a:p>
        </p:txBody>
      </p:sp>
      <p:sp>
        <p:nvSpPr>
          <p:cNvPr id="118" name="SessionCaeMode"/>
          <p:cNvSpPr txBox="1">
            <a:spLocks noChangeArrowheads="1"/>
          </p:cNvSpPr>
          <p:nvPr/>
        </p:nvSpPr>
        <p:spPr bwMode="white">
          <a:xfrm>
            <a:off x="10301386" y="5393378"/>
            <a:ext cx="15359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US" sz="800" dirty="0"/>
              <a:t>Strictly enforce location policies</a:t>
            </a:r>
          </a:p>
        </p:txBody>
      </p:sp>
      <p:sp>
        <p:nvSpPr>
          <p:cNvPr id="119" name="ShadeSessionAppEnforced"/>
          <p:cNvSpPr>
            <a:spLocks/>
          </p:cNvSpPr>
          <p:nvPr/>
        </p:nvSpPr>
        <p:spPr bwMode="white">
          <a:xfrm>
            <a:off x="9959680" y="3548808"/>
            <a:ext cx="2051597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0" name="ShadeSessionCas"/>
          <p:cNvSpPr>
            <a:spLocks/>
          </p:cNvSpPr>
          <p:nvPr/>
        </p:nvSpPr>
        <p:spPr bwMode="white">
          <a:xfrm>
            <a:off x="9978939" y="3884212"/>
            <a:ext cx="2087576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1" name="ShadeSessionSif"/>
          <p:cNvSpPr>
            <a:spLocks/>
          </p:cNvSpPr>
          <p:nvPr/>
        </p:nvSpPr>
        <p:spPr bwMode="white">
          <a:xfrm>
            <a:off x="9940787" y="4320077"/>
            <a:ext cx="2125728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2" name="ShadeSessionPersistentBrowser"/>
          <p:cNvSpPr>
            <a:spLocks/>
          </p:cNvSpPr>
          <p:nvPr/>
        </p:nvSpPr>
        <p:spPr bwMode="white">
          <a:xfrm>
            <a:off x="9938833" y="4746195"/>
            <a:ext cx="207244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" name="Label Secure Sign In Session"/>
          <p:cNvSpPr txBox="1">
            <a:spLocks noChangeArrowheads="1"/>
          </p:cNvSpPr>
          <p:nvPr/>
        </p:nvSpPr>
        <p:spPr bwMode="white">
          <a:xfrm>
            <a:off x="10260000" y="6084874"/>
            <a:ext cx="166584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Token protection for session</a:t>
            </a:r>
          </a:p>
        </p:txBody>
      </p:sp>
      <p:pic>
        <p:nvPicPr>
          <p:cNvPr id="77" name="IconSessionCaeDisable" descr="Close with solid fill"/>
          <p:cNvPicPr>
            <a:picLocks noChangeAspect="1"/>
          </p:cNvPicPr>
          <p:nvPr/>
        </p:nvPicPr>
        <p:blipFill>
          <a:blip r:embed="rId48">
            <a:lum/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rcRect/>
          <a:stretch>
            <a:fillRect/>
          </a:stretch>
        </p:blipFill>
        <p:spPr bwMode="white">
          <a:xfrm>
            <a:off x="9979885" y="5218651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2" name="IconSessionSecureSignInSession 1"/>
          <p:cNvPicPr>
            <a:picLocks noChangeAspect="1"/>
          </p:cNvPicPr>
          <p:nvPr/>
        </p:nvPicPr>
        <p:blipFill>
          <a:blip r:embed="rId50">
            <a:lum/>
            <a:extLst>
              <a:ext uri="{96DAC541-7B7A-43D3-8B79-37D633B846F1}">
                <asvg:svgBlip xmlns:asvg="http://schemas.microsoft.com/office/drawing/2016/SVG/main" r:embed="rId51"/>
              </a:ext>
            </a:extLst>
          </a:blip>
          <a:srcRect/>
          <a:stretch>
            <a:fillRect/>
          </a:stretch>
        </p:blipFill>
        <p:spPr bwMode="white">
          <a:xfrm>
            <a:off x="9997200" y="6085768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3" name="ShadeSessionCae"/>
          <p:cNvSpPr>
            <a:spLocks/>
          </p:cNvSpPr>
          <p:nvPr/>
        </p:nvSpPr>
        <p:spPr bwMode="white">
          <a:xfrm>
            <a:off x="9987595" y="5219780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76" name="ShadeSessionSecureSignIn"/>
          <p:cNvSpPr>
            <a:spLocks/>
          </p:cNvSpPr>
          <p:nvPr/>
        </p:nvSpPr>
        <p:spPr bwMode="white">
          <a:xfrm>
            <a:off x="9996846" y="5986498"/>
            <a:ext cx="2014431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pic>
        <p:nvPicPr>
          <p:cNvPr id="102" name="Graphic 101"/>
          <p:cNvPicPr>
            <a:picLocks noChangeAspect="1"/>
          </p:cNvPicPr>
          <p:nvPr/>
        </p:nvPicPr>
        <p:blipFill>
          <a:blip r:embed="rId52">
            <a:lum/>
            <a:extLst>
              <a:ext uri="{96DAC541-7B7A-43D3-8B79-37D633B846F1}">
                <asvg:svgBlip xmlns:asvg="http://schemas.microsoft.com/office/drawing/2016/SVG/main" r:embed="rId53"/>
              </a:ext>
            </a:extLst>
          </a:blip>
          <a:srcRect/>
          <a:stretch>
            <a:fillRect/>
          </a:stretch>
        </p:blipFill>
        <p:spPr bwMode="white">
          <a:xfrm>
            <a:off x="9997200" y="5663777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80" name="Graphic 79" descr="Close with solid fill"/>
          <p:cNvPicPr>
            <a:picLocks noChangeAspect="1"/>
          </p:cNvPicPr>
          <p:nvPr/>
        </p:nvPicPr>
        <p:blipFill>
          <a:blip r:embed="rId48">
            <a:lum/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rcRect/>
          <a:stretch>
            <a:fillRect/>
          </a:stretch>
        </p:blipFill>
        <p:spPr bwMode="white">
          <a:xfrm>
            <a:off x="9963899" y="5637424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4" name="ShadeSessionDisableResilience"/>
          <p:cNvSpPr>
            <a:spLocks/>
          </p:cNvSpPr>
          <p:nvPr/>
        </p:nvSpPr>
        <p:spPr bwMode="white">
          <a:xfrm>
            <a:off x="9959681" y="5602709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2" name="PolicyName">
            <a:hlinkClick r:id="" action="ppaction://hlinkfile"/>
          </p:cNvPr>
          <p:cNvSpPr>
            <a:spLocks noGrp="1"/>
          </p:cNvSpPr>
          <p:nvPr>
            <p:ph type="title"/>
          </p:nvPr>
        </p:nvSpPr>
        <p:spPr bwMode="white">
          <a:xfrm>
            <a:off x="838200" y="115511"/>
            <a:ext cx="10003967" cy="609565"/>
          </a:xfrm>
          <a:ln>
            <a:headEnd type="none"/>
            <a:tailEnd type="none"/>
          </a:ln>
        </p:spPr>
        <p:txBody>
          <a:bodyPr wrap="square">
            <a:noAutofit/>
          </a:bodyPr>
          <a:lstStyle/>
          <a:p>
            <a:pPr defTabSz="914400"/>
            <a:r>
              <a:rPr lang="en-US" sz="2000" b="1" dirty="0"/>
              <a:t>[All Apps][All Users](Block) All Untrusted Devices</a:t>
            </a:r>
          </a:p>
        </p:txBody>
      </p:sp>
      <p:sp>
        <p:nvSpPr>
          <p:cNvPr id="16" name="LastModified"/>
          <p:cNvSpPr txBox="1">
            <a:spLocks noChangeArrowheads="1"/>
          </p:cNvSpPr>
          <p:nvPr/>
        </p:nvSpPr>
        <p:spPr bwMode="white">
          <a:xfrm>
            <a:off x="10556111" y="388376"/>
            <a:ext cx="15483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algn="r" defTabSz="457200"/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Last modified: 2025-08-29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UserWorkload"/>
          <p:cNvSpPr>
            <a:spLocks/>
          </p:cNvSpPr>
          <p:nvPr/>
        </p:nvSpPr>
        <p:spPr bwMode="auto">
          <a:xfrm>
            <a:off x="175820" y="2709769"/>
            <a:ext cx="2202823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Users</a:t>
            </a:r>
          </a:p>
        </p:txBody>
      </p:sp>
      <p:sp>
        <p:nvSpPr>
          <p:cNvPr id="7" name="UserWorkloadIncExc"/>
          <p:cNvSpPr txBox="1">
            <a:spLocks noChangeArrowheads="1"/>
          </p:cNvSpPr>
          <p:nvPr/>
        </p:nvSpPr>
        <p:spPr bwMode="white">
          <a:xfrm>
            <a:off x="125485" y="3698952"/>
            <a:ext cx="3062115" cy="313265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 numCol="1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b="1" dirty="0"/>
            </a:pPr>
            <a:r>
              <a:t> Directory roles</a:t>
            </a:r>
          </a:p>
          <a:p>
            <a:pPr defTabSz="457200">
              <a:defRPr sz="1100" dirty="0"/>
            </a:pPr>
            <a:r>
              <a:t> - Application Administrator</a:t>
            </a:r>
          </a:p>
          <a:p>
            <a:pPr defTabSz="457200">
              <a:defRPr sz="1100" dirty="0"/>
            </a:pPr>
            <a:r>
              <a:t> - Cloud Application Administrator</a:t>
            </a:r>
          </a:p>
          <a:p>
            <a:pPr defTabSz="457200">
              <a:defRPr sz="1100" dirty="0"/>
            </a:pPr>
            <a:r>
              <a:t> - Exchange Administrator</a:t>
            </a:r>
          </a:p>
          <a:p>
            <a:pPr defTabSz="457200">
              <a:defRPr sz="1100" dirty="0"/>
            </a:pPr>
            <a:r>
              <a:t> - Global Administrator</a:t>
            </a:r>
          </a:p>
          <a:p>
            <a:pPr defTabSz="457200">
              <a:defRPr sz="1100" dirty="0"/>
            </a:pPr>
            <a:r>
              <a:t> - Hybrid Identity Administrator</a:t>
            </a:r>
          </a:p>
          <a:p>
            <a:pPr defTabSz="457200">
              <a:defRPr sz="1100" dirty="0"/>
            </a:pPr>
            <a:r>
              <a:t> - SharePoint Administrator</a:t>
            </a:r>
          </a:p>
          <a:p>
            <a:pPr defTabSz="457200">
              <a:defRPr sz="1100" dirty="0"/>
            </a:pPr>
            <a:r>
              <a:t> - User Administrator</a:t>
            </a:r>
          </a:p>
          <a:p>
            <a:pPr defTabSz="457200">
              <a:defRPr sz="1100" dirty="0"/>
            </a:pPr>
            <a:r>
              <a:t> - Privileged Role Administrator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r>
              <a:t>🚫 Exclude:</a:t>
            </a:r>
          </a:p>
          <a:p>
            <a:pPr defTabSz="457200">
              <a:defRPr sz="1100" b="1" dirty="0"/>
            </a:pPr>
            <a:r>
              <a:t> Users</a:t>
            </a:r>
          </a:p>
          <a:p>
            <a:pPr defTabSz="457200">
              <a:defRPr sz="1100" dirty="0"/>
            </a:pPr>
            <a:r>
              <a:t> - SVO365 ContentMatrix</a:t>
            </a:r>
          </a:p>
          <a:p>
            <a:pPr defTabSz="457200">
              <a:defRPr sz="1100" dirty="0"/>
            </a:pPr>
            <a:r>
              <a:t> - SVO365 SPFlowCreate</a:t>
            </a:r>
          </a:p>
          <a:p>
            <a:pPr defTabSz="457200">
              <a:defRPr sz="1100" dirty="0"/>
            </a:pPr>
            <a:r>
              <a:t> - BGA OCC01</a:t>
            </a:r>
          </a:p>
          <a:p>
            <a:pPr defTabSz="457200">
              <a:defRPr sz="1100" dirty="0"/>
            </a:pPr>
            <a:r>
              <a:t> - BGA OCC02</a:t>
            </a:r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19" name="Risks"/>
          <p:cNvSpPr txBox="1">
            <a:spLocks noChangeArrowheads="1"/>
          </p:cNvSpPr>
          <p:nvPr/>
        </p:nvSpPr>
        <p:spPr bwMode="white">
          <a:xfrm>
            <a:off x="524485" y="1021946"/>
            <a:ext cx="1348869" cy="166886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0" name="Platforms"/>
          <p:cNvSpPr txBox="1">
            <a:spLocks noChangeArrowheads="1"/>
          </p:cNvSpPr>
          <p:nvPr/>
        </p:nvSpPr>
        <p:spPr bwMode="white">
          <a:xfrm>
            <a:off x="1826931" y="1021947"/>
            <a:ext cx="2061056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3" name="Locations"/>
          <p:cNvSpPr txBox="1">
            <a:spLocks noChangeArrowheads="1"/>
          </p:cNvSpPr>
          <p:nvPr/>
        </p:nvSpPr>
        <p:spPr bwMode="white">
          <a:xfrm>
            <a:off x="8324941" y="1021947"/>
            <a:ext cx="3513702" cy="159258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4" name="ClientAppTypes"/>
          <p:cNvSpPr txBox="1">
            <a:spLocks noChangeArrowheads="1"/>
          </p:cNvSpPr>
          <p:nvPr/>
        </p:nvSpPr>
        <p:spPr bwMode="white">
          <a:xfrm>
            <a:off x="3810664" y="1021947"/>
            <a:ext cx="1581599" cy="165343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5" name="DeviceFilters"/>
          <p:cNvSpPr txBox="1">
            <a:spLocks noChangeArrowheads="1"/>
          </p:cNvSpPr>
          <p:nvPr/>
        </p:nvSpPr>
        <p:spPr bwMode="white">
          <a:xfrm>
            <a:off x="5818151" y="1022762"/>
            <a:ext cx="2248808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cxnSp>
        <p:nvCxnSpPr>
          <p:cNvPr id="27" name="Straight Arrow Connector 26" descr="Arrow drawn from user/workload  to the action being performed by the user such as accessing cloud apps."/>
          <p:cNvCxnSpPr/>
          <p:nvPr/>
        </p:nvCxnSpPr>
        <p:spPr bwMode="white">
          <a:xfrm>
            <a:off x="2195232" y="3159047"/>
            <a:ext cx="3959471" cy="1"/>
          </a:xfrm>
          <a:prstGeom prst="straightConnector1">
            <a:avLst/>
          </a:prstGeom>
          <a:ln w="76200"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2" name="GrantLabelGrantAccess"/>
          <p:cNvSpPr txBox="1">
            <a:spLocks noChangeArrowheads="1"/>
          </p:cNvSpPr>
          <p:nvPr/>
        </p:nvSpPr>
        <p:spPr bwMode="white">
          <a:xfrm>
            <a:off x="3928464" y="2723089"/>
            <a:ext cx="1381340" cy="369332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algn="ctr" defTabSz="457200"/>
            <a:r>
              <a:rPr lang="en-US" b="1" dirty="0">
                <a:solidFill>
                  <a:srgbClr val="00B050"/>
                </a:solidFill>
              </a:rPr>
              <a:t>Grant access</a:t>
            </a:r>
          </a:p>
        </p:txBody>
      </p:sp>
      <p:pic>
        <p:nvPicPr>
          <p:cNvPr id="35" name="IconGrantAccess" descr="Picture with gren tick sign to indicate access was granted"/>
          <p:cNvPicPr>
            <a:picLocks noChangeAspect="1"/>
          </p:cNvPicPr>
          <p:nvPr/>
        </p:nvPicPr>
        <p:blipFill>
          <a:blip r:embed="rId3">
            <a:lum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 bwMode="white">
          <a:xfrm>
            <a:off x="5309361" y="2730170"/>
            <a:ext cx="356616" cy="35661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3" name="CloudAppActionIncExc"/>
          <p:cNvSpPr txBox="1">
            <a:spLocks noChangeArrowheads="1"/>
          </p:cNvSpPr>
          <p:nvPr/>
        </p:nvSpPr>
        <p:spPr bwMode="white">
          <a:xfrm>
            <a:off x="6039518" y="3662782"/>
            <a:ext cx="3649518" cy="315161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</p:txBody>
      </p:sp>
      <p:pic>
        <p:nvPicPr>
          <p:cNvPr id="26" name="IconGroupIdentity"/>
          <p:cNvPicPr>
            <a:picLocks noChangeAspect="1"/>
          </p:cNvPicPr>
          <p:nvPr/>
        </p:nvPicPr>
        <p:blipFill>
          <a:blip r:embed="rId5">
            <a:lum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 bwMode="white">
          <a:xfrm>
            <a:off x="327701" y="2839007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36" name="Graphic 35"/>
          <p:cNvPicPr>
            <a:picLocks noChangeAspect="1"/>
          </p:cNvPicPr>
          <p:nvPr/>
        </p:nvPicPr>
        <p:blipFill>
          <a:blip r:embed="rId7">
            <a:lum/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p:blipFill>
        <p:spPr bwMode="white">
          <a:xfrm>
            <a:off x="495610" y="197468"/>
            <a:ext cx="381196" cy="38119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" name="CloudAppAction"/>
          <p:cNvSpPr>
            <a:spLocks/>
          </p:cNvSpPr>
          <p:nvPr/>
        </p:nvSpPr>
        <p:spPr bwMode="auto">
          <a:xfrm>
            <a:off x="6206089" y="2718506"/>
            <a:ext cx="3227026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All cloud apps</a:t>
            </a:r>
          </a:p>
        </p:txBody>
      </p:sp>
      <p:pic>
        <p:nvPicPr>
          <p:cNvPr id="75" name="IconAccessAllCloudApps"/>
          <p:cNvPicPr>
            <a:picLocks noChangeAspect="1"/>
          </p:cNvPicPr>
          <p:nvPr/>
        </p:nvPicPr>
        <p:blipFill>
          <a:blip r:embed="rId9">
            <a:lum/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p:blipFill>
        <p:spPr bwMode="white">
          <a:xfrm>
            <a:off x="6439264" y="2836824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21" name="StateEnabled"/>
          <p:cNvSpPr>
            <a:spLocks/>
          </p:cNvSpPr>
          <p:nvPr/>
        </p:nvSpPr>
        <p:spPr bwMode="white">
          <a:xfrm>
            <a:off x="10842171" y="83487"/>
            <a:ext cx="1260389" cy="264812"/>
          </a:xfrm>
          <a:prstGeom prst="round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r>
              <a:rPr lang="en-US" sz="800" dirty="0"/>
              <a:t>Policy Enabled</a:t>
            </a:r>
          </a:p>
        </p:txBody>
      </p:sp>
      <p:grpSp>
        <p:nvGrpSpPr>
          <p:cNvPr id="10" name="IconRiskyUsers"/>
          <p:cNvGrpSpPr>
            <a:grpSpLocks/>
          </p:cNvGrpSpPr>
          <p:nvPr/>
        </p:nvGrpSpPr>
        <p:grpSpPr bwMode="white">
          <a:xfrm>
            <a:off x="635426" y="738677"/>
            <a:ext cx="1202553" cy="274320"/>
            <a:chOff x="2013768" y="1033956"/>
            <a:chExt cx="1342320" cy="274320"/>
          </a:xfrm>
        </p:grpSpPr>
        <p:pic>
          <p:nvPicPr>
            <p:cNvPr id="46" name="Graphic 1"/>
            <p:cNvPicPr>
              <a:picLocks noChangeAspect="1"/>
            </p:cNvPicPr>
            <p:nvPr/>
          </p:nvPicPr>
          <p:blipFill>
            <a:blip r:embed="rId11">
              <a:lum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013768" y="1033956"/>
              <a:ext cx="274320" cy="27432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5" name="Label 1"/>
            <p:cNvSpPr txBox="1">
              <a:spLocks noChangeArrowheads="1"/>
            </p:cNvSpPr>
            <p:nvPr/>
          </p:nvSpPr>
          <p:spPr bwMode="white">
            <a:xfrm>
              <a:off x="2240077" y="1040706"/>
              <a:ext cx="1116011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Risk</a:t>
              </a:r>
            </a:p>
          </p:txBody>
        </p:sp>
      </p:grpSp>
      <p:grpSp>
        <p:nvGrpSpPr>
          <p:cNvPr id="14" name="IconPlatforms"/>
          <p:cNvGrpSpPr>
            <a:grpSpLocks/>
          </p:cNvGrpSpPr>
          <p:nvPr/>
        </p:nvGrpSpPr>
        <p:grpSpPr bwMode="white">
          <a:xfrm>
            <a:off x="1927788" y="715249"/>
            <a:ext cx="1719285" cy="365760"/>
            <a:chOff x="3262737" y="994835"/>
            <a:chExt cx="1719285" cy="365760"/>
          </a:xfrm>
        </p:grpSpPr>
        <p:pic>
          <p:nvPicPr>
            <p:cNvPr id="29" name="Graphic 1"/>
            <p:cNvPicPr>
              <a:picLocks noChangeAspect="1"/>
            </p:cNvPicPr>
            <p:nvPr/>
          </p:nvPicPr>
          <p:blipFill>
            <a:blip r:embed="rId13">
              <a:lum/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3262737" y="994835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1" name="Label 1"/>
            <p:cNvSpPr txBox="1">
              <a:spLocks noChangeArrowheads="1"/>
            </p:cNvSpPr>
            <p:nvPr/>
          </p:nvSpPr>
          <p:spPr bwMode="white">
            <a:xfrm>
              <a:off x="3582397" y="1027255"/>
              <a:ext cx="1399625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Device platforms</a:t>
              </a:r>
            </a:p>
          </p:txBody>
        </p:sp>
      </p:grpSp>
      <p:grpSp>
        <p:nvGrpSpPr>
          <p:cNvPr id="17" name="IconClientAppTypes"/>
          <p:cNvGrpSpPr>
            <a:grpSpLocks/>
          </p:cNvGrpSpPr>
          <p:nvPr/>
        </p:nvGrpSpPr>
        <p:grpSpPr bwMode="white">
          <a:xfrm>
            <a:off x="3908159" y="670015"/>
            <a:ext cx="1852971" cy="365760"/>
            <a:chOff x="4858970" y="975927"/>
            <a:chExt cx="1852971" cy="365760"/>
          </a:xfrm>
        </p:grpSpPr>
        <p:pic>
          <p:nvPicPr>
            <p:cNvPr id="58" name="Graphic 1"/>
            <p:cNvPicPr>
              <a:picLocks noChangeAspect="1"/>
            </p:cNvPicPr>
            <p:nvPr/>
          </p:nvPicPr>
          <p:blipFill>
            <a:blip r:embed="rId15">
              <a:lum/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858970" y="975927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5" name="Label 1"/>
            <p:cNvSpPr txBox="1">
              <a:spLocks noChangeArrowheads="1"/>
            </p:cNvSpPr>
            <p:nvPr/>
          </p:nvSpPr>
          <p:spPr bwMode="white">
            <a:xfrm>
              <a:off x="5193983" y="1009899"/>
              <a:ext cx="1517958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Client apps</a:t>
              </a:r>
            </a:p>
          </p:txBody>
        </p:sp>
      </p:grpSp>
      <p:grpSp>
        <p:nvGrpSpPr>
          <p:cNvPr id="37" name="IconLocations"/>
          <p:cNvGrpSpPr>
            <a:grpSpLocks/>
          </p:cNvGrpSpPr>
          <p:nvPr/>
        </p:nvGrpSpPr>
        <p:grpSpPr bwMode="white">
          <a:xfrm>
            <a:off x="8411896" y="646848"/>
            <a:ext cx="1850168" cy="388465"/>
            <a:chOff x="2321433" y="3262888"/>
            <a:chExt cx="1850168" cy="388465"/>
          </a:xfrm>
        </p:grpSpPr>
        <p:pic>
          <p:nvPicPr>
            <p:cNvPr id="33" name="Graphic 1"/>
            <p:cNvPicPr>
              <a:picLocks noChangeAspect="1"/>
            </p:cNvPicPr>
            <p:nvPr/>
          </p:nvPicPr>
          <p:blipFill>
            <a:blip r:embed="rId17">
              <a:lum/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321433" y="3262888"/>
              <a:ext cx="388465" cy="388465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28" name="Label 1"/>
            <p:cNvSpPr txBox="1">
              <a:spLocks noChangeArrowheads="1"/>
            </p:cNvSpPr>
            <p:nvPr/>
          </p:nvSpPr>
          <p:spPr bwMode="white">
            <a:xfrm>
              <a:off x="2713321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Locations</a:t>
              </a:r>
              <a:endParaRPr lang="en-US" sz="1100" b="1" dirty="0"/>
            </a:p>
          </p:txBody>
        </p:sp>
      </p:grpSp>
      <p:grpSp>
        <p:nvGrpSpPr>
          <p:cNvPr id="39" name="IconDeviceFilters"/>
          <p:cNvGrpSpPr>
            <a:grpSpLocks/>
          </p:cNvGrpSpPr>
          <p:nvPr/>
        </p:nvGrpSpPr>
        <p:grpSpPr bwMode="white">
          <a:xfrm>
            <a:off x="5472818" y="661958"/>
            <a:ext cx="1839823" cy="364111"/>
            <a:chOff x="4195414" y="3273669"/>
            <a:chExt cx="1839823" cy="364111"/>
          </a:xfrm>
        </p:grpSpPr>
        <p:pic>
          <p:nvPicPr>
            <p:cNvPr id="60" name="Graphic 1"/>
            <p:cNvPicPr>
              <a:picLocks noChangeAspect="1"/>
            </p:cNvPicPr>
            <p:nvPr/>
          </p:nvPicPr>
          <p:blipFill>
            <a:blip r:embed="rId19">
              <a:lum/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195414" y="3273669"/>
              <a:ext cx="364111" cy="364111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31" name="Label 1"/>
            <p:cNvSpPr txBox="1">
              <a:spLocks noChangeArrowheads="1"/>
            </p:cNvSpPr>
            <p:nvPr/>
          </p:nvSpPr>
          <p:spPr bwMode="white">
            <a:xfrm>
              <a:off x="4576957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Filter for devices</a:t>
              </a:r>
              <a:endParaRPr lang="en-US" sz="1100" b="1" dirty="0"/>
            </a:p>
          </p:txBody>
        </p:sp>
      </p:grpSp>
      <p:pic>
        <p:nvPicPr>
          <p:cNvPr id="62" name="IconGrantMultifactorAuthentication"/>
          <p:cNvPicPr>
            <a:picLocks noChangeAspect="1"/>
          </p:cNvPicPr>
          <p:nvPr/>
        </p:nvPicPr>
        <p:blipFill>
          <a:blip r:embed="rId21">
            <a:lum/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>
            <a:fillRect/>
          </a:stretch>
        </p:blipFill>
        <p:spPr bwMode="white">
          <a:xfrm>
            <a:off x="3410647" y="3566863"/>
            <a:ext cx="17145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5" name="IconGrantMultifactorAuthenticationLabel"/>
          <p:cNvSpPr txBox="1">
            <a:spLocks noChangeArrowheads="1"/>
          </p:cNvSpPr>
          <p:nvPr/>
        </p:nvSpPr>
        <p:spPr bwMode="white">
          <a:xfrm>
            <a:off x="3575836" y="3571997"/>
            <a:ext cx="19007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Multifactor authentication</a:t>
            </a:r>
            <a:endParaRPr lang="en-US" sz="1000" dirty="0"/>
          </a:p>
        </p:txBody>
      </p:sp>
      <p:pic>
        <p:nvPicPr>
          <p:cNvPr id="38" name="IconGrantAuthenticationStrength"/>
          <p:cNvPicPr>
            <a:picLocks noChangeAspect="1"/>
          </p:cNvPicPr>
          <p:nvPr/>
        </p:nvPicPr>
        <p:blipFill>
          <a:blip r:embed="rId23">
            <a:lum/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/>
          <a:stretch>
            <a:fillRect/>
          </a:stretch>
        </p:blipFill>
        <p:spPr bwMode="white">
          <a:xfrm>
            <a:off x="3374515" y="3905034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7" name="IconGrantAuthenticationStrengthLabel"/>
          <p:cNvSpPr txBox="1">
            <a:spLocks noChangeArrowheads="1"/>
          </p:cNvSpPr>
          <p:nvPr/>
        </p:nvSpPr>
        <p:spPr bwMode="white">
          <a:xfrm>
            <a:off x="3575836" y="3907323"/>
            <a:ext cx="2185294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Auth strength:Phishing-resistant MFA</a:t>
            </a:r>
            <a:endParaRPr lang="en-US" sz="1000" dirty="0"/>
          </a:p>
        </p:txBody>
      </p:sp>
      <p:pic>
        <p:nvPicPr>
          <p:cNvPr id="52" name="IconGrantDeviceCompliance"/>
          <p:cNvPicPr>
            <a:picLocks noChangeAspect="1"/>
          </p:cNvPicPr>
          <p:nvPr/>
        </p:nvPicPr>
        <p:blipFill>
          <a:blip r:embed="rId25">
            <a:lum/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/>
          <a:stretch>
            <a:fillRect/>
          </a:stretch>
        </p:blipFill>
        <p:spPr bwMode="white">
          <a:xfrm>
            <a:off x="3374515" y="4243205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9" name="IconGrantDeviceComplianceLabel"/>
          <p:cNvSpPr txBox="1">
            <a:spLocks noChangeArrowheads="1"/>
          </p:cNvSpPr>
          <p:nvPr/>
        </p:nvSpPr>
        <p:spPr bwMode="white">
          <a:xfrm>
            <a:off x="3575836" y="4242649"/>
            <a:ext cx="17378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Compliant device</a:t>
            </a:r>
            <a:endParaRPr lang="en-US" sz="1000" dirty="0"/>
          </a:p>
        </p:txBody>
      </p:sp>
      <p:pic>
        <p:nvPicPr>
          <p:cNvPr id="43" name="IconGrantHybridJoined"/>
          <p:cNvPicPr>
            <a:picLocks noChangeAspect="1"/>
          </p:cNvPicPr>
          <p:nvPr/>
        </p:nvPicPr>
        <p:blipFill>
          <a:blip r:embed="rId27">
            <a:lum/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/>
          <a:stretch>
            <a:fillRect/>
          </a:stretch>
        </p:blipFill>
        <p:spPr bwMode="white">
          <a:xfrm>
            <a:off x="3374515" y="4581376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3" name="IconGrantHybridJoinedLabel"/>
          <p:cNvSpPr txBox="1">
            <a:spLocks noChangeArrowheads="1"/>
          </p:cNvSpPr>
          <p:nvPr/>
        </p:nvSpPr>
        <p:spPr bwMode="white">
          <a:xfrm>
            <a:off x="3575836" y="4577975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Hybrid Azure AD joined device</a:t>
            </a:r>
            <a:endParaRPr lang="en-US" sz="1000" dirty="0"/>
          </a:p>
        </p:txBody>
      </p:sp>
      <p:pic>
        <p:nvPicPr>
          <p:cNvPr id="48" name="IconGrantApprovedClientApp"/>
          <p:cNvPicPr>
            <a:picLocks noChangeAspect="1"/>
          </p:cNvPicPr>
          <p:nvPr/>
        </p:nvPicPr>
        <p:blipFill>
          <a:blip r:embed="rId29">
            <a:lum/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rcRect/>
          <a:stretch>
            <a:fillRect/>
          </a:stretch>
        </p:blipFill>
        <p:spPr bwMode="white">
          <a:xfrm>
            <a:off x="3374515" y="491954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5" name="IconGrantApprovedClientAppLabel"/>
          <p:cNvSpPr txBox="1">
            <a:spLocks noChangeArrowheads="1"/>
          </p:cNvSpPr>
          <p:nvPr/>
        </p:nvSpPr>
        <p:spPr bwMode="white">
          <a:xfrm>
            <a:off x="3575836" y="4913301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Approved client app</a:t>
            </a:r>
            <a:endParaRPr lang="en-US" sz="1000" dirty="0"/>
          </a:p>
        </p:txBody>
      </p:sp>
      <p:pic>
        <p:nvPicPr>
          <p:cNvPr id="42" name="IconGrantCustomAuth"/>
          <p:cNvPicPr>
            <a:picLocks noChangeAspect="1"/>
          </p:cNvPicPr>
          <p:nvPr/>
        </p:nvPicPr>
        <p:blipFill>
          <a:blip r:embed="rId31">
            <a:lum/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rcRect/>
          <a:stretch>
            <a:fillRect/>
          </a:stretch>
        </p:blipFill>
        <p:spPr bwMode="white">
          <a:xfrm>
            <a:off x="3374515" y="593406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9" name="IconGrantCustomAuthLabel"/>
          <p:cNvSpPr txBox="1">
            <a:spLocks noChangeArrowheads="1"/>
          </p:cNvSpPr>
          <p:nvPr/>
        </p:nvSpPr>
        <p:spPr bwMode="white">
          <a:xfrm>
            <a:off x="3575836" y="5919279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Custom authentication factor</a:t>
            </a:r>
            <a:endParaRPr lang="en-US" sz="1000" dirty="0"/>
          </a:p>
        </p:txBody>
      </p:sp>
      <p:pic>
        <p:nvPicPr>
          <p:cNvPr id="40" name="IconGrantTermsOfUse"/>
          <p:cNvPicPr>
            <a:picLocks noChangeAspect="1"/>
          </p:cNvPicPr>
          <p:nvPr/>
        </p:nvPicPr>
        <p:blipFill>
          <a:blip r:embed="rId33">
            <a:lum/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rcRect/>
          <a:stretch>
            <a:fillRect/>
          </a:stretch>
        </p:blipFill>
        <p:spPr bwMode="white">
          <a:xfrm>
            <a:off x="3374515" y="627222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3" name="IconGrantTermsOfUseLabel"/>
          <p:cNvSpPr txBox="1">
            <a:spLocks noChangeArrowheads="1"/>
          </p:cNvSpPr>
          <p:nvPr/>
        </p:nvSpPr>
        <p:spPr bwMode="white">
          <a:xfrm>
            <a:off x="3575836" y="625460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Terms of use</a:t>
            </a:r>
            <a:endParaRPr lang="en-US" sz="1000" dirty="0"/>
          </a:p>
        </p:txBody>
      </p:sp>
      <p:sp>
        <p:nvSpPr>
          <p:cNvPr id="56" name="IconGrantAppProtectionLabel"/>
          <p:cNvSpPr txBox="1">
            <a:spLocks noChangeArrowheads="1"/>
          </p:cNvSpPr>
          <p:nvPr/>
        </p:nvSpPr>
        <p:spPr bwMode="white">
          <a:xfrm>
            <a:off x="3575836" y="524862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 protection policy</a:t>
            </a:r>
            <a:endParaRPr lang="en-US" sz="1000" dirty="0"/>
          </a:p>
        </p:txBody>
      </p:sp>
      <p:pic>
        <p:nvPicPr>
          <p:cNvPr id="65" name="IconGrantAppProtection"/>
          <p:cNvPicPr>
            <a:picLocks noChangeAspect="1"/>
          </p:cNvPicPr>
          <p:nvPr/>
        </p:nvPicPr>
        <p:blipFill>
          <a:blip r:embed="rId35">
            <a:lum/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rcRect/>
          <a:stretch>
            <a:fillRect/>
          </a:stretch>
        </p:blipFill>
        <p:spPr bwMode="white">
          <a:xfrm>
            <a:off x="3374515" y="525771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7" name="IconGrantChangePasswordLabel"/>
          <p:cNvSpPr txBox="1">
            <a:spLocks noChangeArrowheads="1"/>
          </p:cNvSpPr>
          <p:nvPr/>
        </p:nvSpPr>
        <p:spPr bwMode="white">
          <a:xfrm>
            <a:off x="3575836" y="5583953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Change password</a:t>
            </a:r>
            <a:endParaRPr lang="en-US" sz="1000" dirty="0"/>
          </a:p>
        </p:txBody>
      </p:sp>
      <p:pic>
        <p:nvPicPr>
          <p:cNvPr id="67" name="IconGrantChangePassword"/>
          <p:cNvPicPr>
            <a:picLocks noChangeAspect="1"/>
          </p:cNvPicPr>
          <p:nvPr/>
        </p:nvPicPr>
        <p:blipFill>
          <a:blip r:embed="rId37">
            <a:lum/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rcRect/>
          <a:stretch>
            <a:fillRect/>
          </a:stretch>
        </p:blipFill>
        <p:spPr bwMode="white">
          <a:xfrm>
            <a:off x="3374515" y="5595889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4" name="ShadeRisk"/>
          <p:cNvSpPr>
            <a:spLocks/>
          </p:cNvSpPr>
          <p:nvPr/>
        </p:nvSpPr>
        <p:spPr bwMode="white">
          <a:xfrm>
            <a:off x="507564" y="650246"/>
            <a:ext cx="976864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66" name="ShadeDevicePlatforms"/>
          <p:cNvSpPr>
            <a:spLocks/>
          </p:cNvSpPr>
          <p:nvPr/>
        </p:nvSpPr>
        <p:spPr bwMode="white">
          <a:xfrm>
            <a:off x="1863623" y="663409"/>
            <a:ext cx="1773927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78" name="ShadeClientApps"/>
          <p:cNvSpPr>
            <a:spLocks/>
          </p:cNvSpPr>
          <p:nvPr/>
        </p:nvSpPr>
        <p:spPr bwMode="white">
          <a:xfrm>
            <a:off x="3802273" y="650246"/>
            <a:ext cx="1481482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79" name="ShadeLocations"/>
          <p:cNvSpPr>
            <a:spLocks/>
          </p:cNvSpPr>
          <p:nvPr/>
        </p:nvSpPr>
        <p:spPr bwMode="white">
          <a:xfrm>
            <a:off x="8217572" y="669110"/>
            <a:ext cx="1873684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2" name="ShadeFilterForDevices"/>
          <p:cNvSpPr>
            <a:spLocks/>
          </p:cNvSpPr>
          <p:nvPr/>
        </p:nvSpPr>
        <p:spPr bwMode="white">
          <a:xfrm>
            <a:off x="5438955" y="627922"/>
            <a:ext cx="1873685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3" name="ShadeGrantMultifactorAuth"/>
          <p:cNvSpPr>
            <a:spLocks/>
          </p:cNvSpPr>
          <p:nvPr/>
        </p:nvSpPr>
        <p:spPr bwMode="white">
          <a:xfrm>
            <a:off x="3369399" y="3534220"/>
            <a:ext cx="2069555" cy="28330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5" name="ShadeGrantCompliantDevice"/>
          <p:cNvSpPr>
            <a:spLocks/>
          </p:cNvSpPr>
          <p:nvPr/>
        </p:nvSpPr>
        <p:spPr bwMode="white">
          <a:xfrm>
            <a:off x="3361852" y="4243205"/>
            <a:ext cx="2077102" cy="26110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6" name="ShadeGrantHybridAzureADJoined"/>
          <p:cNvSpPr>
            <a:spLocks/>
          </p:cNvSpPr>
          <p:nvPr/>
        </p:nvSpPr>
        <p:spPr bwMode="white">
          <a:xfrm>
            <a:off x="3353637" y="4552268"/>
            <a:ext cx="2160906" cy="298395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7" name="ShadeGrantApprovedClientApp"/>
          <p:cNvSpPr>
            <a:spLocks/>
          </p:cNvSpPr>
          <p:nvPr/>
        </p:nvSpPr>
        <p:spPr bwMode="white">
          <a:xfrm>
            <a:off x="3331918" y="4876027"/>
            <a:ext cx="2182625" cy="29839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8" name="ShadeGrantAppProtectionPolicy"/>
          <p:cNvSpPr>
            <a:spLocks/>
          </p:cNvSpPr>
          <p:nvPr/>
        </p:nvSpPr>
        <p:spPr bwMode="white">
          <a:xfrm>
            <a:off x="3350256" y="5207226"/>
            <a:ext cx="2122561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9" name="ShadeGrantChangePassword"/>
          <p:cNvSpPr>
            <a:spLocks/>
          </p:cNvSpPr>
          <p:nvPr/>
        </p:nvSpPr>
        <p:spPr bwMode="white">
          <a:xfrm>
            <a:off x="3350257" y="5557021"/>
            <a:ext cx="2042006" cy="287239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0" name="ShadeGrantCustomAuthFactor"/>
          <p:cNvSpPr>
            <a:spLocks/>
          </p:cNvSpPr>
          <p:nvPr/>
        </p:nvSpPr>
        <p:spPr bwMode="white">
          <a:xfrm>
            <a:off x="3331918" y="5899058"/>
            <a:ext cx="2182625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1" name="ShadeGrantTermsOfUse"/>
          <p:cNvSpPr>
            <a:spLocks/>
          </p:cNvSpPr>
          <p:nvPr/>
        </p:nvSpPr>
        <p:spPr bwMode="white">
          <a:xfrm>
            <a:off x="3313823" y="6192350"/>
            <a:ext cx="101602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99" name="Rectangle 98"/>
          <p:cNvSpPr>
            <a:spLocks/>
          </p:cNvSpPr>
          <p:nvPr/>
        </p:nvSpPr>
        <p:spPr bwMode="white">
          <a:xfrm>
            <a:off x="3268757" y="3253404"/>
            <a:ext cx="2357725" cy="3498546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0" name="Rectangle 109"/>
          <p:cNvSpPr>
            <a:spLocks/>
          </p:cNvSpPr>
          <p:nvPr/>
        </p:nvSpPr>
        <p:spPr bwMode="white">
          <a:xfrm>
            <a:off x="9881750" y="3248255"/>
            <a:ext cx="2220808" cy="3510149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7" name="Rectangle 116"/>
          <p:cNvSpPr>
            <a:spLocks/>
          </p:cNvSpPr>
          <p:nvPr/>
        </p:nvSpPr>
        <p:spPr bwMode="white">
          <a:xfrm>
            <a:off x="26741" y="606825"/>
            <a:ext cx="11985015" cy="2063636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2" name="Conditions Label"/>
          <p:cNvSpPr txBox="1">
            <a:spLocks noChangeArrowheads="1"/>
          </p:cNvSpPr>
          <p:nvPr/>
        </p:nvSpPr>
        <p:spPr bwMode="white">
          <a:xfrm rot="16200000">
            <a:off x="-883507" y="1514324"/>
            <a:ext cx="2081441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Conditions</a:t>
            </a:r>
          </a:p>
        </p:txBody>
      </p:sp>
      <p:sp>
        <p:nvSpPr>
          <p:cNvPr id="109" name="Grant Controls"/>
          <p:cNvSpPr txBox="1">
            <a:spLocks noChangeArrowheads="1"/>
          </p:cNvSpPr>
          <p:nvPr/>
        </p:nvSpPr>
        <p:spPr bwMode="white">
          <a:xfrm>
            <a:off x="3252146" y="3244395"/>
            <a:ext cx="2391873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Grant Controls</a:t>
            </a:r>
          </a:p>
        </p:txBody>
      </p:sp>
      <p:sp>
        <p:nvSpPr>
          <p:cNvPr id="111" name="Session Controls"/>
          <p:cNvSpPr txBox="1">
            <a:spLocks noChangeArrowheads="1"/>
          </p:cNvSpPr>
          <p:nvPr/>
        </p:nvSpPr>
        <p:spPr bwMode="white">
          <a:xfrm>
            <a:off x="9864212" y="3243751"/>
            <a:ext cx="2238346" cy="23786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Session Controls</a:t>
            </a:r>
          </a:p>
        </p:txBody>
      </p:sp>
      <p:pic>
        <p:nvPicPr>
          <p:cNvPr id="72" name="Graphic 71"/>
          <p:cNvPicPr>
            <a:picLocks noChangeAspect="1"/>
          </p:cNvPicPr>
          <p:nvPr/>
        </p:nvPicPr>
        <p:blipFill>
          <a:blip r:embed="rId39">
            <a:lum/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rcRect/>
          <a:stretch>
            <a:fillRect/>
          </a:stretch>
        </p:blipFill>
        <p:spPr bwMode="white">
          <a:xfrm>
            <a:off x="9996846" y="356982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4" name="Graphic 93"/>
          <p:cNvPicPr>
            <a:picLocks noChangeAspect="1"/>
          </p:cNvPicPr>
          <p:nvPr/>
        </p:nvPicPr>
        <p:blipFill>
          <a:blip r:embed="rId41">
            <a:lum/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rcRect/>
          <a:stretch>
            <a:fillRect/>
          </a:stretch>
        </p:blipFill>
        <p:spPr bwMode="white">
          <a:xfrm>
            <a:off x="10009443" y="525644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5" name="TextBox 94"/>
          <p:cNvSpPr txBox="1">
            <a:spLocks noChangeArrowheads="1"/>
          </p:cNvSpPr>
          <p:nvPr/>
        </p:nvSpPr>
        <p:spPr bwMode="white">
          <a:xfrm>
            <a:off x="10207481" y="3578463"/>
            <a:ext cx="150554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App enforced restrictions</a:t>
            </a:r>
          </a:p>
        </p:txBody>
      </p:sp>
      <p:sp>
        <p:nvSpPr>
          <p:cNvPr id="96" name="TextBox 95"/>
          <p:cNvSpPr txBox="1">
            <a:spLocks noChangeArrowheads="1"/>
          </p:cNvSpPr>
          <p:nvPr/>
        </p:nvSpPr>
        <p:spPr bwMode="white">
          <a:xfrm>
            <a:off x="10201167" y="3899846"/>
            <a:ext cx="181011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Conditional Access App Control</a:t>
            </a:r>
          </a:p>
        </p:txBody>
      </p:sp>
      <p:sp>
        <p:nvSpPr>
          <p:cNvPr id="97" name="TextBox 96"/>
          <p:cNvSpPr txBox="1">
            <a:spLocks noChangeArrowheads="1"/>
          </p:cNvSpPr>
          <p:nvPr/>
        </p:nvSpPr>
        <p:spPr bwMode="white">
          <a:xfrm>
            <a:off x="10215627" y="4357505"/>
            <a:ext cx="1090363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Sign-in frequency</a:t>
            </a:r>
          </a:p>
        </p:txBody>
      </p:sp>
      <p:sp>
        <p:nvSpPr>
          <p:cNvPr id="98" name="TextBox 97"/>
          <p:cNvSpPr txBox="1">
            <a:spLocks noChangeArrowheads="1"/>
          </p:cNvSpPr>
          <p:nvPr/>
        </p:nvSpPr>
        <p:spPr bwMode="white">
          <a:xfrm>
            <a:off x="10225446" y="4793305"/>
            <a:ext cx="156966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Persistent browser session</a:t>
            </a:r>
          </a:p>
        </p:txBody>
      </p:sp>
      <p:sp>
        <p:nvSpPr>
          <p:cNvPr id="100" name="TextBox 99"/>
          <p:cNvSpPr txBox="1">
            <a:spLocks noChangeArrowheads="1"/>
          </p:cNvSpPr>
          <p:nvPr/>
        </p:nvSpPr>
        <p:spPr bwMode="white">
          <a:xfrm>
            <a:off x="10229552" y="5232376"/>
            <a:ext cx="1717137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Continuous access evaluation</a:t>
            </a:r>
          </a:p>
        </p:txBody>
      </p:sp>
      <p:sp>
        <p:nvSpPr>
          <p:cNvPr id="101" name="TextBox 100"/>
          <p:cNvSpPr txBox="1">
            <a:spLocks noChangeArrowheads="1"/>
          </p:cNvSpPr>
          <p:nvPr/>
        </p:nvSpPr>
        <p:spPr bwMode="white">
          <a:xfrm>
            <a:off x="10259108" y="5658625"/>
            <a:ext cx="153599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Disable resilience defaults</a:t>
            </a:r>
          </a:p>
        </p:txBody>
      </p:sp>
      <p:pic>
        <p:nvPicPr>
          <p:cNvPr id="103" name="Graphic 102"/>
          <p:cNvPicPr>
            <a:picLocks noChangeAspect="1"/>
          </p:cNvPicPr>
          <p:nvPr/>
        </p:nvPicPr>
        <p:blipFill>
          <a:blip r:embed="rId43">
            <a:lum/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rcRect/>
          <a:stretch>
            <a:fillRect/>
          </a:stretch>
        </p:blipFill>
        <p:spPr bwMode="white">
          <a:xfrm>
            <a:off x="9996846" y="479900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5" name="Graphic 104"/>
          <p:cNvPicPr>
            <a:picLocks noChangeAspect="1"/>
          </p:cNvPicPr>
          <p:nvPr/>
        </p:nvPicPr>
        <p:blipFill>
          <a:blip r:embed="rId45">
            <a:lum/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rcRect/>
          <a:stretch>
            <a:fillRect/>
          </a:stretch>
        </p:blipFill>
        <p:spPr bwMode="white">
          <a:xfrm>
            <a:off x="9996846" y="437457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7" name="Graphic 106"/>
          <p:cNvPicPr>
            <a:picLocks noChangeAspect="1"/>
          </p:cNvPicPr>
          <p:nvPr/>
        </p:nvPicPr>
        <p:blipFill>
          <a:blip r:embed="rId7">
            <a:lum/>
            <a:extLst>
              <a:ext uri="{96DAC541-7B7A-43D3-8B79-37D633B846F1}">
                <asvg:svgBlip xmlns:asvg="http://schemas.microsoft.com/office/drawing/2016/SVG/main" r:embed="rId47"/>
              </a:ext>
            </a:extLst>
          </a:blip>
          <a:srcRect/>
          <a:stretch>
            <a:fillRect/>
          </a:stretch>
        </p:blipFill>
        <p:spPr bwMode="white">
          <a:xfrm>
            <a:off x="9996846" y="391529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15" name="SessionSifInterval"/>
          <p:cNvSpPr txBox="1">
            <a:spLocks noChangeArrowheads="1"/>
          </p:cNvSpPr>
          <p:nvPr/>
        </p:nvSpPr>
        <p:spPr bwMode="white">
          <a:xfrm>
            <a:off x="10296745" y="4516775"/>
            <a:ext cx="1249060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Periodic reauthentication</a:t>
            </a:r>
          </a:p>
        </p:txBody>
      </p:sp>
      <p:sp>
        <p:nvSpPr>
          <p:cNvPr id="114" name="SessionCasType"/>
          <p:cNvSpPr txBox="1">
            <a:spLocks noChangeArrowheads="1"/>
          </p:cNvSpPr>
          <p:nvPr/>
        </p:nvSpPr>
        <p:spPr bwMode="white">
          <a:xfrm>
            <a:off x="10296745" y="4075500"/>
            <a:ext cx="95410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App Control Policy</a:t>
            </a:r>
          </a:p>
        </p:txBody>
      </p:sp>
      <p:sp>
        <p:nvSpPr>
          <p:cNvPr id="116" name="SessionPersistenBrowserMode"/>
          <p:cNvSpPr txBox="1">
            <a:spLocks noChangeArrowheads="1"/>
          </p:cNvSpPr>
          <p:nvPr/>
        </p:nvSpPr>
        <p:spPr bwMode="white">
          <a:xfrm>
            <a:off x="10309761" y="4945281"/>
            <a:ext cx="918841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Always persistent</a:t>
            </a:r>
          </a:p>
        </p:txBody>
      </p:sp>
      <p:sp>
        <p:nvSpPr>
          <p:cNvPr id="118" name="SessionCaeMode"/>
          <p:cNvSpPr txBox="1">
            <a:spLocks noChangeArrowheads="1"/>
          </p:cNvSpPr>
          <p:nvPr/>
        </p:nvSpPr>
        <p:spPr bwMode="white">
          <a:xfrm>
            <a:off x="10301386" y="5393378"/>
            <a:ext cx="15359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US" sz="800" dirty="0"/>
              <a:t>Strictly enforce location policies</a:t>
            </a:r>
          </a:p>
        </p:txBody>
      </p:sp>
      <p:sp>
        <p:nvSpPr>
          <p:cNvPr id="119" name="ShadeSessionAppEnforced"/>
          <p:cNvSpPr>
            <a:spLocks/>
          </p:cNvSpPr>
          <p:nvPr/>
        </p:nvSpPr>
        <p:spPr bwMode="white">
          <a:xfrm>
            <a:off x="9959680" y="3548808"/>
            <a:ext cx="2051597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0" name="ShadeSessionCas"/>
          <p:cNvSpPr>
            <a:spLocks/>
          </p:cNvSpPr>
          <p:nvPr/>
        </p:nvSpPr>
        <p:spPr bwMode="white">
          <a:xfrm>
            <a:off x="9978939" y="3884212"/>
            <a:ext cx="2087576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1" name="ShadeSessionSif"/>
          <p:cNvSpPr>
            <a:spLocks/>
          </p:cNvSpPr>
          <p:nvPr/>
        </p:nvSpPr>
        <p:spPr bwMode="white">
          <a:xfrm>
            <a:off x="9940787" y="4320077"/>
            <a:ext cx="2125728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2" name="ShadeSessionPersistentBrowser"/>
          <p:cNvSpPr>
            <a:spLocks/>
          </p:cNvSpPr>
          <p:nvPr/>
        </p:nvSpPr>
        <p:spPr bwMode="white">
          <a:xfrm>
            <a:off x="9938833" y="4746195"/>
            <a:ext cx="207244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pic>
        <p:nvPicPr>
          <p:cNvPr id="70" name="IconAssignedToRole"/>
          <p:cNvPicPr>
            <a:picLocks noChangeAspect="1"/>
          </p:cNvPicPr>
          <p:nvPr/>
        </p:nvPicPr>
        <p:blipFill>
          <a:blip r:embed="rId48">
            <a:lum/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rcRect/>
          <a:stretch>
            <a:fillRect/>
          </a:stretch>
        </p:blipFill>
        <p:spPr bwMode="white">
          <a:xfrm>
            <a:off x="2391841" y="3225674"/>
            <a:ext cx="365760" cy="36576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" name="Label Secure Sign In Session"/>
          <p:cNvSpPr txBox="1">
            <a:spLocks noChangeArrowheads="1"/>
          </p:cNvSpPr>
          <p:nvPr/>
        </p:nvSpPr>
        <p:spPr bwMode="white">
          <a:xfrm>
            <a:off x="10260000" y="6084874"/>
            <a:ext cx="166584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Token protection for session</a:t>
            </a:r>
          </a:p>
        </p:txBody>
      </p:sp>
      <p:pic>
        <p:nvPicPr>
          <p:cNvPr id="77" name="IconSessionCaeDisable" descr="Close with solid fill"/>
          <p:cNvPicPr>
            <a:picLocks noChangeAspect="1"/>
          </p:cNvPicPr>
          <p:nvPr/>
        </p:nvPicPr>
        <p:blipFill>
          <a:blip r:embed="rId50">
            <a:lum/>
            <a:extLst>
              <a:ext uri="{96DAC541-7B7A-43D3-8B79-37D633B846F1}">
                <asvg:svgBlip xmlns:asvg="http://schemas.microsoft.com/office/drawing/2016/SVG/main" r:embed="rId51"/>
              </a:ext>
            </a:extLst>
          </a:blip>
          <a:srcRect/>
          <a:stretch>
            <a:fillRect/>
          </a:stretch>
        </p:blipFill>
        <p:spPr bwMode="white">
          <a:xfrm>
            <a:off x="9979885" y="5218651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2" name="IconSessionSecureSignInSession 1"/>
          <p:cNvPicPr>
            <a:picLocks noChangeAspect="1"/>
          </p:cNvPicPr>
          <p:nvPr/>
        </p:nvPicPr>
        <p:blipFill>
          <a:blip r:embed="rId52">
            <a:lum/>
            <a:extLst>
              <a:ext uri="{96DAC541-7B7A-43D3-8B79-37D633B846F1}">
                <asvg:svgBlip xmlns:asvg="http://schemas.microsoft.com/office/drawing/2016/SVG/main" r:embed="rId53"/>
              </a:ext>
            </a:extLst>
          </a:blip>
          <a:srcRect/>
          <a:stretch>
            <a:fillRect/>
          </a:stretch>
        </p:blipFill>
        <p:spPr bwMode="white">
          <a:xfrm>
            <a:off x="9997200" y="6085768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3" name="ShadeSessionCae"/>
          <p:cNvSpPr>
            <a:spLocks/>
          </p:cNvSpPr>
          <p:nvPr/>
        </p:nvSpPr>
        <p:spPr bwMode="white">
          <a:xfrm>
            <a:off x="9987595" y="5219780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76" name="ShadeSessionSecureSignIn"/>
          <p:cNvSpPr>
            <a:spLocks/>
          </p:cNvSpPr>
          <p:nvPr/>
        </p:nvSpPr>
        <p:spPr bwMode="white">
          <a:xfrm>
            <a:off x="9996846" y="5986498"/>
            <a:ext cx="2014431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pic>
        <p:nvPicPr>
          <p:cNvPr id="102" name="Graphic 101"/>
          <p:cNvPicPr>
            <a:picLocks noChangeAspect="1"/>
          </p:cNvPicPr>
          <p:nvPr/>
        </p:nvPicPr>
        <p:blipFill>
          <a:blip r:embed="rId54">
            <a:lum/>
            <a:extLst>
              <a:ext uri="{96DAC541-7B7A-43D3-8B79-37D633B846F1}">
                <asvg:svgBlip xmlns:asvg="http://schemas.microsoft.com/office/drawing/2016/SVG/main" r:embed="rId55"/>
              </a:ext>
            </a:extLst>
          </a:blip>
          <a:srcRect/>
          <a:stretch>
            <a:fillRect/>
          </a:stretch>
        </p:blipFill>
        <p:spPr bwMode="white">
          <a:xfrm>
            <a:off x="9997200" y="5663777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80" name="Graphic 79" descr="Close with solid fill"/>
          <p:cNvPicPr>
            <a:picLocks noChangeAspect="1"/>
          </p:cNvPicPr>
          <p:nvPr/>
        </p:nvPicPr>
        <p:blipFill>
          <a:blip r:embed="rId50">
            <a:lum/>
            <a:extLst>
              <a:ext uri="{96DAC541-7B7A-43D3-8B79-37D633B846F1}">
                <asvg:svgBlip xmlns:asvg="http://schemas.microsoft.com/office/drawing/2016/SVG/main" r:embed="rId51"/>
              </a:ext>
            </a:extLst>
          </a:blip>
          <a:srcRect/>
          <a:stretch>
            <a:fillRect/>
          </a:stretch>
        </p:blipFill>
        <p:spPr bwMode="white">
          <a:xfrm>
            <a:off x="9963899" y="5637424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4" name="ShadeSessionDisableResilience"/>
          <p:cNvSpPr>
            <a:spLocks/>
          </p:cNvSpPr>
          <p:nvPr/>
        </p:nvSpPr>
        <p:spPr bwMode="white">
          <a:xfrm>
            <a:off x="9959681" y="5602709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2" name="PolicyName">
            <a:hlinkClick r:id="" action="ppaction://hlinkfile"/>
          </p:cNvPr>
          <p:cNvSpPr>
            <a:spLocks noGrp="1"/>
          </p:cNvSpPr>
          <p:nvPr>
            <p:ph type="title"/>
          </p:nvPr>
        </p:nvSpPr>
        <p:spPr bwMode="white">
          <a:xfrm>
            <a:off x="838200" y="115511"/>
            <a:ext cx="10003967" cy="609565"/>
          </a:xfrm>
          <a:ln>
            <a:headEnd type="none"/>
            <a:tailEnd type="none"/>
          </a:ln>
        </p:spPr>
        <p:txBody>
          <a:bodyPr wrap="square">
            <a:noAutofit/>
          </a:bodyPr>
          <a:lstStyle/>
          <a:p>
            <a:pPr defTabSz="914400"/>
            <a:r>
              <a:rPr lang="en-US" sz="2000" b="1" dirty="0"/>
              <a:t>[All Apps][Priv Admins] Highly Privileged Roles Require Phishing-Resistant MFA</a:t>
            </a:r>
          </a:p>
        </p:txBody>
      </p:sp>
      <p:sp>
        <p:nvSpPr>
          <p:cNvPr id="16" name="LastModified"/>
          <p:cNvSpPr txBox="1">
            <a:spLocks noChangeArrowheads="1"/>
          </p:cNvSpPr>
          <p:nvPr/>
        </p:nvSpPr>
        <p:spPr bwMode="white">
          <a:xfrm>
            <a:off x="10556111" y="388376"/>
            <a:ext cx="15483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algn="r" defTabSz="457200"/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Last modified: 2025-07-14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UserWorkload"/>
          <p:cNvSpPr>
            <a:spLocks/>
          </p:cNvSpPr>
          <p:nvPr/>
        </p:nvSpPr>
        <p:spPr bwMode="auto">
          <a:xfrm>
            <a:off x="175820" y="2709769"/>
            <a:ext cx="2202823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Users</a:t>
            </a:r>
          </a:p>
        </p:txBody>
      </p:sp>
      <p:sp>
        <p:nvSpPr>
          <p:cNvPr id="7" name="UserWorkloadIncExc"/>
          <p:cNvSpPr txBox="1">
            <a:spLocks noChangeArrowheads="1"/>
          </p:cNvSpPr>
          <p:nvPr/>
        </p:nvSpPr>
        <p:spPr bwMode="white">
          <a:xfrm>
            <a:off x="125485" y="3698952"/>
            <a:ext cx="3062115" cy="313265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 numCol="1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b="1" dirty="0"/>
            </a:pPr>
            <a:r>
              <a:t> Users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r>
              <a:t>🚫 Exclude:</a:t>
            </a:r>
          </a:p>
          <a:p>
            <a:pPr defTabSz="457200">
              <a:defRPr sz="1100" b="1" dirty="0"/>
            </a:pPr>
            <a:r>
              <a:t> Groups</a:t>
            </a:r>
          </a:p>
          <a:p>
            <a:pPr defTabSz="457200">
              <a:defRPr sz="1100" dirty="0"/>
            </a:pPr>
            <a:r>
              <a:t> - CO_PIVExceptions (8)</a:t>
            </a:r>
          </a:p>
          <a:p>
            <a:pPr defTabSz="457200">
              <a:defRPr sz="1100" dirty="0"/>
            </a:pPr>
            <a:r>
              <a:t> - CO_PCDeployment (6)</a:t>
            </a:r>
          </a:p>
          <a:p>
            <a:pPr defTabSz="457200">
              <a:defRPr sz="1100" b="1" dirty="0"/>
            </a:pPr>
            <a:r>
              <a:t> Users</a:t>
            </a:r>
          </a:p>
          <a:p>
            <a:pPr defTabSz="457200">
              <a:defRPr sz="1100" dirty="0"/>
            </a:pPr>
            <a:r>
              <a:t> - BGA OCC01</a:t>
            </a:r>
          </a:p>
          <a:p>
            <a:pPr defTabSz="457200">
              <a:defRPr sz="1100" dirty="0"/>
            </a:pPr>
            <a:r>
              <a:t> - BGA OCC02</a:t>
            </a:r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19" name="Risks"/>
          <p:cNvSpPr txBox="1">
            <a:spLocks noChangeArrowheads="1"/>
          </p:cNvSpPr>
          <p:nvPr/>
        </p:nvSpPr>
        <p:spPr bwMode="white">
          <a:xfrm>
            <a:off x="524485" y="1021946"/>
            <a:ext cx="1348869" cy="166886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0" name="Platforms"/>
          <p:cNvSpPr txBox="1">
            <a:spLocks noChangeArrowheads="1"/>
          </p:cNvSpPr>
          <p:nvPr/>
        </p:nvSpPr>
        <p:spPr bwMode="white">
          <a:xfrm>
            <a:off x="1826931" y="1021947"/>
            <a:ext cx="2061056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3" name="Locations"/>
          <p:cNvSpPr txBox="1">
            <a:spLocks noChangeArrowheads="1"/>
          </p:cNvSpPr>
          <p:nvPr/>
        </p:nvSpPr>
        <p:spPr bwMode="white">
          <a:xfrm>
            <a:off x="8324941" y="1021947"/>
            <a:ext cx="3513702" cy="159258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4" name="ClientAppTypes"/>
          <p:cNvSpPr txBox="1">
            <a:spLocks noChangeArrowheads="1"/>
          </p:cNvSpPr>
          <p:nvPr/>
        </p:nvSpPr>
        <p:spPr bwMode="white">
          <a:xfrm>
            <a:off x="3810664" y="1021947"/>
            <a:ext cx="1581599" cy="165343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5" name="DeviceFilters"/>
          <p:cNvSpPr txBox="1">
            <a:spLocks noChangeArrowheads="1"/>
          </p:cNvSpPr>
          <p:nvPr/>
        </p:nvSpPr>
        <p:spPr bwMode="white">
          <a:xfrm>
            <a:off x="5818151" y="1022762"/>
            <a:ext cx="2248808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cxnSp>
        <p:nvCxnSpPr>
          <p:cNvPr id="27" name="Straight Arrow Connector 26" descr="Arrow drawn from user/workload  to the action being performed by the user such as accessing cloud apps."/>
          <p:cNvCxnSpPr/>
          <p:nvPr/>
        </p:nvCxnSpPr>
        <p:spPr bwMode="white">
          <a:xfrm>
            <a:off x="2195232" y="3159047"/>
            <a:ext cx="3959471" cy="1"/>
          </a:xfrm>
          <a:prstGeom prst="straightConnector1">
            <a:avLst/>
          </a:prstGeom>
          <a:ln w="76200"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2" name="GrantLabelGrantAccess"/>
          <p:cNvSpPr txBox="1">
            <a:spLocks noChangeArrowheads="1"/>
          </p:cNvSpPr>
          <p:nvPr/>
        </p:nvSpPr>
        <p:spPr bwMode="white">
          <a:xfrm>
            <a:off x="3928464" y="2723089"/>
            <a:ext cx="1381340" cy="369332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algn="ctr" defTabSz="457200"/>
            <a:r>
              <a:rPr lang="en-US" b="1" dirty="0">
                <a:solidFill>
                  <a:srgbClr val="00B050"/>
                </a:solidFill>
              </a:rPr>
              <a:t>Grant access</a:t>
            </a:r>
          </a:p>
        </p:txBody>
      </p:sp>
      <p:pic>
        <p:nvPicPr>
          <p:cNvPr id="35" name="IconGrantAccess" descr="Picture with gren tick sign to indicate access was granted"/>
          <p:cNvPicPr>
            <a:picLocks noChangeAspect="1"/>
          </p:cNvPicPr>
          <p:nvPr/>
        </p:nvPicPr>
        <p:blipFill>
          <a:blip r:embed="rId3">
            <a:lum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 bwMode="white">
          <a:xfrm>
            <a:off x="5309361" y="2730170"/>
            <a:ext cx="356616" cy="356616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26" name="IconGroupIdentity"/>
          <p:cNvPicPr>
            <a:picLocks noChangeAspect="1"/>
          </p:cNvPicPr>
          <p:nvPr/>
        </p:nvPicPr>
        <p:blipFill>
          <a:blip r:embed="rId5">
            <a:lum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 bwMode="white">
          <a:xfrm>
            <a:off x="327701" y="2839007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36" name="Graphic 35"/>
          <p:cNvPicPr>
            <a:picLocks noChangeAspect="1"/>
          </p:cNvPicPr>
          <p:nvPr/>
        </p:nvPicPr>
        <p:blipFill>
          <a:blip r:embed="rId7">
            <a:lum/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p:blipFill>
        <p:spPr bwMode="white">
          <a:xfrm>
            <a:off x="495610" y="197468"/>
            <a:ext cx="381196" cy="38119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" name="CloudAppAction"/>
          <p:cNvSpPr>
            <a:spLocks/>
          </p:cNvSpPr>
          <p:nvPr/>
        </p:nvSpPr>
        <p:spPr bwMode="auto">
          <a:xfrm>
            <a:off x="6206089" y="2718506"/>
            <a:ext cx="3227026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Register or join devices </a:t>
            </a:r>
          </a:p>
        </p:txBody>
      </p:sp>
      <p:pic>
        <p:nvPicPr>
          <p:cNvPr id="51" name="IconAccessRegisterOrJoinDevice"/>
          <p:cNvPicPr>
            <a:picLocks noChangeAspect="1"/>
          </p:cNvPicPr>
          <p:nvPr/>
        </p:nvPicPr>
        <p:blipFill>
          <a:blip r:embed="rId9">
            <a:lum/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p:blipFill>
        <p:spPr bwMode="white">
          <a:xfrm>
            <a:off x="6451371" y="2882544"/>
            <a:ext cx="548640" cy="54864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21" name="StateEnabled"/>
          <p:cNvSpPr>
            <a:spLocks/>
          </p:cNvSpPr>
          <p:nvPr/>
        </p:nvSpPr>
        <p:spPr bwMode="white">
          <a:xfrm>
            <a:off x="10842171" y="83487"/>
            <a:ext cx="1260389" cy="264812"/>
          </a:xfrm>
          <a:prstGeom prst="round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r>
              <a:rPr lang="en-US" sz="800" dirty="0"/>
              <a:t>Policy Enabled</a:t>
            </a:r>
          </a:p>
        </p:txBody>
      </p:sp>
      <p:grpSp>
        <p:nvGrpSpPr>
          <p:cNvPr id="10" name="IconRiskyUsers"/>
          <p:cNvGrpSpPr>
            <a:grpSpLocks/>
          </p:cNvGrpSpPr>
          <p:nvPr/>
        </p:nvGrpSpPr>
        <p:grpSpPr bwMode="white">
          <a:xfrm>
            <a:off x="635426" y="738677"/>
            <a:ext cx="1202553" cy="274320"/>
            <a:chOff x="2013768" y="1033956"/>
            <a:chExt cx="1342320" cy="274320"/>
          </a:xfrm>
        </p:grpSpPr>
        <p:pic>
          <p:nvPicPr>
            <p:cNvPr id="46" name="Graphic 1"/>
            <p:cNvPicPr>
              <a:picLocks noChangeAspect="1"/>
            </p:cNvPicPr>
            <p:nvPr/>
          </p:nvPicPr>
          <p:blipFill>
            <a:blip r:embed="rId11">
              <a:lum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013768" y="1033956"/>
              <a:ext cx="274320" cy="27432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5" name="Label 1"/>
            <p:cNvSpPr txBox="1">
              <a:spLocks noChangeArrowheads="1"/>
            </p:cNvSpPr>
            <p:nvPr/>
          </p:nvSpPr>
          <p:spPr bwMode="white">
            <a:xfrm>
              <a:off x="2240077" y="1040706"/>
              <a:ext cx="1116011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Risk</a:t>
              </a:r>
            </a:p>
          </p:txBody>
        </p:sp>
      </p:grpSp>
      <p:grpSp>
        <p:nvGrpSpPr>
          <p:cNvPr id="14" name="IconPlatforms"/>
          <p:cNvGrpSpPr>
            <a:grpSpLocks/>
          </p:cNvGrpSpPr>
          <p:nvPr/>
        </p:nvGrpSpPr>
        <p:grpSpPr bwMode="white">
          <a:xfrm>
            <a:off x="1927788" y="715249"/>
            <a:ext cx="1719285" cy="365760"/>
            <a:chOff x="3262737" y="994835"/>
            <a:chExt cx="1719285" cy="365760"/>
          </a:xfrm>
        </p:grpSpPr>
        <p:pic>
          <p:nvPicPr>
            <p:cNvPr id="29" name="Graphic 1"/>
            <p:cNvPicPr>
              <a:picLocks noChangeAspect="1"/>
            </p:cNvPicPr>
            <p:nvPr/>
          </p:nvPicPr>
          <p:blipFill>
            <a:blip r:embed="rId13">
              <a:lum/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3262737" y="994835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1" name="Label 1"/>
            <p:cNvSpPr txBox="1">
              <a:spLocks noChangeArrowheads="1"/>
            </p:cNvSpPr>
            <p:nvPr/>
          </p:nvSpPr>
          <p:spPr bwMode="white">
            <a:xfrm>
              <a:off x="3582397" y="1027255"/>
              <a:ext cx="1399625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Device platforms</a:t>
              </a:r>
            </a:p>
          </p:txBody>
        </p:sp>
      </p:grpSp>
      <p:grpSp>
        <p:nvGrpSpPr>
          <p:cNvPr id="17" name="IconClientAppTypes"/>
          <p:cNvGrpSpPr>
            <a:grpSpLocks/>
          </p:cNvGrpSpPr>
          <p:nvPr/>
        </p:nvGrpSpPr>
        <p:grpSpPr bwMode="white">
          <a:xfrm>
            <a:off x="3908159" y="670015"/>
            <a:ext cx="1852971" cy="365760"/>
            <a:chOff x="4858970" y="975927"/>
            <a:chExt cx="1852971" cy="365760"/>
          </a:xfrm>
        </p:grpSpPr>
        <p:pic>
          <p:nvPicPr>
            <p:cNvPr id="58" name="Graphic 1"/>
            <p:cNvPicPr>
              <a:picLocks noChangeAspect="1"/>
            </p:cNvPicPr>
            <p:nvPr/>
          </p:nvPicPr>
          <p:blipFill>
            <a:blip r:embed="rId15">
              <a:lum/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858970" y="975927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5" name="Label 1"/>
            <p:cNvSpPr txBox="1">
              <a:spLocks noChangeArrowheads="1"/>
            </p:cNvSpPr>
            <p:nvPr/>
          </p:nvSpPr>
          <p:spPr bwMode="white">
            <a:xfrm>
              <a:off x="5193983" y="1009899"/>
              <a:ext cx="1517958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Client apps</a:t>
              </a:r>
            </a:p>
          </p:txBody>
        </p:sp>
      </p:grpSp>
      <p:grpSp>
        <p:nvGrpSpPr>
          <p:cNvPr id="37" name="IconLocations"/>
          <p:cNvGrpSpPr>
            <a:grpSpLocks/>
          </p:cNvGrpSpPr>
          <p:nvPr/>
        </p:nvGrpSpPr>
        <p:grpSpPr bwMode="white">
          <a:xfrm>
            <a:off x="8411896" y="646848"/>
            <a:ext cx="1850168" cy="388465"/>
            <a:chOff x="2321433" y="3262888"/>
            <a:chExt cx="1850168" cy="388465"/>
          </a:xfrm>
        </p:grpSpPr>
        <p:pic>
          <p:nvPicPr>
            <p:cNvPr id="33" name="Graphic 1"/>
            <p:cNvPicPr>
              <a:picLocks noChangeAspect="1"/>
            </p:cNvPicPr>
            <p:nvPr/>
          </p:nvPicPr>
          <p:blipFill>
            <a:blip r:embed="rId17">
              <a:lum/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321433" y="3262888"/>
              <a:ext cx="388465" cy="388465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28" name="Label 1"/>
            <p:cNvSpPr txBox="1">
              <a:spLocks noChangeArrowheads="1"/>
            </p:cNvSpPr>
            <p:nvPr/>
          </p:nvSpPr>
          <p:spPr bwMode="white">
            <a:xfrm>
              <a:off x="2713321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Locations</a:t>
              </a:r>
              <a:endParaRPr lang="en-US" sz="1100" b="1" dirty="0"/>
            </a:p>
          </p:txBody>
        </p:sp>
      </p:grpSp>
      <p:grpSp>
        <p:nvGrpSpPr>
          <p:cNvPr id="39" name="IconDeviceFilters"/>
          <p:cNvGrpSpPr>
            <a:grpSpLocks/>
          </p:cNvGrpSpPr>
          <p:nvPr/>
        </p:nvGrpSpPr>
        <p:grpSpPr bwMode="white">
          <a:xfrm>
            <a:off x="5472818" y="661958"/>
            <a:ext cx="1839823" cy="364111"/>
            <a:chOff x="4195414" y="3273669"/>
            <a:chExt cx="1839823" cy="364111"/>
          </a:xfrm>
        </p:grpSpPr>
        <p:pic>
          <p:nvPicPr>
            <p:cNvPr id="60" name="Graphic 1"/>
            <p:cNvPicPr>
              <a:picLocks noChangeAspect="1"/>
            </p:cNvPicPr>
            <p:nvPr/>
          </p:nvPicPr>
          <p:blipFill>
            <a:blip r:embed="rId19">
              <a:lum/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195414" y="3273669"/>
              <a:ext cx="364111" cy="364111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31" name="Label 1"/>
            <p:cNvSpPr txBox="1">
              <a:spLocks noChangeArrowheads="1"/>
            </p:cNvSpPr>
            <p:nvPr/>
          </p:nvSpPr>
          <p:spPr bwMode="white">
            <a:xfrm>
              <a:off x="4576957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Filter for devices</a:t>
              </a:r>
              <a:endParaRPr lang="en-US" sz="1100" b="1" dirty="0"/>
            </a:p>
          </p:txBody>
        </p:sp>
      </p:grpSp>
      <p:pic>
        <p:nvPicPr>
          <p:cNvPr id="62" name="IconGrantMultifactorAuthentication"/>
          <p:cNvPicPr>
            <a:picLocks noChangeAspect="1"/>
          </p:cNvPicPr>
          <p:nvPr/>
        </p:nvPicPr>
        <p:blipFill>
          <a:blip r:embed="rId21">
            <a:lum/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>
            <a:fillRect/>
          </a:stretch>
        </p:blipFill>
        <p:spPr bwMode="white">
          <a:xfrm>
            <a:off x="3410647" y="3566863"/>
            <a:ext cx="17145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5" name="IconGrantMultifactorAuthenticationLabel"/>
          <p:cNvSpPr txBox="1">
            <a:spLocks noChangeArrowheads="1"/>
          </p:cNvSpPr>
          <p:nvPr/>
        </p:nvSpPr>
        <p:spPr bwMode="white">
          <a:xfrm>
            <a:off x="3575836" y="3571997"/>
            <a:ext cx="19007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Multifactor authentication</a:t>
            </a:r>
            <a:endParaRPr lang="en-US" sz="1000" dirty="0"/>
          </a:p>
        </p:txBody>
      </p:sp>
      <p:pic>
        <p:nvPicPr>
          <p:cNvPr id="38" name="IconGrantAuthenticationStrength"/>
          <p:cNvPicPr>
            <a:picLocks noChangeAspect="1"/>
          </p:cNvPicPr>
          <p:nvPr/>
        </p:nvPicPr>
        <p:blipFill>
          <a:blip r:embed="rId23">
            <a:lum/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/>
          <a:stretch>
            <a:fillRect/>
          </a:stretch>
        </p:blipFill>
        <p:spPr bwMode="white">
          <a:xfrm>
            <a:off x="3374515" y="3905034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7" name="IconGrantAuthenticationStrengthLabel"/>
          <p:cNvSpPr txBox="1">
            <a:spLocks noChangeArrowheads="1"/>
          </p:cNvSpPr>
          <p:nvPr/>
        </p:nvSpPr>
        <p:spPr bwMode="white">
          <a:xfrm>
            <a:off x="3575836" y="3907323"/>
            <a:ext cx="2185294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Auth strength:Multifactor authentication</a:t>
            </a:r>
            <a:endParaRPr lang="en-US" sz="1000" dirty="0"/>
          </a:p>
        </p:txBody>
      </p:sp>
      <p:pic>
        <p:nvPicPr>
          <p:cNvPr id="52" name="IconGrantDeviceCompliance"/>
          <p:cNvPicPr>
            <a:picLocks noChangeAspect="1"/>
          </p:cNvPicPr>
          <p:nvPr/>
        </p:nvPicPr>
        <p:blipFill>
          <a:blip r:embed="rId25">
            <a:lum/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/>
          <a:stretch>
            <a:fillRect/>
          </a:stretch>
        </p:blipFill>
        <p:spPr bwMode="white">
          <a:xfrm>
            <a:off x="3374515" y="4243205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9" name="IconGrantDeviceComplianceLabel"/>
          <p:cNvSpPr txBox="1">
            <a:spLocks noChangeArrowheads="1"/>
          </p:cNvSpPr>
          <p:nvPr/>
        </p:nvSpPr>
        <p:spPr bwMode="white">
          <a:xfrm>
            <a:off x="3575836" y="4242649"/>
            <a:ext cx="17378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Compliant device</a:t>
            </a:r>
            <a:endParaRPr lang="en-US" sz="1000" dirty="0"/>
          </a:p>
        </p:txBody>
      </p:sp>
      <p:pic>
        <p:nvPicPr>
          <p:cNvPr id="43" name="IconGrantHybridJoined"/>
          <p:cNvPicPr>
            <a:picLocks noChangeAspect="1"/>
          </p:cNvPicPr>
          <p:nvPr/>
        </p:nvPicPr>
        <p:blipFill>
          <a:blip r:embed="rId27">
            <a:lum/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/>
          <a:stretch>
            <a:fillRect/>
          </a:stretch>
        </p:blipFill>
        <p:spPr bwMode="white">
          <a:xfrm>
            <a:off x="3374515" y="4581376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3" name="IconGrantHybridJoinedLabel"/>
          <p:cNvSpPr txBox="1">
            <a:spLocks noChangeArrowheads="1"/>
          </p:cNvSpPr>
          <p:nvPr/>
        </p:nvSpPr>
        <p:spPr bwMode="white">
          <a:xfrm>
            <a:off x="3575836" y="4577975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Hybrid Azure AD joined device</a:t>
            </a:r>
            <a:endParaRPr lang="en-US" sz="1000" dirty="0"/>
          </a:p>
        </p:txBody>
      </p:sp>
      <p:pic>
        <p:nvPicPr>
          <p:cNvPr id="48" name="IconGrantApprovedClientApp"/>
          <p:cNvPicPr>
            <a:picLocks noChangeAspect="1"/>
          </p:cNvPicPr>
          <p:nvPr/>
        </p:nvPicPr>
        <p:blipFill>
          <a:blip r:embed="rId29">
            <a:lum/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rcRect/>
          <a:stretch>
            <a:fillRect/>
          </a:stretch>
        </p:blipFill>
        <p:spPr bwMode="white">
          <a:xfrm>
            <a:off x="3374515" y="491954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5" name="IconGrantApprovedClientAppLabel"/>
          <p:cNvSpPr txBox="1">
            <a:spLocks noChangeArrowheads="1"/>
          </p:cNvSpPr>
          <p:nvPr/>
        </p:nvSpPr>
        <p:spPr bwMode="white">
          <a:xfrm>
            <a:off x="3575836" y="4913301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Approved client app</a:t>
            </a:r>
            <a:endParaRPr lang="en-US" sz="1000" dirty="0"/>
          </a:p>
        </p:txBody>
      </p:sp>
      <p:pic>
        <p:nvPicPr>
          <p:cNvPr id="42" name="IconGrantCustomAuth"/>
          <p:cNvPicPr>
            <a:picLocks noChangeAspect="1"/>
          </p:cNvPicPr>
          <p:nvPr/>
        </p:nvPicPr>
        <p:blipFill>
          <a:blip r:embed="rId31">
            <a:lum/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rcRect/>
          <a:stretch>
            <a:fillRect/>
          </a:stretch>
        </p:blipFill>
        <p:spPr bwMode="white">
          <a:xfrm>
            <a:off x="3374515" y="593406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9" name="IconGrantCustomAuthLabel"/>
          <p:cNvSpPr txBox="1">
            <a:spLocks noChangeArrowheads="1"/>
          </p:cNvSpPr>
          <p:nvPr/>
        </p:nvSpPr>
        <p:spPr bwMode="white">
          <a:xfrm>
            <a:off x="3575836" y="5919279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Custom authentication factor</a:t>
            </a:r>
            <a:endParaRPr lang="en-US" sz="1000" dirty="0"/>
          </a:p>
        </p:txBody>
      </p:sp>
      <p:pic>
        <p:nvPicPr>
          <p:cNvPr id="40" name="IconGrantTermsOfUse"/>
          <p:cNvPicPr>
            <a:picLocks noChangeAspect="1"/>
          </p:cNvPicPr>
          <p:nvPr/>
        </p:nvPicPr>
        <p:blipFill>
          <a:blip r:embed="rId33">
            <a:lum/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rcRect/>
          <a:stretch>
            <a:fillRect/>
          </a:stretch>
        </p:blipFill>
        <p:spPr bwMode="white">
          <a:xfrm>
            <a:off x="3374515" y="627222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3" name="IconGrantTermsOfUseLabel"/>
          <p:cNvSpPr txBox="1">
            <a:spLocks noChangeArrowheads="1"/>
          </p:cNvSpPr>
          <p:nvPr/>
        </p:nvSpPr>
        <p:spPr bwMode="white">
          <a:xfrm>
            <a:off x="3575836" y="625460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Terms of use</a:t>
            </a:r>
            <a:endParaRPr lang="en-US" sz="1000" dirty="0"/>
          </a:p>
        </p:txBody>
      </p:sp>
      <p:sp>
        <p:nvSpPr>
          <p:cNvPr id="56" name="IconGrantAppProtectionLabel"/>
          <p:cNvSpPr txBox="1">
            <a:spLocks noChangeArrowheads="1"/>
          </p:cNvSpPr>
          <p:nvPr/>
        </p:nvSpPr>
        <p:spPr bwMode="white">
          <a:xfrm>
            <a:off x="3575836" y="524862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 protection policy</a:t>
            </a:r>
            <a:endParaRPr lang="en-US" sz="1000" dirty="0"/>
          </a:p>
        </p:txBody>
      </p:sp>
      <p:pic>
        <p:nvPicPr>
          <p:cNvPr id="65" name="IconGrantAppProtection"/>
          <p:cNvPicPr>
            <a:picLocks noChangeAspect="1"/>
          </p:cNvPicPr>
          <p:nvPr/>
        </p:nvPicPr>
        <p:blipFill>
          <a:blip r:embed="rId35">
            <a:lum/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rcRect/>
          <a:stretch>
            <a:fillRect/>
          </a:stretch>
        </p:blipFill>
        <p:spPr bwMode="white">
          <a:xfrm>
            <a:off x="3374515" y="525771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7" name="IconGrantChangePasswordLabel"/>
          <p:cNvSpPr txBox="1">
            <a:spLocks noChangeArrowheads="1"/>
          </p:cNvSpPr>
          <p:nvPr/>
        </p:nvSpPr>
        <p:spPr bwMode="white">
          <a:xfrm>
            <a:off x="3575836" y="5583953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Change password</a:t>
            </a:r>
            <a:endParaRPr lang="en-US" sz="1000" dirty="0"/>
          </a:p>
        </p:txBody>
      </p:sp>
      <p:pic>
        <p:nvPicPr>
          <p:cNvPr id="67" name="IconGrantChangePassword"/>
          <p:cNvPicPr>
            <a:picLocks noChangeAspect="1"/>
          </p:cNvPicPr>
          <p:nvPr/>
        </p:nvPicPr>
        <p:blipFill>
          <a:blip r:embed="rId37">
            <a:lum/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rcRect/>
          <a:stretch>
            <a:fillRect/>
          </a:stretch>
        </p:blipFill>
        <p:spPr bwMode="white">
          <a:xfrm>
            <a:off x="3374515" y="5595889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4" name="ShadeRisk"/>
          <p:cNvSpPr>
            <a:spLocks/>
          </p:cNvSpPr>
          <p:nvPr/>
        </p:nvSpPr>
        <p:spPr bwMode="white">
          <a:xfrm>
            <a:off x="507564" y="650246"/>
            <a:ext cx="976864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66" name="ShadeDevicePlatforms"/>
          <p:cNvSpPr>
            <a:spLocks/>
          </p:cNvSpPr>
          <p:nvPr/>
        </p:nvSpPr>
        <p:spPr bwMode="white">
          <a:xfrm>
            <a:off x="1863623" y="663409"/>
            <a:ext cx="1773927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78" name="ShadeClientApps"/>
          <p:cNvSpPr>
            <a:spLocks/>
          </p:cNvSpPr>
          <p:nvPr/>
        </p:nvSpPr>
        <p:spPr bwMode="white">
          <a:xfrm>
            <a:off x="3802273" y="650246"/>
            <a:ext cx="1481482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79" name="ShadeLocations"/>
          <p:cNvSpPr>
            <a:spLocks/>
          </p:cNvSpPr>
          <p:nvPr/>
        </p:nvSpPr>
        <p:spPr bwMode="white">
          <a:xfrm>
            <a:off x="8217572" y="669110"/>
            <a:ext cx="1873684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2" name="ShadeFilterForDevices"/>
          <p:cNvSpPr>
            <a:spLocks/>
          </p:cNvSpPr>
          <p:nvPr/>
        </p:nvSpPr>
        <p:spPr bwMode="white">
          <a:xfrm>
            <a:off x="5438955" y="627922"/>
            <a:ext cx="1873685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3" name="ShadeGrantMultifactorAuth"/>
          <p:cNvSpPr>
            <a:spLocks/>
          </p:cNvSpPr>
          <p:nvPr/>
        </p:nvSpPr>
        <p:spPr bwMode="white">
          <a:xfrm>
            <a:off x="3369399" y="3534220"/>
            <a:ext cx="2069555" cy="28330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5" name="ShadeGrantCompliantDevice"/>
          <p:cNvSpPr>
            <a:spLocks/>
          </p:cNvSpPr>
          <p:nvPr/>
        </p:nvSpPr>
        <p:spPr bwMode="white">
          <a:xfrm>
            <a:off x="3361852" y="4243205"/>
            <a:ext cx="2077102" cy="26110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6" name="ShadeGrantHybridAzureADJoined"/>
          <p:cNvSpPr>
            <a:spLocks/>
          </p:cNvSpPr>
          <p:nvPr/>
        </p:nvSpPr>
        <p:spPr bwMode="white">
          <a:xfrm>
            <a:off x="3353637" y="4552268"/>
            <a:ext cx="2160906" cy="298395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7" name="ShadeGrantApprovedClientApp"/>
          <p:cNvSpPr>
            <a:spLocks/>
          </p:cNvSpPr>
          <p:nvPr/>
        </p:nvSpPr>
        <p:spPr bwMode="white">
          <a:xfrm>
            <a:off x="3331918" y="4876027"/>
            <a:ext cx="2182625" cy="29839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8" name="ShadeGrantAppProtectionPolicy"/>
          <p:cNvSpPr>
            <a:spLocks/>
          </p:cNvSpPr>
          <p:nvPr/>
        </p:nvSpPr>
        <p:spPr bwMode="white">
          <a:xfrm>
            <a:off x="3350256" y="5207226"/>
            <a:ext cx="2122561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9" name="ShadeGrantChangePassword"/>
          <p:cNvSpPr>
            <a:spLocks/>
          </p:cNvSpPr>
          <p:nvPr/>
        </p:nvSpPr>
        <p:spPr bwMode="white">
          <a:xfrm>
            <a:off x="3350257" y="5557021"/>
            <a:ext cx="2042006" cy="287239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0" name="ShadeGrantCustomAuthFactor"/>
          <p:cNvSpPr>
            <a:spLocks/>
          </p:cNvSpPr>
          <p:nvPr/>
        </p:nvSpPr>
        <p:spPr bwMode="white">
          <a:xfrm>
            <a:off x="3331918" y="5899058"/>
            <a:ext cx="2182625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1" name="ShadeGrantTermsOfUse"/>
          <p:cNvSpPr>
            <a:spLocks/>
          </p:cNvSpPr>
          <p:nvPr/>
        </p:nvSpPr>
        <p:spPr bwMode="white">
          <a:xfrm>
            <a:off x="3313823" y="6192350"/>
            <a:ext cx="101602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99" name="Rectangle 98"/>
          <p:cNvSpPr>
            <a:spLocks/>
          </p:cNvSpPr>
          <p:nvPr/>
        </p:nvSpPr>
        <p:spPr bwMode="white">
          <a:xfrm>
            <a:off x="3268757" y="3253404"/>
            <a:ext cx="2357725" cy="3498546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0" name="Rectangle 109"/>
          <p:cNvSpPr>
            <a:spLocks/>
          </p:cNvSpPr>
          <p:nvPr/>
        </p:nvSpPr>
        <p:spPr bwMode="white">
          <a:xfrm>
            <a:off x="9881750" y="3248255"/>
            <a:ext cx="2220808" cy="3510149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7" name="Rectangle 116"/>
          <p:cNvSpPr>
            <a:spLocks/>
          </p:cNvSpPr>
          <p:nvPr/>
        </p:nvSpPr>
        <p:spPr bwMode="white">
          <a:xfrm>
            <a:off x="26741" y="606825"/>
            <a:ext cx="11985015" cy="2063636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2" name="Conditions Label"/>
          <p:cNvSpPr txBox="1">
            <a:spLocks noChangeArrowheads="1"/>
          </p:cNvSpPr>
          <p:nvPr/>
        </p:nvSpPr>
        <p:spPr bwMode="white">
          <a:xfrm rot="16200000">
            <a:off x="-883507" y="1514324"/>
            <a:ext cx="2081441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Conditions</a:t>
            </a:r>
          </a:p>
        </p:txBody>
      </p:sp>
      <p:sp>
        <p:nvSpPr>
          <p:cNvPr id="109" name="Grant Controls"/>
          <p:cNvSpPr txBox="1">
            <a:spLocks noChangeArrowheads="1"/>
          </p:cNvSpPr>
          <p:nvPr/>
        </p:nvSpPr>
        <p:spPr bwMode="white">
          <a:xfrm>
            <a:off x="3252146" y="3244395"/>
            <a:ext cx="2391873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Grant Controls</a:t>
            </a:r>
          </a:p>
        </p:txBody>
      </p:sp>
      <p:sp>
        <p:nvSpPr>
          <p:cNvPr id="111" name="Session Controls"/>
          <p:cNvSpPr txBox="1">
            <a:spLocks noChangeArrowheads="1"/>
          </p:cNvSpPr>
          <p:nvPr/>
        </p:nvSpPr>
        <p:spPr bwMode="white">
          <a:xfrm>
            <a:off x="9864212" y="3243751"/>
            <a:ext cx="2238346" cy="23786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Session Controls</a:t>
            </a:r>
          </a:p>
        </p:txBody>
      </p:sp>
      <p:pic>
        <p:nvPicPr>
          <p:cNvPr id="72" name="Graphic 71"/>
          <p:cNvPicPr>
            <a:picLocks noChangeAspect="1"/>
          </p:cNvPicPr>
          <p:nvPr/>
        </p:nvPicPr>
        <p:blipFill>
          <a:blip r:embed="rId39">
            <a:lum/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rcRect/>
          <a:stretch>
            <a:fillRect/>
          </a:stretch>
        </p:blipFill>
        <p:spPr bwMode="white">
          <a:xfrm>
            <a:off x="9996846" y="356982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4" name="Graphic 93"/>
          <p:cNvPicPr>
            <a:picLocks noChangeAspect="1"/>
          </p:cNvPicPr>
          <p:nvPr/>
        </p:nvPicPr>
        <p:blipFill>
          <a:blip r:embed="rId41">
            <a:lum/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rcRect/>
          <a:stretch>
            <a:fillRect/>
          </a:stretch>
        </p:blipFill>
        <p:spPr bwMode="white">
          <a:xfrm>
            <a:off x="10009443" y="525644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5" name="TextBox 94"/>
          <p:cNvSpPr txBox="1">
            <a:spLocks noChangeArrowheads="1"/>
          </p:cNvSpPr>
          <p:nvPr/>
        </p:nvSpPr>
        <p:spPr bwMode="white">
          <a:xfrm>
            <a:off x="10207481" y="3578463"/>
            <a:ext cx="150554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App enforced restrictions</a:t>
            </a:r>
          </a:p>
        </p:txBody>
      </p:sp>
      <p:sp>
        <p:nvSpPr>
          <p:cNvPr id="96" name="TextBox 95"/>
          <p:cNvSpPr txBox="1">
            <a:spLocks noChangeArrowheads="1"/>
          </p:cNvSpPr>
          <p:nvPr/>
        </p:nvSpPr>
        <p:spPr bwMode="white">
          <a:xfrm>
            <a:off x="10201167" y="3899846"/>
            <a:ext cx="181011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Conditional Access App Control</a:t>
            </a:r>
          </a:p>
        </p:txBody>
      </p:sp>
      <p:sp>
        <p:nvSpPr>
          <p:cNvPr id="97" name="TextBox 96"/>
          <p:cNvSpPr txBox="1">
            <a:spLocks noChangeArrowheads="1"/>
          </p:cNvSpPr>
          <p:nvPr/>
        </p:nvSpPr>
        <p:spPr bwMode="white">
          <a:xfrm>
            <a:off x="10215627" y="4357505"/>
            <a:ext cx="1090363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Sign-in frequency</a:t>
            </a:r>
          </a:p>
        </p:txBody>
      </p:sp>
      <p:sp>
        <p:nvSpPr>
          <p:cNvPr id="98" name="TextBox 97"/>
          <p:cNvSpPr txBox="1">
            <a:spLocks noChangeArrowheads="1"/>
          </p:cNvSpPr>
          <p:nvPr/>
        </p:nvSpPr>
        <p:spPr bwMode="white">
          <a:xfrm>
            <a:off x="10225446" y="4793305"/>
            <a:ext cx="156966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Persistent browser session</a:t>
            </a:r>
          </a:p>
        </p:txBody>
      </p:sp>
      <p:sp>
        <p:nvSpPr>
          <p:cNvPr id="100" name="TextBox 99"/>
          <p:cNvSpPr txBox="1">
            <a:spLocks noChangeArrowheads="1"/>
          </p:cNvSpPr>
          <p:nvPr/>
        </p:nvSpPr>
        <p:spPr bwMode="white">
          <a:xfrm>
            <a:off x="10229552" y="5232376"/>
            <a:ext cx="1717137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Continuous access evaluation</a:t>
            </a:r>
          </a:p>
        </p:txBody>
      </p:sp>
      <p:sp>
        <p:nvSpPr>
          <p:cNvPr id="101" name="TextBox 100"/>
          <p:cNvSpPr txBox="1">
            <a:spLocks noChangeArrowheads="1"/>
          </p:cNvSpPr>
          <p:nvPr/>
        </p:nvSpPr>
        <p:spPr bwMode="white">
          <a:xfrm>
            <a:off x="10259108" y="5658625"/>
            <a:ext cx="153599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Disable resilience defaults</a:t>
            </a:r>
          </a:p>
        </p:txBody>
      </p:sp>
      <p:pic>
        <p:nvPicPr>
          <p:cNvPr id="103" name="Graphic 102"/>
          <p:cNvPicPr>
            <a:picLocks noChangeAspect="1"/>
          </p:cNvPicPr>
          <p:nvPr/>
        </p:nvPicPr>
        <p:blipFill>
          <a:blip r:embed="rId43">
            <a:lum/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rcRect/>
          <a:stretch>
            <a:fillRect/>
          </a:stretch>
        </p:blipFill>
        <p:spPr bwMode="white">
          <a:xfrm>
            <a:off x="9996846" y="479900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5" name="Graphic 104"/>
          <p:cNvPicPr>
            <a:picLocks noChangeAspect="1"/>
          </p:cNvPicPr>
          <p:nvPr/>
        </p:nvPicPr>
        <p:blipFill>
          <a:blip r:embed="rId45">
            <a:lum/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rcRect/>
          <a:stretch>
            <a:fillRect/>
          </a:stretch>
        </p:blipFill>
        <p:spPr bwMode="white">
          <a:xfrm>
            <a:off x="9996846" y="437457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7" name="Graphic 106"/>
          <p:cNvPicPr>
            <a:picLocks noChangeAspect="1"/>
          </p:cNvPicPr>
          <p:nvPr/>
        </p:nvPicPr>
        <p:blipFill>
          <a:blip r:embed="rId7">
            <a:lum/>
            <a:extLst>
              <a:ext uri="{96DAC541-7B7A-43D3-8B79-37D633B846F1}">
                <asvg:svgBlip xmlns:asvg="http://schemas.microsoft.com/office/drawing/2016/SVG/main" r:embed="rId47"/>
              </a:ext>
            </a:extLst>
          </a:blip>
          <a:srcRect/>
          <a:stretch>
            <a:fillRect/>
          </a:stretch>
        </p:blipFill>
        <p:spPr bwMode="white">
          <a:xfrm>
            <a:off x="9996846" y="391529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15" name="SessionSifInterval"/>
          <p:cNvSpPr txBox="1">
            <a:spLocks noChangeArrowheads="1"/>
          </p:cNvSpPr>
          <p:nvPr/>
        </p:nvSpPr>
        <p:spPr bwMode="white">
          <a:xfrm>
            <a:off x="10296745" y="4516775"/>
            <a:ext cx="1249060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Periodic reauthentication</a:t>
            </a:r>
          </a:p>
        </p:txBody>
      </p:sp>
      <p:sp>
        <p:nvSpPr>
          <p:cNvPr id="114" name="SessionCasType"/>
          <p:cNvSpPr txBox="1">
            <a:spLocks noChangeArrowheads="1"/>
          </p:cNvSpPr>
          <p:nvPr/>
        </p:nvSpPr>
        <p:spPr bwMode="white">
          <a:xfrm>
            <a:off x="10296745" y="4075500"/>
            <a:ext cx="95410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App Control Policy</a:t>
            </a:r>
          </a:p>
        </p:txBody>
      </p:sp>
      <p:sp>
        <p:nvSpPr>
          <p:cNvPr id="116" name="SessionPersistenBrowserMode"/>
          <p:cNvSpPr txBox="1">
            <a:spLocks noChangeArrowheads="1"/>
          </p:cNvSpPr>
          <p:nvPr/>
        </p:nvSpPr>
        <p:spPr bwMode="white">
          <a:xfrm>
            <a:off x="10309761" y="4945281"/>
            <a:ext cx="918841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Always persistent</a:t>
            </a:r>
          </a:p>
        </p:txBody>
      </p:sp>
      <p:sp>
        <p:nvSpPr>
          <p:cNvPr id="118" name="SessionCaeMode"/>
          <p:cNvSpPr txBox="1">
            <a:spLocks noChangeArrowheads="1"/>
          </p:cNvSpPr>
          <p:nvPr/>
        </p:nvSpPr>
        <p:spPr bwMode="white">
          <a:xfrm>
            <a:off x="10301386" y="5393378"/>
            <a:ext cx="15359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US" sz="800" dirty="0"/>
              <a:t>Strictly enforce location policies</a:t>
            </a:r>
          </a:p>
        </p:txBody>
      </p:sp>
      <p:sp>
        <p:nvSpPr>
          <p:cNvPr id="119" name="ShadeSessionAppEnforced"/>
          <p:cNvSpPr>
            <a:spLocks/>
          </p:cNvSpPr>
          <p:nvPr/>
        </p:nvSpPr>
        <p:spPr bwMode="white">
          <a:xfrm>
            <a:off x="9959680" y="3548808"/>
            <a:ext cx="2051597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0" name="ShadeSessionCas"/>
          <p:cNvSpPr>
            <a:spLocks/>
          </p:cNvSpPr>
          <p:nvPr/>
        </p:nvSpPr>
        <p:spPr bwMode="white">
          <a:xfrm>
            <a:off x="9978939" y="3884212"/>
            <a:ext cx="2087576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1" name="ShadeSessionSif"/>
          <p:cNvSpPr>
            <a:spLocks/>
          </p:cNvSpPr>
          <p:nvPr/>
        </p:nvSpPr>
        <p:spPr bwMode="white">
          <a:xfrm>
            <a:off x="9940787" y="4320077"/>
            <a:ext cx="2125728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2" name="ShadeSessionPersistentBrowser"/>
          <p:cNvSpPr>
            <a:spLocks/>
          </p:cNvSpPr>
          <p:nvPr/>
        </p:nvSpPr>
        <p:spPr bwMode="white">
          <a:xfrm>
            <a:off x="9938833" y="4746195"/>
            <a:ext cx="207244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pic>
        <p:nvPicPr>
          <p:cNvPr id="125" name="PicAccessRegisterDevice" descr="Graphical user interface, application&#10;&#10;Description automatically generated"/>
          <p:cNvPicPr>
            <a:picLocks noChangeAspect="1"/>
          </p:cNvPicPr>
          <p:nvPr/>
        </p:nvPicPr>
        <p:blipFill>
          <a:blip r:embed="rId48">
            <a:lum/>
          </a:blip>
          <a:srcRect r="4400" b="6054"/>
          <a:stretch>
            <a:fillRect/>
          </a:stretch>
        </p:blipFill>
        <p:spPr bwMode="white">
          <a:xfrm>
            <a:off x="5896533" y="3744401"/>
            <a:ext cx="3874103" cy="2163097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" name="Label Secure Sign In Session"/>
          <p:cNvSpPr txBox="1">
            <a:spLocks noChangeArrowheads="1"/>
          </p:cNvSpPr>
          <p:nvPr/>
        </p:nvSpPr>
        <p:spPr bwMode="white">
          <a:xfrm>
            <a:off x="10260000" y="6084874"/>
            <a:ext cx="166584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Token protection for session</a:t>
            </a:r>
          </a:p>
        </p:txBody>
      </p:sp>
      <p:pic>
        <p:nvPicPr>
          <p:cNvPr id="77" name="IconSessionCaeDisable" descr="Close with solid fill"/>
          <p:cNvPicPr>
            <a:picLocks noChangeAspect="1"/>
          </p:cNvPicPr>
          <p:nvPr/>
        </p:nvPicPr>
        <p:blipFill>
          <a:blip r:embed="rId49">
            <a:lum/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rcRect/>
          <a:stretch>
            <a:fillRect/>
          </a:stretch>
        </p:blipFill>
        <p:spPr bwMode="white">
          <a:xfrm>
            <a:off x="9979885" y="5218651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2" name="IconSessionSecureSignInSession 1"/>
          <p:cNvPicPr>
            <a:picLocks noChangeAspect="1"/>
          </p:cNvPicPr>
          <p:nvPr/>
        </p:nvPicPr>
        <p:blipFill>
          <a:blip r:embed="rId51">
            <a:lum/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rcRect/>
          <a:stretch>
            <a:fillRect/>
          </a:stretch>
        </p:blipFill>
        <p:spPr bwMode="white">
          <a:xfrm>
            <a:off x="9997200" y="6085768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3" name="ShadeSessionCae"/>
          <p:cNvSpPr>
            <a:spLocks/>
          </p:cNvSpPr>
          <p:nvPr/>
        </p:nvSpPr>
        <p:spPr bwMode="white">
          <a:xfrm>
            <a:off x="9987595" y="5219780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76" name="ShadeSessionSecureSignIn"/>
          <p:cNvSpPr>
            <a:spLocks/>
          </p:cNvSpPr>
          <p:nvPr/>
        </p:nvSpPr>
        <p:spPr bwMode="white">
          <a:xfrm>
            <a:off x="9996846" y="5986498"/>
            <a:ext cx="2014431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pic>
        <p:nvPicPr>
          <p:cNvPr id="102" name="Graphic 101"/>
          <p:cNvPicPr>
            <a:picLocks noChangeAspect="1"/>
          </p:cNvPicPr>
          <p:nvPr/>
        </p:nvPicPr>
        <p:blipFill>
          <a:blip r:embed="rId53">
            <a:lum/>
            <a:extLst>
              <a:ext uri="{96DAC541-7B7A-43D3-8B79-37D633B846F1}">
                <asvg:svgBlip xmlns:asvg="http://schemas.microsoft.com/office/drawing/2016/SVG/main" r:embed="rId54"/>
              </a:ext>
            </a:extLst>
          </a:blip>
          <a:srcRect/>
          <a:stretch>
            <a:fillRect/>
          </a:stretch>
        </p:blipFill>
        <p:spPr bwMode="white">
          <a:xfrm>
            <a:off x="9997200" y="5663777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80" name="Graphic 79" descr="Close with solid fill"/>
          <p:cNvPicPr>
            <a:picLocks noChangeAspect="1"/>
          </p:cNvPicPr>
          <p:nvPr/>
        </p:nvPicPr>
        <p:blipFill>
          <a:blip r:embed="rId49">
            <a:lum/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rcRect/>
          <a:stretch>
            <a:fillRect/>
          </a:stretch>
        </p:blipFill>
        <p:spPr bwMode="white">
          <a:xfrm>
            <a:off x="9963899" y="5637424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4" name="ShadeSessionDisableResilience"/>
          <p:cNvSpPr>
            <a:spLocks/>
          </p:cNvSpPr>
          <p:nvPr/>
        </p:nvSpPr>
        <p:spPr bwMode="white">
          <a:xfrm>
            <a:off x="9959681" y="5602709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2" name="PolicyName">
            <a:hlinkClick r:id="" action="ppaction://hlinkfile"/>
          </p:cNvPr>
          <p:cNvSpPr>
            <a:spLocks noGrp="1"/>
          </p:cNvSpPr>
          <p:nvPr>
            <p:ph type="title"/>
          </p:nvPr>
        </p:nvSpPr>
        <p:spPr bwMode="white">
          <a:xfrm>
            <a:off x="838200" y="115511"/>
            <a:ext cx="10003967" cy="609565"/>
          </a:xfrm>
          <a:ln>
            <a:headEnd type="none"/>
            <a:tailEnd type="none"/>
          </a:ln>
        </p:spPr>
        <p:txBody>
          <a:bodyPr wrap="square">
            <a:noAutofit/>
          </a:bodyPr>
          <a:lstStyle/>
          <a:p>
            <a:pPr defTabSz="914400"/>
            <a:r>
              <a:rPr lang="en-US" sz="2000" b="1" dirty="0"/>
              <a:t>[All Devices] [All Users] {MFA} Register or Device Join</a:t>
            </a:r>
          </a:p>
        </p:txBody>
      </p:sp>
      <p:sp>
        <p:nvSpPr>
          <p:cNvPr id="16" name="LastModified"/>
          <p:cNvSpPr txBox="1">
            <a:spLocks noChangeArrowheads="1"/>
          </p:cNvSpPr>
          <p:nvPr/>
        </p:nvSpPr>
        <p:spPr bwMode="white">
          <a:xfrm>
            <a:off x="10556111" y="388376"/>
            <a:ext cx="15483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algn="r" defTabSz="457200"/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Last modified: 2025-06-02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UserWorkload"/>
          <p:cNvSpPr>
            <a:spLocks/>
          </p:cNvSpPr>
          <p:nvPr/>
        </p:nvSpPr>
        <p:spPr bwMode="auto">
          <a:xfrm>
            <a:off x="175820" y="2709769"/>
            <a:ext cx="2202823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Users</a:t>
            </a:r>
          </a:p>
        </p:txBody>
      </p:sp>
      <p:sp>
        <p:nvSpPr>
          <p:cNvPr id="7" name="UserWorkloadIncExc"/>
          <p:cNvSpPr txBox="1">
            <a:spLocks noChangeArrowheads="1"/>
          </p:cNvSpPr>
          <p:nvPr/>
        </p:nvSpPr>
        <p:spPr bwMode="white">
          <a:xfrm>
            <a:off x="125485" y="3698952"/>
            <a:ext cx="3062115" cy="313265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 numCol="1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b="1" dirty="0"/>
            </a:pPr>
            <a:r>
              <a:t> Users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19" name="Risks"/>
          <p:cNvSpPr txBox="1">
            <a:spLocks noChangeArrowheads="1"/>
          </p:cNvSpPr>
          <p:nvPr/>
        </p:nvSpPr>
        <p:spPr bwMode="white">
          <a:xfrm>
            <a:off x="524485" y="1021946"/>
            <a:ext cx="1348869" cy="166886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0" name="Platforms"/>
          <p:cNvSpPr txBox="1">
            <a:spLocks noChangeArrowheads="1"/>
          </p:cNvSpPr>
          <p:nvPr/>
        </p:nvSpPr>
        <p:spPr bwMode="white">
          <a:xfrm>
            <a:off x="1826931" y="1021947"/>
            <a:ext cx="2061056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b="1" dirty="0"/>
            </a:pPr>
            <a:r>
              <a:t>✅ Include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23" name="Locations"/>
          <p:cNvSpPr txBox="1">
            <a:spLocks noChangeArrowheads="1"/>
          </p:cNvSpPr>
          <p:nvPr/>
        </p:nvSpPr>
        <p:spPr bwMode="white">
          <a:xfrm>
            <a:off x="8324941" y="1021947"/>
            <a:ext cx="3513702" cy="159258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b="1" dirty="0"/>
            </a:pPr>
            <a:r>
              <a:t>✅ Include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24" name="ClientAppTypes"/>
          <p:cNvSpPr txBox="1">
            <a:spLocks noChangeArrowheads="1"/>
          </p:cNvSpPr>
          <p:nvPr/>
        </p:nvSpPr>
        <p:spPr bwMode="white">
          <a:xfrm>
            <a:off x="3810664" y="1021947"/>
            <a:ext cx="1581599" cy="165343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dirty="0"/>
            </a:pPr>
            <a:r>
              <a:t> - Exchange ActiveSync clients</a:t>
            </a:r>
          </a:p>
          <a:p>
            <a:pPr defTabSz="457200">
              <a:defRPr sz="1100" dirty="0"/>
            </a:pPr>
            <a:r>
              <a:t> - Browser</a:t>
            </a:r>
          </a:p>
          <a:p>
            <a:pPr defTabSz="457200">
              <a:defRPr sz="1100" dirty="0"/>
            </a:pPr>
            <a:r>
              <a:t> - Mobile app and desktop clients</a:t>
            </a:r>
          </a:p>
          <a:p>
            <a:pPr defTabSz="457200">
              <a:defRPr sz="1100" dirty="0"/>
            </a:pPr>
            <a:r>
              <a:t> - Other legacy clients</a:t>
            </a:r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25" name="DeviceFilters"/>
          <p:cNvSpPr txBox="1">
            <a:spLocks noChangeArrowheads="1"/>
          </p:cNvSpPr>
          <p:nvPr/>
        </p:nvSpPr>
        <p:spPr bwMode="white">
          <a:xfrm>
            <a:off x="5818151" y="1022762"/>
            <a:ext cx="2248808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cxnSp>
        <p:nvCxnSpPr>
          <p:cNvPr id="27" name="Straight Arrow Connector 26" descr="Arrow drawn from user/workload  to the action being performed by the user such as accessing cloud apps."/>
          <p:cNvCxnSpPr/>
          <p:nvPr/>
        </p:nvCxnSpPr>
        <p:spPr bwMode="white">
          <a:xfrm>
            <a:off x="2195232" y="3159047"/>
            <a:ext cx="3959471" cy="1"/>
          </a:xfrm>
          <a:prstGeom prst="straightConnector1">
            <a:avLst/>
          </a:prstGeom>
          <a:ln w="76200"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2" name="GrantLabelGrantAccess"/>
          <p:cNvSpPr txBox="1">
            <a:spLocks noChangeArrowheads="1"/>
          </p:cNvSpPr>
          <p:nvPr/>
        </p:nvSpPr>
        <p:spPr bwMode="white">
          <a:xfrm>
            <a:off x="3928464" y="2723089"/>
            <a:ext cx="1381340" cy="369332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algn="ctr" defTabSz="457200"/>
            <a:r>
              <a:rPr lang="en-US" b="1" dirty="0">
                <a:solidFill>
                  <a:srgbClr val="00B050"/>
                </a:solidFill>
              </a:rPr>
              <a:t>Grant access</a:t>
            </a:r>
          </a:p>
        </p:txBody>
      </p:sp>
      <p:pic>
        <p:nvPicPr>
          <p:cNvPr id="35" name="IconGrantAccess" descr="Picture with gren tick sign to indicate access was granted"/>
          <p:cNvPicPr>
            <a:picLocks noChangeAspect="1"/>
          </p:cNvPicPr>
          <p:nvPr/>
        </p:nvPicPr>
        <p:blipFill>
          <a:blip r:embed="rId3">
            <a:lum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 bwMode="white">
          <a:xfrm>
            <a:off x="5309361" y="2730170"/>
            <a:ext cx="356616" cy="35661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3" name="CloudAppActionIncExc"/>
          <p:cNvSpPr txBox="1">
            <a:spLocks noChangeArrowheads="1"/>
          </p:cNvSpPr>
          <p:nvPr/>
        </p:nvSpPr>
        <p:spPr bwMode="white">
          <a:xfrm>
            <a:off x="6039518" y="3662782"/>
            <a:ext cx="3649518" cy="315161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dirty="0"/>
            </a:pPr>
            <a:r>
              <a:t> - Azure Virtual Desktop</a:t>
            </a:r>
          </a:p>
          <a:p>
            <a:pPr defTabSz="457200">
              <a:defRPr sz="1100" dirty="0"/>
            </a:pPr>
            <a:r>
              <a:t> - Microsoft Remote Desktop</a:t>
            </a:r>
          </a:p>
          <a:p>
            <a:pPr defTabSz="457200">
              <a:defRPr sz="1100" dirty="0"/>
            </a:pPr>
            <a:r>
              <a:t> - Windows 365</a:t>
            </a:r>
          </a:p>
          <a:p>
            <a:pPr defTabSz="457200">
              <a:defRPr sz="1100" dirty="0"/>
            </a:pPr>
            <a:r>
              <a:t> - Windows Cloud Login</a:t>
            </a:r>
          </a:p>
          <a:p>
            <a:pPr defTabSz="457200">
              <a:defRPr sz="1100" b="1" dirty="0"/>
            </a:pPr>
            <a:endParaRPr/>
          </a:p>
        </p:txBody>
      </p:sp>
      <p:pic>
        <p:nvPicPr>
          <p:cNvPr id="26" name="IconGroupIdentity"/>
          <p:cNvPicPr>
            <a:picLocks noChangeAspect="1"/>
          </p:cNvPicPr>
          <p:nvPr/>
        </p:nvPicPr>
        <p:blipFill>
          <a:blip r:embed="rId5">
            <a:lum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 bwMode="white">
          <a:xfrm>
            <a:off x="327701" y="2839007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36" name="Graphic 35"/>
          <p:cNvPicPr>
            <a:picLocks noChangeAspect="1"/>
          </p:cNvPicPr>
          <p:nvPr/>
        </p:nvPicPr>
        <p:blipFill>
          <a:blip r:embed="rId7">
            <a:lum/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p:blipFill>
        <p:spPr bwMode="white">
          <a:xfrm>
            <a:off x="495610" y="197468"/>
            <a:ext cx="381196" cy="38119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" name="CloudAppAction"/>
          <p:cNvSpPr>
            <a:spLocks/>
          </p:cNvSpPr>
          <p:nvPr/>
        </p:nvSpPr>
        <p:spPr bwMode="auto">
          <a:xfrm>
            <a:off x="6206089" y="2718506"/>
            <a:ext cx="3227026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Selected cloud apps</a:t>
            </a:r>
          </a:p>
        </p:txBody>
      </p:sp>
      <p:pic>
        <p:nvPicPr>
          <p:cNvPr id="54" name="IconAccessSelectedCloudApps"/>
          <p:cNvPicPr>
            <a:picLocks noChangeAspect="1"/>
          </p:cNvPicPr>
          <p:nvPr/>
        </p:nvPicPr>
        <p:blipFill>
          <a:blip r:embed="rId9">
            <a:lum/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p:blipFill>
        <p:spPr bwMode="white">
          <a:xfrm>
            <a:off x="6479318" y="2882544"/>
            <a:ext cx="548640" cy="54864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21" name="StateEnabled"/>
          <p:cNvSpPr>
            <a:spLocks/>
          </p:cNvSpPr>
          <p:nvPr/>
        </p:nvSpPr>
        <p:spPr bwMode="white">
          <a:xfrm>
            <a:off x="10842171" y="83487"/>
            <a:ext cx="1260389" cy="264812"/>
          </a:xfrm>
          <a:prstGeom prst="round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r>
              <a:rPr lang="en-US" sz="800" dirty="0"/>
              <a:t>Policy Enabled</a:t>
            </a:r>
          </a:p>
        </p:txBody>
      </p:sp>
      <p:grpSp>
        <p:nvGrpSpPr>
          <p:cNvPr id="10" name="IconRiskyUsers"/>
          <p:cNvGrpSpPr>
            <a:grpSpLocks/>
          </p:cNvGrpSpPr>
          <p:nvPr/>
        </p:nvGrpSpPr>
        <p:grpSpPr bwMode="white">
          <a:xfrm>
            <a:off x="635426" y="738677"/>
            <a:ext cx="1202553" cy="274320"/>
            <a:chOff x="2013768" y="1033956"/>
            <a:chExt cx="1342320" cy="274320"/>
          </a:xfrm>
        </p:grpSpPr>
        <p:pic>
          <p:nvPicPr>
            <p:cNvPr id="46" name="Graphic 1"/>
            <p:cNvPicPr>
              <a:picLocks noChangeAspect="1"/>
            </p:cNvPicPr>
            <p:nvPr/>
          </p:nvPicPr>
          <p:blipFill>
            <a:blip r:embed="rId11">
              <a:lum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013768" y="1033956"/>
              <a:ext cx="274320" cy="27432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5" name="Label 1"/>
            <p:cNvSpPr txBox="1">
              <a:spLocks noChangeArrowheads="1"/>
            </p:cNvSpPr>
            <p:nvPr/>
          </p:nvSpPr>
          <p:spPr bwMode="white">
            <a:xfrm>
              <a:off x="2240077" y="1040706"/>
              <a:ext cx="1116011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Risk</a:t>
              </a:r>
            </a:p>
          </p:txBody>
        </p:sp>
      </p:grpSp>
      <p:grpSp>
        <p:nvGrpSpPr>
          <p:cNvPr id="14" name="IconPlatforms"/>
          <p:cNvGrpSpPr>
            <a:grpSpLocks/>
          </p:cNvGrpSpPr>
          <p:nvPr/>
        </p:nvGrpSpPr>
        <p:grpSpPr bwMode="white">
          <a:xfrm>
            <a:off x="1927788" y="715249"/>
            <a:ext cx="1719285" cy="365760"/>
            <a:chOff x="3262737" y="994835"/>
            <a:chExt cx="1719285" cy="365760"/>
          </a:xfrm>
        </p:grpSpPr>
        <p:pic>
          <p:nvPicPr>
            <p:cNvPr id="29" name="Graphic 1"/>
            <p:cNvPicPr>
              <a:picLocks noChangeAspect="1"/>
            </p:cNvPicPr>
            <p:nvPr/>
          </p:nvPicPr>
          <p:blipFill>
            <a:blip r:embed="rId13">
              <a:lum/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3262737" y="994835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1" name="Label 1"/>
            <p:cNvSpPr txBox="1">
              <a:spLocks noChangeArrowheads="1"/>
            </p:cNvSpPr>
            <p:nvPr/>
          </p:nvSpPr>
          <p:spPr bwMode="white">
            <a:xfrm>
              <a:off x="3582397" y="1027255"/>
              <a:ext cx="1399625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Device platforms</a:t>
              </a:r>
            </a:p>
          </p:txBody>
        </p:sp>
      </p:grpSp>
      <p:grpSp>
        <p:nvGrpSpPr>
          <p:cNvPr id="17" name="IconClientAppTypes"/>
          <p:cNvGrpSpPr>
            <a:grpSpLocks/>
          </p:cNvGrpSpPr>
          <p:nvPr/>
        </p:nvGrpSpPr>
        <p:grpSpPr bwMode="white">
          <a:xfrm>
            <a:off x="3908159" y="670015"/>
            <a:ext cx="1852971" cy="365760"/>
            <a:chOff x="4858970" y="975927"/>
            <a:chExt cx="1852971" cy="365760"/>
          </a:xfrm>
        </p:grpSpPr>
        <p:pic>
          <p:nvPicPr>
            <p:cNvPr id="58" name="Graphic 1"/>
            <p:cNvPicPr>
              <a:picLocks noChangeAspect="1"/>
            </p:cNvPicPr>
            <p:nvPr/>
          </p:nvPicPr>
          <p:blipFill>
            <a:blip r:embed="rId15">
              <a:lum/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858970" y="975927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5" name="Label 1"/>
            <p:cNvSpPr txBox="1">
              <a:spLocks noChangeArrowheads="1"/>
            </p:cNvSpPr>
            <p:nvPr/>
          </p:nvSpPr>
          <p:spPr bwMode="white">
            <a:xfrm>
              <a:off x="5193983" y="1009899"/>
              <a:ext cx="1517958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Client apps</a:t>
              </a:r>
            </a:p>
          </p:txBody>
        </p:sp>
      </p:grpSp>
      <p:grpSp>
        <p:nvGrpSpPr>
          <p:cNvPr id="37" name="IconLocations"/>
          <p:cNvGrpSpPr>
            <a:grpSpLocks/>
          </p:cNvGrpSpPr>
          <p:nvPr/>
        </p:nvGrpSpPr>
        <p:grpSpPr bwMode="white">
          <a:xfrm>
            <a:off x="8411896" y="646848"/>
            <a:ext cx="1850168" cy="388465"/>
            <a:chOff x="2321433" y="3262888"/>
            <a:chExt cx="1850168" cy="388465"/>
          </a:xfrm>
        </p:grpSpPr>
        <p:pic>
          <p:nvPicPr>
            <p:cNvPr id="33" name="Graphic 1"/>
            <p:cNvPicPr>
              <a:picLocks noChangeAspect="1"/>
            </p:cNvPicPr>
            <p:nvPr/>
          </p:nvPicPr>
          <p:blipFill>
            <a:blip r:embed="rId17">
              <a:lum/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321433" y="3262888"/>
              <a:ext cx="388465" cy="388465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28" name="Label 1"/>
            <p:cNvSpPr txBox="1">
              <a:spLocks noChangeArrowheads="1"/>
            </p:cNvSpPr>
            <p:nvPr/>
          </p:nvSpPr>
          <p:spPr bwMode="white">
            <a:xfrm>
              <a:off x="2713321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Locations</a:t>
              </a:r>
              <a:endParaRPr lang="en-US" sz="1100" b="1" dirty="0"/>
            </a:p>
          </p:txBody>
        </p:sp>
      </p:grpSp>
      <p:grpSp>
        <p:nvGrpSpPr>
          <p:cNvPr id="39" name="IconDeviceFilters"/>
          <p:cNvGrpSpPr>
            <a:grpSpLocks/>
          </p:cNvGrpSpPr>
          <p:nvPr/>
        </p:nvGrpSpPr>
        <p:grpSpPr bwMode="white">
          <a:xfrm>
            <a:off x="5472818" y="661958"/>
            <a:ext cx="1839823" cy="364111"/>
            <a:chOff x="4195414" y="3273669"/>
            <a:chExt cx="1839823" cy="364111"/>
          </a:xfrm>
        </p:grpSpPr>
        <p:pic>
          <p:nvPicPr>
            <p:cNvPr id="60" name="Graphic 1"/>
            <p:cNvPicPr>
              <a:picLocks noChangeAspect="1"/>
            </p:cNvPicPr>
            <p:nvPr/>
          </p:nvPicPr>
          <p:blipFill>
            <a:blip r:embed="rId19">
              <a:lum/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195414" y="3273669"/>
              <a:ext cx="364111" cy="364111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31" name="Label 1"/>
            <p:cNvSpPr txBox="1">
              <a:spLocks noChangeArrowheads="1"/>
            </p:cNvSpPr>
            <p:nvPr/>
          </p:nvSpPr>
          <p:spPr bwMode="white">
            <a:xfrm>
              <a:off x="4576957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Filter for devices</a:t>
              </a:r>
              <a:endParaRPr lang="en-US" sz="1100" b="1" dirty="0"/>
            </a:p>
          </p:txBody>
        </p:sp>
      </p:grpSp>
      <p:pic>
        <p:nvPicPr>
          <p:cNvPr id="62" name="IconGrantMultifactorAuthentication"/>
          <p:cNvPicPr>
            <a:picLocks noChangeAspect="1"/>
          </p:cNvPicPr>
          <p:nvPr/>
        </p:nvPicPr>
        <p:blipFill>
          <a:blip r:embed="rId21">
            <a:lum/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>
            <a:fillRect/>
          </a:stretch>
        </p:blipFill>
        <p:spPr bwMode="white">
          <a:xfrm>
            <a:off x="3410647" y="3566863"/>
            <a:ext cx="17145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5" name="IconGrantMultifactorAuthenticationLabel"/>
          <p:cNvSpPr txBox="1">
            <a:spLocks noChangeArrowheads="1"/>
          </p:cNvSpPr>
          <p:nvPr/>
        </p:nvSpPr>
        <p:spPr bwMode="white">
          <a:xfrm>
            <a:off x="3575836" y="3571997"/>
            <a:ext cx="19007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Multifactor authentication</a:t>
            </a:r>
            <a:endParaRPr lang="en-US" sz="1000" dirty="0"/>
          </a:p>
        </p:txBody>
      </p:sp>
      <p:pic>
        <p:nvPicPr>
          <p:cNvPr id="38" name="IconGrantAuthenticationStrength"/>
          <p:cNvPicPr>
            <a:picLocks noChangeAspect="1"/>
          </p:cNvPicPr>
          <p:nvPr/>
        </p:nvPicPr>
        <p:blipFill>
          <a:blip r:embed="rId23">
            <a:lum/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/>
          <a:stretch>
            <a:fillRect/>
          </a:stretch>
        </p:blipFill>
        <p:spPr bwMode="white">
          <a:xfrm>
            <a:off x="3374515" y="3905034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7" name="IconGrantAuthenticationStrengthLabel"/>
          <p:cNvSpPr txBox="1">
            <a:spLocks noChangeArrowheads="1"/>
          </p:cNvSpPr>
          <p:nvPr/>
        </p:nvSpPr>
        <p:spPr bwMode="white">
          <a:xfrm>
            <a:off x="3575836" y="3907323"/>
            <a:ext cx="2185294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Authentication strength</a:t>
            </a:r>
            <a:endParaRPr lang="en-US" sz="1000" dirty="0"/>
          </a:p>
        </p:txBody>
      </p:sp>
      <p:pic>
        <p:nvPicPr>
          <p:cNvPr id="52" name="IconGrantDeviceCompliance"/>
          <p:cNvPicPr>
            <a:picLocks noChangeAspect="1"/>
          </p:cNvPicPr>
          <p:nvPr/>
        </p:nvPicPr>
        <p:blipFill>
          <a:blip r:embed="rId25">
            <a:lum/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/>
          <a:stretch>
            <a:fillRect/>
          </a:stretch>
        </p:blipFill>
        <p:spPr bwMode="white">
          <a:xfrm>
            <a:off x="3374515" y="4243205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9" name="IconGrantDeviceComplianceLabel"/>
          <p:cNvSpPr txBox="1">
            <a:spLocks noChangeArrowheads="1"/>
          </p:cNvSpPr>
          <p:nvPr/>
        </p:nvSpPr>
        <p:spPr bwMode="white">
          <a:xfrm>
            <a:off x="3575836" y="4242649"/>
            <a:ext cx="17378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Compliant device</a:t>
            </a:r>
            <a:endParaRPr lang="en-US" sz="1000" dirty="0"/>
          </a:p>
        </p:txBody>
      </p:sp>
      <p:pic>
        <p:nvPicPr>
          <p:cNvPr id="43" name="IconGrantHybridJoined"/>
          <p:cNvPicPr>
            <a:picLocks noChangeAspect="1"/>
          </p:cNvPicPr>
          <p:nvPr/>
        </p:nvPicPr>
        <p:blipFill>
          <a:blip r:embed="rId27">
            <a:lum/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/>
          <a:stretch>
            <a:fillRect/>
          </a:stretch>
        </p:blipFill>
        <p:spPr bwMode="white">
          <a:xfrm>
            <a:off x="3374515" y="4581376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3" name="IconGrantHybridJoinedLabel"/>
          <p:cNvSpPr txBox="1">
            <a:spLocks noChangeArrowheads="1"/>
          </p:cNvSpPr>
          <p:nvPr/>
        </p:nvSpPr>
        <p:spPr bwMode="white">
          <a:xfrm>
            <a:off x="3575836" y="4577975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Hybrid Azure AD joined device</a:t>
            </a:r>
            <a:endParaRPr lang="en-US" sz="1000" dirty="0"/>
          </a:p>
        </p:txBody>
      </p:sp>
      <p:pic>
        <p:nvPicPr>
          <p:cNvPr id="48" name="IconGrantApprovedClientApp"/>
          <p:cNvPicPr>
            <a:picLocks noChangeAspect="1"/>
          </p:cNvPicPr>
          <p:nvPr/>
        </p:nvPicPr>
        <p:blipFill>
          <a:blip r:embed="rId29">
            <a:lum/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rcRect/>
          <a:stretch>
            <a:fillRect/>
          </a:stretch>
        </p:blipFill>
        <p:spPr bwMode="white">
          <a:xfrm>
            <a:off x="3374515" y="491954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5" name="IconGrantApprovedClientAppLabel"/>
          <p:cNvSpPr txBox="1">
            <a:spLocks noChangeArrowheads="1"/>
          </p:cNvSpPr>
          <p:nvPr/>
        </p:nvSpPr>
        <p:spPr bwMode="white">
          <a:xfrm>
            <a:off x="3575836" y="4913301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Approved client app</a:t>
            </a:r>
            <a:endParaRPr lang="en-US" sz="1000" dirty="0"/>
          </a:p>
        </p:txBody>
      </p:sp>
      <p:pic>
        <p:nvPicPr>
          <p:cNvPr id="42" name="IconGrantCustomAuth"/>
          <p:cNvPicPr>
            <a:picLocks noChangeAspect="1"/>
          </p:cNvPicPr>
          <p:nvPr/>
        </p:nvPicPr>
        <p:blipFill>
          <a:blip r:embed="rId31">
            <a:lum/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rcRect/>
          <a:stretch>
            <a:fillRect/>
          </a:stretch>
        </p:blipFill>
        <p:spPr bwMode="white">
          <a:xfrm>
            <a:off x="3374515" y="593406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9" name="IconGrantCustomAuthLabel"/>
          <p:cNvSpPr txBox="1">
            <a:spLocks noChangeArrowheads="1"/>
          </p:cNvSpPr>
          <p:nvPr/>
        </p:nvSpPr>
        <p:spPr bwMode="white">
          <a:xfrm>
            <a:off x="3575836" y="5919279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Custom authentication factor</a:t>
            </a:r>
            <a:endParaRPr lang="en-US" sz="1000" dirty="0"/>
          </a:p>
        </p:txBody>
      </p:sp>
      <p:pic>
        <p:nvPicPr>
          <p:cNvPr id="40" name="IconGrantTermsOfUse"/>
          <p:cNvPicPr>
            <a:picLocks noChangeAspect="1"/>
          </p:cNvPicPr>
          <p:nvPr/>
        </p:nvPicPr>
        <p:blipFill>
          <a:blip r:embed="rId33">
            <a:lum/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rcRect/>
          <a:stretch>
            <a:fillRect/>
          </a:stretch>
        </p:blipFill>
        <p:spPr bwMode="white">
          <a:xfrm>
            <a:off x="3374515" y="627222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3" name="IconGrantTermsOfUseLabel"/>
          <p:cNvSpPr txBox="1">
            <a:spLocks noChangeArrowheads="1"/>
          </p:cNvSpPr>
          <p:nvPr/>
        </p:nvSpPr>
        <p:spPr bwMode="white">
          <a:xfrm>
            <a:off x="3575836" y="625460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Terms of use</a:t>
            </a:r>
            <a:endParaRPr lang="en-US" sz="1000" dirty="0"/>
          </a:p>
        </p:txBody>
      </p:sp>
      <p:sp>
        <p:nvSpPr>
          <p:cNvPr id="56" name="IconGrantAppProtectionLabel"/>
          <p:cNvSpPr txBox="1">
            <a:spLocks noChangeArrowheads="1"/>
          </p:cNvSpPr>
          <p:nvPr/>
        </p:nvSpPr>
        <p:spPr bwMode="white">
          <a:xfrm>
            <a:off x="3575836" y="524862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 protection policy</a:t>
            </a:r>
            <a:endParaRPr lang="en-US" sz="1000" dirty="0"/>
          </a:p>
        </p:txBody>
      </p:sp>
      <p:pic>
        <p:nvPicPr>
          <p:cNvPr id="65" name="IconGrantAppProtection"/>
          <p:cNvPicPr>
            <a:picLocks noChangeAspect="1"/>
          </p:cNvPicPr>
          <p:nvPr/>
        </p:nvPicPr>
        <p:blipFill>
          <a:blip r:embed="rId35">
            <a:lum/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rcRect/>
          <a:stretch>
            <a:fillRect/>
          </a:stretch>
        </p:blipFill>
        <p:spPr bwMode="white">
          <a:xfrm>
            <a:off x="3374515" y="525771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7" name="IconGrantChangePasswordLabel"/>
          <p:cNvSpPr txBox="1">
            <a:spLocks noChangeArrowheads="1"/>
          </p:cNvSpPr>
          <p:nvPr/>
        </p:nvSpPr>
        <p:spPr bwMode="white">
          <a:xfrm>
            <a:off x="3575836" y="5583953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Change password</a:t>
            </a:r>
            <a:endParaRPr lang="en-US" sz="1000" dirty="0"/>
          </a:p>
        </p:txBody>
      </p:sp>
      <p:pic>
        <p:nvPicPr>
          <p:cNvPr id="67" name="IconGrantChangePassword"/>
          <p:cNvPicPr>
            <a:picLocks noChangeAspect="1"/>
          </p:cNvPicPr>
          <p:nvPr/>
        </p:nvPicPr>
        <p:blipFill>
          <a:blip r:embed="rId37">
            <a:lum/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rcRect/>
          <a:stretch>
            <a:fillRect/>
          </a:stretch>
        </p:blipFill>
        <p:spPr bwMode="white">
          <a:xfrm>
            <a:off x="3374515" y="5595889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4" name="ShadeRisk"/>
          <p:cNvSpPr>
            <a:spLocks/>
          </p:cNvSpPr>
          <p:nvPr/>
        </p:nvSpPr>
        <p:spPr bwMode="white">
          <a:xfrm>
            <a:off x="507564" y="650246"/>
            <a:ext cx="976864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2" name="ShadeFilterForDevices"/>
          <p:cNvSpPr>
            <a:spLocks/>
          </p:cNvSpPr>
          <p:nvPr/>
        </p:nvSpPr>
        <p:spPr bwMode="white">
          <a:xfrm>
            <a:off x="5438955" y="627922"/>
            <a:ext cx="1873685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3" name="ShadeGrantMultifactorAuth"/>
          <p:cNvSpPr>
            <a:spLocks/>
          </p:cNvSpPr>
          <p:nvPr/>
        </p:nvSpPr>
        <p:spPr bwMode="white">
          <a:xfrm>
            <a:off x="3369399" y="3534220"/>
            <a:ext cx="2069555" cy="28330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4" name="ShadeGrantAuthStrength"/>
          <p:cNvSpPr>
            <a:spLocks/>
          </p:cNvSpPr>
          <p:nvPr/>
        </p:nvSpPr>
        <p:spPr bwMode="white">
          <a:xfrm>
            <a:off x="3350256" y="3869846"/>
            <a:ext cx="2069555" cy="27801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5" name="ShadeGrantCompliantDevice"/>
          <p:cNvSpPr>
            <a:spLocks/>
          </p:cNvSpPr>
          <p:nvPr/>
        </p:nvSpPr>
        <p:spPr bwMode="white">
          <a:xfrm>
            <a:off x="3361852" y="4243205"/>
            <a:ext cx="2077102" cy="26110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6" name="ShadeGrantHybridAzureADJoined"/>
          <p:cNvSpPr>
            <a:spLocks/>
          </p:cNvSpPr>
          <p:nvPr/>
        </p:nvSpPr>
        <p:spPr bwMode="white">
          <a:xfrm>
            <a:off x="3353637" y="4552268"/>
            <a:ext cx="2160906" cy="298395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7" name="ShadeGrantApprovedClientApp"/>
          <p:cNvSpPr>
            <a:spLocks/>
          </p:cNvSpPr>
          <p:nvPr/>
        </p:nvSpPr>
        <p:spPr bwMode="white">
          <a:xfrm>
            <a:off x="3331918" y="4876027"/>
            <a:ext cx="2182625" cy="29839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8" name="ShadeGrantAppProtectionPolicy"/>
          <p:cNvSpPr>
            <a:spLocks/>
          </p:cNvSpPr>
          <p:nvPr/>
        </p:nvSpPr>
        <p:spPr bwMode="white">
          <a:xfrm>
            <a:off x="3350256" y="5207226"/>
            <a:ext cx="2122561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9" name="ShadeGrantChangePassword"/>
          <p:cNvSpPr>
            <a:spLocks/>
          </p:cNvSpPr>
          <p:nvPr/>
        </p:nvSpPr>
        <p:spPr bwMode="white">
          <a:xfrm>
            <a:off x="3350257" y="5557021"/>
            <a:ext cx="2042006" cy="287239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0" name="ShadeGrantCustomAuthFactor"/>
          <p:cNvSpPr>
            <a:spLocks/>
          </p:cNvSpPr>
          <p:nvPr/>
        </p:nvSpPr>
        <p:spPr bwMode="white">
          <a:xfrm>
            <a:off x="3331918" y="5899058"/>
            <a:ext cx="2182625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1" name="ShadeGrantTermsOfUse"/>
          <p:cNvSpPr>
            <a:spLocks/>
          </p:cNvSpPr>
          <p:nvPr/>
        </p:nvSpPr>
        <p:spPr bwMode="white">
          <a:xfrm>
            <a:off x="3313823" y="6192350"/>
            <a:ext cx="101602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99" name="Rectangle 98"/>
          <p:cNvSpPr>
            <a:spLocks/>
          </p:cNvSpPr>
          <p:nvPr/>
        </p:nvSpPr>
        <p:spPr bwMode="white">
          <a:xfrm>
            <a:off x="3268757" y="3253404"/>
            <a:ext cx="2357725" cy="3498546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0" name="Rectangle 109"/>
          <p:cNvSpPr>
            <a:spLocks/>
          </p:cNvSpPr>
          <p:nvPr/>
        </p:nvSpPr>
        <p:spPr bwMode="white">
          <a:xfrm>
            <a:off x="9881750" y="3248255"/>
            <a:ext cx="2220808" cy="3510149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7" name="Rectangle 116"/>
          <p:cNvSpPr>
            <a:spLocks/>
          </p:cNvSpPr>
          <p:nvPr/>
        </p:nvSpPr>
        <p:spPr bwMode="white">
          <a:xfrm>
            <a:off x="26741" y="606825"/>
            <a:ext cx="11985015" cy="2063636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2" name="Conditions Label"/>
          <p:cNvSpPr txBox="1">
            <a:spLocks noChangeArrowheads="1"/>
          </p:cNvSpPr>
          <p:nvPr/>
        </p:nvSpPr>
        <p:spPr bwMode="white">
          <a:xfrm rot="16200000">
            <a:off x="-883507" y="1514324"/>
            <a:ext cx="2081441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Conditions</a:t>
            </a:r>
          </a:p>
        </p:txBody>
      </p:sp>
      <p:sp>
        <p:nvSpPr>
          <p:cNvPr id="109" name="Grant Controls"/>
          <p:cNvSpPr txBox="1">
            <a:spLocks noChangeArrowheads="1"/>
          </p:cNvSpPr>
          <p:nvPr/>
        </p:nvSpPr>
        <p:spPr bwMode="white">
          <a:xfrm>
            <a:off x="3252146" y="3244395"/>
            <a:ext cx="2391873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Grant Controls</a:t>
            </a:r>
          </a:p>
        </p:txBody>
      </p:sp>
      <p:sp>
        <p:nvSpPr>
          <p:cNvPr id="111" name="Session Controls"/>
          <p:cNvSpPr txBox="1">
            <a:spLocks noChangeArrowheads="1"/>
          </p:cNvSpPr>
          <p:nvPr/>
        </p:nvSpPr>
        <p:spPr bwMode="white">
          <a:xfrm>
            <a:off x="9864212" y="3243751"/>
            <a:ext cx="2238346" cy="23786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Session Controls</a:t>
            </a:r>
          </a:p>
        </p:txBody>
      </p:sp>
      <p:pic>
        <p:nvPicPr>
          <p:cNvPr id="72" name="Graphic 71"/>
          <p:cNvPicPr>
            <a:picLocks noChangeAspect="1"/>
          </p:cNvPicPr>
          <p:nvPr/>
        </p:nvPicPr>
        <p:blipFill>
          <a:blip r:embed="rId39">
            <a:lum/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rcRect/>
          <a:stretch>
            <a:fillRect/>
          </a:stretch>
        </p:blipFill>
        <p:spPr bwMode="white">
          <a:xfrm>
            <a:off x="9996846" y="356982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4" name="Graphic 93"/>
          <p:cNvPicPr>
            <a:picLocks noChangeAspect="1"/>
          </p:cNvPicPr>
          <p:nvPr/>
        </p:nvPicPr>
        <p:blipFill>
          <a:blip r:embed="rId41">
            <a:lum/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rcRect/>
          <a:stretch>
            <a:fillRect/>
          </a:stretch>
        </p:blipFill>
        <p:spPr bwMode="white">
          <a:xfrm>
            <a:off x="10009443" y="525644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5" name="TextBox 94"/>
          <p:cNvSpPr txBox="1">
            <a:spLocks noChangeArrowheads="1"/>
          </p:cNvSpPr>
          <p:nvPr/>
        </p:nvSpPr>
        <p:spPr bwMode="white">
          <a:xfrm>
            <a:off x="10207481" y="3578463"/>
            <a:ext cx="150554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App enforced restrictions</a:t>
            </a:r>
          </a:p>
        </p:txBody>
      </p:sp>
      <p:sp>
        <p:nvSpPr>
          <p:cNvPr id="96" name="TextBox 95"/>
          <p:cNvSpPr txBox="1">
            <a:spLocks noChangeArrowheads="1"/>
          </p:cNvSpPr>
          <p:nvPr/>
        </p:nvSpPr>
        <p:spPr bwMode="white">
          <a:xfrm>
            <a:off x="10201167" y="3899846"/>
            <a:ext cx="181011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Conditional Access App Control</a:t>
            </a:r>
          </a:p>
        </p:txBody>
      </p:sp>
      <p:sp>
        <p:nvSpPr>
          <p:cNvPr id="97" name="TextBox 96"/>
          <p:cNvSpPr txBox="1">
            <a:spLocks noChangeArrowheads="1"/>
          </p:cNvSpPr>
          <p:nvPr/>
        </p:nvSpPr>
        <p:spPr bwMode="white">
          <a:xfrm>
            <a:off x="10215627" y="4357505"/>
            <a:ext cx="1090363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Sign-in frequency</a:t>
            </a:r>
          </a:p>
        </p:txBody>
      </p:sp>
      <p:sp>
        <p:nvSpPr>
          <p:cNvPr id="98" name="TextBox 97"/>
          <p:cNvSpPr txBox="1">
            <a:spLocks noChangeArrowheads="1"/>
          </p:cNvSpPr>
          <p:nvPr/>
        </p:nvSpPr>
        <p:spPr bwMode="white">
          <a:xfrm>
            <a:off x="10225446" y="4793305"/>
            <a:ext cx="156966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Persistent browser session</a:t>
            </a:r>
          </a:p>
        </p:txBody>
      </p:sp>
      <p:sp>
        <p:nvSpPr>
          <p:cNvPr id="100" name="TextBox 99"/>
          <p:cNvSpPr txBox="1">
            <a:spLocks noChangeArrowheads="1"/>
          </p:cNvSpPr>
          <p:nvPr/>
        </p:nvSpPr>
        <p:spPr bwMode="white">
          <a:xfrm>
            <a:off x="10229552" y="5232376"/>
            <a:ext cx="1717137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Continuous access evaluation</a:t>
            </a:r>
          </a:p>
        </p:txBody>
      </p:sp>
      <p:sp>
        <p:nvSpPr>
          <p:cNvPr id="101" name="TextBox 100"/>
          <p:cNvSpPr txBox="1">
            <a:spLocks noChangeArrowheads="1"/>
          </p:cNvSpPr>
          <p:nvPr/>
        </p:nvSpPr>
        <p:spPr bwMode="white">
          <a:xfrm>
            <a:off x="10259108" y="5658625"/>
            <a:ext cx="153599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Disable resilience defaults</a:t>
            </a:r>
          </a:p>
        </p:txBody>
      </p:sp>
      <p:pic>
        <p:nvPicPr>
          <p:cNvPr id="103" name="Graphic 102"/>
          <p:cNvPicPr>
            <a:picLocks noChangeAspect="1"/>
          </p:cNvPicPr>
          <p:nvPr/>
        </p:nvPicPr>
        <p:blipFill>
          <a:blip r:embed="rId43">
            <a:lum/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rcRect/>
          <a:stretch>
            <a:fillRect/>
          </a:stretch>
        </p:blipFill>
        <p:spPr bwMode="white">
          <a:xfrm>
            <a:off x="9996846" y="479900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5" name="Graphic 104"/>
          <p:cNvPicPr>
            <a:picLocks noChangeAspect="1"/>
          </p:cNvPicPr>
          <p:nvPr/>
        </p:nvPicPr>
        <p:blipFill>
          <a:blip r:embed="rId45">
            <a:lum/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rcRect/>
          <a:stretch>
            <a:fillRect/>
          </a:stretch>
        </p:blipFill>
        <p:spPr bwMode="white">
          <a:xfrm>
            <a:off x="9996846" y="437457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7" name="Graphic 106"/>
          <p:cNvPicPr>
            <a:picLocks noChangeAspect="1"/>
          </p:cNvPicPr>
          <p:nvPr/>
        </p:nvPicPr>
        <p:blipFill>
          <a:blip r:embed="rId7">
            <a:lum/>
            <a:extLst>
              <a:ext uri="{96DAC541-7B7A-43D3-8B79-37D633B846F1}">
                <asvg:svgBlip xmlns:asvg="http://schemas.microsoft.com/office/drawing/2016/SVG/main" r:embed="rId47"/>
              </a:ext>
            </a:extLst>
          </a:blip>
          <a:srcRect/>
          <a:stretch>
            <a:fillRect/>
          </a:stretch>
        </p:blipFill>
        <p:spPr bwMode="white">
          <a:xfrm>
            <a:off x="9996846" y="391529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15" name="SessionSifInterval"/>
          <p:cNvSpPr txBox="1">
            <a:spLocks noChangeArrowheads="1"/>
          </p:cNvSpPr>
          <p:nvPr/>
        </p:nvSpPr>
        <p:spPr bwMode="white">
          <a:xfrm>
            <a:off x="10296745" y="4516775"/>
            <a:ext cx="1249060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Every time</a:t>
            </a:r>
          </a:p>
        </p:txBody>
      </p:sp>
      <p:sp>
        <p:nvSpPr>
          <p:cNvPr id="114" name="SessionCasType"/>
          <p:cNvSpPr txBox="1">
            <a:spLocks noChangeArrowheads="1"/>
          </p:cNvSpPr>
          <p:nvPr/>
        </p:nvSpPr>
        <p:spPr bwMode="white">
          <a:xfrm>
            <a:off x="10296745" y="4075500"/>
            <a:ext cx="95410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App Control Policy</a:t>
            </a:r>
          </a:p>
        </p:txBody>
      </p:sp>
      <p:sp>
        <p:nvSpPr>
          <p:cNvPr id="116" name="SessionPersistenBrowserMode"/>
          <p:cNvSpPr txBox="1">
            <a:spLocks noChangeArrowheads="1"/>
          </p:cNvSpPr>
          <p:nvPr/>
        </p:nvSpPr>
        <p:spPr bwMode="white">
          <a:xfrm>
            <a:off x="10309761" y="4945281"/>
            <a:ext cx="918841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Always persistent</a:t>
            </a:r>
          </a:p>
        </p:txBody>
      </p:sp>
      <p:sp>
        <p:nvSpPr>
          <p:cNvPr id="118" name="SessionCaeMode"/>
          <p:cNvSpPr txBox="1">
            <a:spLocks noChangeArrowheads="1"/>
          </p:cNvSpPr>
          <p:nvPr/>
        </p:nvSpPr>
        <p:spPr bwMode="white">
          <a:xfrm>
            <a:off x="10301386" y="5393378"/>
            <a:ext cx="15359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US" sz="800" dirty="0"/>
              <a:t>Strictly enforce location policies</a:t>
            </a:r>
          </a:p>
        </p:txBody>
      </p:sp>
      <p:sp>
        <p:nvSpPr>
          <p:cNvPr id="119" name="ShadeSessionAppEnforced"/>
          <p:cNvSpPr>
            <a:spLocks/>
          </p:cNvSpPr>
          <p:nvPr/>
        </p:nvSpPr>
        <p:spPr bwMode="white">
          <a:xfrm>
            <a:off x="9959680" y="3548808"/>
            <a:ext cx="2051597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0" name="ShadeSessionCas"/>
          <p:cNvSpPr>
            <a:spLocks/>
          </p:cNvSpPr>
          <p:nvPr/>
        </p:nvSpPr>
        <p:spPr bwMode="white">
          <a:xfrm>
            <a:off x="9978939" y="3884212"/>
            <a:ext cx="2087576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2" name="ShadeSessionPersistentBrowser"/>
          <p:cNvSpPr>
            <a:spLocks/>
          </p:cNvSpPr>
          <p:nvPr/>
        </p:nvSpPr>
        <p:spPr bwMode="white">
          <a:xfrm>
            <a:off x="9938833" y="4746195"/>
            <a:ext cx="207244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" name="Label Secure Sign In Session"/>
          <p:cNvSpPr txBox="1">
            <a:spLocks noChangeArrowheads="1"/>
          </p:cNvSpPr>
          <p:nvPr/>
        </p:nvSpPr>
        <p:spPr bwMode="white">
          <a:xfrm>
            <a:off x="10260000" y="6084874"/>
            <a:ext cx="166584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Token protection for session</a:t>
            </a:r>
          </a:p>
        </p:txBody>
      </p:sp>
      <p:pic>
        <p:nvPicPr>
          <p:cNvPr id="77" name="IconSessionCaeDisable" descr="Close with solid fill"/>
          <p:cNvPicPr>
            <a:picLocks noChangeAspect="1"/>
          </p:cNvPicPr>
          <p:nvPr/>
        </p:nvPicPr>
        <p:blipFill>
          <a:blip r:embed="rId48">
            <a:lum/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rcRect/>
          <a:stretch>
            <a:fillRect/>
          </a:stretch>
        </p:blipFill>
        <p:spPr bwMode="white">
          <a:xfrm>
            <a:off x="9979885" y="5218651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2" name="IconSessionSecureSignInSession 1"/>
          <p:cNvPicPr>
            <a:picLocks noChangeAspect="1"/>
          </p:cNvPicPr>
          <p:nvPr/>
        </p:nvPicPr>
        <p:blipFill>
          <a:blip r:embed="rId50">
            <a:lum/>
            <a:extLst>
              <a:ext uri="{96DAC541-7B7A-43D3-8B79-37D633B846F1}">
                <asvg:svgBlip xmlns:asvg="http://schemas.microsoft.com/office/drawing/2016/SVG/main" r:embed="rId51"/>
              </a:ext>
            </a:extLst>
          </a:blip>
          <a:srcRect/>
          <a:stretch>
            <a:fillRect/>
          </a:stretch>
        </p:blipFill>
        <p:spPr bwMode="white">
          <a:xfrm>
            <a:off x="9997200" y="6085768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3" name="ShadeSessionCae"/>
          <p:cNvSpPr>
            <a:spLocks/>
          </p:cNvSpPr>
          <p:nvPr/>
        </p:nvSpPr>
        <p:spPr bwMode="white">
          <a:xfrm>
            <a:off x="9987595" y="5219780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76" name="ShadeSessionSecureSignIn"/>
          <p:cNvSpPr>
            <a:spLocks/>
          </p:cNvSpPr>
          <p:nvPr/>
        </p:nvSpPr>
        <p:spPr bwMode="white">
          <a:xfrm>
            <a:off x="9996846" y="5986498"/>
            <a:ext cx="2014431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pic>
        <p:nvPicPr>
          <p:cNvPr id="102" name="Graphic 101"/>
          <p:cNvPicPr>
            <a:picLocks noChangeAspect="1"/>
          </p:cNvPicPr>
          <p:nvPr/>
        </p:nvPicPr>
        <p:blipFill>
          <a:blip r:embed="rId52">
            <a:lum/>
            <a:extLst>
              <a:ext uri="{96DAC541-7B7A-43D3-8B79-37D633B846F1}">
                <asvg:svgBlip xmlns:asvg="http://schemas.microsoft.com/office/drawing/2016/SVG/main" r:embed="rId53"/>
              </a:ext>
            </a:extLst>
          </a:blip>
          <a:srcRect/>
          <a:stretch>
            <a:fillRect/>
          </a:stretch>
        </p:blipFill>
        <p:spPr bwMode="white">
          <a:xfrm>
            <a:off x="9997200" y="5663777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80" name="Graphic 79" descr="Close with solid fill"/>
          <p:cNvPicPr>
            <a:picLocks noChangeAspect="1"/>
          </p:cNvPicPr>
          <p:nvPr/>
        </p:nvPicPr>
        <p:blipFill>
          <a:blip r:embed="rId48">
            <a:lum/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rcRect/>
          <a:stretch>
            <a:fillRect/>
          </a:stretch>
        </p:blipFill>
        <p:spPr bwMode="white">
          <a:xfrm>
            <a:off x="9963899" y="5637424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4" name="ShadeSessionDisableResilience"/>
          <p:cNvSpPr>
            <a:spLocks/>
          </p:cNvSpPr>
          <p:nvPr/>
        </p:nvSpPr>
        <p:spPr bwMode="white">
          <a:xfrm>
            <a:off x="9959681" y="5602709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2" name="PolicyName">
            <a:hlinkClick r:id="" action="ppaction://hlinkfile"/>
          </p:cNvPr>
          <p:cNvSpPr>
            <a:spLocks noGrp="1"/>
          </p:cNvSpPr>
          <p:nvPr>
            <p:ph type="title"/>
          </p:nvPr>
        </p:nvSpPr>
        <p:spPr bwMode="white">
          <a:xfrm>
            <a:off x="838200" y="115511"/>
            <a:ext cx="10003967" cy="609565"/>
          </a:xfrm>
          <a:ln>
            <a:headEnd type="none"/>
            <a:tailEnd type="none"/>
          </a:ln>
        </p:spPr>
        <p:txBody>
          <a:bodyPr wrap="square">
            <a:noAutofit/>
          </a:bodyPr>
          <a:lstStyle/>
          <a:p>
            <a:pPr defTabSz="914400"/>
            <a:r>
              <a:rPr lang="en-US" sz="2000" b="1" dirty="0"/>
              <a:t>[AVD/Citrix] [All Users] User Sign In Frequency</a:t>
            </a:r>
          </a:p>
        </p:txBody>
      </p:sp>
      <p:sp>
        <p:nvSpPr>
          <p:cNvPr id="16" name="LastModified"/>
          <p:cNvSpPr txBox="1">
            <a:spLocks noChangeArrowheads="1"/>
          </p:cNvSpPr>
          <p:nvPr/>
        </p:nvSpPr>
        <p:spPr bwMode="white">
          <a:xfrm>
            <a:off x="10556111" y="388376"/>
            <a:ext cx="15483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algn="r" defTabSz="457200"/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Last modified: 2025-09-24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UserWorkload"/>
          <p:cNvSpPr>
            <a:spLocks/>
          </p:cNvSpPr>
          <p:nvPr/>
        </p:nvSpPr>
        <p:spPr bwMode="auto">
          <a:xfrm>
            <a:off x="175820" y="2709769"/>
            <a:ext cx="2202823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Users</a:t>
            </a:r>
          </a:p>
        </p:txBody>
      </p:sp>
      <p:sp>
        <p:nvSpPr>
          <p:cNvPr id="7" name="UserWorkloadIncExc"/>
          <p:cNvSpPr txBox="1">
            <a:spLocks noChangeArrowheads="1"/>
          </p:cNvSpPr>
          <p:nvPr/>
        </p:nvSpPr>
        <p:spPr bwMode="white">
          <a:xfrm>
            <a:off x="125485" y="3698952"/>
            <a:ext cx="3062115" cy="313265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 numCol="1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b="1" dirty="0"/>
            </a:pPr>
            <a:r>
              <a:t> Users</a:t>
            </a:r>
          </a:p>
          <a:p>
            <a:pPr defTabSz="457200">
              <a:defRPr sz="1100" dirty="0"/>
            </a:pPr>
            <a:r>
              <a:t> - SVO365 TabUserDev</a:t>
            </a:r>
          </a:p>
          <a:p>
            <a:pPr defTabSz="457200">
              <a:defRPr sz="1100" dirty="0"/>
            </a:pPr>
            <a:r>
              <a:t> - SVO365 TabUserProd</a:t>
            </a:r>
          </a:p>
          <a:p>
            <a:pPr defTabSz="457200">
              <a:defRPr sz="1100" dirty="0"/>
            </a:pPr>
            <a:r>
              <a:t> - SVO365.PowerBIConfig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19" name="Risks"/>
          <p:cNvSpPr txBox="1">
            <a:spLocks noChangeArrowheads="1"/>
          </p:cNvSpPr>
          <p:nvPr/>
        </p:nvSpPr>
        <p:spPr bwMode="white">
          <a:xfrm>
            <a:off x="524485" y="1021946"/>
            <a:ext cx="1348869" cy="166886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0" name="Platforms"/>
          <p:cNvSpPr txBox="1">
            <a:spLocks noChangeArrowheads="1"/>
          </p:cNvSpPr>
          <p:nvPr/>
        </p:nvSpPr>
        <p:spPr bwMode="white">
          <a:xfrm>
            <a:off x="1826931" y="1021947"/>
            <a:ext cx="2061056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3" name="Locations"/>
          <p:cNvSpPr txBox="1">
            <a:spLocks noChangeArrowheads="1"/>
          </p:cNvSpPr>
          <p:nvPr/>
        </p:nvSpPr>
        <p:spPr bwMode="white">
          <a:xfrm>
            <a:off x="8324941" y="1021947"/>
            <a:ext cx="3513702" cy="159258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4" name="ClientAppTypes"/>
          <p:cNvSpPr txBox="1">
            <a:spLocks noChangeArrowheads="1"/>
          </p:cNvSpPr>
          <p:nvPr/>
        </p:nvSpPr>
        <p:spPr bwMode="white">
          <a:xfrm>
            <a:off x="3810664" y="1021947"/>
            <a:ext cx="1581599" cy="165343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5" name="DeviceFilters"/>
          <p:cNvSpPr txBox="1">
            <a:spLocks noChangeArrowheads="1"/>
          </p:cNvSpPr>
          <p:nvPr/>
        </p:nvSpPr>
        <p:spPr bwMode="white">
          <a:xfrm>
            <a:off x="5818151" y="1022762"/>
            <a:ext cx="2248808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cxnSp>
        <p:nvCxnSpPr>
          <p:cNvPr id="27" name="Straight Arrow Connector 26" descr="Arrow drawn from user/workload  to the action being performed by the user such as accessing cloud apps."/>
          <p:cNvCxnSpPr/>
          <p:nvPr/>
        </p:nvCxnSpPr>
        <p:spPr bwMode="white">
          <a:xfrm>
            <a:off x="2195232" y="3159047"/>
            <a:ext cx="3959471" cy="1"/>
          </a:xfrm>
          <a:prstGeom prst="straightConnector1">
            <a:avLst/>
          </a:prstGeom>
          <a:ln w="76200"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30" name="IconBlockAccess" descr="Picture with red color stop sign to indicate blocked access"/>
          <p:cNvPicPr>
            <a:picLocks noChangeAspect="1"/>
          </p:cNvPicPr>
          <p:nvPr/>
        </p:nvPicPr>
        <p:blipFill>
          <a:blip r:embed="rId3">
            <a:lum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 bwMode="white">
          <a:xfrm>
            <a:off x="5306633" y="2735805"/>
            <a:ext cx="356616" cy="35661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34" name="GrantLabelBlockAccess"/>
          <p:cNvSpPr txBox="1">
            <a:spLocks noChangeArrowheads="1"/>
          </p:cNvSpPr>
          <p:nvPr/>
        </p:nvSpPr>
        <p:spPr bwMode="white">
          <a:xfrm>
            <a:off x="3936931" y="2734375"/>
            <a:ext cx="1358065" cy="369332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algn="ctr" defTabSz="457200"/>
            <a:r>
              <a:rPr lang="en-US" b="1" dirty="0">
                <a:solidFill>
                  <a:srgbClr val="FF0000"/>
                </a:solidFill>
              </a:rPr>
              <a:t>Block access</a:t>
            </a:r>
          </a:p>
        </p:txBody>
      </p:sp>
      <p:sp>
        <p:nvSpPr>
          <p:cNvPr id="3" name="CloudAppActionIncExc"/>
          <p:cNvSpPr txBox="1">
            <a:spLocks noChangeArrowheads="1"/>
          </p:cNvSpPr>
          <p:nvPr/>
        </p:nvSpPr>
        <p:spPr bwMode="white">
          <a:xfrm>
            <a:off x="6039518" y="3662782"/>
            <a:ext cx="3649518" cy="315161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r>
              <a:t>🚫 Exclude:</a:t>
            </a:r>
          </a:p>
          <a:p>
            <a:pPr defTabSz="457200">
              <a:defRPr sz="1100" dirty="0"/>
            </a:pPr>
            <a:r>
              <a:t> - Office 365 SharePoint Online</a:t>
            </a:r>
          </a:p>
          <a:p>
            <a:pPr defTabSz="457200">
              <a:defRPr sz="1100" b="1" dirty="0"/>
            </a:pPr>
            <a:endParaRPr/>
          </a:p>
        </p:txBody>
      </p:sp>
      <p:pic>
        <p:nvPicPr>
          <p:cNvPr id="26" name="IconGroupIdentity"/>
          <p:cNvPicPr>
            <a:picLocks noChangeAspect="1"/>
          </p:cNvPicPr>
          <p:nvPr/>
        </p:nvPicPr>
        <p:blipFill>
          <a:blip r:embed="rId5">
            <a:lum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 bwMode="white">
          <a:xfrm>
            <a:off x="327701" y="2839007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36" name="Graphic 35"/>
          <p:cNvPicPr>
            <a:picLocks noChangeAspect="1"/>
          </p:cNvPicPr>
          <p:nvPr/>
        </p:nvPicPr>
        <p:blipFill>
          <a:blip r:embed="rId7">
            <a:lum/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p:blipFill>
        <p:spPr bwMode="white">
          <a:xfrm>
            <a:off x="495610" y="197468"/>
            <a:ext cx="381196" cy="38119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" name="CloudAppAction"/>
          <p:cNvSpPr>
            <a:spLocks/>
          </p:cNvSpPr>
          <p:nvPr/>
        </p:nvSpPr>
        <p:spPr bwMode="auto">
          <a:xfrm>
            <a:off x="6206089" y="2718506"/>
            <a:ext cx="3227026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All cloud apps</a:t>
            </a:r>
          </a:p>
        </p:txBody>
      </p:sp>
      <p:pic>
        <p:nvPicPr>
          <p:cNvPr id="75" name="IconAccessAllCloudApps"/>
          <p:cNvPicPr>
            <a:picLocks noChangeAspect="1"/>
          </p:cNvPicPr>
          <p:nvPr/>
        </p:nvPicPr>
        <p:blipFill>
          <a:blip r:embed="rId9">
            <a:lum/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p:blipFill>
        <p:spPr bwMode="white">
          <a:xfrm>
            <a:off x="6439264" y="2836824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21" name="StateEnabled"/>
          <p:cNvSpPr>
            <a:spLocks/>
          </p:cNvSpPr>
          <p:nvPr/>
        </p:nvSpPr>
        <p:spPr bwMode="white">
          <a:xfrm>
            <a:off x="10842171" y="83487"/>
            <a:ext cx="1260389" cy="264812"/>
          </a:xfrm>
          <a:prstGeom prst="round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r>
              <a:rPr lang="en-US" sz="800" dirty="0"/>
              <a:t>Policy Enabled</a:t>
            </a:r>
          </a:p>
        </p:txBody>
      </p:sp>
      <p:grpSp>
        <p:nvGrpSpPr>
          <p:cNvPr id="10" name="IconRiskyUsers"/>
          <p:cNvGrpSpPr>
            <a:grpSpLocks/>
          </p:cNvGrpSpPr>
          <p:nvPr/>
        </p:nvGrpSpPr>
        <p:grpSpPr bwMode="white">
          <a:xfrm>
            <a:off x="635426" y="738677"/>
            <a:ext cx="1202553" cy="274320"/>
            <a:chOff x="2013768" y="1033956"/>
            <a:chExt cx="1342320" cy="274320"/>
          </a:xfrm>
        </p:grpSpPr>
        <p:pic>
          <p:nvPicPr>
            <p:cNvPr id="46" name="Graphic 1"/>
            <p:cNvPicPr>
              <a:picLocks noChangeAspect="1"/>
            </p:cNvPicPr>
            <p:nvPr/>
          </p:nvPicPr>
          <p:blipFill>
            <a:blip r:embed="rId11">
              <a:lum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013768" y="1033956"/>
              <a:ext cx="274320" cy="27432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5" name="Label 1"/>
            <p:cNvSpPr txBox="1">
              <a:spLocks noChangeArrowheads="1"/>
            </p:cNvSpPr>
            <p:nvPr/>
          </p:nvSpPr>
          <p:spPr bwMode="white">
            <a:xfrm>
              <a:off x="2240077" y="1040706"/>
              <a:ext cx="1116011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Risk</a:t>
              </a:r>
            </a:p>
          </p:txBody>
        </p:sp>
      </p:grpSp>
      <p:grpSp>
        <p:nvGrpSpPr>
          <p:cNvPr id="14" name="IconPlatforms"/>
          <p:cNvGrpSpPr>
            <a:grpSpLocks/>
          </p:cNvGrpSpPr>
          <p:nvPr/>
        </p:nvGrpSpPr>
        <p:grpSpPr bwMode="white">
          <a:xfrm>
            <a:off x="1927788" y="715249"/>
            <a:ext cx="1719285" cy="365760"/>
            <a:chOff x="3262737" y="994835"/>
            <a:chExt cx="1719285" cy="365760"/>
          </a:xfrm>
        </p:grpSpPr>
        <p:pic>
          <p:nvPicPr>
            <p:cNvPr id="29" name="Graphic 1"/>
            <p:cNvPicPr>
              <a:picLocks noChangeAspect="1"/>
            </p:cNvPicPr>
            <p:nvPr/>
          </p:nvPicPr>
          <p:blipFill>
            <a:blip r:embed="rId13">
              <a:lum/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3262737" y="994835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1" name="Label 1"/>
            <p:cNvSpPr txBox="1">
              <a:spLocks noChangeArrowheads="1"/>
            </p:cNvSpPr>
            <p:nvPr/>
          </p:nvSpPr>
          <p:spPr bwMode="white">
            <a:xfrm>
              <a:off x="3582397" y="1027255"/>
              <a:ext cx="1399625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Device platforms</a:t>
              </a:r>
            </a:p>
          </p:txBody>
        </p:sp>
      </p:grpSp>
      <p:grpSp>
        <p:nvGrpSpPr>
          <p:cNvPr id="17" name="IconClientAppTypes"/>
          <p:cNvGrpSpPr>
            <a:grpSpLocks/>
          </p:cNvGrpSpPr>
          <p:nvPr/>
        </p:nvGrpSpPr>
        <p:grpSpPr bwMode="white">
          <a:xfrm>
            <a:off x="3908159" y="670015"/>
            <a:ext cx="1852971" cy="365760"/>
            <a:chOff x="4858970" y="975927"/>
            <a:chExt cx="1852971" cy="365760"/>
          </a:xfrm>
        </p:grpSpPr>
        <p:pic>
          <p:nvPicPr>
            <p:cNvPr id="58" name="Graphic 1"/>
            <p:cNvPicPr>
              <a:picLocks noChangeAspect="1"/>
            </p:cNvPicPr>
            <p:nvPr/>
          </p:nvPicPr>
          <p:blipFill>
            <a:blip r:embed="rId15">
              <a:lum/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858970" y="975927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5" name="Label 1"/>
            <p:cNvSpPr txBox="1">
              <a:spLocks noChangeArrowheads="1"/>
            </p:cNvSpPr>
            <p:nvPr/>
          </p:nvSpPr>
          <p:spPr bwMode="white">
            <a:xfrm>
              <a:off x="5193983" y="1009899"/>
              <a:ext cx="1517958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Client apps</a:t>
              </a:r>
            </a:p>
          </p:txBody>
        </p:sp>
      </p:grpSp>
      <p:grpSp>
        <p:nvGrpSpPr>
          <p:cNvPr id="37" name="IconLocations"/>
          <p:cNvGrpSpPr>
            <a:grpSpLocks/>
          </p:cNvGrpSpPr>
          <p:nvPr/>
        </p:nvGrpSpPr>
        <p:grpSpPr bwMode="white">
          <a:xfrm>
            <a:off x="8411896" y="646848"/>
            <a:ext cx="1850168" cy="388465"/>
            <a:chOff x="2321433" y="3262888"/>
            <a:chExt cx="1850168" cy="388465"/>
          </a:xfrm>
        </p:grpSpPr>
        <p:pic>
          <p:nvPicPr>
            <p:cNvPr id="33" name="Graphic 1"/>
            <p:cNvPicPr>
              <a:picLocks noChangeAspect="1"/>
            </p:cNvPicPr>
            <p:nvPr/>
          </p:nvPicPr>
          <p:blipFill>
            <a:blip r:embed="rId17">
              <a:lum/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321433" y="3262888"/>
              <a:ext cx="388465" cy="388465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28" name="Label 1"/>
            <p:cNvSpPr txBox="1">
              <a:spLocks noChangeArrowheads="1"/>
            </p:cNvSpPr>
            <p:nvPr/>
          </p:nvSpPr>
          <p:spPr bwMode="white">
            <a:xfrm>
              <a:off x="2713321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Locations</a:t>
              </a:r>
              <a:endParaRPr lang="en-US" sz="1100" b="1" dirty="0"/>
            </a:p>
          </p:txBody>
        </p:sp>
      </p:grpSp>
      <p:grpSp>
        <p:nvGrpSpPr>
          <p:cNvPr id="39" name="IconDeviceFilters"/>
          <p:cNvGrpSpPr>
            <a:grpSpLocks/>
          </p:cNvGrpSpPr>
          <p:nvPr/>
        </p:nvGrpSpPr>
        <p:grpSpPr bwMode="white">
          <a:xfrm>
            <a:off x="5472818" y="661958"/>
            <a:ext cx="1839823" cy="364111"/>
            <a:chOff x="4195414" y="3273669"/>
            <a:chExt cx="1839823" cy="364111"/>
          </a:xfrm>
        </p:grpSpPr>
        <p:pic>
          <p:nvPicPr>
            <p:cNvPr id="60" name="Graphic 1"/>
            <p:cNvPicPr>
              <a:picLocks noChangeAspect="1"/>
            </p:cNvPicPr>
            <p:nvPr/>
          </p:nvPicPr>
          <p:blipFill>
            <a:blip r:embed="rId19">
              <a:lum/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195414" y="3273669"/>
              <a:ext cx="364111" cy="364111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31" name="Label 1"/>
            <p:cNvSpPr txBox="1">
              <a:spLocks noChangeArrowheads="1"/>
            </p:cNvSpPr>
            <p:nvPr/>
          </p:nvSpPr>
          <p:spPr bwMode="white">
            <a:xfrm>
              <a:off x="4576957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Filter for devices</a:t>
              </a:r>
              <a:endParaRPr lang="en-US" sz="1100" b="1" dirty="0"/>
            </a:p>
          </p:txBody>
        </p:sp>
      </p:grpSp>
      <p:pic>
        <p:nvPicPr>
          <p:cNvPr id="62" name="IconGrantMultifactorAuthentication"/>
          <p:cNvPicPr>
            <a:picLocks noChangeAspect="1"/>
          </p:cNvPicPr>
          <p:nvPr/>
        </p:nvPicPr>
        <p:blipFill>
          <a:blip r:embed="rId21">
            <a:lum/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>
            <a:fillRect/>
          </a:stretch>
        </p:blipFill>
        <p:spPr bwMode="white">
          <a:xfrm>
            <a:off x="3410647" y="3566863"/>
            <a:ext cx="17145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5" name="IconGrantMultifactorAuthenticationLabel"/>
          <p:cNvSpPr txBox="1">
            <a:spLocks noChangeArrowheads="1"/>
          </p:cNvSpPr>
          <p:nvPr/>
        </p:nvSpPr>
        <p:spPr bwMode="white">
          <a:xfrm>
            <a:off x="3575836" y="3571997"/>
            <a:ext cx="19007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Multifactor authentication</a:t>
            </a:r>
            <a:endParaRPr lang="en-US" sz="1000" dirty="0"/>
          </a:p>
        </p:txBody>
      </p:sp>
      <p:pic>
        <p:nvPicPr>
          <p:cNvPr id="38" name="IconGrantAuthenticationStrength"/>
          <p:cNvPicPr>
            <a:picLocks noChangeAspect="1"/>
          </p:cNvPicPr>
          <p:nvPr/>
        </p:nvPicPr>
        <p:blipFill>
          <a:blip r:embed="rId23">
            <a:lum/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/>
          <a:stretch>
            <a:fillRect/>
          </a:stretch>
        </p:blipFill>
        <p:spPr bwMode="white">
          <a:xfrm>
            <a:off x="3374515" y="3905034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7" name="IconGrantAuthenticationStrengthLabel"/>
          <p:cNvSpPr txBox="1">
            <a:spLocks noChangeArrowheads="1"/>
          </p:cNvSpPr>
          <p:nvPr/>
        </p:nvSpPr>
        <p:spPr bwMode="white">
          <a:xfrm>
            <a:off x="3575836" y="3907323"/>
            <a:ext cx="2185294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Authentication strength</a:t>
            </a:r>
            <a:endParaRPr lang="en-US" sz="1000" dirty="0"/>
          </a:p>
        </p:txBody>
      </p:sp>
      <p:pic>
        <p:nvPicPr>
          <p:cNvPr id="52" name="IconGrantDeviceCompliance"/>
          <p:cNvPicPr>
            <a:picLocks noChangeAspect="1"/>
          </p:cNvPicPr>
          <p:nvPr/>
        </p:nvPicPr>
        <p:blipFill>
          <a:blip r:embed="rId25">
            <a:lum/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/>
          <a:stretch>
            <a:fillRect/>
          </a:stretch>
        </p:blipFill>
        <p:spPr bwMode="white">
          <a:xfrm>
            <a:off x="3374515" y="4243205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9" name="IconGrantDeviceComplianceLabel"/>
          <p:cNvSpPr txBox="1">
            <a:spLocks noChangeArrowheads="1"/>
          </p:cNvSpPr>
          <p:nvPr/>
        </p:nvSpPr>
        <p:spPr bwMode="white">
          <a:xfrm>
            <a:off x="3575836" y="4242649"/>
            <a:ext cx="17378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Compliant device</a:t>
            </a:r>
            <a:endParaRPr lang="en-US" sz="1000" dirty="0"/>
          </a:p>
        </p:txBody>
      </p:sp>
      <p:pic>
        <p:nvPicPr>
          <p:cNvPr id="43" name="IconGrantHybridJoined"/>
          <p:cNvPicPr>
            <a:picLocks noChangeAspect="1"/>
          </p:cNvPicPr>
          <p:nvPr/>
        </p:nvPicPr>
        <p:blipFill>
          <a:blip r:embed="rId27">
            <a:lum/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/>
          <a:stretch>
            <a:fillRect/>
          </a:stretch>
        </p:blipFill>
        <p:spPr bwMode="white">
          <a:xfrm>
            <a:off x="3374515" y="4581376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3" name="IconGrantHybridJoinedLabel"/>
          <p:cNvSpPr txBox="1">
            <a:spLocks noChangeArrowheads="1"/>
          </p:cNvSpPr>
          <p:nvPr/>
        </p:nvSpPr>
        <p:spPr bwMode="white">
          <a:xfrm>
            <a:off x="3575836" y="4577975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Hybrid Azure AD joined device</a:t>
            </a:r>
            <a:endParaRPr lang="en-US" sz="1000" dirty="0"/>
          </a:p>
        </p:txBody>
      </p:sp>
      <p:pic>
        <p:nvPicPr>
          <p:cNvPr id="48" name="IconGrantApprovedClientApp"/>
          <p:cNvPicPr>
            <a:picLocks noChangeAspect="1"/>
          </p:cNvPicPr>
          <p:nvPr/>
        </p:nvPicPr>
        <p:blipFill>
          <a:blip r:embed="rId29">
            <a:lum/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rcRect/>
          <a:stretch>
            <a:fillRect/>
          </a:stretch>
        </p:blipFill>
        <p:spPr bwMode="white">
          <a:xfrm>
            <a:off x="3374515" y="491954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5" name="IconGrantApprovedClientAppLabel"/>
          <p:cNvSpPr txBox="1">
            <a:spLocks noChangeArrowheads="1"/>
          </p:cNvSpPr>
          <p:nvPr/>
        </p:nvSpPr>
        <p:spPr bwMode="white">
          <a:xfrm>
            <a:off x="3575836" y="4913301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Approved client app</a:t>
            </a:r>
            <a:endParaRPr lang="en-US" sz="1000" dirty="0"/>
          </a:p>
        </p:txBody>
      </p:sp>
      <p:pic>
        <p:nvPicPr>
          <p:cNvPr id="42" name="IconGrantCustomAuth"/>
          <p:cNvPicPr>
            <a:picLocks noChangeAspect="1"/>
          </p:cNvPicPr>
          <p:nvPr/>
        </p:nvPicPr>
        <p:blipFill>
          <a:blip r:embed="rId31">
            <a:lum/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rcRect/>
          <a:stretch>
            <a:fillRect/>
          </a:stretch>
        </p:blipFill>
        <p:spPr bwMode="white">
          <a:xfrm>
            <a:off x="3374515" y="593406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9" name="IconGrantCustomAuthLabel"/>
          <p:cNvSpPr txBox="1">
            <a:spLocks noChangeArrowheads="1"/>
          </p:cNvSpPr>
          <p:nvPr/>
        </p:nvSpPr>
        <p:spPr bwMode="white">
          <a:xfrm>
            <a:off x="3575836" y="5919279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Custom authentication factor</a:t>
            </a:r>
            <a:endParaRPr lang="en-US" sz="1000" dirty="0"/>
          </a:p>
        </p:txBody>
      </p:sp>
      <p:pic>
        <p:nvPicPr>
          <p:cNvPr id="40" name="IconGrantTermsOfUse"/>
          <p:cNvPicPr>
            <a:picLocks noChangeAspect="1"/>
          </p:cNvPicPr>
          <p:nvPr/>
        </p:nvPicPr>
        <p:blipFill>
          <a:blip r:embed="rId33">
            <a:lum/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rcRect/>
          <a:stretch>
            <a:fillRect/>
          </a:stretch>
        </p:blipFill>
        <p:spPr bwMode="white">
          <a:xfrm>
            <a:off x="3374515" y="627222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3" name="IconGrantTermsOfUseLabel"/>
          <p:cNvSpPr txBox="1">
            <a:spLocks noChangeArrowheads="1"/>
          </p:cNvSpPr>
          <p:nvPr/>
        </p:nvSpPr>
        <p:spPr bwMode="white">
          <a:xfrm>
            <a:off x="3575836" y="625460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Terms of use</a:t>
            </a:r>
            <a:endParaRPr lang="en-US" sz="1000" dirty="0"/>
          </a:p>
        </p:txBody>
      </p:sp>
      <p:sp>
        <p:nvSpPr>
          <p:cNvPr id="56" name="IconGrantAppProtectionLabel"/>
          <p:cNvSpPr txBox="1">
            <a:spLocks noChangeArrowheads="1"/>
          </p:cNvSpPr>
          <p:nvPr/>
        </p:nvSpPr>
        <p:spPr bwMode="white">
          <a:xfrm>
            <a:off x="3575836" y="524862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 protection policy</a:t>
            </a:r>
            <a:endParaRPr lang="en-US" sz="1000" dirty="0"/>
          </a:p>
        </p:txBody>
      </p:sp>
      <p:pic>
        <p:nvPicPr>
          <p:cNvPr id="65" name="IconGrantAppProtection"/>
          <p:cNvPicPr>
            <a:picLocks noChangeAspect="1"/>
          </p:cNvPicPr>
          <p:nvPr/>
        </p:nvPicPr>
        <p:blipFill>
          <a:blip r:embed="rId35">
            <a:lum/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rcRect/>
          <a:stretch>
            <a:fillRect/>
          </a:stretch>
        </p:blipFill>
        <p:spPr bwMode="white">
          <a:xfrm>
            <a:off x="3374515" y="525771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7" name="IconGrantChangePasswordLabel"/>
          <p:cNvSpPr txBox="1">
            <a:spLocks noChangeArrowheads="1"/>
          </p:cNvSpPr>
          <p:nvPr/>
        </p:nvSpPr>
        <p:spPr bwMode="white">
          <a:xfrm>
            <a:off x="3575836" y="5583953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Change password</a:t>
            </a:r>
            <a:endParaRPr lang="en-US" sz="1000" dirty="0"/>
          </a:p>
        </p:txBody>
      </p:sp>
      <p:pic>
        <p:nvPicPr>
          <p:cNvPr id="67" name="IconGrantChangePassword"/>
          <p:cNvPicPr>
            <a:picLocks noChangeAspect="1"/>
          </p:cNvPicPr>
          <p:nvPr/>
        </p:nvPicPr>
        <p:blipFill>
          <a:blip r:embed="rId37">
            <a:lum/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rcRect/>
          <a:stretch>
            <a:fillRect/>
          </a:stretch>
        </p:blipFill>
        <p:spPr bwMode="white">
          <a:xfrm>
            <a:off x="3374515" y="5595889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4" name="ShadeRisk"/>
          <p:cNvSpPr>
            <a:spLocks/>
          </p:cNvSpPr>
          <p:nvPr/>
        </p:nvSpPr>
        <p:spPr bwMode="white">
          <a:xfrm>
            <a:off x="507564" y="650246"/>
            <a:ext cx="976864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66" name="ShadeDevicePlatforms"/>
          <p:cNvSpPr>
            <a:spLocks/>
          </p:cNvSpPr>
          <p:nvPr/>
        </p:nvSpPr>
        <p:spPr bwMode="white">
          <a:xfrm>
            <a:off x="1863623" y="663409"/>
            <a:ext cx="1773927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78" name="ShadeClientApps"/>
          <p:cNvSpPr>
            <a:spLocks/>
          </p:cNvSpPr>
          <p:nvPr/>
        </p:nvSpPr>
        <p:spPr bwMode="white">
          <a:xfrm>
            <a:off x="3802273" y="650246"/>
            <a:ext cx="1481482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79" name="ShadeLocations"/>
          <p:cNvSpPr>
            <a:spLocks/>
          </p:cNvSpPr>
          <p:nvPr/>
        </p:nvSpPr>
        <p:spPr bwMode="white">
          <a:xfrm>
            <a:off x="8217572" y="669110"/>
            <a:ext cx="1873684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2" name="ShadeFilterForDevices"/>
          <p:cNvSpPr>
            <a:spLocks/>
          </p:cNvSpPr>
          <p:nvPr/>
        </p:nvSpPr>
        <p:spPr bwMode="white">
          <a:xfrm>
            <a:off x="5438955" y="627922"/>
            <a:ext cx="1873685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3" name="ShadeGrantMultifactorAuth"/>
          <p:cNvSpPr>
            <a:spLocks/>
          </p:cNvSpPr>
          <p:nvPr/>
        </p:nvSpPr>
        <p:spPr bwMode="white">
          <a:xfrm>
            <a:off x="3369399" y="3534220"/>
            <a:ext cx="2069555" cy="28330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4" name="ShadeGrantAuthStrength"/>
          <p:cNvSpPr>
            <a:spLocks/>
          </p:cNvSpPr>
          <p:nvPr/>
        </p:nvSpPr>
        <p:spPr bwMode="white">
          <a:xfrm>
            <a:off x="3350256" y="3869846"/>
            <a:ext cx="2069555" cy="27801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5" name="ShadeGrantCompliantDevice"/>
          <p:cNvSpPr>
            <a:spLocks/>
          </p:cNvSpPr>
          <p:nvPr/>
        </p:nvSpPr>
        <p:spPr bwMode="white">
          <a:xfrm>
            <a:off x="3361852" y="4243205"/>
            <a:ext cx="2077102" cy="26110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6" name="ShadeGrantHybridAzureADJoined"/>
          <p:cNvSpPr>
            <a:spLocks/>
          </p:cNvSpPr>
          <p:nvPr/>
        </p:nvSpPr>
        <p:spPr bwMode="white">
          <a:xfrm>
            <a:off x="3353637" y="4552268"/>
            <a:ext cx="2160906" cy="298395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7" name="ShadeGrantApprovedClientApp"/>
          <p:cNvSpPr>
            <a:spLocks/>
          </p:cNvSpPr>
          <p:nvPr/>
        </p:nvSpPr>
        <p:spPr bwMode="white">
          <a:xfrm>
            <a:off x="3331918" y="4876027"/>
            <a:ext cx="2182625" cy="29839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8" name="ShadeGrantAppProtectionPolicy"/>
          <p:cNvSpPr>
            <a:spLocks/>
          </p:cNvSpPr>
          <p:nvPr/>
        </p:nvSpPr>
        <p:spPr bwMode="white">
          <a:xfrm>
            <a:off x="3350256" y="5207226"/>
            <a:ext cx="2122561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9" name="ShadeGrantChangePassword"/>
          <p:cNvSpPr>
            <a:spLocks/>
          </p:cNvSpPr>
          <p:nvPr/>
        </p:nvSpPr>
        <p:spPr bwMode="white">
          <a:xfrm>
            <a:off x="3350257" y="5557021"/>
            <a:ext cx="2042006" cy="287239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0" name="ShadeGrantCustomAuthFactor"/>
          <p:cNvSpPr>
            <a:spLocks/>
          </p:cNvSpPr>
          <p:nvPr/>
        </p:nvSpPr>
        <p:spPr bwMode="white">
          <a:xfrm>
            <a:off x="3331918" y="5899058"/>
            <a:ext cx="2182625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1" name="ShadeGrantTermsOfUse"/>
          <p:cNvSpPr>
            <a:spLocks/>
          </p:cNvSpPr>
          <p:nvPr/>
        </p:nvSpPr>
        <p:spPr bwMode="white">
          <a:xfrm>
            <a:off x="3313823" y="6192350"/>
            <a:ext cx="101602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99" name="Rectangle 98"/>
          <p:cNvSpPr>
            <a:spLocks/>
          </p:cNvSpPr>
          <p:nvPr/>
        </p:nvSpPr>
        <p:spPr bwMode="white">
          <a:xfrm>
            <a:off x="3268757" y="3253404"/>
            <a:ext cx="2357725" cy="3498546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0" name="Rectangle 109"/>
          <p:cNvSpPr>
            <a:spLocks/>
          </p:cNvSpPr>
          <p:nvPr/>
        </p:nvSpPr>
        <p:spPr bwMode="white">
          <a:xfrm>
            <a:off x="9881750" y="3248255"/>
            <a:ext cx="2220808" cy="3510149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7" name="Rectangle 116"/>
          <p:cNvSpPr>
            <a:spLocks/>
          </p:cNvSpPr>
          <p:nvPr/>
        </p:nvSpPr>
        <p:spPr bwMode="white">
          <a:xfrm>
            <a:off x="26741" y="606825"/>
            <a:ext cx="11985015" cy="2063636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2" name="Conditions Label"/>
          <p:cNvSpPr txBox="1">
            <a:spLocks noChangeArrowheads="1"/>
          </p:cNvSpPr>
          <p:nvPr/>
        </p:nvSpPr>
        <p:spPr bwMode="white">
          <a:xfrm rot="16200000">
            <a:off x="-883507" y="1514324"/>
            <a:ext cx="2081441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Conditions</a:t>
            </a:r>
          </a:p>
        </p:txBody>
      </p:sp>
      <p:sp>
        <p:nvSpPr>
          <p:cNvPr id="109" name="Grant Controls"/>
          <p:cNvSpPr txBox="1">
            <a:spLocks noChangeArrowheads="1"/>
          </p:cNvSpPr>
          <p:nvPr/>
        </p:nvSpPr>
        <p:spPr bwMode="white">
          <a:xfrm>
            <a:off x="3252146" y="3244395"/>
            <a:ext cx="2391873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Grant Controls</a:t>
            </a:r>
          </a:p>
        </p:txBody>
      </p:sp>
      <p:sp>
        <p:nvSpPr>
          <p:cNvPr id="111" name="Session Controls"/>
          <p:cNvSpPr txBox="1">
            <a:spLocks noChangeArrowheads="1"/>
          </p:cNvSpPr>
          <p:nvPr/>
        </p:nvSpPr>
        <p:spPr bwMode="white">
          <a:xfrm>
            <a:off x="9864212" y="3243751"/>
            <a:ext cx="2238346" cy="23786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Session Controls</a:t>
            </a:r>
          </a:p>
        </p:txBody>
      </p:sp>
      <p:pic>
        <p:nvPicPr>
          <p:cNvPr id="72" name="Graphic 71"/>
          <p:cNvPicPr>
            <a:picLocks noChangeAspect="1"/>
          </p:cNvPicPr>
          <p:nvPr/>
        </p:nvPicPr>
        <p:blipFill>
          <a:blip r:embed="rId39">
            <a:lum/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rcRect/>
          <a:stretch>
            <a:fillRect/>
          </a:stretch>
        </p:blipFill>
        <p:spPr bwMode="white">
          <a:xfrm>
            <a:off x="9996846" y="356982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4" name="Graphic 93"/>
          <p:cNvPicPr>
            <a:picLocks noChangeAspect="1"/>
          </p:cNvPicPr>
          <p:nvPr/>
        </p:nvPicPr>
        <p:blipFill>
          <a:blip r:embed="rId41">
            <a:lum/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rcRect/>
          <a:stretch>
            <a:fillRect/>
          </a:stretch>
        </p:blipFill>
        <p:spPr bwMode="white">
          <a:xfrm>
            <a:off x="10009443" y="525644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5" name="TextBox 94"/>
          <p:cNvSpPr txBox="1">
            <a:spLocks noChangeArrowheads="1"/>
          </p:cNvSpPr>
          <p:nvPr/>
        </p:nvSpPr>
        <p:spPr bwMode="white">
          <a:xfrm>
            <a:off x="10207481" y="3578463"/>
            <a:ext cx="150554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App enforced restrictions</a:t>
            </a:r>
          </a:p>
        </p:txBody>
      </p:sp>
      <p:sp>
        <p:nvSpPr>
          <p:cNvPr id="96" name="TextBox 95"/>
          <p:cNvSpPr txBox="1">
            <a:spLocks noChangeArrowheads="1"/>
          </p:cNvSpPr>
          <p:nvPr/>
        </p:nvSpPr>
        <p:spPr bwMode="white">
          <a:xfrm>
            <a:off x="10201167" y="3899846"/>
            <a:ext cx="181011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Conditional Access App Control</a:t>
            </a:r>
          </a:p>
        </p:txBody>
      </p:sp>
      <p:sp>
        <p:nvSpPr>
          <p:cNvPr id="97" name="TextBox 96"/>
          <p:cNvSpPr txBox="1">
            <a:spLocks noChangeArrowheads="1"/>
          </p:cNvSpPr>
          <p:nvPr/>
        </p:nvSpPr>
        <p:spPr bwMode="white">
          <a:xfrm>
            <a:off x="10215627" y="4357505"/>
            <a:ext cx="1090363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Sign-in frequency</a:t>
            </a:r>
          </a:p>
        </p:txBody>
      </p:sp>
      <p:sp>
        <p:nvSpPr>
          <p:cNvPr id="98" name="TextBox 97"/>
          <p:cNvSpPr txBox="1">
            <a:spLocks noChangeArrowheads="1"/>
          </p:cNvSpPr>
          <p:nvPr/>
        </p:nvSpPr>
        <p:spPr bwMode="white">
          <a:xfrm>
            <a:off x="10225446" y="4793305"/>
            <a:ext cx="156966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Persistent browser session</a:t>
            </a:r>
          </a:p>
        </p:txBody>
      </p:sp>
      <p:sp>
        <p:nvSpPr>
          <p:cNvPr id="100" name="TextBox 99"/>
          <p:cNvSpPr txBox="1">
            <a:spLocks noChangeArrowheads="1"/>
          </p:cNvSpPr>
          <p:nvPr/>
        </p:nvSpPr>
        <p:spPr bwMode="white">
          <a:xfrm>
            <a:off x="10229552" y="5232376"/>
            <a:ext cx="1717137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Continuous access evaluation</a:t>
            </a:r>
          </a:p>
        </p:txBody>
      </p:sp>
      <p:sp>
        <p:nvSpPr>
          <p:cNvPr id="101" name="TextBox 100"/>
          <p:cNvSpPr txBox="1">
            <a:spLocks noChangeArrowheads="1"/>
          </p:cNvSpPr>
          <p:nvPr/>
        </p:nvSpPr>
        <p:spPr bwMode="white">
          <a:xfrm>
            <a:off x="10259108" y="5658625"/>
            <a:ext cx="153599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Disable resilience defaults</a:t>
            </a:r>
          </a:p>
        </p:txBody>
      </p:sp>
      <p:pic>
        <p:nvPicPr>
          <p:cNvPr id="103" name="Graphic 102"/>
          <p:cNvPicPr>
            <a:picLocks noChangeAspect="1"/>
          </p:cNvPicPr>
          <p:nvPr/>
        </p:nvPicPr>
        <p:blipFill>
          <a:blip r:embed="rId43">
            <a:lum/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rcRect/>
          <a:stretch>
            <a:fillRect/>
          </a:stretch>
        </p:blipFill>
        <p:spPr bwMode="white">
          <a:xfrm>
            <a:off x="9996846" y="479900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5" name="Graphic 104"/>
          <p:cNvPicPr>
            <a:picLocks noChangeAspect="1"/>
          </p:cNvPicPr>
          <p:nvPr/>
        </p:nvPicPr>
        <p:blipFill>
          <a:blip r:embed="rId45">
            <a:lum/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rcRect/>
          <a:stretch>
            <a:fillRect/>
          </a:stretch>
        </p:blipFill>
        <p:spPr bwMode="white">
          <a:xfrm>
            <a:off x="9996846" y="437457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7" name="Graphic 106"/>
          <p:cNvPicPr>
            <a:picLocks noChangeAspect="1"/>
          </p:cNvPicPr>
          <p:nvPr/>
        </p:nvPicPr>
        <p:blipFill>
          <a:blip r:embed="rId7">
            <a:lum/>
            <a:extLst>
              <a:ext uri="{96DAC541-7B7A-43D3-8B79-37D633B846F1}">
                <asvg:svgBlip xmlns:asvg="http://schemas.microsoft.com/office/drawing/2016/SVG/main" r:embed="rId47"/>
              </a:ext>
            </a:extLst>
          </a:blip>
          <a:srcRect/>
          <a:stretch>
            <a:fillRect/>
          </a:stretch>
        </p:blipFill>
        <p:spPr bwMode="white">
          <a:xfrm>
            <a:off x="9996846" y="391529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15" name="SessionSifInterval"/>
          <p:cNvSpPr txBox="1">
            <a:spLocks noChangeArrowheads="1"/>
          </p:cNvSpPr>
          <p:nvPr/>
        </p:nvSpPr>
        <p:spPr bwMode="white">
          <a:xfrm>
            <a:off x="10296745" y="4516775"/>
            <a:ext cx="1249060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Periodic reauthentication</a:t>
            </a:r>
          </a:p>
        </p:txBody>
      </p:sp>
      <p:sp>
        <p:nvSpPr>
          <p:cNvPr id="114" name="SessionCasType"/>
          <p:cNvSpPr txBox="1">
            <a:spLocks noChangeArrowheads="1"/>
          </p:cNvSpPr>
          <p:nvPr/>
        </p:nvSpPr>
        <p:spPr bwMode="white">
          <a:xfrm>
            <a:off x="10296745" y="4075500"/>
            <a:ext cx="95410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App Control Policy</a:t>
            </a:r>
          </a:p>
        </p:txBody>
      </p:sp>
      <p:sp>
        <p:nvSpPr>
          <p:cNvPr id="116" name="SessionPersistenBrowserMode"/>
          <p:cNvSpPr txBox="1">
            <a:spLocks noChangeArrowheads="1"/>
          </p:cNvSpPr>
          <p:nvPr/>
        </p:nvSpPr>
        <p:spPr bwMode="white">
          <a:xfrm>
            <a:off x="10309761" y="4945281"/>
            <a:ext cx="918841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Always persistent</a:t>
            </a:r>
          </a:p>
        </p:txBody>
      </p:sp>
      <p:sp>
        <p:nvSpPr>
          <p:cNvPr id="118" name="SessionCaeMode"/>
          <p:cNvSpPr txBox="1">
            <a:spLocks noChangeArrowheads="1"/>
          </p:cNvSpPr>
          <p:nvPr/>
        </p:nvSpPr>
        <p:spPr bwMode="white">
          <a:xfrm>
            <a:off x="10301386" y="5393378"/>
            <a:ext cx="15359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US" sz="800" dirty="0"/>
              <a:t>Strictly enforce location policies</a:t>
            </a:r>
          </a:p>
        </p:txBody>
      </p:sp>
      <p:sp>
        <p:nvSpPr>
          <p:cNvPr id="119" name="ShadeSessionAppEnforced"/>
          <p:cNvSpPr>
            <a:spLocks/>
          </p:cNvSpPr>
          <p:nvPr/>
        </p:nvSpPr>
        <p:spPr bwMode="white">
          <a:xfrm>
            <a:off x="9959680" y="3548808"/>
            <a:ext cx="2051597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0" name="ShadeSessionCas"/>
          <p:cNvSpPr>
            <a:spLocks/>
          </p:cNvSpPr>
          <p:nvPr/>
        </p:nvSpPr>
        <p:spPr bwMode="white">
          <a:xfrm>
            <a:off x="9978939" y="3884212"/>
            <a:ext cx="2087576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1" name="ShadeSessionSif"/>
          <p:cNvSpPr>
            <a:spLocks/>
          </p:cNvSpPr>
          <p:nvPr/>
        </p:nvSpPr>
        <p:spPr bwMode="white">
          <a:xfrm>
            <a:off x="9940787" y="4320077"/>
            <a:ext cx="2125728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2" name="ShadeSessionPersistentBrowser"/>
          <p:cNvSpPr>
            <a:spLocks/>
          </p:cNvSpPr>
          <p:nvPr/>
        </p:nvSpPr>
        <p:spPr bwMode="white">
          <a:xfrm>
            <a:off x="9938833" y="4746195"/>
            <a:ext cx="207244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" name="Label Secure Sign In Session"/>
          <p:cNvSpPr txBox="1">
            <a:spLocks noChangeArrowheads="1"/>
          </p:cNvSpPr>
          <p:nvPr/>
        </p:nvSpPr>
        <p:spPr bwMode="white">
          <a:xfrm>
            <a:off x="10260000" y="6084874"/>
            <a:ext cx="166584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Token protection for session</a:t>
            </a:r>
          </a:p>
        </p:txBody>
      </p:sp>
      <p:pic>
        <p:nvPicPr>
          <p:cNvPr id="77" name="IconSessionCaeDisable" descr="Close with solid fill"/>
          <p:cNvPicPr>
            <a:picLocks noChangeAspect="1"/>
          </p:cNvPicPr>
          <p:nvPr/>
        </p:nvPicPr>
        <p:blipFill>
          <a:blip r:embed="rId48">
            <a:lum/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rcRect/>
          <a:stretch>
            <a:fillRect/>
          </a:stretch>
        </p:blipFill>
        <p:spPr bwMode="white">
          <a:xfrm>
            <a:off x="9979885" y="5218651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2" name="IconSessionSecureSignInSession 1"/>
          <p:cNvPicPr>
            <a:picLocks noChangeAspect="1"/>
          </p:cNvPicPr>
          <p:nvPr/>
        </p:nvPicPr>
        <p:blipFill>
          <a:blip r:embed="rId50">
            <a:lum/>
            <a:extLst>
              <a:ext uri="{96DAC541-7B7A-43D3-8B79-37D633B846F1}">
                <asvg:svgBlip xmlns:asvg="http://schemas.microsoft.com/office/drawing/2016/SVG/main" r:embed="rId51"/>
              </a:ext>
            </a:extLst>
          </a:blip>
          <a:srcRect/>
          <a:stretch>
            <a:fillRect/>
          </a:stretch>
        </p:blipFill>
        <p:spPr bwMode="white">
          <a:xfrm>
            <a:off x="9997200" y="6085768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3" name="ShadeSessionCae"/>
          <p:cNvSpPr>
            <a:spLocks/>
          </p:cNvSpPr>
          <p:nvPr/>
        </p:nvSpPr>
        <p:spPr bwMode="white">
          <a:xfrm>
            <a:off x="9987595" y="5219780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76" name="ShadeSessionSecureSignIn"/>
          <p:cNvSpPr>
            <a:spLocks/>
          </p:cNvSpPr>
          <p:nvPr/>
        </p:nvSpPr>
        <p:spPr bwMode="white">
          <a:xfrm>
            <a:off x="9996846" y="5986498"/>
            <a:ext cx="2014431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pic>
        <p:nvPicPr>
          <p:cNvPr id="102" name="Graphic 101"/>
          <p:cNvPicPr>
            <a:picLocks noChangeAspect="1"/>
          </p:cNvPicPr>
          <p:nvPr/>
        </p:nvPicPr>
        <p:blipFill>
          <a:blip r:embed="rId52">
            <a:lum/>
            <a:extLst>
              <a:ext uri="{96DAC541-7B7A-43D3-8B79-37D633B846F1}">
                <asvg:svgBlip xmlns:asvg="http://schemas.microsoft.com/office/drawing/2016/SVG/main" r:embed="rId53"/>
              </a:ext>
            </a:extLst>
          </a:blip>
          <a:srcRect/>
          <a:stretch>
            <a:fillRect/>
          </a:stretch>
        </p:blipFill>
        <p:spPr bwMode="white">
          <a:xfrm>
            <a:off x="9997200" y="5663777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80" name="Graphic 79" descr="Close with solid fill"/>
          <p:cNvPicPr>
            <a:picLocks noChangeAspect="1"/>
          </p:cNvPicPr>
          <p:nvPr/>
        </p:nvPicPr>
        <p:blipFill>
          <a:blip r:embed="rId48">
            <a:lum/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rcRect/>
          <a:stretch>
            <a:fillRect/>
          </a:stretch>
        </p:blipFill>
        <p:spPr bwMode="white">
          <a:xfrm>
            <a:off x="9963899" y="5637424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4" name="ShadeSessionDisableResilience"/>
          <p:cNvSpPr>
            <a:spLocks/>
          </p:cNvSpPr>
          <p:nvPr/>
        </p:nvSpPr>
        <p:spPr bwMode="white">
          <a:xfrm>
            <a:off x="9959681" y="5602709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2" name="PolicyName">
            <a:hlinkClick r:id="" action="ppaction://hlinkfile"/>
          </p:cNvPr>
          <p:cNvSpPr>
            <a:spLocks noGrp="1"/>
          </p:cNvSpPr>
          <p:nvPr>
            <p:ph type="title"/>
          </p:nvPr>
        </p:nvSpPr>
        <p:spPr bwMode="white">
          <a:xfrm>
            <a:off x="838200" y="115511"/>
            <a:ext cx="10003967" cy="609565"/>
          </a:xfrm>
          <a:ln>
            <a:headEnd type="none"/>
            <a:tailEnd type="none"/>
          </a:ln>
        </p:spPr>
        <p:txBody>
          <a:bodyPr wrap="square">
            <a:noAutofit/>
          </a:bodyPr>
          <a:lstStyle/>
          <a:p>
            <a:pPr defTabSz="914400"/>
            <a:r>
              <a:rPr lang="en-US" sz="2000" b="1" dirty="0"/>
              <a:t>[BI/Tableau][SVo365 BI/Tableau] Service Accouns Have Only Access To SharePoint Online</a:t>
            </a:r>
          </a:p>
        </p:txBody>
      </p:sp>
      <p:sp>
        <p:nvSpPr>
          <p:cNvPr id="16" name="LastModified"/>
          <p:cNvSpPr txBox="1">
            <a:spLocks noChangeArrowheads="1"/>
          </p:cNvSpPr>
          <p:nvPr/>
        </p:nvSpPr>
        <p:spPr bwMode="white">
          <a:xfrm>
            <a:off x="10556111" y="388376"/>
            <a:ext cx="15483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algn="r" defTabSz="457200"/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Last modified: 2025-07-30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UserWorkload"/>
          <p:cNvSpPr>
            <a:spLocks/>
          </p:cNvSpPr>
          <p:nvPr/>
        </p:nvSpPr>
        <p:spPr bwMode="auto">
          <a:xfrm>
            <a:off x="175820" y="2709769"/>
            <a:ext cx="2202823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Users</a:t>
            </a:r>
          </a:p>
        </p:txBody>
      </p:sp>
      <p:sp>
        <p:nvSpPr>
          <p:cNvPr id="7" name="UserWorkloadIncExc"/>
          <p:cNvSpPr txBox="1">
            <a:spLocks noChangeArrowheads="1"/>
          </p:cNvSpPr>
          <p:nvPr/>
        </p:nvSpPr>
        <p:spPr bwMode="white">
          <a:xfrm>
            <a:off x="125485" y="3698952"/>
            <a:ext cx="3062115" cy="313265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 numCol="1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b="1" dirty="0"/>
            </a:pPr>
            <a:r>
              <a:t> Users</a:t>
            </a:r>
          </a:p>
          <a:p>
            <a:pPr defTabSz="457200">
              <a:defRPr sz="1100" dirty="0"/>
            </a:pPr>
            <a:r>
              <a:t> - SVO365 Cofense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19" name="Risks"/>
          <p:cNvSpPr txBox="1">
            <a:spLocks noChangeArrowheads="1"/>
          </p:cNvSpPr>
          <p:nvPr/>
        </p:nvSpPr>
        <p:spPr bwMode="white">
          <a:xfrm>
            <a:off x="524485" y="1021946"/>
            <a:ext cx="1348869" cy="166886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0" name="Platforms"/>
          <p:cNvSpPr txBox="1">
            <a:spLocks noChangeArrowheads="1"/>
          </p:cNvSpPr>
          <p:nvPr/>
        </p:nvSpPr>
        <p:spPr bwMode="white">
          <a:xfrm>
            <a:off x="1826931" y="1021947"/>
            <a:ext cx="2061056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3" name="Locations"/>
          <p:cNvSpPr txBox="1">
            <a:spLocks noChangeArrowheads="1"/>
          </p:cNvSpPr>
          <p:nvPr/>
        </p:nvSpPr>
        <p:spPr bwMode="white">
          <a:xfrm>
            <a:off x="8324941" y="1021947"/>
            <a:ext cx="3513702" cy="159258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4" name="ClientAppTypes"/>
          <p:cNvSpPr txBox="1">
            <a:spLocks noChangeArrowheads="1"/>
          </p:cNvSpPr>
          <p:nvPr/>
        </p:nvSpPr>
        <p:spPr bwMode="white">
          <a:xfrm>
            <a:off x="3810664" y="1021947"/>
            <a:ext cx="1581599" cy="165343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5" name="DeviceFilters"/>
          <p:cNvSpPr txBox="1">
            <a:spLocks noChangeArrowheads="1"/>
          </p:cNvSpPr>
          <p:nvPr/>
        </p:nvSpPr>
        <p:spPr bwMode="white">
          <a:xfrm>
            <a:off x="5818151" y="1022762"/>
            <a:ext cx="2248808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cxnSp>
        <p:nvCxnSpPr>
          <p:cNvPr id="27" name="Straight Arrow Connector 26" descr="Arrow drawn from user/workload  to the action being performed by the user such as accessing cloud apps."/>
          <p:cNvCxnSpPr/>
          <p:nvPr/>
        </p:nvCxnSpPr>
        <p:spPr bwMode="white">
          <a:xfrm>
            <a:off x="2195232" y="3159047"/>
            <a:ext cx="3959471" cy="1"/>
          </a:xfrm>
          <a:prstGeom prst="straightConnector1">
            <a:avLst/>
          </a:prstGeom>
          <a:ln w="76200"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30" name="IconBlockAccess" descr="Picture with red color stop sign to indicate blocked access"/>
          <p:cNvPicPr>
            <a:picLocks noChangeAspect="1"/>
          </p:cNvPicPr>
          <p:nvPr/>
        </p:nvPicPr>
        <p:blipFill>
          <a:blip r:embed="rId3">
            <a:lum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 bwMode="white">
          <a:xfrm>
            <a:off x="5306633" y="2735805"/>
            <a:ext cx="356616" cy="35661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34" name="GrantLabelBlockAccess"/>
          <p:cNvSpPr txBox="1">
            <a:spLocks noChangeArrowheads="1"/>
          </p:cNvSpPr>
          <p:nvPr/>
        </p:nvSpPr>
        <p:spPr bwMode="white">
          <a:xfrm>
            <a:off x="3936931" y="2734375"/>
            <a:ext cx="1358065" cy="369332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algn="ctr" defTabSz="457200"/>
            <a:r>
              <a:rPr lang="en-US" b="1" dirty="0">
                <a:solidFill>
                  <a:srgbClr val="FF0000"/>
                </a:solidFill>
              </a:rPr>
              <a:t>Block access</a:t>
            </a:r>
          </a:p>
        </p:txBody>
      </p:sp>
      <p:sp>
        <p:nvSpPr>
          <p:cNvPr id="3" name="CloudAppActionIncExc"/>
          <p:cNvSpPr txBox="1">
            <a:spLocks noChangeArrowheads="1"/>
          </p:cNvSpPr>
          <p:nvPr/>
        </p:nvSpPr>
        <p:spPr bwMode="white">
          <a:xfrm>
            <a:off x="6039518" y="3662782"/>
            <a:ext cx="3649518" cy="315161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r>
              <a:t>🚫 Exclude:</a:t>
            </a:r>
          </a:p>
          <a:p>
            <a:pPr defTabSz="457200">
              <a:defRPr sz="1100" dirty="0"/>
            </a:pPr>
            <a:r>
              <a:t> - Office 365 Exchange Online</a:t>
            </a:r>
          </a:p>
          <a:p>
            <a:pPr defTabSz="457200">
              <a:defRPr sz="1100" dirty="0"/>
            </a:pPr>
            <a:r>
              <a:t> - Cofense Triage</a:t>
            </a:r>
          </a:p>
          <a:p>
            <a:pPr defTabSz="457200">
              <a:defRPr sz="1100" b="1" dirty="0"/>
            </a:pPr>
            <a:endParaRPr/>
          </a:p>
        </p:txBody>
      </p:sp>
      <p:pic>
        <p:nvPicPr>
          <p:cNvPr id="26" name="IconGroupIdentity"/>
          <p:cNvPicPr>
            <a:picLocks noChangeAspect="1"/>
          </p:cNvPicPr>
          <p:nvPr/>
        </p:nvPicPr>
        <p:blipFill>
          <a:blip r:embed="rId5">
            <a:lum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 bwMode="white">
          <a:xfrm>
            <a:off x="327701" y="2839007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36" name="Graphic 35"/>
          <p:cNvPicPr>
            <a:picLocks noChangeAspect="1"/>
          </p:cNvPicPr>
          <p:nvPr/>
        </p:nvPicPr>
        <p:blipFill>
          <a:blip r:embed="rId7">
            <a:lum/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p:blipFill>
        <p:spPr bwMode="white">
          <a:xfrm>
            <a:off x="495610" y="197468"/>
            <a:ext cx="381196" cy="38119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" name="CloudAppAction"/>
          <p:cNvSpPr>
            <a:spLocks/>
          </p:cNvSpPr>
          <p:nvPr/>
        </p:nvSpPr>
        <p:spPr bwMode="auto">
          <a:xfrm>
            <a:off x="6206089" y="2718506"/>
            <a:ext cx="3227026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All cloud apps</a:t>
            </a:r>
          </a:p>
        </p:txBody>
      </p:sp>
      <p:pic>
        <p:nvPicPr>
          <p:cNvPr id="75" name="IconAccessAllCloudApps"/>
          <p:cNvPicPr>
            <a:picLocks noChangeAspect="1"/>
          </p:cNvPicPr>
          <p:nvPr/>
        </p:nvPicPr>
        <p:blipFill>
          <a:blip r:embed="rId9">
            <a:lum/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p:blipFill>
        <p:spPr bwMode="white">
          <a:xfrm>
            <a:off x="6439264" y="2836824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21" name="StateEnabled"/>
          <p:cNvSpPr>
            <a:spLocks/>
          </p:cNvSpPr>
          <p:nvPr/>
        </p:nvSpPr>
        <p:spPr bwMode="white">
          <a:xfrm>
            <a:off x="10842171" y="83487"/>
            <a:ext cx="1260389" cy="264812"/>
          </a:xfrm>
          <a:prstGeom prst="round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r>
              <a:rPr lang="en-US" sz="800" dirty="0"/>
              <a:t>Policy Enabled</a:t>
            </a:r>
          </a:p>
        </p:txBody>
      </p:sp>
      <p:grpSp>
        <p:nvGrpSpPr>
          <p:cNvPr id="10" name="IconRiskyUsers"/>
          <p:cNvGrpSpPr>
            <a:grpSpLocks/>
          </p:cNvGrpSpPr>
          <p:nvPr/>
        </p:nvGrpSpPr>
        <p:grpSpPr bwMode="white">
          <a:xfrm>
            <a:off x="635426" y="738677"/>
            <a:ext cx="1202553" cy="274320"/>
            <a:chOff x="2013768" y="1033956"/>
            <a:chExt cx="1342320" cy="274320"/>
          </a:xfrm>
        </p:grpSpPr>
        <p:pic>
          <p:nvPicPr>
            <p:cNvPr id="46" name="Graphic 1"/>
            <p:cNvPicPr>
              <a:picLocks noChangeAspect="1"/>
            </p:cNvPicPr>
            <p:nvPr/>
          </p:nvPicPr>
          <p:blipFill>
            <a:blip r:embed="rId11">
              <a:lum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013768" y="1033956"/>
              <a:ext cx="274320" cy="27432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5" name="Label 1"/>
            <p:cNvSpPr txBox="1">
              <a:spLocks noChangeArrowheads="1"/>
            </p:cNvSpPr>
            <p:nvPr/>
          </p:nvSpPr>
          <p:spPr bwMode="white">
            <a:xfrm>
              <a:off x="2240077" y="1040706"/>
              <a:ext cx="1116011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Risk</a:t>
              </a:r>
            </a:p>
          </p:txBody>
        </p:sp>
      </p:grpSp>
      <p:grpSp>
        <p:nvGrpSpPr>
          <p:cNvPr id="14" name="IconPlatforms"/>
          <p:cNvGrpSpPr>
            <a:grpSpLocks/>
          </p:cNvGrpSpPr>
          <p:nvPr/>
        </p:nvGrpSpPr>
        <p:grpSpPr bwMode="white">
          <a:xfrm>
            <a:off x="1927788" y="715249"/>
            <a:ext cx="1719285" cy="365760"/>
            <a:chOff x="3262737" y="994835"/>
            <a:chExt cx="1719285" cy="365760"/>
          </a:xfrm>
        </p:grpSpPr>
        <p:pic>
          <p:nvPicPr>
            <p:cNvPr id="29" name="Graphic 1"/>
            <p:cNvPicPr>
              <a:picLocks noChangeAspect="1"/>
            </p:cNvPicPr>
            <p:nvPr/>
          </p:nvPicPr>
          <p:blipFill>
            <a:blip r:embed="rId13">
              <a:lum/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3262737" y="994835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1" name="Label 1"/>
            <p:cNvSpPr txBox="1">
              <a:spLocks noChangeArrowheads="1"/>
            </p:cNvSpPr>
            <p:nvPr/>
          </p:nvSpPr>
          <p:spPr bwMode="white">
            <a:xfrm>
              <a:off x="3582397" y="1027255"/>
              <a:ext cx="1399625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Device platforms</a:t>
              </a:r>
            </a:p>
          </p:txBody>
        </p:sp>
      </p:grpSp>
      <p:grpSp>
        <p:nvGrpSpPr>
          <p:cNvPr id="17" name="IconClientAppTypes"/>
          <p:cNvGrpSpPr>
            <a:grpSpLocks/>
          </p:cNvGrpSpPr>
          <p:nvPr/>
        </p:nvGrpSpPr>
        <p:grpSpPr bwMode="white">
          <a:xfrm>
            <a:off x="3908159" y="670015"/>
            <a:ext cx="1852971" cy="365760"/>
            <a:chOff x="4858970" y="975927"/>
            <a:chExt cx="1852971" cy="365760"/>
          </a:xfrm>
        </p:grpSpPr>
        <p:pic>
          <p:nvPicPr>
            <p:cNvPr id="58" name="Graphic 1"/>
            <p:cNvPicPr>
              <a:picLocks noChangeAspect="1"/>
            </p:cNvPicPr>
            <p:nvPr/>
          </p:nvPicPr>
          <p:blipFill>
            <a:blip r:embed="rId15">
              <a:lum/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858970" y="975927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5" name="Label 1"/>
            <p:cNvSpPr txBox="1">
              <a:spLocks noChangeArrowheads="1"/>
            </p:cNvSpPr>
            <p:nvPr/>
          </p:nvSpPr>
          <p:spPr bwMode="white">
            <a:xfrm>
              <a:off x="5193983" y="1009899"/>
              <a:ext cx="1517958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Client apps</a:t>
              </a:r>
            </a:p>
          </p:txBody>
        </p:sp>
      </p:grpSp>
      <p:grpSp>
        <p:nvGrpSpPr>
          <p:cNvPr id="37" name="IconLocations"/>
          <p:cNvGrpSpPr>
            <a:grpSpLocks/>
          </p:cNvGrpSpPr>
          <p:nvPr/>
        </p:nvGrpSpPr>
        <p:grpSpPr bwMode="white">
          <a:xfrm>
            <a:off x="8411896" y="646848"/>
            <a:ext cx="1850168" cy="388465"/>
            <a:chOff x="2321433" y="3262888"/>
            <a:chExt cx="1850168" cy="388465"/>
          </a:xfrm>
        </p:grpSpPr>
        <p:pic>
          <p:nvPicPr>
            <p:cNvPr id="33" name="Graphic 1"/>
            <p:cNvPicPr>
              <a:picLocks noChangeAspect="1"/>
            </p:cNvPicPr>
            <p:nvPr/>
          </p:nvPicPr>
          <p:blipFill>
            <a:blip r:embed="rId17">
              <a:lum/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321433" y="3262888"/>
              <a:ext cx="388465" cy="388465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28" name="Label 1"/>
            <p:cNvSpPr txBox="1">
              <a:spLocks noChangeArrowheads="1"/>
            </p:cNvSpPr>
            <p:nvPr/>
          </p:nvSpPr>
          <p:spPr bwMode="white">
            <a:xfrm>
              <a:off x="2713321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Locations</a:t>
              </a:r>
              <a:endParaRPr lang="en-US" sz="1100" b="1" dirty="0"/>
            </a:p>
          </p:txBody>
        </p:sp>
      </p:grpSp>
      <p:grpSp>
        <p:nvGrpSpPr>
          <p:cNvPr id="39" name="IconDeviceFilters"/>
          <p:cNvGrpSpPr>
            <a:grpSpLocks/>
          </p:cNvGrpSpPr>
          <p:nvPr/>
        </p:nvGrpSpPr>
        <p:grpSpPr bwMode="white">
          <a:xfrm>
            <a:off x="5472818" y="661958"/>
            <a:ext cx="1839823" cy="364111"/>
            <a:chOff x="4195414" y="3273669"/>
            <a:chExt cx="1839823" cy="364111"/>
          </a:xfrm>
        </p:grpSpPr>
        <p:pic>
          <p:nvPicPr>
            <p:cNvPr id="60" name="Graphic 1"/>
            <p:cNvPicPr>
              <a:picLocks noChangeAspect="1"/>
            </p:cNvPicPr>
            <p:nvPr/>
          </p:nvPicPr>
          <p:blipFill>
            <a:blip r:embed="rId19">
              <a:lum/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195414" y="3273669"/>
              <a:ext cx="364111" cy="364111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31" name="Label 1"/>
            <p:cNvSpPr txBox="1">
              <a:spLocks noChangeArrowheads="1"/>
            </p:cNvSpPr>
            <p:nvPr/>
          </p:nvSpPr>
          <p:spPr bwMode="white">
            <a:xfrm>
              <a:off x="4576957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Filter for devices</a:t>
              </a:r>
              <a:endParaRPr lang="en-US" sz="1100" b="1" dirty="0"/>
            </a:p>
          </p:txBody>
        </p:sp>
      </p:grpSp>
      <p:pic>
        <p:nvPicPr>
          <p:cNvPr id="62" name="IconGrantMultifactorAuthentication"/>
          <p:cNvPicPr>
            <a:picLocks noChangeAspect="1"/>
          </p:cNvPicPr>
          <p:nvPr/>
        </p:nvPicPr>
        <p:blipFill>
          <a:blip r:embed="rId21">
            <a:lum/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>
            <a:fillRect/>
          </a:stretch>
        </p:blipFill>
        <p:spPr bwMode="white">
          <a:xfrm>
            <a:off x="3410647" y="3566863"/>
            <a:ext cx="17145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5" name="IconGrantMultifactorAuthenticationLabel"/>
          <p:cNvSpPr txBox="1">
            <a:spLocks noChangeArrowheads="1"/>
          </p:cNvSpPr>
          <p:nvPr/>
        </p:nvSpPr>
        <p:spPr bwMode="white">
          <a:xfrm>
            <a:off x="3575836" y="3571997"/>
            <a:ext cx="19007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Multifactor authentication</a:t>
            </a:r>
            <a:endParaRPr lang="en-US" sz="1000" dirty="0"/>
          </a:p>
        </p:txBody>
      </p:sp>
      <p:pic>
        <p:nvPicPr>
          <p:cNvPr id="38" name="IconGrantAuthenticationStrength"/>
          <p:cNvPicPr>
            <a:picLocks noChangeAspect="1"/>
          </p:cNvPicPr>
          <p:nvPr/>
        </p:nvPicPr>
        <p:blipFill>
          <a:blip r:embed="rId23">
            <a:lum/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/>
          <a:stretch>
            <a:fillRect/>
          </a:stretch>
        </p:blipFill>
        <p:spPr bwMode="white">
          <a:xfrm>
            <a:off x="3374515" y="3905034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7" name="IconGrantAuthenticationStrengthLabel"/>
          <p:cNvSpPr txBox="1">
            <a:spLocks noChangeArrowheads="1"/>
          </p:cNvSpPr>
          <p:nvPr/>
        </p:nvSpPr>
        <p:spPr bwMode="white">
          <a:xfrm>
            <a:off x="3575836" y="3907323"/>
            <a:ext cx="2185294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Authentication strength</a:t>
            </a:r>
            <a:endParaRPr lang="en-US" sz="1000" dirty="0"/>
          </a:p>
        </p:txBody>
      </p:sp>
      <p:pic>
        <p:nvPicPr>
          <p:cNvPr id="52" name="IconGrantDeviceCompliance"/>
          <p:cNvPicPr>
            <a:picLocks noChangeAspect="1"/>
          </p:cNvPicPr>
          <p:nvPr/>
        </p:nvPicPr>
        <p:blipFill>
          <a:blip r:embed="rId25">
            <a:lum/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/>
          <a:stretch>
            <a:fillRect/>
          </a:stretch>
        </p:blipFill>
        <p:spPr bwMode="white">
          <a:xfrm>
            <a:off x="3374515" y="4243205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9" name="IconGrantDeviceComplianceLabel"/>
          <p:cNvSpPr txBox="1">
            <a:spLocks noChangeArrowheads="1"/>
          </p:cNvSpPr>
          <p:nvPr/>
        </p:nvSpPr>
        <p:spPr bwMode="white">
          <a:xfrm>
            <a:off x="3575836" y="4242649"/>
            <a:ext cx="17378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Compliant device</a:t>
            </a:r>
            <a:endParaRPr lang="en-US" sz="1000" dirty="0"/>
          </a:p>
        </p:txBody>
      </p:sp>
      <p:pic>
        <p:nvPicPr>
          <p:cNvPr id="43" name="IconGrantHybridJoined"/>
          <p:cNvPicPr>
            <a:picLocks noChangeAspect="1"/>
          </p:cNvPicPr>
          <p:nvPr/>
        </p:nvPicPr>
        <p:blipFill>
          <a:blip r:embed="rId27">
            <a:lum/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/>
          <a:stretch>
            <a:fillRect/>
          </a:stretch>
        </p:blipFill>
        <p:spPr bwMode="white">
          <a:xfrm>
            <a:off x="3374515" y="4581376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3" name="IconGrantHybridJoinedLabel"/>
          <p:cNvSpPr txBox="1">
            <a:spLocks noChangeArrowheads="1"/>
          </p:cNvSpPr>
          <p:nvPr/>
        </p:nvSpPr>
        <p:spPr bwMode="white">
          <a:xfrm>
            <a:off x="3575836" y="4577975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Hybrid Azure AD joined device</a:t>
            </a:r>
            <a:endParaRPr lang="en-US" sz="1000" dirty="0"/>
          </a:p>
        </p:txBody>
      </p:sp>
      <p:pic>
        <p:nvPicPr>
          <p:cNvPr id="48" name="IconGrantApprovedClientApp"/>
          <p:cNvPicPr>
            <a:picLocks noChangeAspect="1"/>
          </p:cNvPicPr>
          <p:nvPr/>
        </p:nvPicPr>
        <p:blipFill>
          <a:blip r:embed="rId29">
            <a:lum/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rcRect/>
          <a:stretch>
            <a:fillRect/>
          </a:stretch>
        </p:blipFill>
        <p:spPr bwMode="white">
          <a:xfrm>
            <a:off x="3374515" y="491954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5" name="IconGrantApprovedClientAppLabel"/>
          <p:cNvSpPr txBox="1">
            <a:spLocks noChangeArrowheads="1"/>
          </p:cNvSpPr>
          <p:nvPr/>
        </p:nvSpPr>
        <p:spPr bwMode="white">
          <a:xfrm>
            <a:off x="3575836" y="4913301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Approved client app</a:t>
            </a:r>
            <a:endParaRPr lang="en-US" sz="1000" dirty="0"/>
          </a:p>
        </p:txBody>
      </p:sp>
      <p:pic>
        <p:nvPicPr>
          <p:cNvPr id="42" name="IconGrantCustomAuth"/>
          <p:cNvPicPr>
            <a:picLocks noChangeAspect="1"/>
          </p:cNvPicPr>
          <p:nvPr/>
        </p:nvPicPr>
        <p:blipFill>
          <a:blip r:embed="rId31">
            <a:lum/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rcRect/>
          <a:stretch>
            <a:fillRect/>
          </a:stretch>
        </p:blipFill>
        <p:spPr bwMode="white">
          <a:xfrm>
            <a:off x="3374515" y="593406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9" name="IconGrantCustomAuthLabel"/>
          <p:cNvSpPr txBox="1">
            <a:spLocks noChangeArrowheads="1"/>
          </p:cNvSpPr>
          <p:nvPr/>
        </p:nvSpPr>
        <p:spPr bwMode="white">
          <a:xfrm>
            <a:off x="3575836" y="5919279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Custom authentication factor</a:t>
            </a:r>
            <a:endParaRPr lang="en-US" sz="1000" dirty="0"/>
          </a:p>
        </p:txBody>
      </p:sp>
      <p:pic>
        <p:nvPicPr>
          <p:cNvPr id="40" name="IconGrantTermsOfUse"/>
          <p:cNvPicPr>
            <a:picLocks noChangeAspect="1"/>
          </p:cNvPicPr>
          <p:nvPr/>
        </p:nvPicPr>
        <p:blipFill>
          <a:blip r:embed="rId33">
            <a:lum/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rcRect/>
          <a:stretch>
            <a:fillRect/>
          </a:stretch>
        </p:blipFill>
        <p:spPr bwMode="white">
          <a:xfrm>
            <a:off x="3374515" y="627222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3" name="IconGrantTermsOfUseLabel"/>
          <p:cNvSpPr txBox="1">
            <a:spLocks noChangeArrowheads="1"/>
          </p:cNvSpPr>
          <p:nvPr/>
        </p:nvSpPr>
        <p:spPr bwMode="white">
          <a:xfrm>
            <a:off x="3575836" y="625460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Terms of use</a:t>
            </a:r>
            <a:endParaRPr lang="en-US" sz="1000" dirty="0"/>
          </a:p>
        </p:txBody>
      </p:sp>
      <p:sp>
        <p:nvSpPr>
          <p:cNvPr id="56" name="IconGrantAppProtectionLabel"/>
          <p:cNvSpPr txBox="1">
            <a:spLocks noChangeArrowheads="1"/>
          </p:cNvSpPr>
          <p:nvPr/>
        </p:nvSpPr>
        <p:spPr bwMode="white">
          <a:xfrm>
            <a:off x="3575836" y="524862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 protection policy</a:t>
            </a:r>
            <a:endParaRPr lang="en-US" sz="1000" dirty="0"/>
          </a:p>
        </p:txBody>
      </p:sp>
      <p:pic>
        <p:nvPicPr>
          <p:cNvPr id="65" name="IconGrantAppProtection"/>
          <p:cNvPicPr>
            <a:picLocks noChangeAspect="1"/>
          </p:cNvPicPr>
          <p:nvPr/>
        </p:nvPicPr>
        <p:blipFill>
          <a:blip r:embed="rId35">
            <a:lum/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rcRect/>
          <a:stretch>
            <a:fillRect/>
          </a:stretch>
        </p:blipFill>
        <p:spPr bwMode="white">
          <a:xfrm>
            <a:off x="3374515" y="525771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7" name="IconGrantChangePasswordLabel"/>
          <p:cNvSpPr txBox="1">
            <a:spLocks noChangeArrowheads="1"/>
          </p:cNvSpPr>
          <p:nvPr/>
        </p:nvSpPr>
        <p:spPr bwMode="white">
          <a:xfrm>
            <a:off x="3575836" y="5583953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Change password</a:t>
            </a:r>
            <a:endParaRPr lang="en-US" sz="1000" dirty="0"/>
          </a:p>
        </p:txBody>
      </p:sp>
      <p:pic>
        <p:nvPicPr>
          <p:cNvPr id="67" name="IconGrantChangePassword"/>
          <p:cNvPicPr>
            <a:picLocks noChangeAspect="1"/>
          </p:cNvPicPr>
          <p:nvPr/>
        </p:nvPicPr>
        <p:blipFill>
          <a:blip r:embed="rId37">
            <a:lum/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rcRect/>
          <a:stretch>
            <a:fillRect/>
          </a:stretch>
        </p:blipFill>
        <p:spPr bwMode="white">
          <a:xfrm>
            <a:off x="3374515" y="5595889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4" name="ShadeRisk"/>
          <p:cNvSpPr>
            <a:spLocks/>
          </p:cNvSpPr>
          <p:nvPr/>
        </p:nvSpPr>
        <p:spPr bwMode="white">
          <a:xfrm>
            <a:off x="507564" y="650246"/>
            <a:ext cx="976864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66" name="ShadeDevicePlatforms"/>
          <p:cNvSpPr>
            <a:spLocks/>
          </p:cNvSpPr>
          <p:nvPr/>
        </p:nvSpPr>
        <p:spPr bwMode="white">
          <a:xfrm>
            <a:off x="1863623" y="663409"/>
            <a:ext cx="1773927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78" name="ShadeClientApps"/>
          <p:cNvSpPr>
            <a:spLocks/>
          </p:cNvSpPr>
          <p:nvPr/>
        </p:nvSpPr>
        <p:spPr bwMode="white">
          <a:xfrm>
            <a:off x="3802273" y="650246"/>
            <a:ext cx="1481482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79" name="ShadeLocations"/>
          <p:cNvSpPr>
            <a:spLocks/>
          </p:cNvSpPr>
          <p:nvPr/>
        </p:nvSpPr>
        <p:spPr bwMode="white">
          <a:xfrm>
            <a:off x="8217572" y="669110"/>
            <a:ext cx="1873684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2" name="ShadeFilterForDevices"/>
          <p:cNvSpPr>
            <a:spLocks/>
          </p:cNvSpPr>
          <p:nvPr/>
        </p:nvSpPr>
        <p:spPr bwMode="white">
          <a:xfrm>
            <a:off x="5438955" y="627922"/>
            <a:ext cx="1873685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3" name="ShadeGrantMultifactorAuth"/>
          <p:cNvSpPr>
            <a:spLocks/>
          </p:cNvSpPr>
          <p:nvPr/>
        </p:nvSpPr>
        <p:spPr bwMode="white">
          <a:xfrm>
            <a:off x="3369399" y="3534220"/>
            <a:ext cx="2069555" cy="28330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4" name="ShadeGrantAuthStrength"/>
          <p:cNvSpPr>
            <a:spLocks/>
          </p:cNvSpPr>
          <p:nvPr/>
        </p:nvSpPr>
        <p:spPr bwMode="white">
          <a:xfrm>
            <a:off x="3350256" y="3869846"/>
            <a:ext cx="2069555" cy="27801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5" name="ShadeGrantCompliantDevice"/>
          <p:cNvSpPr>
            <a:spLocks/>
          </p:cNvSpPr>
          <p:nvPr/>
        </p:nvSpPr>
        <p:spPr bwMode="white">
          <a:xfrm>
            <a:off x="3361852" y="4243205"/>
            <a:ext cx="2077102" cy="26110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6" name="ShadeGrantHybridAzureADJoined"/>
          <p:cNvSpPr>
            <a:spLocks/>
          </p:cNvSpPr>
          <p:nvPr/>
        </p:nvSpPr>
        <p:spPr bwMode="white">
          <a:xfrm>
            <a:off x="3353637" y="4552268"/>
            <a:ext cx="2160906" cy="298395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7" name="ShadeGrantApprovedClientApp"/>
          <p:cNvSpPr>
            <a:spLocks/>
          </p:cNvSpPr>
          <p:nvPr/>
        </p:nvSpPr>
        <p:spPr bwMode="white">
          <a:xfrm>
            <a:off x="3331918" y="4876027"/>
            <a:ext cx="2182625" cy="29839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8" name="ShadeGrantAppProtectionPolicy"/>
          <p:cNvSpPr>
            <a:spLocks/>
          </p:cNvSpPr>
          <p:nvPr/>
        </p:nvSpPr>
        <p:spPr bwMode="white">
          <a:xfrm>
            <a:off x="3350256" y="5207226"/>
            <a:ext cx="2122561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9" name="ShadeGrantChangePassword"/>
          <p:cNvSpPr>
            <a:spLocks/>
          </p:cNvSpPr>
          <p:nvPr/>
        </p:nvSpPr>
        <p:spPr bwMode="white">
          <a:xfrm>
            <a:off x="3350257" y="5557021"/>
            <a:ext cx="2042006" cy="287239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0" name="ShadeGrantCustomAuthFactor"/>
          <p:cNvSpPr>
            <a:spLocks/>
          </p:cNvSpPr>
          <p:nvPr/>
        </p:nvSpPr>
        <p:spPr bwMode="white">
          <a:xfrm>
            <a:off x="3331918" y="5899058"/>
            <a:ext cx="2182625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1" name="ShadeGrantTermsOfUse"/>
          <p:cNvSpPr>
            <a:spLocks/>
          </p:cNvSpPr>
          <p:nvPr/>
        </p:nvSpPr>
        <p:spPr bwMode="white">
          <a:xfrm>
            <a:off x="3313823" y="6192350"/>
            <a:ext cx="101602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99" name="Rectangle 98"/>
          <p:cNvSpPr>
            <a:spLocks/>
          </p:cNvSpPr>
          <p:nvPr/>
        </p:nvSpPr>
        <p:spPr bwMode="white">
          <a:xfrm>
            <a:off x="3268757" y="3253404"/>
            <a:ext cx="2357725" cy="3498546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0" name="Rectangle 109"/>
          <p:cNvSpPr>
            <a:spLocks/>
          </p:cNvSpPr>
          <p:nvPr/>
        </p:nvSpPr>
        <p:spPr bwMode="white">
          <a:xfrm>
            <a:off x="9881750" y="3248255"/>
            <a:ext cx="2220808" cy="3510149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7" name="Rectangle 116"/>
          <p:cNvSpPr>
            <a:spLocks/>
          </p:cNvSpPr>
          <p:nvPr/>
        </p:nvSpPr>
        <p:spPr bwMode="white">
          <a:xfrm>
            <a:off x="26741" y="606825"/>
            <a:ext cx="11985015" cy="2063636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2" name="Conditions Label"/>
          <p:cNvSpPr txBox="1">
            <a:spLocks noChangeArrowheads="1"/>
          </p:cNvSpPr>
          <p:nvPr/>
        </p:nvSpPr>
        <p:spPr bwMode="white">
          <a:xfrm rot="16200000">
            <a:off x="-883507" y="1514324"/>
            <a:ext cx="2081441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Conditions</a:t>
            </a:r>
          </a:p>
        </p:txBody>
      </p:sp>
      <p:sp>
        <p:nvSpPr>
          <p:cNvPr id="109" name="Grant Controls"/>
          <p:cNvSpPr txBox="1">
            <a:spLocks noChangeArrowheads="1"/>
          </p:cNvSpPr>
          <p:nvPr/>
        </p:nvSpPr>
        <p:spPr bwMode="white">
          <a:xfrm>
            <a:off x="3252146" y="3244395"/>
            <a:ext cx="2391873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Grant Controls</a:t>
            </a:r>
          </a:p>
        </p:txBody>
      </p:sp>
      <p:sp>
        <p:nvSpPr>
          <p:cNvPr id="111" name="Session Controls"/>
          <p:cNvSpPr txBox="1">
            <a:spLocks noChangeArrowheads="1"/>
          </p:cNvSpPr>
          <p:nvPr/>
        </p:nvSpPr>
        <p:spPr bwMode="white">
          <a:xfrm>
            <a:off x="9864212" y="3243751"/>
            <a:ext cx="2238346" cy="23786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Session Controls</a:t>
            </a:r>
          </a:p>
        </p:txBody>
      </p:sp>
      <p:pic>
        <p:nvPicPr>
          <p:cNvPr id="72" name="Graphic 71"/>
          <p:cNvPicPr>
            <a:picLocks noChangeAspect="1"/>
          </p:cNvPicPr>
          <p:nvPr/>
        </p:nvPicPr>
        <p:blipFill>
          <a:blip r:embed="rId39">
            <a:lum/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rcRect/>
          <a:stretch>
            <a:fillRect/>
          </a:stretch>
        </p:blipFill>
        <p:spPr bwMode="white">
          <a:xfrm>
            <a:off x="9996846" y="356982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4" name="Graphic 93"/>
          <p:cNvPicPr>
            <a:picLocks noChangeAspect="1"/>
          </p:cNvPicPr>
          <p:nvPr/>
        </p:nvPicPr>
        <p:blipFill>
          <a:blip r:embed="rId41">
            <a:lum/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rcRect/>
          <a:stretch>
            <a:fillRect/>
          </a:stretch>
        </p:blipFill>
        <p:spPr bwMode="white">
          <a:xfrm>
            <a:off x="10009443" y="525644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5" name="TextBox 94"/>
          <p:cNvSpPr txBox="1">
            <a:spLocks noChangeArrowheads="1"/>
          </p:cNvSpPr>
          <p:nvPr/>
        </p:nvSpPr>
        <p:spPr bwMode="white">
          <a:xfrm>
            <a:off x="10207481" y="3578463"/>
            <a:ext cx="150554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App enforced restrictions</a:t>
            </a:r>
          </a:p>
        </p:txBody>
      </p:sp>
      <p:sp>
        <p:nvSpPr>
          <p:cNvPr id="96" name="TextBox 95"/>
          <p:cNvSpPr txBox="1">
            <a:spLocks noChangeArrowheads="1"/>
          </p:cNvSpPr>
          <p:nvPr/>
        </p:nvSpPr>
        <p:spPr bwMode="white">
          <a:xfrm>
            <a:off x="10201167" y="3899846"/>
            <a:ext cx="181011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Conditional Access App Control</a:t>
            </a:r>
          </a:p>
        </p:txBody>
      </p:sp>
      <p:sp>
        <p:nvSpPr>
          <p:cNvPr id="97" name="TextBox 96"/>
          <p:cNvSpPr txBox="1">
            <a:spLocks noChangeArrowheads="1"/>
          </p:cNvSpPr>
          <p:nvPr/>
        </p:nvSpPr>
        <p:spPr bwMode="white">
          <a:xfrm>
            <a:off x="10215627" y="4357505"/>
            <a:ext cx="1090363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Sign-in frequency</a:t>
            </a:r>
          </a:p>
        </p:txBody>
      </p:sp>
      <p:sp>
        <p:nvSpPr>
          <p:cNvPr id="98" name="TextBox 97"/>
          <p:cNvSpPr txBox="1">
            <a:spLocks noChangeArrowheads="1"/>
          </p:cNvSpPr>
          <p:nvPr/>
        </p:nvSpPr>
        <p:spPr bwMode="white">
          <a:xfrm>
            <a:off x="10225446" y="4793305"/>
            <a:ext cx="156966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Persistent browser session</a:t>
            </a:r>
          </a:p>
        </p:txBody>
      </p:sp>
      <p:sp>
        <p:nvSpPr>
          <p:cNvPr id="100" name="TextBox 99"/>
          <p:cNvSpPr txBox="1">
            <a:spLocks noChangeArrowheads="1"/>
          </p:cNvSpPr>
          <p:nvPr/>
        </p:nvSpPr>
        <p:spPr bwMode="white">
          <a:xfrm>
            <a:off x="10229552" y="5232376"/>
            <a:ext cx="1717137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Continuous access evaluation</a:t>
            </a:r>
          </a:p>
        </p:txBody>
      </p:sp>
      <p:sp>
        <p:nvSpPr>
          <p:cNvPr id="101" name="TextBox 100"/>
          <p:cNvSpPr txBox="1">
            <a:spLocks noChangeArrowheads="1"/>
          </p:cNvSpPr>
          <p:nvPr/>
        </p:nvSpPr>
        <p:spPr bwMode="white">
          <a:xfrm>
            <a:off x="10259108" y="5658625"/>
            <a:ext cx="153599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Disable resilience defaults</a:t>
            </a:r>
          </a:p>
        </p:txBody>
      </p:sp>
      <p:pic>
        <p:nvPicPr>
          <p:cNvPr id="103" name="Graphic 102"/>
          <p:cNvPicPr>
            <a:picLocks noChangeAspect="1"/>
          </p:cNvPicPr>
          <p:nvPr/>
        </p:nvPicPr>
        <p:blipFill>
          <a:blip r:embed="rId43">
            <a:lum/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rcRect/>
          <a:stretch>
            <a:fillRect/>
          </a:stretch>
        </p:blipFill>
        <p:spPr bwMode="white">
          <a:xfrm>
            <a:off x="9996846" y="479900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5" name="Graphic 104"/>
          <p:cNvPicPr>
            <a:picLocks noChangeAspect="1"/>
          </p:cNvPicPr>
          <p:nvPr/>
        </p:nvPicPr>
        <p:blipFill>
          <a:blip r:embed="rId45">
            <a:lum/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rcRect/>
          <a:stretch>
            <a:fillRect/>
          </a:stretch>
        </p:blipFill>
        <p:spPr bwMode="white">
          <a:xfrm>
            <a:off x="9996846" y="437457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7" name="Graphic 106"/>
          <p:cNvPicPr>
            <a:picLocks noChangeAspect="1"/>
          </p:cNvPicPr>
          <p:nvPr/>
        </p:nvPicPr>
        <p:blipFill>
          <a:blip r:embed="rId7">
            <a:lum/>
            <a:extLst>
              <a:ext uri="{96DAC541-7B7A-43D3-8B79-37D633B846F1}">
                <asvg:svgBlip xmlns:asvg="http://schemas.microsoft.com/office/drawing/2016/SVG/main" r:embed="rId47"/>
              </a:ext>
            </a:extLst>
          </a:blip>
          <a:srcRect/>
          <a:stretch>
            <a:fillRect/>
          </a:stretch>
        </p:blipFill>
        <p:spPr bwMode="white">
          <a:xfrm>
            <a:off x="9996846" y="391529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15" name="SessionSifInterval"/>
          <p:cNvSpPr txBox="1">
            <a:spLocks noChangeArrowheads="1"/>
          </p:cNvSpPr>
          <p:nvPr/>
        </p:nvSpPr>
        <p:spPr bwMode="white">
          <a:xfrm>
            <a:off x="10296745" y="4516775"/>
            <a:ext cx="1249060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Periodic reauthentication</a:t>
            </a:r>
          </a:p>
        </p:txBody>
      </p:sp>
      <p:sp>
        <p:nvSpPr>
          <p:cNvPr id="114" name="SessionCasType"/>
          <p:cNvSpPr txBox="1">
            <a:spLocks noChangeArrowheads="1"/>
          </p:cNvSpPr>
          <p:nvPr/>
        </p:nvSpPr>
        <p:spPr bwMode="white">
          <a:xfrm>
            <a:off x="10296745" y="4075500"/>
            <a:ext cx="95410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App Control Policy</a:t>
            </a:r>
          </a:p>
        </p:txBody>
      </p:sp>
      <p:sp>
        <p:nvSpPr>
          <p:cNvPr id="116" name="SessionPersistenBrowserMode"/>
          <p:cNvSpPr txBox="1">
            <a:spLocks noChangeArrowheads="1"/>
          </p:cNvSpPr>
          <p:nvPr/>
        </p:nvSpPr>
        <p:spPr bwMode="white">
          <a:xfrm>
            <a:off x="10309761" y="4945281"/>
            <a:ext cx="918841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Always persistent</a:t>
            </a:r>
          </a:p>
        </p:txBody>
      </p:sp>
      <p:sp>
        <p:nvSpPr>
          <p:cNvPr id="118" name="SessionCaeMode"/>
          <p:cNvSpPr txBox="1">
            <a:spLocks noChangeArrowheads="1"/>
          </p:cNvSpPr>
          <p:nvPr/>
        </p:nvSpPr>
        <p:spPr bwMode="white">
          <a:xfrm>
            <a:off x="10301386" y="5393378"/>
            <a:ext cx="15359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US" sz="800" dirty="0"/>
              <a:t>Strictly enforce location policies</a:t>
            </a:r>
          </a:p>
        </p:txBody>
      </p:sp>
      <p:sp>
        <p:nvSpPr>
          <p:cNvPr id="119" name="ShadeSessionAppEnforced"/>
          <p:cNvSpPr>
            <a:spLocks/>
          </p:cNvSpPr>
          <p:nvPr/>
        </p:nvSpPr>
        <p:spPr bwMode="white">
          <a:xfrm>
            <a:off x="9959680" y="3548808"/>
            <a:ext cx="2051597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0" name="ShadeSessionCas"/>
          <p:cNvSpPr>
            <a:spLocks/>
          </p:cNvSpPr>
          <p:nvPr/>
        </p:nvSpPr>
        <p:spPr bwMode="white">
          <a:xfrm>
            <a:off x="9978939" y="3884212"/>
            <a:ext cx="2087576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1" name="ShadeSessionSif"/>
          <p:cNvSpPr>
            <a:spLocks/>
          </p:cNvSpPr>
          <p:nvPr/>
        </p:nvSpPr>
        <p:spPr bwMode="white">
          <a:xfrm>
            <a:off x="9940787" y="4320077"/>
            <a:ext cx="2125728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2" name="ShadeSessionPersistentBrowser"/>
          <p:cNvSpPr>
            <a:spLocks/>
          </p:cNvSpPr>
          <p:nvPr/>
        </p:nvSpPr>
        <p:spPr bwMode="white">
          <a:xfrm>
            <a:off x="9938833" y="4746195"/>
            <a:ext cx="207244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" name="Label Secure Sign In Session"/>
          <p:cNvSpPr txBox="1">
            <a:spLocks noChangeArrowheads="1"/>
          </p:cNvSpPr>
          <p:nvPr/>
        </p:nvSpPr>
        <p:spPr bwMode="white">
          <a:xfrm>
            <a:off x="10260000" y="6084874"/>
            <a:ext cx="166584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Token protection for session</a:t>
            </a:r>
          </a:p>
        </p:txBody>
      </p:sp>
      <p:pic>
        <p:nvPicPr>
          <p:cNvPr id="77" name="IconSessionCaeDisable" descr="Close with solid fill"/>
          <p:cNvPicPr>
            <a:picLocks noChangeAspect="1"/>
          </p:cNvPicPr>
          <p:nvPr/>
        </p:nvPicPr>
        <p:blipFill>
          <a:blip r:embed="rId48">
            <a:lum/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rcRect/>
          <a:stretch>
            <a:fillRect/>
          </a:stretch>
        </p:blipFill>
        <p:spPr bwMode="white">
          <a:xfrm>
            <a:off x="9979885" y="5218651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2" name="IconSessionSecureSignInSession 1"/>
          <p:cNvPicPr>
            <a:picLocks noChangeAspect="1"/>
          </p:cNvPicPr>
          <p:nvPr/>
        </p:nvPicPr>
        <p:blipFill>
          <a:blip r:embed="rId50">
            <a:lum/>
            <a:extLst>
              <a:ext uri="{96DAC541-7B7A-43D3-8B79-37D633B846F1}">
                <asvg:svgBlip xmlns:asvg="http://schemas.microsoft.com/office/drawing/2016/SVG/main" r:embed="rId51"/>
              </a:ext>
            </a:extLst>
          </a:blip>
          <a:srcRect/>
          <a:stretch>
            <a:fillRect/>
          </a:stretch>
        </p:blipFill>
        <p:spPr bwMode="white">
          <a:xfrm>
            <a:off x="9997200" y="6085768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3" name="ShadeSessionCae"/>
          <p:cNvSpPr>
            <a:spLocks/>
          </p:cNvSpPr>
          <p:nvPr/>
        </p:nvSpPr>
        <p:spPr bwMode="white">
          <a:xfrm>
            <a:off x="9987595" y="5219780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76" name="ShadeSessionSecureSignIn"/>
          <p:cNvSpPr>
            <a:spLocks/>
          </p:cNvSpPr>
          <p:nvPr/>
        </p:nvSpPr>
        <p:spPr bwMode="white">
          <a:xfrm>
            <a:off x="9996846" y="5986498"/>
            <a:ext cx="2014431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pic>
        <p:nvPicPr>
          <p:cNvPr id="102" name="Graphic 101"/>
          <p:cNvPicPr>
            <a:picLocks noChangeAspect="1"/>
          </p:cNvPicPr>
          <p:nvPr/>
        </p:nvPicPr>
        <p:blipFill>
          <a:blip r:embed="rId52">
            <a:lum/>
            <a:extLst>
              <a:ext uri="{96DAC541-7B7A-43D3-8B79-37D633B846F1}">
                <asvg:svgBlip xmlns:asvg="http://schemas.microsoft.com/office/drawing/2016/SVG/main" r:embed="rId53"/>
              </a:ext>
            </a:extLst>
          </a:blip>
          <a:srcRect/>
          <a:stretch>
            <a:fillRect/>
          </a:stretch>
        </p:blipFill>
        <p:spPr bwMode="white">
          <a:xfrm>
            <a:off x="9997200" y="5663777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80" name="Graphic 79" descr="Close with solid fill"/>
          <p:cNvPicPr>
            <a:picLocks noChangeAspect="1"/>
          </p:cNvPicPr>
          <p:nvPr/>
        </p:nvPicPr>
        <p:blipFill>
          <a:blip r:embed="rId48">
            <a:lum/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rcRect/>
          <a:stretch>
            <a:fillRect/>
          </a:stretch>
        </p:blipFill>
        <p:spPr bwMode="white">
          <a:xfrm>
            <a:off x="9963899" y="5637424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4" name="ShadeSessionDisableResilience"/>
          <p:cNvSpPr>
            <a:spLocks/>
          </p:cNvSpPr>
          <p:nvPr/>
        </p:nvSpPr>
        <p:spPr bwMode="white">
          <a:xfrm>
            <a:off x="9959681" y="5602709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2" name="PolicyName">
            <a:hlinkClick r:id="" action="ppaction://hlinkfile"/>
          </p:cNvPr>
          <p:cNvSpPr>
            <a:spLocks noGrp="1"/>
          </p:cNvSpPr>
          <p:nvPr>
            <p:ph type="title"/>
          </p:nvPr>
        </p:nvSpPr>
        <p:spPr bwMode="white">
          <a:xfrm>
            <a:off x="838200" y="115511"/>
            <a:ext cx="10003967" cy="609565"/>
          </a:xfrm>
          <a:ln>
            <a:headEnd type="none"/>
            <a:tailEnd type="none"/>
          </a:ln>
        </p:spPr>
        <p:txBody>
          <a:bodyPr wrap="square">
            <a:noAutofit/>
          </a:bodyPr>
          <a:lstStyle/>
          <a:p>
            <a:pPr defTabSz="914400"/>
            <a:r>
              <a:rPr lang="en-US" sz="2000" b="1" dirty="0"/>
              <a:t>[Cofense][SVo365 Cofense] Service Account Only Has Limited Access To Specific Resources</a:t>
            </a:r>
          </a:p>
        </p:txBody>
      </p:sp>
      <p:sp>
        <p:nvSpPr>
          <p:cNvPr id="16" name="LastModified"/>
          <p:cNvSpPr txBox="1">
            <a:spLocks noChangeArrowheads="1"/>
          </p:cNvSpPr>
          <p:nvPr/>
        </p:nvSpPr>
        <p:spPr bwMode="white">
          <a:xfrm>
            <a:off x="10556111" y="388376"/>
            <a:ext cx="15483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algn="r" defTabSz="457200"/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Last modified: 2025-06-05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UserWorkload"/>
          <p:cNvSpPr>
            <a:spLocks/>
          </p:cNvSpPr>
          <p:nvPr/>
        </p:nvSpPr>
        <p:spPr bwMode="auto">
          <a:xfrm>
            <a:off x="175820" y="2709769"/>
            <a:ext cx="2202823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Users</a:t>
            </a:r>
          </a:p>
        </p:txBody>
      </p:sp>
      <p:sp>
        <p:nvSpPr>
          <p:cNvPr id="7" name="UserWorkloadIncExc"/>
          <p:cNvSpPr txBox="1">
            <a:spLocks noChangeArrowheads="1"/>
          </p:cNvSpPr>
          <p:nvPr/>
        </p:nvSpPr>
        <p:spPr bwMode="white">
          <a:xfrm>
            <a:off x="125485" y="3698952"/>
            <a:ext cx="3062115" cy="313265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 numCol="1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b="1" dirty="0"/>
            </a:pPr>
            <a:r>
              <a:t> Users</a:t>
            </a:r>
          </a:p>
          <a:p>
            <a:pPr defTabSz="457200">
              <a:defRPr sz="1100" dirty="0"/>
            </a:pPr>
            <a:r>
              <a:t> - SVO365 coc_collibra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19" name="Risks"/>
          <p:cNvSpPr txBox="1">
            <a:spLocks noChangeArrowheads="1"/>
          </p:cNvSpPr>
          <p:nvPr/>
        </p:nvSpPr>
        <p:spPr bwMode="white">
          <a:xfrm>
            <a:off x="524485" y="1021946"/>
            <a:ext cx="1348869" cy="166886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0" name="Platforms"/>
          <p:cNvSpPr txBox="1">
            <a:spLocks noChangeArrowheads="1"/>
          </p:cNvSpPr>
          <p:nvPr/>
        </p:nvSpPr>
        <p:spPr bwMode="white">
          <a:xfrm>
            <a:off x="1826931" y="1021947"/>
            <a:ext cx="2061056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3" name="Locations"/>
          <p:cNvSpPr txBox="1">
            <a:spLocks noChangeArrowheads="1"/>
          </p:cNvSpPr>
          <p:nvPr/>
        </p:nvSpPr>
        <p:spPr bwMode="white">
          <a:xfrm>
            <a:off x="8324941" y="1021947"/>
            <a:ext cx="3513702" cy="159258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4" name="ClientAppTypes"/>
          <p:cNvSpPr txBox="1">
            <a:spLocks noChangeArrowheads="1"/>
          </p:cNvSpPr>
          <p:nvPr/>
        </p:nvSpPr>
        <p:spPr bwMode="white">
          <a:xfrm>
            <a:off x="3810664" y="1021947"/>
            <a:ext cx="1581599" cy="165343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5" name="DeviceFilters"/>
          <p:cNvSpPr txBox="1">
            <a:spLocks noChangeArrowheads="1"/>
          </p:cNvSpPr>
          <p:nvPr/>
        </p:nvSpPr>
        <p:spPr bwMode="white">
          <a:xfrm>
            <a:off x="5818151" y="1022762"/>
            <a:ext cx="2248808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cxnSp>
        <p:nvCxnSpPr>
          <p:cNvPr id="27" name="Straight Arrow Connector 26" descr="Arrow drawn from user/workload  to the action being performed by the user such as accessing cloud apps."/>
          <p:cNvCxnSpPr/>
          <p:nvPr/>
        </p:nvCxnSpPr>
        <p:spPr bwMode="white">
          <a:xfrm>
            <a:off x="2195232" y="3159047"/>
            <a:ext cx="3959471" cy="1"/>
          </a:xfrm>
          <a:prstGeom prst="straightConnector1">
            <a:avLst/>
          </a:prstGeom>
          <a:ln w="76200"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30" name="IconBlockAccess" descr="Picture with red color stop sign to indicate blocked access"/>
          <p:cNvPicPr>
            <a:picLocks noChangeAspect="1"/>
          </p:cNvPicPr>
          <p:nvPr/>
        </p:nvPicPr>
        <p:blipFill>
          <a:blip r:embed="rId3">
            <a:lum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 bwMode="white">
          <a:xfrm>
            <a:off x="5306633" y="2735805"/>
            <a:ext cx="356616" cy="35661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34" name="GrantLabelBlockAccess"/>
          <p:cNvSpPr txBox="1">
            <a:spLocks noChangeArrowheads="1"/>
          </p:cNvSpPr>
          <p:nvPr/>
        </p:nvSpPr>
        <p:spPr bwMode="white">
          <a:xfrm>
            <a:off x="3936931" y="2734375"/>
            <a:ext cx="1358065" cy="369332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algn="ctr" defTabSz="457200"/>
            <a:r>
              <a:rPr lang="en-US" b="1" dirty="0">
                <a:solidFill>
                  <a:srgbClr val="FF0000"/>
                </a:solidFill>
              </a:rPr>
              <a:t>Block access</a:t>
            </a:r>
          </a:p>
        </p:txBody>
      </p:sp>
      <p:sp>
        <p:nvSpPr>
          <p:cNvPr id="3" name="CloudAppActionIncExc"/>
          <p:cNvSpPr txBox="1">
            <a:spLocks noChangeArrowheads="1"/>
          </p:cNvSpPr>
          <p:nvPr/>
        </p:nvSpPr>
        <p:spPr bwMode="white">
          <a:xfrm>
            <a:off x="6039518" y="3662782"/>
            <a:ext cx="3649518" cy="315161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r>
              <a:t>🚫 Exclude:</a:t>
            </a:r>
          </a:p>
          <a:p>
            <a:pPr defTabSz="457200">
              <a:defRPr sz="1100" dirty="0"/>
            </a:pPr>
            <a:r>
              <a:t> - Office 365 SharePoint Online</a:t>
            </a:r>
          </a:p>
          <a:p>
            <a:pPr defTabSz="457200">
              <a:defRPr sz="1100" b="1" dirty="0"/>
            </a:pPr>
            <a:endParaRPr/>
          </a:p>
        </p:txBody>
      </p:sp>
      <p:pic>
        <p:nvPicPr>
          <p:cNvPr id="26" name="IconGroupIdentity"/>
          <p:cNvPicPr>
            <a:picLocks noChangeAspect="1"/>
          </p:cNvPicPr>
          <p:nvPr/>
        </p:nvPicPr>
        <p:blipFill>
          <a:blip r:embed="rId5">
            <a:lum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 bwMode="white">
          <a:xfrm>
            <a:off x="327701" y="2839007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36" name="Graphic 35"/>
          <p:cNvPicPr>
            <a:picLocks noChangeAspect="1"/>
          </p:cNvPicPr>
          <p:nvPr/>
        </p:nvPicPr>
        <p:blipFill>
          <a:blip r:embed="rId7">
            <a:lum/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p:blipFill>
        <p:spPr bwMode="white">
          <a:xfrm>
            <a:off x="495610" y="197468"/>
            <a:ext cx="381196" cy="38119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" name="CloudAppAction"/>
          <p:cNvSpPr>
            <a:spLocks/>
          </p:cNvSpPr>
          <p:nvPr/>
        </p:nvSpPr>
        <p:spPr bwMode="auto">
          <a:xfrm>
            <a:off x="6206089" y="2718506"/>
            <a:ext cx="3227026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All cloud apps</a:t>
            </a:r>
          </a:p>
        </p:txBody>
      </p:sp>
      <p:pic>
        <p:nvPicPr>
          <p:cNvPr id="75" name="IconAccessAllCloudApps"/>
          <p:cNvPicPr>
            <a:picLocks noChangeAspect="1"/>
          </p:cNvPicPr>
          <p:nvPr/>
        </p:nvPicPr>
        <p:blipFill>
          <a:blip r:embed="rId9">
            <a:lum/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p:blipFill>
        <p:spPr bwMode="white">
          <a:xfrm>
            <a:off x="6439264" y="2836824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21" name="StateEnabled"/>
          <p:cNvSpPr>
            <a:spLocks/>
          </p:cNvSpPr>
          <p:nvPr/>
        </p:nvSpPr>
        <p:spPr bwMode="white">
          <a:xfrm>
            <a:off x="10842171" y="83487"/>
            <a:ext cx="1260389" cy="264812"/>
          </a:xfrm>
          <a:prstGeom prst="round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r>
              <a:rPr lang="en-US" sz="800" dirty="0"/>
              <a:t>Policy Enabled</a:t>
            </a:r>
          </a:p>
        </p:txBody>
      </p:sp>
      <p:grpSp>
        <p:nvGrpSpPr>
          <p:cNvPr id="10" name="IconRiskyUsers"/>
          <p:cNvGrpSpPr>
            <a:grpSpLocks/>
          </p:cNvGrpSpPr>
          <p:nvPr/>
        </p:nvGrpSpPr>
        <p:grpSpPr bwMode="white">
          <a:xfrm>
            <a:off x="635426" y="738677"/>
            <a:ext cx="1202553" cy="274320"/>
            <a:chOff x="2013768" y="1033956"/>
            <a:chExt cx="1342320" cy="274320"/>
          </a:xfrm>
        </p:grpSpPr>
        <p:pic>
          <p:nvPicPr>
            <p:cNvPr id="46" name="Graphic 1"/>
            <p:cNvPicPr>
              <a:picLocks noChangeAspect="1"/>
            </p:cNvPicPr>
            <p:nvPr/>
          </p:nvPicPr>
          <p:blipFill>
            <a:blip r:embed="rId11">
              <a:lum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013768" y="1033956"/>
              <a:ext cx="274320" cy="27432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5" name="Label 1"/>
            <p:cNvSpPr txBox="1">
              <a:spLocks noChangeArrowheads="1"/>
            </p:cNvSpPr>
            <p:nvPr/>
          </p:nvSpPr>
          <p:spPr bwMode="white">
            <a:xfrm>
              <a:off x="2240077" y="1040706"/>
              <a:ext cx="1116011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Risk</a:t>
              </a:r>
            </a:p>
          </p:txBody>
        </p:sp>
      </p:grpSp>
      <p:grpSp>
        <p:nvGrpSpPr>
          <p:cNvPr id="14" name="IconPlatforms"/>
          <p:cNvGrpSpPr>
            <a:grpSpLocks/>
          </p:cNvGrpSpPr>
          <p:nvPr/>
        </p:nvGrpSpPr>
        <p:grpSpPr bwMode="white">
          <a:xfrm>
            <a:off x="1927788" y="715249"/>
            <a:ext cx="1719285" cy="365760"/>
            <a:chOff x="3262737" y="994835"/>
            <a:chExt cx="1719285" cy="365760"/>
          </a:xfrm>
        </p:grpSpPr>
        <p:pic>
          <p:nvPicPr>
            <p:cNvPr id="29" name="Graphic 1"/>
            <p:cNvPicPr>
              <a:picLocks noChangeAspect="1"/>
            </p:cNvPicPr>
            <p:nvPr/>
          </p:nvPicPr>
          <p:blipFill>
            <a:blip r:embed="rId13">
              <a:lum/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3262737" y="994835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1" name="Label 1"/>
            <p:cNvSpPr txBox="1">
              <a:spLocks noChangeArrowheads="1"/>
            </p:cNvSpPr>
            <p:nvPr/>
          </p:nvSpPr>
          <p:spPr bwMode="white">
            <a:xfrm>
              <a:off x="3582397" y="1027255"/>
              <a:ext cx="1399625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Device platforms</a:t>
              </a:r>
            </a:p>
          </p:txBody>
        </p:sp>
      </p:grpSp>
      <p:grpSp>
        <p:nvGrpSpPr>
          <p:cNvPr id="17" name="IconClientAppTypes"/>
          <p:cNvGrpSpPr>
            <a:grpSpLocks/>
          </p:cNvGrpSpPr>
          <p:nvPr/>
        </p:nvGrpSpPr>
        <p:grpSpPr bwMode="white">
          <a:xfrm>
            <a:off x="3908159" y="670015"/>
            <a:ext cx="1852971" cy="365760"/>
            <a:chOff x="4858970" y="975927"/>
            <a:chExt cx="1852971" cy="365760"/>
          </a:xfrm>
        </p:grpSpPr>
        <p:pic>
          <p:nvPicPr>
            <p:cNvPr id="58" name="Graphic 1"/>
            <p:cNvPicPr>
              <a:picLocks noChangeAspect="1"/>
            </p:cNvPicPr>
            <p:nvPr/>
          </p:nvPicPr>
          <p:blipFill>
            <a:blip r:embed="rId15">
              <a:lum/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858970" y="975927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5" name="Label 1"/>
            <p:cNvSpPr txBox="1">
              <a:spLocks noChangeArrowheads="1"/>
            </p:cNvSpPr>
            <p:nvPr/>
          </p:nvSpPr>
          <p:spPr bwMode="white">
            <a:xfrm>
              <a:off x="5193983" y="1009899"/>
              <a:ext cx="1517958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Client apps</a:t>
              </a:r>
            </a:p>
          </p:txBody>
        </p:sp>
      </p:grpSp>
      <p:grpSp>
        <p:nvGrpSpPr>
          <p:cNvPr id="37" name="IconLocations"/>
          <p:cNvGrpSpPr>
            <a:grpSpLocks/>
          </p:cNvGrpSpPr>
          <p:nvPr/>
        </p:nvGrpSpPr>
        <p:grpSpPr bwMode="white">
          <a:xfrm>
            <a:off x="8411896" y="646848"/>
            <a:ext cx="1850168" cy="388465"/>
            <a:chOff x="2321433" y="3262888"/>
            <a:chExt cx="1850168" cy="388465"/>
          </a:xfrm>
        </p:grpSpPr>
        <p:pic>
          <p:nvPicPr>
            <p:cNvPr id="33" name="Graphic 1"/>
            <p:cNvPicPr>
              <a:picLocks noChangeAspect="1"/>
            </p:cNvPicPr>
            <p:nvPr/>
          </p:nvPicPr>
          <p:blipFill>
            <a:blip r:embed="rId17">
              <a:lum/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321433" y="3262888"/>
              <a:ext cx="388465" cy="388465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28" name="Label 1"/>
            <p:cNvSpPr txBox="1">
              <a:spLocks noChangeArrowheads="1"/>
            </p:cNvSpPr>
            <p:nvPr/>
          </p:nvSpPr>
          <p:spPr bwMode="white">
            <a:xfrm>
              <a:off x="2713321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Locations</a:t>
              </a:r>
              <a:endParaRPr lang="en-US" sz="1100" b="1" dirty="0"/>
            </a:p>
          </p:txBody>
        </p:sp>
      </p:grpSp>
      <p:grpSp>
        <p:nvGrpSpPr>
          <p:cNvPr id="39" name="IconDeviceFilters"/>
          <p:cNvGrpSpPr>
            <a:grpSpLocks/>
          </p:cNvGrpSpPr>
          <p:nvPr/>
        </p:nvGrpSpPr>
        <p:grpSpPr bwMode="white">
          <a:xfrm>
            <a:off x="5472818" y="661958"/>
            <a:ext cx="1839823" cy="364111"/>
            <a:chOff x="4195414" y="3273669"/>
            <a:chExt cx="1839823" cy="364111"/>
          </a:xfrm>
        </p:grpSpPr>
        <p:pic>
          <p:nvPicPr>
            <p:cNvPr id="60" name="Graphic 1"/>
            <p:cNvPicPr>
              <a:picLocks noChangeAspect="1"/>
            </p:cNvPicPr>
            <p:nvPr/>
          </p:nvPicPr>
          <p:blipFill>
            <a:blip r:embed="rId19">
              <a:lum/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195414" y="3273669"/>
              <a:ext cx="364111" cy="364111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31" name="Label 1"/>
            <p:cNvSpPr txBox="1">
              <a:spLocks noChangeArrowheads="1"/>
            </p:cNvSpPr>
            <p:nvPr/>
          </p:nvSpPr>
          <p:spPr bwMode="white">
            <a:xfrm>
              <a:off x="4576957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Filter for devices</a:t>
              </a:r>
              <a:endParaRPr lang="en-US" sz="1100" b="1" dirty="0"/>
            </a:p>
          </p:txBody>
        </p:sp>
      </p:grpSp>
      <p:pic>
        <p:nvPicPr>
          <p:cNvPr id="62" name="IconGrantMultifactorAuthentication"/>
          <p:cNvPicPr>
            <a:picLocks noChangeAspect="1"/>
          </p:cNvPicPr>
          <p:nvPr/>
        </p:nvPicPr>
        <p:blipFill>
          <a:blip r:embed="rId21">
            <a:lum/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>
            <a:fillRect/>
          </a:stretch>
        </p:blipFill>
        <p:spPr bwMode="white">
          <a:xfrm>
            <a:off x="3410647" y="3566863"/>
            <a:ext cx="17145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5" name="IconGrantMultifactorAuthenticationLabel"/>
          <p:cNvSpPr txBox="1">
            <a:spLocks noChangeArrowheads="1"/>
          </p:cNvSpPr>
          <p:nvPr/>
        </p:nvSpPr>
        <p:spPr bwMode="white">
          <a:xfrm>
            <a:off x="3575836" y="3571997"/>
            <a:ext cx="19007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Multifactor authentication</a:t>
            </a:r>
            <a:endParaRPr lang="en-US" sz="1000" dirty="0"/>
          </a:p>
        </p:txBody>
      </p:sp>
      <p:pic>
        <p:nvPicPr>
          <p:cNvPr id="38" name="IconGrantAuthenticationStrength"/>
          <p:cNvPicPr>
            <a:picLocks noChangeAspect="1"/>
          </p:cNvPicPr>
          <p:nvPr/>
        </p:nvPicPr>
        <p:blipFill>
          <a:blip r:embed="rId23">
            <a:lum/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/>
          <a:stretch>
            <a:fillRect/>
          </a:stretch>
        </p:blipFill>
        <p:spPr bwMode="white">
          <a:xfrm>
            <a:off x="3374515" y="3905034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7" name="IconGrantAuthenticationStrengthLabel"/>
          <p:cNvSpPr txBox="1">
            <a:spLocks noChangeArrowheads="1"/>
          </p:cNvSpPr>
          <p:nvPr/>
        </p:nvSpPr>
        <p:spPr bwMode="white">
          <a:xfrm>
            <a:off x="3575836" y="3907323"/>
            <a:ext cx="2185294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Authentication strength</a:t>
            </a:r>
            <a:endParaRPr lang="en-US" sz="1000" dirty="0"/>
          </a:p>
        </p:txBody>
      </p:sp>
      <p:pic>
        <p:nvPicPr>
          <p:cNvPr id="52" name="IconGrantDeviceCompliance"/>
          <p:cNvPicPr>
            <a:picLocks noChangeAspect="1"/>
          </p:cNvPicPr>
          <p:nvPr/>
        </p:nvPicPr>
        <p:blipFill>
          <a:blip r:embed="rId25">
            <a:lum/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/>
          <a:stretch>
            <a:fillRect/>
          </a:stretch>
        </p:blipFill>
        <p:spPr bwMode="white">
          <a:xfrm>
            <a:off x="3374515" y="4243205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9" name="IconGrantDeviceComplianceLabel"/>
          <p:cNvSpPr txBox="1">
            <a:spLocks noChangeArrowheads="1"/>
          </p:cNvSpPr>
          <p:nvPr/>
        </p:nvSpPr>
        <p:spPr bwMode="white">
          <a:xfrm>
            <a:off x="3575836" y="4242649"/>
            <a:ext cx="17378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Compliant device</a:t>
            </a:r>
            <a:endParaRPr lang="en-US" sz="1000" dirty="0"/>
          </a:p>
        </p:txBody>
      </p:sp>
      <p:pic>
        <p:nvPicPr>
          <p:cNvPr id="43" name="IconGrantHybridJoined"/>
          <p:cNvPicPr>
            <a:picLocks noChangeAspect="1"/>
          </p:cNvPicPr>
          <p:nvPr/>
        </p:nvPicPr>
        <p:blipFill>
          <a:blip r:embed="rId27">
            <a:lum/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/>
          <a:stretch>
            <a:fillRect/>
          </a:stretch>
        </p:blipFill>
        <p:spPr bwMode="white">
          <a:xfrm>
            <a:off x="3374515" y="4581376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3" name="IconGrantHybridJoinedLabel"/>
          <p:cNvSpPr txBox="1">
            <a:spLocks noChangeArrowheads="1"/>
          </p:cNvSpPr>
          <p:nvPr/>
        </p:nvSpPr>
        <p:spPr bwMode="white">
          <a:xfrm>
            <a:off x="3575836" y="4577975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Hybrid Azure AD joined device</a:t>
            </a:r>
            <a:endParaRPr lang="en-US" sz="1000" dirty="0"/>
          </a:p>
        </p:txBody>
      </p:sp>
      <p:pic>
        <p:nvPicPr>
          <p:cNvPr id="48" name="IconGrantApprovedClientApp"/>
          <p:cNvPicPr>
            <a:picLocks noChangeAspect="1"/>
          </p:cNvPicPr>
          <p:nvPr/>
        </p:nvPicPr>
        <p:blipFill>
          <a:blip r:embed="rId29">
            <a:lum/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rcRect/>
          <a:stretch>
            <a:fillRect/>
          </a:stretch>
        </p:blipFill>
        <p:spPr bwMode="white">
          <a:xfrm>
            <a:off x="3374515" y="491954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5" name="IconGrantApprovedClientAppLabel"/>
          <p:cNvSpPr txBox="1">
            <a:spLocks noChangeArrowheads="1"/>
          </p:cNvSpPr>
          <p:nvPr/>
        </p:nvSpPr>
        <p:spPr bwMode="white">
          <a:xfrm>
            <a:off x="3575836" y="4913301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Approved client app</a:t>
            </a:r>
            <a:endParaRPr lang="en-US" sz="1000" dirty="0"/>
          </a:p>
        </p:txBody>
      </p:sp>
      <p:pic>
        <p:nvPicPr>
          <p:cNvPr id="42" name="IconGrantCustomAuth"/>
          <p:cNvPicPr>
            <a:picLocks noChangeAspect="1"/>
          </p:cNvPicPr>
          <p:nvPr/>
        </p:nvPicPr>
        <p:blipFill>
          <a:blip r:embed="rId31">
            <a:lum/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rcRect/>
          <a:stretch>
            <a:fillRect/>
          </a:stretch>
        </p:blipFill>
        <p:spPr bwMode="white">
          <a:xfrm>
            <a:off x="3374515" y="593406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9" name="IconGrantCustomAuthLabel"/>
          <p:cNvSpPr txBox="1">
            <a:spLocks noChangeArrowheads="1"/>
          </p:cNvSpPr>
          <p:nvPr/>
        </p:nvSpPr>
        <p:spPr bwMode="white">
          <a:xfrm>
            <a:off x="3575836" y="5919279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Custom authentication factor</a:t>
            </a:r>
            <a:endParaRPr lang="en-US" sz="1000" dirty="0"/>
          </a:p>
        </p:txBody>
      </p:sp>
      <p:pic>
        <p:nvPicPr>
          <p:cNvPr id="40" name="IconGrantTermsOfUse"/>
          <p:cNvPicPr>
            <a:picLocks noChangeAspect="1"/>
          </p:cNvPicPr>
          <p:nvPr/>
        </p:nvPicPr>
        <p:blipFill>
          <a:blip r:embed="rId33">
            <a:lum/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rcRect/>
          <a:stretch>
            <a:fillRect/>
          </a:stretch>
        </p:blipFill>
        <p:spPr bwMode="white">
          <a:xfrm>
            <a:off x="3374515" y="627222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3" name="IconGrantTermsOfUseLabel"/>
          <p:cNvSpPr txBox="1">
            <a:spLocks noChangeArrowheads="1"/>
          </p:cNvSpPr>
          <p:nvPr/>
        </p:nvSpPr>
        <p:spPr bwMode="white">
          <a:xfrm>
            <a:off x="3575836" y="625460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Terms of use</a:t>
            </a:r>
            <a:endParaRPr lang="en-US" sz="1000" dirty="0"/>
          </a:p>
        </p:txBody>
      </p:sp>
      <p:sp>
        <p:nvSpPr>
          <p:cNvPr id="56" name="IconGrantAppProtectionLabel"/>
          <p:cNvSpPr txBox="1">
            <a:spLocks noChangeArrowheads="1"/>
          </p:cNvSpPr>
          <p:nvPr/>
        </p:nvSpPr>
        <p:spPr bwMode="white">
          <a:xfrm>
            <a:off x="3575836" y="524862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 protection policy</a:t>
            </a:r>
            <a:endParaRPr lang="en-US" sz="1000" dirty="0"/>
          </a:p>
        </p:txBody>
      </p:sp>
      <p:pic>
        <p:nvPicPr>
          <p:cNvPr id="65" name="IconGrantAppProtection"/>
          <p:cNvPicPr>
            <a:picLocks noChangeAspect="1"/>
          </p:cNvPicPr>
          <p:nvPr/>
        </p:nvPicPr>
        <p:blipFill>
          <a:blip r:embed="rId35">
            <a:lum/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rcRect/>
          <a:stretch>
            <a:fillRect/>
          </a:stretch>
        </p:blipFill>
        <p:spPr bwMode="white">
          <a:xfrm>
            <a:off x="3374515" y="525771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7" name="IconGrantChangePasswordLabel"/>
          <p:cNvSpPr txBox="1">
            <a:spLocks noChangeArrowheads="1"/>
          </p:cNvSpPr>
          <p:nvPr/>
        </p:nvSpPr>
        <p:spPr bwMode="white">
          <a:xfrm>
            <a:off x="3575836" y="5583953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Change password</a:t>
            </a:r>
            <a:endParaRPr lang="en-US" sz="1000" dirty="0"/>
          </a:p>
        </p:txBody>
      </p:sp>
      <p:pic>
        <p:nvPicPr>
          <p:cNvPr id="67" name="IconGrantChangePassword"/>
          <p:cNvPicPr>
            <a:picLocks noChangeAspect="1"/>
          </p:cNvPicPr>
          <p:nvPr/>
        </p:nvPicPr>
        <p:blipFill>
          <a:blip r:embed="rId37">
            <a:lum/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rcRect/>
          <a:stretch>
            <a:fillRect/>
          </a:stretch>
        </p:blipFill>
        <p:spPr bwMode="white">
          <a:xfrm>
            <a:off x="3374515" y="5595889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4" name="ShadeRisk"/>
          <p:cNvSpPr>
            <a:spLocks/>
          </p:cNvSpPr>
          <p:nvPr/>
        </p:nvSpPr>
        <p:spPr bwMode="white">
          <a:xfrm>
            <a:off x="507564" y="650246"/>
            <a:ext cx="976864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66" name="ShadeDevicePlatforms"/>
          <p:cNvSpPr>
            <a:spLocks/>
          </p:cNvSpPr>
          <p:nvPr/>
        </p:nvSpPr>
        <p:spPr bwMode="white">
          <a:xfrm>
            <a:off x="1863623" y="663409"/>
            <a:ext cx="1773927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78" name="ShadeClientApps"/>
          <p:cNvSpPr>
            <a:spLocks/>
          </p:cNvSpPr>
          <p:nvPr/>
        </p:nvSpPr>
        <p:spPr bwMode="white">
          <a:xfrm>
            <a:off x="3802273" y="650246"/>
            <a:ext cx="1481482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79" name="ShadeLocations"/>
          <p:cNvSpPr>
            <a:spLocks/>
          </p:cNvSpPr>
          <p:nvPr/>
        </p:nvSpPr>
        <p:spPr bwMode="white">
          <a:xfrm>
            <a:off x="8217572" y="669110"/>
            <a:ext cx="1873684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2" name="ShadeFilterForDevices"/>
          <p:cNvSpPr>
            <a:spLocks/>
          </p:cNvSpPr>
          <p:nvPr/>
        </p:nvSpPr>
        <p:spPr bwMode="white">
          <a:xfrm>
            <a:off x="5438955" y="627922"/>
            <a:ext cx="1873685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3" name="ShadeGrantMultifactorAuth"/>
          <p:cNvSpPr>
            <a:spLocks/>
          </p:cNvSpPr>
          <p:nvPr/>
        </p:nvSpPr>
        <p:spPr bwMode="white">
          <a:xfrm>
            <a:off x="3369399" y="3534220"/>
            <a:ext cx="2069555" cy="28330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4" name="ShadeGrantAuthStrength"/>
          <p:cNvSpPr>
            <a:spLocks/>
          </p:cNvSpPr>
          <p:nvPr/>
        </p:nvSpPr>
        <p:spPr bwMode="white">
          <a:xfrm>
            <a:off x="3350256" y="3869846"/>
            <a:ext cx="2069555" cy="27801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5" name="ShadeGrantCompliantDevice"/>
          <p:cNvSpPr>
            <a:spLocks/>
          </p:cNvSpPr>
          <p:nvPr/>
        </p:nvSpPr>
        <p:spPr bwMode="white">
          <a:xfrm>
            <a:off x="3361852" y="4243205"/>
            <a:ext cx="2077102" cy="26110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6" name="ShadeGrantHybridAzureADJoined"/>
          <p:cNvSpPr>
            <a:spLocks/>
          </p:cNvSpPr>
          <p:nvPr/>
        </p:nvSpPr>
        <p:spPr bwMode="white">
          <a:xfrm>
            <a:off x="3353637" y="4552268"/>
            <a:ext cx="2160906" cy="298395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7" name="ShadeGrantApprovedClientApp"/>
          <p:cNvSpPr>
            <a:spLocks/>
          </p:cNvSpPr>
          <p:nvPr/>
        </p:nvSpPr>
        <p:spPr bwMode="white">
          <a:xfrm>
            <a:off x="3331918" y="4876027"/>
            <a:ext cx="2182625" cy="29839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8" name="ShadeGrantAppProtectionPolicy"/>
          <p:cNvSpPr>
            <a:spLocks/>
          </p:cNvSpPr>
          <p:nvPr/>
        </p:nvSpPr>
        <p:spPr bwMode="white">
          <a:xfrm>
            <a:off x="3350256" y="5207226"/>
            <a:ext cx="2122561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9" name="ShadeGrantChangePassword"/>
          <p:cNvSpPr>
            <a:spLocks/>
          </p:cNvSpPr>
          <p:nvPr/>
        </p:nvSpPr>
        <p:spPr bwMode="white">
          <a:xfrm>
            <a:off x="3350257" y="5557021"/>
            <a:ext cx="2042006" cy="287239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0" name="ShadeGrantCustomAuthFactor"/>
          <p:cNvSpPr>
            <a:spLocks/>
          </p:cNvSpPr>
          <p:nvPr/>
        </p:nvSpPr>
        <p:spPr bwMode="white">
          <a:xfrm>
            <a:off x="3331918" y="5899058"/>
            <a:ext cx="2182625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1" name="ShadeGrantTermsOfUse"/>
          <p:cNvSpPr>
            <a:spLocks/>
          </p:cNvSpPr>
          <p:nvPr/>
        </p:nvSpPr>
        <p:spPr bwMode="white">
          <a:xfrm>
            <a:off x="3313823" y="6192350"/>
            <a:ext cx="101602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99" name="Rectangle 98"/>
          <p:cNvSpPr>
            <a:spLocks/>
          </p:cNvSpPr>
          <p:nvPr/>
        </p:nvSpPr>
        <p:spPr bwMode="white">
          <a:xfrm>
            <a:off x="3268757" y="3253404"/>
            <a:ext cx="2357725" cy="3498546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0" name="Rectangle 109"/>
          <p:cNvSpPr>
            <a:spLocks/>
          </p:cNvSpPr>
          <p:nvPr/>
        </p:nvSpPr>
        <p:spPr bwMode="white">
          <a:xfrm>
            <a:off x="9881750" y="3248255"/>
            <a:ext cx="2220808" cy="3510149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7" name="Rectangle 116"/>
          <p:cNvSpPr>
            <a:spLocks/>
          </p:cNvSpPr>
          <p:nvPr/>
        </p:nvSpPr>
        <p:spPr bwMode="white">
          <a:xfrm>
            <a:off x="26741" y="606825"/>
            <a:ext cx="11985015" cy="2063636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2" name="Conditions Label"/>
          <p:cNvSpPr txBox="1">
            <a:spLocks noChangeArrowheads="1"/>
          </p:cNvSpPr>
          <p:nvPr/>
        </p:nvSpPr>
        <p:spPr bwMode="white">
          <a:xfrm rot="16200000">
            <a:off x="-883507" y="1514324"/>
            <a:ext cx="2081441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Conditions</a:t>
            </a:r>
          </a:p>
        </p:txBody>
      </p:sp>
      <p:sp>
        <p:nvSpPr>
          <p:cNvPr id="109" name="Grant Controls"/>
          <p:cNvSpPr txBox="1">
            <a:spLocks noChangeArrowheads="1"/>
          </p:cNvSpPr>
          <p:nvPr/>
        </p:nvSpPr>
        <p:spPr bwMode="white">
          <a:xfrm>
            <a:off x="3252146" y="3244395"/>
            <a:ext cx="2391873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Grant Controls</a:t>
            </a:r>
          </a:p>
        </p:txBody>
      </p:sp>
      <p:sp>
        <p:nvSpPr>
          <p:cNvPr id="111" name="Session Controls"/>
          <p:cNvSpPr txBox="1">
            <a:spLocks noChangeArrowheads="1"/>
          </p:cNvSpPr>
          <p:nvPr/>
        </p:nvSpPr>
        <p:spPr bwMode="white">
          <a:xfrm>
            <a:off x="9864212" y="3243751"/>
            <a:ext cx="2238346" cy="23786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Session Controls</a:t>
            </a:r>
          </a:p>
        </p:txBody>
      </p:sp>
      <p:pic>
        <p:nvPicPr>
          <p:cNvPr id="72" name="Graphic 71"/>
          <p:cNvPicPr>
            <a:picLocks noChangeAspect="1"/>
          </p:cNvPicPr>
          <p:nvPr/>
        </p:nvPicPr>
        <p:blipFill>
          <a:blip r:embed="rId39">
            <a:lum/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rcRect/>
          <a:stretch>
            <a:fillRect/>
          </a:stretch>
        </p:blipFill>
        <p:spPr bwMode="white">
          <a:xfrm>
            <a:off x="9996846" y="356982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4" name="Graphic 93"/>
          <p:cNvPicPr>
            <a:picLocks noChangeAspect="1"/>
          </p:cNvPicPr>
          <p:nvPr/>
        </p:nvPicPr>
        <p:blipFill>
          <a:blip r:embed="rId41">
            <a:lum/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rcRect/>
          <a:stretch>
            <a:fillRect/>
          </a:stretch>
        </p:blipFill>
        <p:spPr bwMode="white">
          <a:xfrm>
            <a:off x="10009443" y="525644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5" name="TextBox 94"/>
          <p:cNvSpPr txBox="1">
            <a:spLocks noChangeArrowheads="1"/>
          </p:cNvSpPr>
          <p:nvPr/>
        </p:nvSpPr>
        <p:spPr bwMode="white">
          <a:xfrm>
            <a:off x="10207481" y="3578463"/>
            <a:ext cx="150554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App enforced restrictions</a:t>
            </a:r>
          </a:p>
        </p:txBody>
      </p:sp>
      <p:sp>
        <p:nvSpPr>
          <p:cNvPr id="96" name="TextBox 95"/>
          <p:cNvSpPr txBox="1">
            <a:spLocks noChangeArrowheads="1"/>
          </p:cNvSpPr>
          <p:nvPr/>
        </p:nvSpPr>
        <p:spPr bwMode="white">
          <a:xfrm>
            <a:off x="10201167" y="3899846"/>
            <a:ext cx="181011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Conditional Access App Control</a:t>
            </a:r>
          </a:p>
        </p:txBody>
      </p:sp>
      <p:sp>
        <p:nvSpPr>
          <p:cNvPr id="97" name="TextBox 96"/>
          <p:cNvSpPr txBox="1">
            <a:spLocks noChangeArrowheads="1"/>
          </p:cNvSpPr>
          <p:nvPr/>
        </p:nvSpPr>
        <p:spPr bwMode="white">
          <a:xfrm>
            <a:off x="10215627" y="4357505"/>
            <a:ext cx="1090363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Sign-in frequency</a:t>
            </a:r>
          </a:p>
        </p:txBody>
      </p:sp>
      <p:sp>
        <p:nvSpPr>
          <p:cNvPr id="98" name="TextBox 97"/>
          <p:cNvSpPr txBox="1">
            <a:spLocks noChangeArrowheads="1"/>
          </p:cNvSpPr>
          <p:nvPr/>
        </p:nvSpPr>
        <p:spPr bwMode="white">
          <a:xfrm>
            <a:off x="10225446" y="4793305"/>
            <a:ext cx="156966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Persistent browser session</a:t>
            </a:r>
          </a:p>
        </p:txBody>
      </p:sp>
      <p:sp>
        <p:nvSpPr>
          <p:cNvPr id="100" name="TextBox 99"/>
          <p:cNvSpPr txBox="1">
            <a:spLocks noChangeArrowheads="1"/>
          </p:cNvSpPr>
          <p:nvPr/>
        </p:nvSpPr>
        <p:spPr bwMode="white">
          <a:xfrm>
            <a:off x="10229552" y="5232376"/>
            <a:ext cx="1717137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Continuous access evaluation</a:t>
            </a:r>
          </a:p>
        </p:txBody>
      </p:sp>
      <p:sp>
        <p:nvSpPr>
          <p:cNvPr id="101" name="TextBox 100"/>
          <p:cNvSpPr txBox="1">
            <a:spLocks noChangeArrowheads="1"/>
          </p:cNvSpPr>
          <p:nvPr/>
        </p:nvSpPr>
        <p:spPr bwMode="white">
          <a:xfrm>
            <a:off x="10259108" y="5658625"/>
            <a:ext cx="153599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Disable resilience defaults</a:t>
            </a:r>
          </a:p>
        </p:txBody>
      </p:sp>
      <p:pic>
        <p:nvPicPr>
          <p:cNvPr id="103" name="Graphic 102"/>
          <p:cNvPicPr>
            <a:picLocks noChangeAspect="1"/>
          </p:cNvPicPr>
          <p:nvPr/>
        </p:nvPicPr>
        <p:blipFill>
          <a:blip r:embed="rId43">
            <a:lum/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rcRect/>
          <a:stretch>
            <a:fillRect/>
          </a:stretch>
        </p:blipFill>
        <p:spPr bwMode="white">
          <a:xfrm>
            <a:off x="9996846" y="479900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5" name="Graphic 104"/>
          <p:cNvPicPr>
            <a:picLocks noChangeAspect="1"/>
          </p:cNvPicPr>
          <p:nvPr/>
        </p:nvPicPr>
        <p:blipFill>
          <a:blip r:embed="rId45">
            <a:lum/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rcRect/>
          <a:stretch>
            <a:fillRect/>
          </a:stretch>
        </p:blipFill>
        <p:spPr bwMode="white">
          <a:xfrm>
            <a:off x="9996846" y="437457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7" name="Graphic 106"/>
          <p:cNvPicPr>
            <a:picLocks noChangeAspect="1"/>
          </p:cNvPicPr>
          <p:nvPr/>
        </p:nvPicPr>
        <p:blipFill>
          <a:blip r:embed="rId7">
            <a:lum/>
            <a:extLst>
              <a:ext uri="{96DAC541-7B7A-43D3-8B79-37D633B846F1}">
                <asvg:svgBlip xmlns:asvg="http://schemas.microsoft.com/office/drawing/2016/SVG/main" r:embed="rId47"/>
              </a:ext>
            </a:extLst>
          </a:blip>
          <a:srcRect/>
          <a:stretch>
            <a:fillRect/>
          </a:stretch>
        </p:blipFill>
        <p:spPr bwMode="white">
          <a:xfrm>
            <a:off x="9996846" y="391529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15" name="SessionSifInterval"/>
          <p:cNvSpPr txBox="1">
            <a:spLocks noChangeArrowheads="1"/>
          </p:cNvSpPr>
          <p:nvPr/>
        </p:nvSpPr>
        <p:spPr bwMode="white">
          <a:xfrm>
            <a:off x="10296745" y="4516775"/>
            <a:ext cx="1249060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Periodic reauthentication</a:t>
            </a:r>
          </a:p>
        </p:txBody>
      </p:sp>
      <p:sp>
        <p:nvSpPr>
          <p:cNvPr id="114" name="SessionCasType"/>
          <p:cNvSpPr txBox="1">
            <a:spLocks noChangeArrowheads="1"/>
          </p:cNvSpPr>
          <p:nvPr/>
        </p:nvSpPr>
        <p:spPr bwMode="white">
          <a:xfrm>
            <a:off x="10296745" y="4075500"/>
            <a:ext cx="95410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App Control Policy</a:t>
            </a:r>
          </a:p>
        </p:txBody>
      </p:sp>
      <p:sp>
        <p:nvSpPr>
          <p:cNvPr id="116" name="SessionPersistenBrowserMode"/>
          <p:cNvSpPr txBox="1">
            <a:spLocks noChangeArrowheads="1"/>
          </p:cNvSpPr>
          <p:nvPr/>
        </p:nvSpPr>
        <p:spPr bwMode="white">
          <a:xfrm>
            <a:off x="10309761" y="4945281"/>
            <a:ext cx="918841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Always persistent</a:t>
            </a:r>
          </a:p>
        </p:txBody>
      </p:sp>
      <p:sp>
        <p:nvSpPr>
          <p:cNvPr id="118" name="SessionCaeMode"/>
          <p:cNvSpPr txBox="1">
            <a:spLocks noChangeArrowheads="1"/>
          </p:cNvSpPr>
          <p:nvPr/>
        </p:nvSpPr>
        <p:spPr bwMode="white">
          <a:xfrm>
            <a:off x="10301386" y="5393378"/>
            <a:ext cx="15359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US" sz="800" dirty="0"/>
              <a:t>Strictly enforce location policies</a:t>
            </a:r>
          </a:p>
        </p:txBody>
      </p:sp>
      <p:sp>
        <p:nvSpPr>
          <p:cNvPr id="119" name="ShadeSessionAppEnforced"/>
          <p:cNvSpPr>
            <a:spLocks/>
          </p:cNvSpPr>
          <p:nvPr/>
        </p:nvSpPr>
        <p:spPr bwMode="white">
          <a:xfrm>
            <a:off x="9959680" y="3548808"/>
            <a:ext cx="2051597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0" name="ShadeSessionCas"/>
          <p:cNvSpPr>
            <a:spLocks/>
          </p:cNvSpPr>
          <p:nvPr/>
        </p:nvSpPr>
        <p:spPr bwMode="white">
          <a:xfrm>
            <a:off x="9978939" y="3884212"/>
            <a:ext cx="2087576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1" name="ShadeSessionSif"/>
          <p:cNvSpPr>
            <a:spLocks/>
          </p:cNvSpPr>
          <p:nvPr/>
        </p:nvSpPr>
        <p:spPr bwMode="white">
          <a:xfrm>
            <a:off x="9940787" y="4320077"/>
            <a:ext cx="2125728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2" name="ShadeSessionPersistentBrowser"/>
          <p:cNvSpPr>
            <a:spLocks/>
          </p:cNvSpPr>
          <p:nvPr/>
        </p:nvSpPr>
        <p:spPr bwMode="white">
          <a:xfrm>
            <a:off x="9938833" y="4746195"/>
            <a:ext cx="207244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" name="Label Secure Sign In Session"/>
          <p:cNvSpPr txBox="1">
            <a:spLocks noChangeArrowheads="1"/>
          </p:cNvSpPr>
          <p:nvPr/>
        </p:nvSpPr>
        <p:spPr bwMode="white">
          <a:xfrm>
            <a:off x="10260000" y="6084874"/>
            <a:ext cx="166584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Token protection for session</a:t>
            </a:r>
          </a:p>
        </p:txBody>
      </p:sp>
      <p:pic>
        <p:nvPicPr>
          <p:cNvPr id="77" name="IconSessionCaeDisable" descr="Close with solid fill"/>
          <p:cNvPicPr>
            <a:picLocks noChangeAspect="1"/>
          </p:cNvPicPr>
          <p:nvPr/>
        </p:nvPicPr>
        <p:blipFill>
          <a:blip r:embed="rId48">
            <a:lum/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rcRect/>
          <a:stretch>
            <a:fillRect/>
          </a:stretch>
        </p:blipFill>
        <p:spPr bwMode="white">
          <a:xfrm>
            <a:off x="9979885" y="5218651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2" name="IconSessionSecureSignInSession 1"/>
          <p:cNvPicPr>
            <a:picLocks noChangeAspect="1"/>
          </p:cNvPicPr>
          <p:nvPr/>
        </p:nvPicPr>
        <p:blipFill>
          <a:blip r:embed="rId50">
            <a:lum/>
            <a:extLst>
              <a:ext uri="{96DAC541-7B7A-43D3-8B79-37D633B846F1}">
                <asvg:svgBlip xmlns:asvg="http://schemas.microsoft.com/office/drawing/2016/SVG/main" r:embed="rId51"/>
              </a:ext>
            </a:extLst>
          </a:blip>
          <a:srcRect/>
          <a:stretch>
            <a:fillRect/>
          </a:stretch>
        </p:blipFill>
        <p:spPr bwMode="white">
          <a:xfrm>
            <a:off x="9997200" y="6085768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3" name="ShadeSessionCae"/>
          <p:cNvSpPr>
            <a:spLocks/>
          </p:cNvSpPr>
          <p:nvPr/>
        </p:nvSpPr>
        <p:spPr bwMode="white">
          <a:xfrm>
            <a:off x="9987595" y="5219780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76" name="ShadeSessionSecureSignIn"/>
          <p:cNvSpPr>
            <a:spLocks/>
          </p:cNvSpPr>
          <p:nvPr/>
        </p:nvSpPr>
        <p:spPr bwMode="white">
          <a:xfrm>
            <a:off x="9996846" y="5986498"/>
            <a:ext cx="2014431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pic>
        <p:nvPicPr>
          <p:cNvPr id="102" name="Graphic 101"/>
          <p:cNvPicPr>
            <a:picLocks noChangeAspect="1"/>
          </p:cNvPicPr>
          <p:nvPr/>
        </p:nvPicPr>
        <p:blipFill>
          <a:blip r:embed="rId52">
            <a:lum/>
            <a:extLst>
              <a:ext uri="{96DAC541-7B7A-43D3-8B79-37D633B846F1}">
                <asvg:svgBlip xmlns:asvg="http://schemas.microsoft.com/office/drawing/2016/SVG/main" r:embed="rId53"/>
              </a:ext>
            </a:extLst>
          </a:blip>
          <a:srcRect/>
          <a:stretch>
            <a:fillRect/>
          </a:stretch>
        </p:blipFill>
        <p:spPr bwMode="white">
          <a:xfrm>
            <a:off x="9997200" y="5663777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80" name="Graphic 79" descr="Close with solid fill"/>
          <p:cNvPicPr>
            <a:picLocks noChangeAspect="1"/>
          </p:cNvPicPr>
          <p:nvPr/>
        </p:nvPicPr>
        <p:blipFill>
          <a:blip r:embed="rId48">
            <a:lum/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rcRect/>
          <a:stretch>
            <a:fillRect/>
          </a:stretch>
        </p:blipFill>
        <p:spPr bwMode="white">
          <a:xfrm>
            <a:off x="9963899" y="5637424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4" name="ShadeSessionDisableResilience"/>
          <p:cNvSpPr>
            <a:spLocks/>
          </p:cNvSpPr>
          <p:nvPr/>
        </p:nvSpPr>
        <p:spPr bwMode="white">
          <a:xfrm>
            <a:off x="9959681" y="5602709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2" name="PolicyName">
            <a:hlinkClick r:id="" action="ppaction://hlinkfile"/>
          </p:cNvPr>
          <p:cNvSpPr>
            <a:spLocks noGrp="1"/>
          </p:cNvSpPr>
          <p:nvPr>
            <p:ph type="title"/>
          </p:nvPr>
        </p:nvSpPr>
        <p:spPr bwMode="white">
          <a:xfrm>
            <a:off x="838200" y="115511"/>
            <a:ext cx="10003967" cy="609565"/>
          </a:xfrm>
          <a:ln>
            <a:headEnd type="none"/>
            <a:tailEnd type="none"/>
          </a:ln>
        </p:spPr>
        <p:txBody>
          <a:bodyPr wrap="square">
            <a:noAutofit/>
          </a:bodyPr>
          <a:lstStyle/>
          <a:p>
            <a:pPr defTabSz="914400"/>
            <a:r>
              <a:rPr lang="en-US" sz="2000" b="1" dirty="0"/>
              <a:t>[Collibra][SVo365 Collibra] Service Account Only Has Access To SharePoint Online</a:t>
            </a:r>
          </a:p>
        </p:txBody>
      </p:sp>
      <p:sp>
        <p:nvSpPr>
          <p:cNvPr id="16" name="LastModified"/>
          <p:cNvSpPr txBox="1">
            <a:spLocks noChangeArrowheads="1"/>
          </p:cNvSpPr>
          <p:nvPr/>
        </p:nvSpPr>
        <p:spPr bwMode="white">
          <a:xfrm>
            <a:off x="10556111" y="388376"/>
            <a:ext cx="15483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algn="r" defTabSz="457200"/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Last modified: 2025-06-05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UserWorkload"/>
          <p:cNvSpPr>
            <a:spLocks/>
          </p:cNvSpPr>
          <p:nvPr/>
        </p:nvSpPr>
        <p:spPr bwMode="auto">
          <a:xfrm>
            <a:off x="175820" y="2709769"/>
            <a:ext cx="2202823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Users</a:t>
            </a:r>
          </a:p>
        </p:txBody>
      </p:sp>
      <p:sp>
        <p:nvSpPr>
          <p:cNvPr id="7" name="UserWorkloadIncExc"/>
          <p:cNvSpPr txBox="1">
            <a:spLocks noChangeArrowheads="1"/>
          </p:cNvSpPr>
          <p:nvPr/>
        </p:nvSpPr>
        <p:spPr bwMode="white">
          <a:xfrm>
            <a:off x="125485" y="3698952"/>
            <a:ext cx="3062115" cy="313265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 numCol="1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b="1" dirty="0"/>
            </a:pPr>
            <a:r>
              <a:t> Directory roles</a:t>
            </a:r>
          </a:p>
          <a:p>
            <a:pPr defTabSz="457200">
              <a:defRPr sz="1100" dirty="0"/>
            </a:pPr>
            <a:r>
              <a:t> - AI Administrator</a:t>
            </a:r>
          </a:p>
          <a:p>
            <a:pPr defTabSz="457200">
              <a:defRPr sz="1100" dirty="0"/>
            </a:pPr>
            <a:r>
              <a:t> - Application Administrator</a:t>
            </a:r>
          </a:p>
          <a:p>
            <a:pPr defTabSz="457200">
              <a:defRPr sz="1100" dirty="0"/>
            </a:pPr>
            <a:r>
              <a:t> - Attack Simulation Administrator</a:t>
            </a:r>
          </a:p>
          <a:p>
            <a:pPr defTabSz="457200">
              <a:defRPr sz="1100" dirty="0"/>
            </a:pPr>
            <a:r>
              <a:t> - Attribute Assignment Administrator</a:t>
            </a:r>
          </a:p>
          <a:p>
            <a:pPr defTabSz="457200">
              <a:defRPr sz="1100" dirty="0"/>
            </a:pPr>
            <a:r>
              <a:t> - Attribute Definition Administrator</a:t>
            </a:r>
          </a:p>
          <a:p>
            <a:pPr defTabSz="457200">
              <a:defRPr sz="1100" dirty="0"/>
            </a:pPr>
            <a:r>
              <a:t> - Attribute Log Administrator</a:t>
            </a:r>
          </a:p>
          <a:p>
            <a:pPr defTabSz="457200">
              <a:defRPr sz="1100" dirty="0"/>
            </a:pPr>
            <a:r>
              <a:t> - Attribute Provisioning Administrator</a:t>
            </a:r>
          </a:p>
          <a:p>
            <a:pPr defTabSz="457200">
              <a:defRPr sz="1100" dirty="0"/>
            </a:pPr>
            <a:r>
              <a:t> - Authentication Extensibility Administrator</a:t>
            </a:r>
          </a:p>
          <a:p>
            <a:pPr defTabSz="457200">
              <a:defRPr sz="1100" dirty="0"/>
            </a:pPr>
            <a:r>
              <a:t> - Authentication Policy Administrator</a:t>
            </a:r>
          </a:p>
          <a:p>
            <a:pPr defTabSz="457200">
              <a:defRPr sz="1100" dirty="0"/>
            </a:pPr>
            <a:r>
              <a:t> - Azure DevOps Administrator</a:t>
            </a:r>
          </a:p>
          <a:p>
            <a:pPr defTabSz="457200">
              <a:defRPr sz="1100" dirty="0"/>
            </a:pPr>
            <a:r>
              <a:t> - Azure Information Protection Administrator</a:t>
            </a:r>
          </a:p>
          <a:p>
            <a:pPr defTabSz="457200">
              <a:defRPr sz="1100" dirty="0"/>
            </a:pPr>
            <a:r>
              <a:t> - B2C IEF Keyset Administrator</a:t>
            </a:r>
          </a:p>
          <a:p>
            <a:pPr defTabSz="457200">
              <a:defRPr sz="1100" dirty="0"/>
            </a:pPr>
            <a:r>
              <a:t> - B2C IEF Policy Administrator</a:t>
            </a:r>
          </a:p>
          <a:p>
            <a:pPr defTabSz="457200">
              <a:defRPr sz="1100" dirty="0"/>
            </a:pPr>
            <a:r>
              <a:t> - Billing Administrator</a:t>
            </a:r>
          </a:p>
          <a:p>
            <a:pPr defTabSz="457200">
              <a:defRPr sz="1100" dirty="0"/>
            </a:pPr>
            <a:r>
              <a:t> - Cloud App Security Administrator</a:t>
            </a:r>
          </a:p>
          <a:p>
            <a:pPr defTabSz="457200">
              <a:defRPr sz="1100" dirty="0"/>
            </a:pPr>
            <a:r>
              <a:t> - Cloud Application Administrator</a:t>
            </a:r>
          </a:p>
          <a:p>
            <a:pPr defTabSz="457200">
              <a:defRPr sz="1100" dirty="0"/>
            </a:pPr>
            <a:r>
              <a:t> - Cloud Device Administrator</a:t>
            </a:r>
          </a:p>
          <a:p>
            <a:pPr defTabSz="457200">
              <a:defRPr sz="1100" dirty="0"/>
            </a:pPr>
            <a:r>
              <a:t> - Compliance Administrator</a:t>
            </a:r>
          </a:p>
          <a:p>
            <a:pPr defTabSz="457200">
              <a:defRPr sz="1100" dirty="0"/>
            </a:pPr>
            <a:r>
              <a:t> - Compliance Data Administrator</a:t>
            </a:r>
          </a:p>
          <a:p>
            <a:pPr defTabSz="457200">
              <a:defRPr sz="1100" dirty="0"/>
            </a:pPr>
            <a:r>
              <a:t> - Conditional Access Administrator</a:t>
            </a:r>
          </a:p>
          <a:p>
            <a:pPr defTabSz="457200">
              <a:defRPr sz="1100" dirty="0"/>
            </a:pPr>
            <a:r>
              <a:t> - Customer LockBox Access Approver</a:t>
            </a:r>
          </a:p>
          <a:p>
            <a:pPr defTabSz="457200">
              <a:defRPr sz="1100" dirty="0"/>
            </a:pPr>
            <a:r>
              <a:t> - Desktop Analytics Administrator</a:t>
            </a:r>
          </a:p>
          <a:p>
            <a:pPr defTabSz="457200">
              <a:defRPr sz="1100" dirty="0"/>
            </a:pPr>
            <a:r>
              <a:t> - Domain Name Administrator</a:t>
            </a:r>
          </a:p>
          <a:p>
            <a:pPr defTabSz="457200">
              <a:defRPr sz="1100" dirty="0"/>
            </a:pPr>
            <a:r>
              <a:t> - Dynamics 365 Administrator</a:t>
            </a:r>
          </a:p>
          <a:p>
            <a:pPr defTabSz="457200">
              <a:defRPr sz="1100" dirty="0"/>
            </a:pPr>
            <a:r>
              <a:t> - Dynamics 365 Business Central Administrator</a:t>
            </a:r>
          </a:p>
          <a:p>
            <a:pPr defTabSz="457200">
              <a:defRPr sz="1100" dirty="0"/>
            </a:pPr>
            <a:r>
              <a:t> - Edge Administrator</a:t>
            </a:r>
          </a:p>
          <a:p>
            <a:pPr defTabSz="457200">
              <a:defRPr sz="1100" dirty="0"/>
            </a:pPr>
            <a:r>
              <a:t> - Exchange Administrator</a:t>
            </a:r>
          </a:p>
          <a:p>
            <a:pPr defTabSz="457200">
              <a:defRPr sz="1100" dirty="0"/>
            </a:pPr>
            <a:r>
              <a:t> - Exchange Recipient Administrator</a:t>
            </a:r>
          </a:p>
          <a:p>
            <a:pPr defTabSz="457200">
              <a:defRPr sz="1100" dirty="0"/>
            </a:pPr>
            <a:r>
              <a:t> - Extended Directory User Administrator</a:t>
            </a:r>
          </a:p>
          <a:p>
            <a:pPr defTabSz="457200">
              <a:defRPr sz="1100" dirty="0"/>
            </a:pPr>
            <a:r>
              <a:t> - External ID User Flow Administrator</a:t>
            </a:r>
          </a:p>
          <a:p>
            <a:pPr defTabSz="457200">
              <a:defRPr sz="1100" dirty="0"/>
            </a:pPr>
            <a:r>
              <a:t> - External ID User Flow Attribute Administrator</a:t>
            </a:r>
          </a:p>
          <a:p>
            <a:pPr defTabSz="457200">
              <a:defRPr sz="1100" dirty="0"/>
            </a:pPr>
            <a:r>
              <a:t> - External Identity Provider Administrator</a:t>
            </a:r>
          </a:p>
          <a:p>
            <a:pPr defTabSz="457200">
              <a:defRPr sz="1100" dirty="0"/>
            </a:pPr>
            <a:r>
              <a:t> - Fabric Administrator</a:t>
            </a:r>
          </a:p>
          <a:p>
            <a:pPr defTabSz="457200">
              <a:defRPr sz="1100" dirty="0"/>
            </a:pPr>
            <a:r>
              <a:t> - Global Administrator</a:t>
            </a:r>
          </a:p>
          <a:p>
            <a:pPr defTabSz="457200">
              <a:defRPr sz="1100" dirty="0"/>
            </a:pPr>
            <a:r>
              <a:t> - Global Secure Access Administrator</a:t>
            </a:r>
          </a:p>
          <a:p>
            <a:pPr defTabSz="457200">
              <a:defRPr sz="1100" dirty="0"/>
            </a:pPr>
            <a:r>
              <a:t> - Groups Administrator</a:t>
            </a:r>
          </a:p>
          <a:p>
            <a:pPr defTabSz="457200">
              <a:defRPr sz="1100" dirty="0"/>
            </a:pPr>
            <a:r>
              <a:t> - Helpdesk Administrator</a:t>
            </a:r>
          </a:p>
          <a:p>
            <a:pPr defTabSz="457200">
              <a:defRPr sz="1100" dirty="0"/>
            </a:pPr>
            <a:r>
              <a:t> - Hybrid Identity Administrator</a:t>
            </a:r>
          </a:p>
          <a:p>
            <a:pPr defTabSz="457200">
              <a:defRPr sz="1100" dirty="0"/>
            </a:pPr>
            <a:r>
              <a:t> - Identity Governance Administrator</a:t>
            </a:r>
          </a:p>
          <a:p>
            <a:pPr defTabSz="457200">
              <a:defRPr sz="1100" dirty="0"/>
            </a:pPr>
            <a:r>
              <a:t> - Insights Administrator</a:t>
            </a:r>
          </a:p>
          <a:p>
            <a:pPr defTabSz="457200">
              <a:defRPr sz="1100" dirty="0"/>
            </a:pPr>
            <a:r>
              <a:t> - Intune Administrator</a:t>
            </a:r>
          </a:p>
          <a:p>
            <a:pPr defTabSz="457200">
              <a:defRPr sz="1100" dirty="0"/>
            </a:pPr>
            <a:r>
              <a:t> - IoT Device Administrator</a:t>
            </a:r>
          </a:p>
          <a:p>
            <a:pPr defTabSz="457200">
              <a:defRPr sz="1100" dirty="0"/>
            </a:pPr>
            <a:r>
              <a:t> - Kaizala Administrator</a:t>
            </a:r>
          </a:p>
          <a:p>
            <a:pPr defTabSz="457200">
              <a:defRPr sz="1100" dirty="0"/>
            </a:pPr>
            <a:r>
              <a:t> - Knowledge Administrator</a:t>
            </a:r>
          </a:p>
          <a:p>
            <a:pPr defTabSz="457200">
              <a:defRPr sz="1100" dirty="0"/>
            </a:pPr>
            <a:r>
              <a:t> - License Administrator</a:t>
            </a:r>
          </a:p>
          <a:p>
            <a:pPr defTabSz="457200">
              <a:defRPr sz="1100" dirty="0"/>
            </a:pPr>
            <a:r>
              <a:t> - Lifecycle Workflows Administrator</a:t>
            </a:r>
          </a:p>
          <a:p>
            <a:pPr defTabSz="457200">
              <a:defRPr sz="1100" dirty="0"/>
            </a:pPr>
            <a:r>
              <a:t> - Microsoft 365 Backup Administrator</a:t>
            </a:r>
          </a:p>
          <a:p>
            <a:pPr defTabSz="457200">
              <a:defRPr sz="1100" dirty="0"/>
            </a:pPr>
            <a:r>
              <a:t> - Microsoft 365 Migration Administrator</a:t>
            </a:r>
          </a:p>
          <a:p>
            <a:pPr defTabSz="457200">
              <a:defRPr sz="1100" dirty="0"/>
            </a:pPr>
            <a:r>
              <a:t> - Azure AD Joined Device Local Administrator</a:t>
            </a:r>
          </a:p>
          <a:p>
            <a:pPr defTabSz="457200">
              <a:defRPr sz="1100" dirty="0"/>
            </a:pPr>
            <a:r>
              <a:t> - Microsoft Hardware Warranty Administrator</a:t>
            </a:r>
          </a:p>
          <a:p>
            <a:pPr defTabSz="457200">
              <a:defRPr sz="1100" dirty="0"/>
            </a:pPr>
            <a:r>
              <a:t> - Network Administrator</a:t>
            </a:r>
          </a:p>
          <a:p>
            <a:pPr defTabSz="457200">
              <a:defRPr sz="1100" dirty="0"/>
            </a:pPr>
            <a:r>
              <a:t> - Organizational Branding Administrator</a:t>
            </a:r>
          </a:p>
          <a:p>
            <a:pPr defTabSz="457200">
              <a:defRPr sz="1100" dirty="0"/>
            </a:pPr>
            <a:r>
              <a:t> - Password Administrator</a:t>
            </a:r>
          </a:p>
          <a:p>
            <a:pPr defTabSz="457200">
              <a:defRPr sz="1100" dirty="0"/>
            </a:pPr>
            <a:r>
              <a:t> - People Administrator</a:t>
            </a:r>
          </a:p>
          <a:p>
            <a:pPr defTabSz="457200">
              <a:defRPr sz="1100" dirty="0"/>
            </a:pPr>
            <a:r>
              <a:t> - Permissions Management Administrator</a:t>
            </a:r>
          </a:p>
          <a:p>
            <a:pPr defTabSz="457200">
              <a:defRPr sz="1100" dirty="0"/>
            </a:pPr>
            <a:r>
              <a:t> - Power Platform Administrator</a:t>
            </a:r>
          </a:p>
          <a:p>
            <a:pPr defTabSz="457200">
              <a:defRPr sz="1100" dirty="0"/>
            </a:pPr>
            <a:r>
              <a:t> - Printer Administrator</a:t>
            </a:r>
          </a:p>
          <a:p>
            <a:pPr defTabSz="457200">
              <a:defRPr sz="1100" dirty="0"/>
            </a:pPr>
            <a:r>
              <a:t> - Privileged Authentication Administrator</a:t>
            </a:r>
          </a:p>
          <a:p>
            <a:pPr defTabSz="457200">
              <a:defRPr sz="1100" dirty="0"/>
            </a:pPr>
            <a:r>
              <a:t> - Privileged Role Administrator</a:t>
            </a:r>
          </a:p>
          <a:p>
            <a:pPr defTabSz="457200">
              <a:defRPr sz="1100" dirty="0"/>
            </a:pPr>
            <a:r>
              <a:t> - Search Administrator</a:t>
            </a:r>
          </a:p>
          <a:p>
            <a:pPr defTabSz="457200">
              <a:defRPr sz="1100" dirty="0"/>
            </a:pPr>
            <a:r>
              <a:t> - Security Administrator</a:t>
            </a:r>
          </a:p>
          <a:p>
            <a:pPr defTabSz="457200">
              <a:defRPr sz="1100" dirty="0"/>
            </a:pPr>
            <a:r>
              <a:t> - Service Support Administrator</a:t>
            </a:r>
          </a:p>
          <a:p>
            <a:pPr defTabSz="457200">
              <a:defRPr sz="1100" dirty="0"/>
            </a:pPr>
            <a:r>
              <a:t> - SharePoint Administrator</a:t>
            </a:r>
          </a:p>
          <a:p>
            <a:pPr defTabSz="457200">
              <a:defRPr sz="1100" dirty="0"/>
            </a:pPr>
            <a:r>
              <a:t> - SharePoint Embedded Administrator</a:t>
            </a:r>
          </a:p>
          <a:p>
            <a:pPr defTabSz="457200">
              <a:defRPr sz="1100" dirty="0"/>
            </a:pPr>
            <a:r>
              <a:t> - Skype for Business Administrator</a:t>
            </a:r>
          </a:p>
          <a:p>
            <a:pPr defTabSz="457200">
              <a:defRPr sz="1100" dirty="0"/>
            </a:pPr>
            <a:r>
              <a:t> - Teams Administrator</a:t>
            </a:r>
          </a:p>
          <a:p>
            <a:pPr defTabSz="457200">
              <a:defRPr sz="1100" dirty="0"/>
            </a:pPr>
            <a:r>
              <a:t> - Teams Communications Administrator</a:t>
            </a:r>
          </a:p>
          <a:p>
            <a:pPr defTabSz="457200">
              <a:defRPr sz="1100" dirty="0"/>
            </a:pPr>
            <a:r>
              <a:t> - Teams Devices Administrator</a:t>
            </a:r>
          </a:p>
          <a:p>
            <a:pPr defTabSz="457200">
              <a:defRPr sz="1100" dirty="0"/>
            </a:pPr>
            <a:r>
              <a:t> - Teams Telephony Administrator</a:t>
            </a:r>
          </a:p>
          <a:p>
            <a:pPr defTabSz="457200">
              <a:defRPr sz="1100" dirty="0"/>
            </a:pPr>
            <a:r>
              <a:t> - User Administrator</a:t>
            </a:r>
          </a:p>
          <a:p>
            <a:pPr defTabSz="457200">
              <a:defRPr sz="1100" dirty="0"/>
            </a:pPr>
            <a:r>
              <a:t> - Virtual Visits Administrator</a:t>
            </a:r>
          </a:p>
          <a:p>
            <a:pPr defTabSz="457200">
              <a:defRPr sz="1100" dirty="0"/>
            </a:pPr>
            <a:r>
              <a:t> - Viva Glint Tenant Administrator</a:t>
            </a:r>
          </a:p>
          <a:p>
            <a:pPr defTabSz="457200">
              <a:defRPr sz="1100" dirty="0"/>
            </a:pPr>
            <a:r>
              <a:t> - Viva Goals Administrator</a:t>
            </a:r>
          </a:p>
          <a:p>
            <a:pPr defTabSz="457200">
              <a:defRPr sz="1100" dirty="0"/>
            </a:pPr>
            <a:r>
              <a:t> - Viva Pulse Administrator</a:t>
            </a:r>
          </a:p>
          <a:p>
            <a:pPr defTabSz="457200">
              <a:defRPr sz="1100" dirty="0"/>
            </a:pPr>
            <a:r>
              <a:t> - Windows 365 Administrator</a:t>
            </a:r>
          </a:p>
          <a:p>
            <a:pPr defTabSz="457200">
              <a:defRPr sz="1100" dirty="0"/>
            </a:pPr>
            <a:r>
              <a:t> - Windows Update Deployment Administrator</a:t>
            </a:r>
          </a:p>
          <a:p>
            <a:pPr defTabSz="457200">
              <a:defRPr sz="1100" dirty="0"/>
            </a:pPr>
            <a:r>
              <a:t> - Office Apps Administrator</a:t>
            </a:r>
          </a:p>
          <a:p>
            <a:pPr defTabSz="457200">
              <a:defRPr sz="1100" b="1" dirty="0"/>
            </a:pPr>
            <a:r>
              <a:t> Groups</a:t>
            </a:r>
          </a:p>
          <a:p>
            <a:pPr defTabSz="457200">
              <a:defRPr sz="1100" dirty="0"/>
            </a:pPr>
            <a:r>
              <a:t> - OCC-Cloud-Admins (186)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r>
              <a:t>🚫 Exclude:</a:t>
            </a:r>
          </a:p>
          <a:p>
            <a:pPr defTabSz="457200">
              <a:defRPr sz="1100" b="1" dirty="0"/>
            </a:pPr>
            <a:r>
              <a:t> Users</a:t>
            </a:r>
          </a:p>
          <a:p>
            <a:pPr defTabSz="457200">
              <a:defRPr sz="1100" dirty="0"/>
            </a:pPr>
            <a:r>
              <a:t> - BGA OCC02</a:t>
            </a:r>
          </a:p>
          <a:p>
            <a:pPr defTabSz="457200">
              <a:defRPr sz="1100" dirty="0"/>
            </a:pPr>
            <a:r>
              <a:t> - BGA OCC01</a:t>
            </a:r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19" name="Risks"/>
          <p:cNvSpPr txBox="1">
            <a:spLocks noChangeArrowheads="1"/>
          </p:cNvSpPr>
          <p:nvPr/>
        </p:nvSpPr>
        <p:spPr bwMode="white">
          <a:xfrm>
            <a:off x="524485" y="1021946"/>
            <a:ext cx="1348869" cy="166886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0" name="Platforms"/>
          <p:cNvSpPr txBox="1">
            <a:spLocks noChangeArrowheads="1"/>
          </p:cNvSpPr>
          <p:nvPr/>
        </p:nvSpPr>
        <p:spPr bwMode="white">
          <a:xfrm>
            <a:off x="1826931" y="1021947"/>
            <a:ext cx="2061056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3" name="Locations"/>
          <p:cNvSpPr txBox="1">
            <a:spLocks noChangeArrowheads="1"/>
          </p:cNvSpPr>
          <p:nvPr/>
        </p:nvSpPr>
        <p:spPr bwMode="white">
          <a:xfrm>
            <a:off x="8324941" y="1021947"/>
            <a:ext cx="3513702" cy="159258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b="1" dirty="0"/>
            </a:pPr>
            <a:r>
              <a:t>✅ Include</a:t>
            </a:r>
          </a:p>
          <a:p>
            <a:pPr defTabSz="457200">
              <a:defRPr sz="1100" dirty="0"/>
            </a:pPr>
            <a:r>
              <a:t> - Geo Fencing Countries 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24" name="ClientAppTypes"/>
          <p:cNvSpPr txBox="1">
            <a:spLocks noChangeArrowheads="1"/>
          </p:cNvSpPr>
          <p:nvPr/>
        </p:nvSpPr>
        <p:spPr bwMode="white">
          <a:xfrm>
            <a:off x="3810664" y="1021947"/>
            <a:ext cx="1581599" cy="165343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5" name="DeviceFilters"/>
          <p:cNvSpPr txBox="1">
            <a:spLocks noChangeArrowheads="1"/>
          </p:cNvSpPr>
          <p:nvPr/>
        </p:nvSpPr>
        <p:spPr bwMode="white">
          <a:xfrm>
            <a:off x="5818151" y="1022762"/>
            <a:ext cx="2248808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cxnSp>
        <p:nvCxnSpPr>
          <p:cNvPr id="27" name="Straight Arrow Connector 26" descr="Arrow drawn from user/workload  to the action being performed by the user such as accessing cloud apps."/>
          <p:cNvCxnSpPr/>
          <p:nvPr/>
        </p:nvCxnSpPr>
        <p:spPr bwMode="white">
          <a:xfrm>
            <a:off x="2195232" y="3159047"/>
            <a:ext cx="3959471" cy="1"/>
          </a:xfrm>
          <a:prstGeom prst="straightConnector1">
            <a:avLst/>
          </a:prstGeom>
          <a:ln w="76200"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30" name="IconBlockAccess" descr="Picture with red color stop sign to indicate blocked access"/>
          <p:cNvPicPr>
            <a:picLocks noChangeAspect="1"/>
          </p:cNvPicPr>
          <p:nvPr/>
        </p:nvPicPr>
        <p:blipFill>
          <a:blip r:embed="rId3">
            <a:lum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 bwMode="white">
          <a:xfrm>
            <a:off x="5306633" y="2735805"/>
            <a:ext cx="356616" cy="35661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34" name="GrantLabelBlockAccess"/>
          <p:cNvSpPr txBox="1">
            <a:spLocks noChangeArrowheads="1"/>
          </p:cNvSpPr>
          <p:nvPr/>
        </p:nvSpPr>
        <p:spPr bwMode="white">
          <a:xfrm>
            <a:off x="3936931" y="2734375"/>
            <a:ext cx="1358065" cy="369332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algn="ctr" defTabSz="457200"/>
            <a:r>
              <a:rPr lang="en-US" b="1" dirty="0">
                <a:solidFill>
                  <a:srgbClr val="FF0000"/>
                </a:solidFill>
              </a:rPr>
              <a:t>Block access</a:t>
            </a:r>
          </a:p>
        </p:txBody>
      </p:sp>
      <p:sp>
        <p:nvSpPr>
          <p:cNvPr id="3" name="CloudAppActionIncExc"/>
          <p:cNvSpPr txBox="1">
            <a:spLocks noChangeArrowheads="1"/>
          </p:cNvSpPr>
          <p:nvPr/>
        </p:nvSpPr>
        <p:spPr bwMode="white">
          <a:xfrm>
            <a:off x="6039518" y="3662782"/>
            <a:ext cx="3649518" cy="315161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</p:txBody>
      </p:sp>
      <p:pic>
        <p:nvPicPr>
          <p:cNvPr id="26" name="IconGroupIdentity"/>
          <p:cNvPicPr>
            <a:picLocks noChangeAspect="1"/>
          </p:cNvPicPr>
          <p:nvPr/>
        </p:nvPicPr>
        <p:blipFill>
          <a:blip r:embed="rId5">
            <a:lum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 bwMode="white">
          <a:xfrm>
            <a:off x="327701" y="2839007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36" name="Graphic 35"/>
          <p:cNvPicPr>
            <a:picLocks noChangeAspect="1"/>
          </p:cNvPicPr>
          <p:nvPr/>
        </p:nvPicPr>
        <p:blipFill>
          <a:blip r:embed="rId7">
            <a:lum/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p:blipFill>
        <p:spPr bwMode="white">
          <a:xfrm>
            <a:off x="495610" y="197468"/>
            <a:ext cx="381196" cy="38119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" name="CloudAppAction"/>
          <p:cNvSpPr>
            <a:spLocks/>
          </p:cNvSpPr>
          <p:nvPr/>
        </p:nvSpPr>
        <p:spPr bwMode="auto">
          <a:xfrm>
            <a:off x="6206089" y="2718506"/>
            <a:ext cx="3227026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All cloud apps</a:t>
            </a:r>
          </a:p>
        </p:txBody>
      </p:sp>
      <p:pic>
        <p:nvPicPr>
          <p:cNvPr id="75" name="IconAccessAllCloudApps"/>
          <p:cNvPicPr>
            <a:picLocks noChangeAspect="1"/>
          </p:cNvPicPr>
          <p:nvPr/>
        </p:nvPicPr>
        <p:blipFill>
          <a:blip r:embed="rId9">
            <a:lum/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p:blipFill>
        <p:spPr bwMode="white">
          <a:xfrm>
            <a:off x="6439264" y="2836824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21" name="StateEnabled"/>
          <p:cNvSpPr>
            <a:spLocks/>
          </p:cNvSpPr>
          <p:nvPr/>
        </p:nvSpPr>
        <p:spPr bwMode="white">
          <a:xfrm>
            <a:off x="10842171" y="83487"/>
            <a:ext cx="1260389" cy="264812"/>
          </a:xfrm>
          <a:prstGeom prst="round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r>
              <a:rPr lang="en-US" sz="800" dirty="0"/>
              <a:t>Policy Enabled</a:t>
            </a:r>
          </a:p>
        </p:txBody>
      </p:sp>
      <p:grpSp>
        <p:nvGrpSpPr>
          <p:cNvPr id="10" name="IconRiskyUsers"/>
          <p:cNvGrpSpPr>
            <a:grpSpLocks/>
          </p:cNvGrpSpPr>
          <p:nvPr/>
        </p:nvGrpSpPr>
        <p:grpSpPr bwMode="white">
          <a:xfrm>
            <a:off x="635426" y="738677"/>
            <a:ext cx="1202553" cy="274320"/>
            <a:chOff x="2013768" y="1033956"/>
            <a:chExt cx="1342320" cy="274320"/>
          </a:xfrm>
        </p:grpSpPr>
        <p:pic>
          <p:nvPicPr>
            <p:cNvPr id="46" name="Graphic 1"/>
            <p:cNvPicPr>
              <a:picLocks noChangeAspect="1"/>
            </p:cNvPicPr>
            <p:nvPr/>
          </p:nvPicPr>
          <p:blipFill>
            <a:blip r:embed="rId11">
              <a:lum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013768" y="1033956"/>
              <a:ext cx="274320" cy="27432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5" name="Label 1"/>
            <p:cNvSpPr txBox="1">
              <a:spLocks noChangeArrowheads="1"/>
            </p:cNvSpPr>
            <p:nvPr/>
          </p:nvSpPr>
          <p:spPr bwMode="white">
            <a:xfrm>
              <a:off x="2240077" y="1040706"/>
              <a:ext cx="1116011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Risk</a:t>
              </a:r>
            </a:p>
          </p:txBody>
        </p:sp>
      </p:grpSp>
      <p:grpSp>
        <p:nvGrpSpPr>
          <p:cNvPr id="14" name="IconPlatforms"/>
          <p:cNvGrpSpPr>
            <a:grpSpLocks/>
          </p:cNvGrpSpPr>
          <p:nvPr/>
        </p:nvGrpSpPr>
        <p:grpSpPr bwMode="white">
          <a:xfrm>
            <a:off x="1927788" y="715249"/>
            <a:ext cx="1719285" cy="365760"/>
            <a:chOff x="3262737" y="994835"/>
            <a:chExt cx="1719285" cy="365760"/>
          </a:xfrm>
        </p:grpSpPr>
        <p:pic>
          <p:nvPicPr>
            <p:cNvPr id="29" name="Graphic 1"/>
            <p:cNvPicPr>
              <a:picLocks noChangeAspect="1"/>
            </p:cNvPicPr>
            <p:nvPr/>
          </p:nvPicPr>
          <p:blipFill>
            <a:blip r:embed="rId13">
              <a:lum/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3262737" y="994835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1" name="Label 1"/>
            <p:cNvSpPr txBox="1">
              <a:spLocks noChangeArrowheads="1"/>
            </p:cNvSpPr>
            <p:nvPr/>
          </p:nvSpPr>
          <p:spPr bwMode="white">
            <a:xfrm>
              <a:off x="3582397" y="1027255"/>
              <a:ext cx="1399625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Device platforms</a:t>
              </a:r>
            </a:p>
          </p:txBody>
        </p:sp>
      </p:grpSp>
      <p:grpSp>
        <p:nvGrpSpPr>
          <p:cNvPr id="17" name="IconClientAppTypes"/>
          <p:cNvGrpSpPr>
            <a:grpSpLocks/>
          </p:cNvGrpSpPr>
          <p:nvPr/>
        </p:nvGrpSpPr>
        <p:grpSpPr bwMode="white">
          <a:xfrm>
            <a:off x="3908159" y="670015"/>
            <a:ext cx="1852971" cy="365760"/>
            <a:chOff x="4858970" y="975927"/>
            <a:chExt cx="1852971" cy="365760"/>
          </a:xfrm>
        </p:grpSpPr>
        <p:pic>
          <p:nvPicPr>
            <p:cNvPr id="58" name="Graphic 1"/>
            <p:cNvPicPr>
              <a:picLocks noChangeAspect="1"/>
            </p:cNvPicPr>
            <p:nvPr/>
          </p:nvPicPr>
          <p:blipFill>
            <a:blip r:embed="rId15">
              <a:lum/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858970" y="975927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5" name="Label 1"/>
            <p:cNvSpPr txBox="1">
              <a:spLocks noChangeArrowheads="1"/>
            </p:cNvSpPr>
            <p:nvPr/>
          </p:nvSpPr>
          <p:spPr bwMode="white">
            <a:xfrm>
              <a:off x="5193983" y="1009899"/>
              <a:ext cx="1517958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Client apps</a:t>
              </a:r>
            </a:p>
          </p:txBody>
        </p:sp>
      </p:grpSp>
      <p:grpSp>
        <p:nvGrpSpPr>
          <p:cNvPr id="37" name="IconLocations"/>
          <p:cNvGrpSpPr>
            <a:grpSpLocks/>
          </p:cNvGrpSpPr>
          <p:nvPr/>
        </p:nvGrpSpPr>
        <p:grpSpPr bwMode="white">
          <a:xfrm>
            <a:off x="8411896" y="646848"/>
            <a:ext cx="1850168" cy="388465"/>
            <a:chOff x="2321433" y="3262888"/>
            <a:chExt cx="1850168" cy="388465"/>
          </a:xfrm>
        </p:grpSpPr>
        <p:pic>
          <p:nvPicPr>
            <p:cNvPr id="33" name="Graphic 1"/>
            <p:cNvPicPr>
              <a:picLocks noChangeAspect="1"/>
            </p:cNvPicPr>
            <p:nvPr/>
          </p:nvPicPr>
          <p:blipFill>
            <a:blip r:embed="rId17">
              <a:lum/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321433" y="3262888"/>
              <a:ext cx="388465" cy="388465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28" name="Label 1"/>
            <p:cNvSpPr txBox="1">
              <a:spLocks noChangeArrowheads="1"/>
            </p:cNvSpPr>
            <p:nvPr/>
          </p:nvSpPr>
          <p:spPr bwMode="white">
            <a:xfrm>
              <a:off x="2713321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Locations</a:t>
              </a:r>
              <a:endParaRPr lang="en-US" sz="1100" b="1" dirty="0"/>
            </a:p>
          </p:txBody>
        </p:sp>
      </p:grpSp>
      <p:grpSp>
        <p:nvGrpSpPr>
          <p:cNvPr id="39" name="IconDeviceFilters"/>
          <p:cNvGrpSpPr>
            <a:grpSpLocks/>
          </p:cNvGrpSpPr>
          <p:nvPr/>
        </p:nvGrpSpPr>
        <p:grpSpPr bwMode="white">
          <a:xfrm>
            <a:off x="5472818" y="661958"/>
            <a:ext cx="1839823" cy="364111"/>
            <a:chOff x="4195414" y="3273669"/>
            <a:chExt cx="1839823" cy="364111"/>
          </a:xfrm>
        </p:grpSpPr>
        <p:pic>
          <p:nvPicPr>
            <p:cNvPr id="60" name="Graphic 1"/>
            <p:cNvPicPr>
              <a:picLocks noChangeAspect="1"/>
            </p:cNvPicPr>
            <p:nvPr/>
          </p:nvPicPr>
          <p:blipFill>
            <a:blip r:embed="rId19">
              <a:lum/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195414" y="3273669"/>
              <a:ext cx="364111" cy="364111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31" name="Label 1"/>
            <p:cNvSpPr txBox="1">
              <a:spLocks noChangeArrowheads="1"/>
            </p:cNvSpPr>
            <p:nvPr/>
          </p:nvSpPr>
          <p:spPr bwMode="white">
            <a:xfrm>
              <a:off x="4576957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Filter for devices</a:t>
              </a:r>
              <a:endParaRPr lang="en-US" sz="1100" b="1" dirty="0"/>
            </a:p>
          </p:txBody>
        </p:sp>
      </p:grpSp>
      <p:pic>
        <p:nvPicPr>
          <p:cNvPr id="62" name="IconGrantMultifactorAuthentication"/>
          <p:cNvPicPr>
            <a:picLocks noChangeAspect="1"/>
          </p:cNvPicPr>
          <p:nvPr/>
        </p:nvPicPr>
        <p:blipFill>
          <a:blip r:embed="rId21">
            <a:lum/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>
            <a:fillRect/>
          </a:stretch>
        </p:blipFill>
        <p:spPr bwMode="white">
          <a:xfrm>
            <a:off x="3410647" y="3566863"/>
            <a:ext cx="17145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5" name="IconGrantMultifactorAuthenticationLabel"/>
          <p:cNvSpPr txBox="1">
            <a:spLocks noChangeArrowheads="1"/>
          </p:cNvSpPr>
          <p:nvPr/>
        </p:nvSpPr>
        <p:spPr bwMode="white">
          <a:xfrm>
            <a:off x="3575836" y="3571997"/>
            <a:ext cx="19007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Multifactor authentication</a:t>
            </a:r>
            <a:endParaRPr lang="en-US" sz="1000" dirty="0"/>
          </a:p>
        </p:txBody>
      </p:sp>
      <p:pic>
        <p:nvPicPr>
          <p:cNvPr id="38" name="IconGrantAuthenticationStrength"/>
          <p:cNvPicPr>
            <a:picLocks noChangeAspect="1"/>
          </p:cNvPicPr>
          <p:nvPr/>
        </p:nvPicPr>
        <p:blipFill>
          <a:blip r:embed="rId23">
            <a:lum/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/>
          <a:stretch>
            <a:fillRect/>
          </a:stretch>
        </p:blipFill>
        <p:spPr bwMode="white">
          <a:xfrm>
            <a:off x="3374515" y="3905034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7" name="IconGrantAuthenticationStrengthLabel"/>
          <p:cNvSpPr txBox="1">
            <a:spLocks noChangeArrowheads="1"/>
          </p:cNvSpPr>
          <p:nvPr/>
        </p:nvSpPr>
        <p:spPr bwMode="white">
          <a:xfrm>
            <a:off x="3575836" y="3907323"/>
            <a:ext cx="2185294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Authentication strength</a:t>
            </a:r>
            <a:endParaRPr lang="en-US" sz="1000" dirty="0"/>
          </a:p>
        </p:txBody>
      </p:sp>
      <p:pic>
        <p:nvPicPr>
          <p:cNvPr id="52" name="IconGrantDeviceCompliance"/>
          <p:cNvPicPr>
            <a:picLocks noChangeAspect="1"/>
          </p:cNvPicPr>
          <p:nvPr/>
        </p:nvPicPr>
        <p:blipFill>
          <a:blip r:embed="rId25">
            <a:lum/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/>
          <a:stretch>
            <a:fillRect/>
          </a:stretch>
        </p:blipFill>
        <p:spPr bwMode="white">
          <a:xfrm>
            <a:off x="3374515" y="4243205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9" name="IconGrantDeviceComplianceLabel"/>
          <p:cNvSpPr txBox="1">
            <a:spLocks noChangeArrowheads="1"/>
          </p:cNvSpPr>
          <p:nvPr/>
        </p:nvSpPr>
        <p:spPr bwMode="white">
          <a:xfrm>
            <a:off x="3575836" y="4242649"/>
            <a:ext cx="17378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Compliant device</a:t>
            </a:r>
            <a:endParaRPr lang="en-US" sz="1000" dirty="0"/>
          </a:p>
        </p:txBody>
      </p:sp>
      <p:pic>
        <p:nvPicPr>
          <p:cNvPr id="43" name="IconGrantHybridJoined"/>
          <p:cNvPicPr>
            <a:picLocks noChangeAspect="1"/>
          </p:cNvPicPr>
          <p:nvPr/>
        </p:nvPicPr>
        <p:blipFill>
          <a:blip r:embed="rId27">
            <a:lum/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/>
          <a:stretch>
            <a:fillRect/>
          </a:stretch>
        </p:blipFill>
        <p:spPr bwMode="white">
          <a:xfrm>
            <a:off x="3374515" y="4581376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3" name="IconGrantHybridJoinedLabel"/>
          <p:cNvSpPr txBox="1">
            <a:spLocks noChangeArrowheads="1"/>
          </p:cNvSpPr>
          <p:nvPr/>
        </p:nvSpPr>
        <p:spPr bwMode="white">
          <a:xfrm>
            <a:off x="3575836" y="4577975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Hybrid Azure AD joined device</a:t>
            </a:r>
            <a:endParaRPr lang="en-US" sz="1000" dirty="0"/>
          </a:p>
        </p:txBody>
      </p:sp>
      <p:pic>
        <p:nvPicPr>
          <p:cNvPr id="48" name="IconGrantApprovedClientApp"/>
          <p:cNvPicPr>
            <a:picLocks noChangeAspect="1"/>
          </p:cNvPicPr>
          <p:nvPr/>
        </p:nvPicPr>
        <p:blipFill>
          <a:blip r:embed="rId29">
            <a:lum/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rcRect/>
          <a:stretch>
            <a:fillRect/>
          </a:stretch>
        </p:blipFill>
        <p:spPr bwMode="white">
          <a:xfrm>
            <a:off x="3374515" y="491954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5" name="IconGrantApprovedClientAppLabel"/>
          <p:cNvSpPr txBox="1">
            <a:spLocks noChangeArrowheads="1"/>
          </p:cNvSpPr>
          <p:nvPr/>
        </p:nvSpPr>
        <p:spPr bwMode="white">
          <a:xfrm>
            <a:off x="3575836" y="4913301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Approved client app</a:t>
            </a:r>
            <a:endParaRPr lang="en-US" sz="1000" dirty="0"/>
          </a:p>
        </p:txBody>
      </p:sp>
      <p:pic>
        <p:nvPicPr>
          <p:cNvPr id="42" name="IconGrantCustomAuth"/>
          <p:cNvPicPr>
            <a:picLocks noChangeAspect="1"/>
          </p:cNvPicPr>
          <p:nvPr/>
        </p:nvPicPr>
        <p:blipFill>
          <a:blip r:embed="rId31">
            <a:lum/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rcRect/>
          <a:stretch>
            <a:fillRect/>
          </a:stretch>
        </p:blipFill>
        <p:spPr bwMode="white">
          <a:xfrm>
            <a:off x="3374515" y="593406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9" name="IconGrantCustomAuthLabel"/>
          <p:cNvSpPr txBox="1">
            <a:spLocks noChangeArrowheads="1"/>
          </p:cNvSpPr>
          <p:nvPr/>
        </p:nvSpPr>
        <p:spPr bwMode="white">
          <a:xfrm>
            <a:off x="3575836" y="5919279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Custom authentication factor</a:t>
            </a:r>
            <a:endParaRPr lang="en-US" sz="1000" dirty="0"/>
          </a:p>
        </p:txBody>
      </p:sp>
      <p:pic>
        <p:nvPicPr>
          <p:cNvPr id="40" name="IconGrantTermsOfUse"/>
          <p:cNvPicPr>
            <a:picLocks noChangeAspect="1"/>
          </p:cNvPicPr>
          <p:nvPr/>
        </p:nvPicPr>
        <p:blipFill>
          <a:blip r:embed="rId33">
            <a:lum/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rcRect/>
          <a:stretch>
            <a:fillRect/>
          </a:stretch>
        </p:blipFill>
        <p:spPr bwMode="white">
          <a:xfrm>
            <a:off x="3374515" y="627222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3" name="IconGrantTermsOfUseLabel"/>
          <p:cNvSpPr txBox="1">
            <a:spLocks noChangeArrowheads="1"/>
          </p:cNvSpPr>
          <p:nvPr/>
        </p:nvSpPr>
        <p:spPr bwMode="white">
          <a:xfrm>
            <a:off x="3575836" y="625460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Terms of use</a:t>
            </a:r>
            <a:endParaRPr lang="en-US" sz="1000" dirty="0"/>
          </a:p>
        </p:txBody>
      </p:sp>
      <p:sp>
        <p:nvSpPr>
          <p:cNvPr id="56" name="IconGrantAppProtectionLabel"/>
          <p:cNvSpPr txBox="1">
            <a:spLocks noChangeArrowheads="1"/>
          </p:cNvSpPr>
          <p:nvPr/>
        </p:nvSpPr>
        <p:spPr bwMode="white">
          <a:xfrm>
            <a:off x="3575836" y="524862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 protection policy</a:t>
            </a:r>
            <a:endParaRPr lang="en-US" sz="1000" dirty="0"/>
          </a:p>
        </p:txBody>
      </p:sp>
      <p:pic>
        <p:nvPicPr>
          <p:cNvPr id="65" name="IconGrantAppProtection"/>
          <p:cNvPicPr>
            <a:picLocks noChangeAspect="1"/>
          </p:cNvPicPr>
          <p:nvPr/>
        </p:nvPicPr>
        <p:blipFill>
          <a:blip r:embed="rId35">
            <a:lum/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rcRect/>
          <a:stretch>
            <a:fillRect/>
          </a:stretch>
        </p:blipFill>
        <p:spPr bwMode="white">
          <a:xfrm>
            <a:off x="3374515" y="525771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7" name="IconGrantChangePasswordLabel"/>
          <p:cNvSpPr txBox="1">
            <a:spLocks noChangeArrowheads="1"/>
          </p:cNvSpPr>
          <p:nvPr/>
        </p:nvSpPr>
        <p:spPr bwMode="white">
          <a:xfrm>
            <a:off x="3575836" y="5583953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Change password</a:t>
            </a:r>
            <a:endParaRPr lang="en-US" sz="1000" dirty="0"/>
          </a:p>
        </p:txBody>
      </p:sp>
      <p:pic>
        <p:nvPicPr>
          <p:cNvPr id="67" name="IconGrantChangePassword"/>
          <p:cNvPicPr>
            <a:picLocks noChangeAspect="1"/>
          </p:cNvPicPr>
          <p:nvPr/>
        </p:nvPicPr>
        <p:blipFill>
          <a:blip r:embed="rId37">
            <a:lum/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rcRect/>
          <a:stretch>
            <a:fillRect/>
          </a:stretch>
        </p:blipFill>
        <p:spPr bwMode="white">
          <a:xfrm>
            <a:off x="3374515" y="5595889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4" name="ShadeRisk"/>
          <p:cNvSpPr>
            <a:spLocks/>
          </p:cNvSpPr>
          <p:nvPr/>
        </p:nvSpPr>
        <p:spPr bwMode="white">
          <a:xfrm>
            <a:off x="507564" y="650246"/>
            <a:ext cx="976864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66" name="ShadeDevicePlatforms"/>
          <p:cNvSpPr>
            <a:spLocks/>
          </p:cNvSpPr>
          <p:nvPr/>
        </p:nvSpPr>
        <p:spPr bwMode="white">
          <a:xfrm>
            <a:off x="1863623" y="663409"/>
            <a:ext cx="1773927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78" name="ShadeClientApps"/>
          <p:cNvSpPr>
            <a:spLocks/>
          </p:cNvSpPr>
          <p:nvPr/>
        </p:nvSpPr>
        <p:spPr bwMode="white">
          <a:xfrm>
            <a:off x="3802273" y="650246"/>
            <a:ext cx="1481482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2" name="ShadeFilterForDevices"/>
          <p:cNvSpPr>
            <a:spLocks/>
          </p:cNvSpPr>
          <p:nvPr/>
        </p:nvSpPr>
        <p:spPr bwMode="white">
          <a:xfrm>
            <a:off x="5438955" y="627922"/>
            <a:ext cx="1873685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3" name="ShadeGrantMultifactorAuth"/>
          <p:cNvSpPr>
            <a:spLocks/>
          </p:cNvSpPr>
          <p:nvPr/>
        </p:nvSpPr>
        <p:spPr bwMode="white">
          <a:xfrm>
            <a:off x="3369399" y="3534220"/>
            <a:ext cx="2069555" cy="28330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4" name="ShadeGrantAuthStrength"/>
          <p:cNvSpPr>
            <a:spLocks/>
          </p:cNvSpPr>
          <p:nvPr/>
        </p:nvSpPr>
        <p:spPr bwMode="white">
          <a:xfrm>
            <a:off x="3350256" y="3869846"/>
            <a:ext cx="2069555" cy="27801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5" name="ShadeGrantCompliantDevice"/>
          <p:cNvSpPr>
            <a:spLocks/>
          </p:cNvSpPr>
          <p:nvPr/>
        </p:nvSpPr>
        <p:spPr bwMode="white">
          <a:xfrm>
            <a:off x="3361852" y="4243205"/>
            <a:ext cx="2077102" cy="26110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6" name="ShadeGrantHybridAzureADJoined"/>
          <p:cNvSpPr>
            <a:spLocks/>
          </p:cNvSpPr>
          <p:nvPr/>
        </p:nvSpPr>
        <p:spPr bwMode="white">
          <a:xfrm>
            <a:off x="3353637" y="4552268"/>
            <a:ext cx="2160906" cy="298395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7" name="ShadeGrantApprovedClientApp"/>
          <p:cNvSpPr>
            <a:spLocks/>
          </p:cNvSpPr>
          <p:nvPr/>
        </p:nvSpPr>
        <p:spPr bwMode="white">
          <a:xfrm>
            <a:off x="3331918" y="4876027"/>
            <a:ext cx="2182625" cy="29839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8" name="ShadeGrantAppProtectionPolicy"/>
          <p:cNvSpPr>
            <a:spLocks/>
          </p:cNvSpPr>
          <p:nvPr/>
        </p:nvSpPr>
        <p:spPr bwMode="white">
          <a:xfrm>
            <a:off x="3350256" y="5207226"/>
            <a:ext cx="2122561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9" name="ShadeGrantChangePassword"/>
          <p:cNvSpPr>
            <a:spLocks/>
          </p:cNvSpPr>
          <p:nvPr/>
        </p:nvSpPr>
        <p:spPr bwMode="white">
          <a:xfrm>
            <a:off x="3350257" y="5557021"/>
            <a:ext cx="2042006" cy="287239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0" name="ShadeGrantCustomAuthFactor"/>
          <p:cNvSpPr>
            <a:spLocks/>
          </p:cNvSpPr>
          <p:nvPr/>
        </p:nvSpPr>
        <p:spPr bwMode="white">
          <a:xfrm>
            <a:off x="3331918" y="5899058"/>
            <a:ext cx="2182625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1" name="ShadeGrantTermsOfUse"/>
          <p:cNvSpPr>
            <a:spLocks/>
          </p:cNvSpPr>
          <p:nvPr/>
        </p:nvSpPr>
        <p:spPr bwMode="white">
          <a:xfrm>
            <a:off x="3313823" y="6192350"/>
            <a:ext cx="101602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99" name="Rectangle 98"/>
          <p:cNvSpPr>
            <a:spLocks/>
          </p:cNvSpPr>
          <p:nvPr/>
        </p:nvSpPr>
        <p:spPr bwMode="white">
          <a:xfrm>
            <a:off x="3268757" y="3253404"/>
            <a:ext cx="2357725" cy="3498546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0" name="Rectangle 109"/>
          <p:cNvSpPr>
            <a:spLocks/>
          </p:cNvSpPr>
          <p:nvPr/>
        </p:nvSpPr>
        <p:spPr bwMode="white">
          <a:xfrm>
            <a:off x="9881750" y="3248255"/>
            <a:ext cx="2220808" cy="3510149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7" name="Rectangle 116"/>
          <p:cNvSpPr>
            <a:spLocks/>
          </p:cNvSpPr>
          <p:nvPr/>
        </p:nvSpPr>
        <p:spPr bwMode="white">
          <a:xfrm>
            <a:off x="26741" y="606825"/>
            <a:ext cx="11985015" cy="2063636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2" name="Conditions Label"/>
          <p:cNvSpPr txBox="1">
            <a:spLocks noChangeArrowheads="1"/>
          </p:cNvSpPr>
          <p:nvPr/>
        </p:nvSpPr>
        <p:spPr bwMode="white">
          <a:xfrm rot="16200000">
            <a:off x="-883507" y="1514324"/>
            <a:ext cx="2081441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Conditions</a:t>
            </a:r>
          </a:p>
        </p:txBody>
      </p:sp>
      <p:sp>
        <p:nvSpPr>
          <p:cNvPr id="109" name="Grant Controls"/>
          <p:cNvSpPr txBox="1">
            <a:spLocks noChangeArrowheads="1"/>
          </p:cNvSpPr>
          <p:nvPr/>
        </p:nvSpPr>
        <p:spPr bwMode="white">
          <a:xfrm>
            <a:off x="3252146" y="3244395"/>
            <a:ext cx="2391873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Grant Controls</a:t>
            </a:r>
          </a:p>
        </p:txBody>
      </p:sp>
      <p:sp>
        <p:nvSpPr>
          <p:cNvPr id="111" name="Session Controls"/>
          <p:cNvSpPr txBox="1">
            <a:spLocks noChangeArrowheads="1"/>
          </p:cNvSpPr>
          <p:nvPr/>
        </p:nvSpPr>
        <p:spPr bwMode="white">
          <a:xfrm>
            <a:off x="9864212" y="3243751"/>
            <a:ext cx="2238346" cy="23786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Session Controls</a:t>
            </a:r>
          </a:p>
        </p:txBody>
      </p:sp>
      <p:pic>
        <p:nvPicPr>
          <p:cNvPr id="72" name="Graphic 71"/>
          <p:cNvPicPr>
            <a:picLocks noChangeAspect="1"/>
          </p:cNvPicPr>
          <p:nvPr/>
        </p:nvPicPr>
        <p:blipFill>
          <a:blip r:embed="rId39">
            <a:lum/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rcRect/>
          <a:stretch>
            <a:fillRect/>
          </a:stretch>
        </p:blipFill>
        <p:spPr bwMode="white">
          <a:xfrm>
            <a:off x="9996846" y="356982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4" name="Graphic 93"/>
          <p:cNvPicPr>
            <a:picLocks noChangeAspect="1"/>
          </p:cNvPicPr>
          <p:nvPr/>
        </p:nvPicPr>
        <p:blipFill>
          <a:blip r:embed="rId41">
            <a:lum/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rcRect/>
          <a:stretch>
            <a:fillRect/>
          </a:stretch>
        </p:blipFill>
        <p:spPr bwMode="white">
          <a:xfrm>
            <a:off x="10009443" y="525644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5" name="TextBox 94"/>
          <p:cNvSpPr txBox="1">
            <a:spLocks noChangeArrowheads="1"/>
          </p:cNvSpPr>
          <p:nvPr/>
        </p:nvSpPr>
        <p:spPr bwMode="white">
          <a:xfrm>
            <a:off x="10207481" y="3578463"/>
            <a:ext cx="150554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App enforced restrictions</a:t>
            </a:r>
          </a:p>
        </p:txBody>
      </p:sp>
      <p:sp>
        <p:nvSpPr>
          <p:cNvPr id="96" name="TextBox 95"/>
          <p:cNvSpPr txBox="1">
            <a:spLocks noChangeArrowheads="1"/>
          </p:cNvSpPr>
          <p:nvPr/>
        </p:nvSpPr>
        <p:spPr bwMode="white">
          <a:xfrm>
            <a:off x="10201167" y="3899846"/>
            <a:ext cx="181011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Conditional Access App Control</a:t>
            </a:r>
          </a:p>
        </p:txBody>
      </p:sp>
      <p:sp>
        <p:nvSpPr>
          <p:cNvPr id="97" name="TextBox 96"/>
          <p:cNvSpPr txBox="1">
            <a:spLocks noChangeArrowheads="1"/>
          </p:cNvSpPr>
          <p:nvPr/>
        </p:nvSpPr>
        <p:spPr bwMode="white">
          <a:xfrm>
            <a:off x="10215627" y="4357505"/>
            <a:ext cx="1090363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Sign-in frequency</a:t>
            </a:r>
          </a:p>
        </p:txBody>
      </p:sp>
      <p:sp>
        <p:nvSpPr>
          <p:cNvPr id="98" name="TextBox 97"/>
          <p:cNvSpPr txBox="1">
            <a:spLocks noChangeArrowheads="1"/>
          </p:cNvSpPr>
          <p:nvPr/>
        </p:nvSpPr>
        <p:spPr bwMode="white">
          <a:xfrm>
            <a:off x="10225446" y="4793305"/>
            <a:ext cx="156966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Persistent browser session</a:t>
            </a:r>
          </a:p>
        </p:txBody>
      </p:sp>
      <p:sp>
        <p:nvSpPr>
          <p:cNvPr id="100" name="TextBox 99"/>
          <p:cNvSpPr txBox="1">
            <a:spLocks noChangeArrowheads="1"/>
          </p:cNvSpPr>
          <p:nvPr/>
        </p:nvSpPr>
        <p:spPr bwMode="white">
          <a:xfrm>
            <a:off x="10229552" y="5232376"/>
            <a:ext cx="1717137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Continuous access evaluation</a:t>
            </a:r>
          </a:p>
        </p:txBody>
      </p:sp>
      <p:sp>
        <p:nvSpPr>
          <p:cNvPr id="101" name="TextBox 100"/>
          <p:cNvSpPr txBox="1">
            <a:spLocks noChangeArrowheads="1"/>
          </p:cNvSpPr>
          <p:nvPr/>
        </p:nvSpPr>
        <p:spPr bwMode="white">
          <a:xfrm>
            <a:off x="10259108" y="5658625"/>
            <a:ext cx="153599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Disable resilience defaults</a:t>
            </a:r>
          </a:p>
        </p:txBody>
      </p:sp>
      <p:pic>
        <p:nvPicPr>
          <p:cNvPr id="103" name="Graphic 102"/>
          <p:cNvPicPr>
            <a:picLocks noChangeAspect="1"/>
          </p:cNvPicPr>
          <p:nvPr/>
        </p:nvPicPr>
        <p:blipFill>
          <a:blip r:embed="rId43">
            <a:lum/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rcRect/>
          <a:stretch>
            <a:fillRect/>
          </a:stretch>
        </p:blipFill>
        <p:spPr bwMode="white">
          <a:xfrm>
            <a:off x="9996846" y="479900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5" name="Graphic 104"/>
          <p:cNvPicPr>
            <a:picLocks noChangeAspect="1"/>
          </p:cNvPicPr>
          <p:nvPr/>
        </p:nvPicPr>
        <p:blipFill>
          <a:blip r:embed="rId45">
            <a:lum/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rcRect/>
          <a:stretch>
            <a:fillRect/>
          </a:stretch>
        </p:blipFill>
        <p:spPr bwMode="white">
          <a:xfrm>
            <a:off x="9996846" y="437457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7" name="Graphic 106"/>
          <p:cNvPicPr>
            <a:picLocks noChangeAspect="1"/>
          </p:cNvPicPr>
          <p:nvPr/>
        </p:nvPicPr>
        <p:blipFill>
          <a:blip r:embed="rId7">
            <a:lum/>
            <a:extLst>
              <a:ext uri="{96DAC541-7B7A-43D3-8B79-37D633B846F1}">
                <asvg:svgBlip xmlns:asvg="http://schemas.microsoft.com/office/drawing/2016/SVG/main" r:embed="rId47"/>
              </a:ext>
            </a:extLst>
          </a:blip>
          <a:srcRect/>
          <a:stretch>
            <a:fillRect/>
          </a:stretch>
        </p:blipFill>
        <p:spPr bwMode="white">
          <a:xfrm>
            <a:off x="9996846" y="391529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15" name="SessionSifInterval"/>
          <p:cNvSpPr txBox="1">
            <a:spLocks noChangeArrowheads="1"/>
          </p:cNvSpPr>
          <p:nvPr/>
        </p:nvSpPr>
        <p:spPr bwMode="white">
          <a:xfrm>
            <a:off x="10296745" y="4516775"/>
            <a:ext cx="1249060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Periodic reauthentication</a:t>
            </a:r>
          </a:p>
        </p:txBody>
      </p:sp>
      <p:sp>
        <p:nvSpPr>
          <p:cNvPr id="114" name="SessionCasType"/>
          <p:cNvSpPr txBox="1">
            <a:spLocks noChangeArrowheads="1"/>
          </p:cNvSpPr>
          <p:nvPr/>
        </p:nvSpPr>
        <p:spPr bwMode="white">
          <a:xfrm>
            <a:off x="10296745" y="4075500"/>
            <a:ext cx="95410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App Control Policy</a:t>
            </a:r>
          </a:p>
        </p:txBody>
      </p:sp>
      <p:sp>
        <p:nvSpPr>
          <p:cNvPr id="116" name="SessionPersistenBrowserMode"/>
          <p:cNvSpPr txBox="1">
            <a:spLocks noChangeArrowheads="1"/>
          </p:cNvSpPr>
          <p:nvPr/>
        </p:nvSpPr>
        <p:spPr bwMode="white">
          <a:xfrm>
            <a:off x="10309761" y="4945281"/>
            <a:ext cx="918841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Always persistent</a:t>
            </a:r>
          </a:p>
        </p:txBody>
      </p:sp>
      <p:sp>
        <p:nvSpPr>
          <p:cNvPr id="118" name="SessionCaeMode"/>
          <p:cNvSpPr txBox="1">
            <a:spLocks noChangeArrowheads="1"/>
          </p:cNvSpPr>
          <p:nvPr/>
        </p:nvSpPr>
        <p:spPr bwMode="white">
          <a:xfrm>
            <a:off x="10301386" y="5393378"/>
            <a:ext cx="15359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US" sz="800" dirty="0"/>
              <a:t>Strictly enforce location policies</a:t>
            </a:r>
          </a:p>
        </p:txBody>
      </p:sp>
      <p:sp>
        <p:nvSpPr>
          <p:cNvPr id="119" name="ShadeSessionAppEnforced"/>
          <p:cNvSpPr>
            <a:spLocks/>
          </p:cNvSpPr>
          <p:nvPr/>
        </p:nvSpPr>
        <p:spPr bwMode="white">
          <a:xfrm>
            <a:off x="9959680" y="3548808"/>
            <a:ext cx="2051597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0" name="ShadeSessionCas"/>
          <p:cNvSpPr>
            <a:spLocks/>
          </p:cNvSpPr>
          <p:nvPr/>
        </p:nvSpPr>
        <p:spPr bwMode="white">
          <a:xfrm>
            <a:off x="9978939" y="3884212"/>
            <a:ext cx="2087576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1" name="ShadeSessionSif"/>
          <p:cNvSpPr>
            <a:spLocks/>
          </p:cNvSpPr>
          <p:nvPr/>
        </p:nvSpPr>
        <p:spPr bwMode="white">
          <a:xfrm>
            <a:off x="9940787" y="4320077"/>
            <a:ext cx="2125728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2" name="ShadeSessionPersistentBrowser"/>
          <p:cNvSpPr>
            <a:spLocks/>
          </p:cNvSpPr>
          <p:nvPr/>
        </p:nvSpPr>
        <p:spPr bwMode="white">
          <a:xfrm>
            <a:off x="9938833" y="4746195"/>
            <a:ext cx="207244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pic>
        <p:nvPicPr>
          <p:cNvPr id="70" name="IconAssignedToRole"/>
          <p:cNvPicPr>
            <a:picLocks noChangeAspect="1"/>
          </p:cNvPicPr>
          <p:nvPr/>
        </p:nvPicPr>
        <p:blipFill>
          <a:blip r:embed="rId48">
            <a:lum/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rcRect/>
          <a:stretch>
            <a:fillRect/>
          </a:stretch>
        </p:blipFill>
        <p:spPr bwMode="white">
          <a:xfrm>
            <a:off x="2391841" y="3225674"/>
            <a:ext cx="365760" cy="36576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" name="Label Secure Sign In Session"/>
          <p:cNvSpPr txBox="1">
            <a:spLocks noChangeArrowheads="1"/>
          </p:cNvSpPr>
          <p:nvPr/>
        </p:nvSpPr>
        <p:spPr bwMode="white">
          <a:xfrm>
            <a:off x="10260000" y="6084874"/>
            <a:ext cx="166584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Token protection for session</a:t>
            </a:r>
          </a:p>
        </p:txBody>
      </p:sp>
      <p:pic>
        <p:nvPicPr>
          <p:cNvPr id="77" name="IconSessionCaeDisable" descr="Close with solid fill"/>
          <p:cNvPicPr>
            <a:picLocks noChangeAspect="1"/>
          </p:cNvPicPr>
          <p:nvPr/>
        </p:nvPicPr>
        <p:blipFill>
          <a:blip r:embed="rId50">
            <a:lum/>
            <a:extLst>
              <a:ext uri="{96DAC541-7B7A-43D3-8B79-37D633B846F1}">
                <asvg:svgBlip xmlns:asvg="http://schemas.microsoft.com/office/drawing/2016/SVG/main" r:embed="rId51"/>
              </a:ext>
            </a:extLst>
          </a:blip>
          <a:srcRect/>
          <a:stretch>
            <a:fillRect/>
          </a:stretch>
        </p:blipFill>
        <p:spPr bwMode="white">
          <a:xfrm>
            <a:off x="9979885" y="5218651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2" name="IconSessionSecureSignInSession 1"/>
          <p:cNvPicPr>
            <a:picLocks noChangeAspect="1"/>
          </p:cNvPicPr>
          <p:nvPr/>
        </p:nvPicPr>
        <p:blipFill>
          <a:blip r:embed="rId52">
            <a:lum/>
            <a:extLst>
              <a:ext uri="{96DAC541-7B7A-43D3-8B79-37D633B846F1}">
                <asvg:svgBlip xmlns:asvg="http://schemas.microsoft.com/office/drawing/2016/SVG/main" r:embed="rId53"/>
              </a:ext>
            </a:extLst>
          </a:blip>
          <a:srcRect/>
          <a:stretch>
            <a:fillRect/>
          </a:stretch>
        </p:blipFill>
        <p:spPr bwMode="white">
          <a:xfrm>
            <a:off x="9997200" y="6085768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3" name="ShadeSessionCae"/>
          <p:cNvSpPr>
            <a:spLocks/>
          </p:cNvSpPr>
          <p:nvPr/>
        </p:nvSpPr>
        <p:spPr bwMode="white">
          <a:xfrm>
            <a:off x="9987595" y="5219780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76" name="ShadeSessionSecureSignIn"/>
          <p:cNvSpPr>
            <a:spLocks/>
          </p:cNvSpPr>
          <p:nvPr/>
        </p:nvSpPr>
        <p:spPr bwMode="white">
          <a:xfrm>
            <a:off x="9996846" y="5986498"/>
            <a:ext cx="2014431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pic>
        <p:nvPicPr>
          <p:cNvPr id="102" name="Graphic 101"/>
          <p:cNvPicPr>
            <a:picLocks noChangeAspect="1"/>
          </p:cNvPicPr>
          <p:nvPr/>
        </p:nvPicPr>
        <p:blipFill>
          <a:blip r:embed="rId54">
            <a:lum/>
            <a:extLst>
              <a:ext uri="{96DAC541-7B7A-43D3-8B79-37D633B846F1}">
                <asvg:svgBlip xmlns:asvg="http://schemas.microsoft.com/office/drawing/2016/SVG/main" r:embed="rId55"/>
              </a:ext>
            </a:extLst>
          </a:blip>
          <a:srcRect/>
          <a:stretch>
            <a:fillRect/>
          </a:stretch>
        </p:blipFill>
        <p:spPr bwMode="white">
          <a:xfrm>
            <a:off x="9997200" y="5663777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80" name="Graphic 79" descr="Close with solid fill"/>
          <p:cNvPicPr>
            <a:picLocks noChangeAspect="1"/>
          </p:cNvPicPr>
          <p:nvPr/>
        </p:nvPicPr>
        <p:blipFill>
          <a:blip r:embed="rId50">
            <a:lum/>
            <a:extLst>
              <a:ext uri="{96DAC541-7B7A-43D3-8B79-37D633B846F1}">
                <asvg:svgBlip xmlns:asvg="http://schemas.microsoft.com/office/drawing/2016/SVG/main" r:embed="rId51"/>
              </a:ext>
            </a:extLst>
          </a:blip>
          <a:srcRect/>
          <a:stretch>
            <a:fillRect/>
          </a:stretch>
        </p:blipFill>
        <p:spPr bwMode="white">
          <a:xfrm>
            <a:off x="9963899" y="5637424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4" name="ShadeSessionDisableResilience"/>
          <p:cNvSpPr>
            <a:spLocks/>
          </p:cNvSpPr>
          <p:nvPr/>
        </p:nvSpPr>
        <p:spPr bwMode="white">
          <a:xfrm>
            <a:off x="9959681" y="5602709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2" name="PolicyName">
            <a:hlinkClick r:id="" action="ppaction://hlinkfile"/>
          </p:cNvPr>
          <p:cNvSpPr>
            <a:spLocks noGrp="1"/>
          </p:cNvSpPr>
          <p:nvPr>
            <p:ph type="title"/>
          </p:nvPr>
        </p:nvSpPr>
        <p:spPr bwMode="white">
          <a:xfrm>
            <a:off x="838200" y="115511"/>
            <a:ext cx="10003967" cy="609565"/>
          </a:xfrm>
          <a:ln>
            <a:headEnd type="none"/>
            <a:tailEnd type="none"/>
          </a:ln>
        </p:spPr>
        <p:txBody>
          <a:bodyPr wrap="square">
            <a:noAutofit/>
          </a:bodyPr>
          <a:lstStyle/>
          <a:p>
            <a:pPr defTabSz="914400"/>
            <a:r>
              <a:rPr lang="en-US" sz="2000" b="1" dirty="0"/>
              <a:t>[Geo Fencing] [All Admins] (Block) All Admins</a:t>
            </a:r>
          </a:p>
        </p:txBody>
      </p:sp>
      <p:sp>
        <p:nvSpPr>
          <p:cNvPr id="16" name="LastModified"/>
          <p:cNvSpPr txBox="1">
            <a:spLocks noChangeArrowheads="1"/>
          </p:cNvSpPr>
          <p:nvPr/>
        </p:nvSpPr>
        <p:spPr bwMode="white">
          <a:xfrm>
            <a:off x="10556111" y="388376"/>
            <a:ext cx="15483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algn="r" defTabSz="457200"/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Last modified: 2025-04-16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UserWorkload"/>
          <p:cNvSpPr>
            <a:spLocks/>
          </p:cNvSpPr>
          <p:nvPr/>
        </p:nvSpPr>
        <p:spPr bwMode="auto">
          <a:xfrm>
            <a:off x="175820" y="2709769"/>
            <a:ext cx="2202823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Users</a:t>
            </a:r>
          </a:p>
        </p:txBody>
      </p:sp>
      <p:sp>
        <p:nvSpPr>
          <p:cNvPr id="7" name="UserWorkloadIncExc"/>
          <p:cNvSpPr txBox="1">
            <a:spLocks noChangeArrowheads="1"/>
          </p:cNvSpPr>
          <p:nvPr/>
        </p:nvSpPr>
        <p:spPr bwMode="white">
          <a:xfrm>
            <a:off x="125485" y="3698952"/>
            <a:ext cx="3062115" cy="313265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 numCol="1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b="1" dirty="0"/>
            </a:pPr>
            <a:r>
              <a:t> Users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r>
              <a:t>🚫 Exclude:</a:t>
            </a:r>
          </a:p>
          <a:p>
            <a:pPr defTabSz="457200">
              <a:defRPr sz="1100" b="1" dirty="0"/>
            </a:pPr>
            <a:r>
              <a:t> Groups</a:t>
            </a:r>
          </a:p>
          <a:p>
            <a:pPr defTabSz="457200">
              <a:defRPr sz="1100" dirty="0"/>
            </a:pPr>
            <a:r>
              <a:t> - CO_INTLMobile (86)</a:t>
            </a:r>
          </a:p>
          <a:p>
            <a:pPr defTabSz="457200">
              <a:defRPr sz="1100" dirty="0"/>
            </a:pPr>
            <a:r>
              <a:t> - CO_INTLMobileUsers (14)</a:t>
            </a:r>
          </a:p>
          <a:p>
            <a:pPr defTabSz="457200">
              <a:defRPr sz="1100" b="1" dirty="0"/>
            </a:pPr>
            <a:r>
              <a:t> Users</a:t>
            </a:r>
          </a:p>
          <a:p>
            <a:pPr defTabSz="457200">
              <a:defRPr sz="1100" dirty="0"/>
            </a:pPr>
            <a:r>
              <a:t> - BGA OCC01</a:t>
            </a:r>
          </a:p>
          <a:p>
            <a:pPr defTabSz="457200">
              <a:defRPr sz="1100" dirty="0"/>
            </a:pPr>
            <a:r>
              <a:t> - BGA OCC02</a:t>
            </a:r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19" name="Risks"/>
          <p:cNvSpPr txBox="1">
            <a:spLocks noChangeArrowheads="1"/>
          </p:cNvSpPr>
          <p:nvPr/>
        </p:nvSpPr>
        <p:spPr bwMode="white">
          <a:xfrm>
            <a:off x="524485" y="1021946"/>
            <a:ext cx="1348869" cy="166886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0" name="Platforms"/>
          <p:cNvSpPr txBox="1">
            <a:spLocks noChangeArrowheads="1"/>
          </p:cNvSpPr>
          <p:nvPr/>
        </p:nvSpPr>
        <p:spPr bwMode="white">
          <a:xfrm>
            <a:off x="1826931" y="1021947"/>
            <a:ext cx="2061056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b="1" dirty="0"/>
            </a:pPr>
            <a:r>
              <a:t>✅ Include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23" name="Locations"/>
          <p:cNvSpPr txBox="1">
            <a:spLocks noChangeArrowheads="1"/>
          </p:cNvSpPr>
          <p:nvPr/>
        </p:nvSpPr>
        <p:spPr bwMode="white">
          <a:xfrm>
            <a:off x="8324941" y="1021947"/>
            <a:ext cx="3513702" cy="159258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b="1" dirty="0"/>
            </a:pPr>
            <a:r>
              <a:t>✅ Include</a:t>
            </a:r>
          </a:p>
          <a:p>
            <a:pPr defTabSz="457200">
              <a:defRPr sz="1100" dirty="0"/>
            </a:pPr>
            <a:r>
              <a:t> - Geo Fencing Countries 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24" name="ClientAppTypes"/>
          <p:cNvSpPr txBox="1">
            <a:spLocks noChangeArrowheads="1"/>
          </p:cNvSpPr>
          <p:nvPr/>
        </p:nvSpPr>
        <p:spPr bwMode="white">
          <a:xfrm>
            <a:off x="3810664" y="1021947"/>
            <a:ext cx="1581599" cy="165343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5" name="DeviceFilters"/>
          <p:cNvSpPr txBox="1">
            <a:spLocks noChangeArrowheads="1"/>
          </p:cNvSpPr>
          <p:nvPr/>
        </p:nvSpPr>
        <p:spPr bwMode="white">
          <a:xfrm>
            <a:off x="5818151" y="1022762"/>
            <a:ext cx="2248808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cxnSp>
        <p:nvCxnSpPr>
          <p:cNvPr id="27" name="Straight Arrow Connector 26" descr="Arrow drawn from user/workload  to the action being performed by the user such as accessing cloud apps."/>
          <p:cNvCxnSpPr/>
          <p:nvPr/>
        </p:nvCxnSpPr>
        <p:spPr bwMode="white">
          <a:xfrm>
            <a:off x="2195232" y="3159047"/>
            <a:ext cx="3959471" cy="1"/>
          </a:xfrm>
          <a:prstGeom prst="straightConnector1">
            <a:avLst/>
          </a:prstGeom>
          <a:ln w="76200"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30" name="IconBlockAccess" descr="Picture with red color stop sign to indicate blocked access"/>
          <p:cNvPicPr>
            <a:picLocks noChangeAspect="1"/>
          </p:cNvPicPr>
          <p:nvPr/>
        </p:nvPicPr>
        <p:blipFill>
          <a:blip r:embed="rId3">
            <a:lum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 bwMode="white">
          <a:xfrm>
            <a:off x="5306633" y="2735805"/>
            <a:ext cx="356616" cy="35661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34" name="GrantLabelBlockAccess"/>
          <p:cNvSpPr txBox="1">
            <a:spLocks noChangeArrowheads="1"/>
          </p:cNvSpPr>
          <p:nvPr/>
        </p:nvSpPr>
        <p:spPr bwMode="white">
          <a:xfrm>
            <a:off x="3936931" y="2734375"/>
            <a:ext cx="1358065" cy="369332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algn="ctr" defTabSz="457200"/>
            <a:r>
              <a:rPr lang="en-US" b="1" dirty="0">
                <a:solidFill>
                  <a:srgbClr val="FF0000"/>
                </a:solidFill>
              </a:rPr>
              <a:t>Block access</a:t>
            </a:r>
          </a:p>
        </p:txBody>
      </p:sp>
      <p:sp>
        <p:nvSpPr>
          <p:cNvPr id="3" name="CloudAppActionIncExc"/>
          <p:cNvSpPr txBox="1">
            <a:spLocks noChangeArrowheads="1"/>
          </p:cNvSpPr>
          <p:nvPr/>
        </p:nvSpPr>
        <p:spPr bwMode="white">
          <a:xfrm>
            <a:off x="6039518" y="3662782"/>
            <a:ext cx="3649518" cy="315161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</p:txBody>
      </p:sp>
      <p:pic>
        <p:nvPicPr>
          <p:cNvPr id="26" name="IconGroupIdentity"/>
          <p:cNvPicPr>
            <a:picLocks noChangeAspect="1"/>
          </p:cNvPicPr>
          <p:nvPr/>
        </p:nvPicPr>
        <p:blipFill>
          <a:blip r:embed="rId5">
            <a:lum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 bwMode="white">
          <a:xfrm>
            <a:off x="327701" y="2839007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36" name="Graphic 35"/>
          <p:cNvPicPr>
            <a:picLocks noChangeAspect="1"/>
          </p:cNvPicPr>
          <p:nvPr/>
        </p:nvPicPr>
        <p:blipFill>
          <a:blip r:embed="rId7">
            <a:lum/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p:blipFill>
        <p:spPr bwMode="white">
          <a:xfrm>
            <a:off x="495610" y="197468"/>
            <a:ext cx="381196" cy="38119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" name="CloudAppAction"/>
          <p:cNvSpPr>
            <a:spLocks/>
          </p:cNvSpPr>
          <p:nvPr/>
        </p:nvSpPr>
        <p:spPr bwMode="auto">
          <a:xfrm>
            <a:off x="6206089" y="2718506"/>
            <a:ext cx="3227026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All cloud apps</a:t>
            </a:r>
          </a:p>
        </p:txBody>
      </p:sp>
      <p:pic>
        <p:nvPicPr>
          <p:cNvPr id="75" name="IconAccessAllCloudApps"/>
          <p:cNvPicPr>
            <a:picLocks noChangeAspect="1"/>
          </p:cNvPicPr>
          <p:nvPr/>
        </p:nvPicPr>
        <p:blipFill>
          <a:blip r:embed="rId9">
            <a:lum/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p:blipFill>
        <p:spPr bwMode="white">
          <a:xfrm>
            <a:off x="6439264" y="2836824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21" name="StateEnabled"/>
          <p:cNvSpPr>
            <a:spLocks/>
          </p:cNvSpPr>
          <p:nvPr/>
        </p:nvSpPr>
        <p:spPr bwMode="white">
          <a:xfrm>
            <a:off x="10842171" y="83487"/>
            <a:ext cx="1260389" cy="264812"/>
          </a:xfrm>
          <a:prstGeom prst="round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r>
              <a:rPr lang="en-US" sz="800" dirty="0"/>
              <a:t>Policy Enabled</a:t>
            </a:r>
          </a:p>
        </p:txBody>
      </p:sp>
      <p:grpSp>
        <p:nvGrpSpPr>
          <p:cNvPr id="10" name="IconRiskyUsers"/>
          <p:cNvGrpSpPr>
            <a:grpSpLocks/>
          </p:cNvGrpSpPr>
          <p:nvPr/>
        </p:nvGrpSpPr>
        <p:grpSpPr bwMode="white">
          <a:xfrm>
            <a:off x="635426" y="738677"/>
            <a:ext cx="1202553" cy="274320"/>
            <a:chOff x="2013768" y="1033956"/>
            <a:chExt cx="1342320" cy="274320"/>
          </a:xfrm>
        </p:grpSpPr>
        <p:pic>
          <p:nvPicPr>
            <p:cNvPr id="46" name="Graphic 1"/>
            <p:cNvPicPr>
              <a:picLocks noChangeAspect="1"/>
            </p:cNvPicPr>
            <p:nvPr/>
          </p:nvPicPr>
          <p:blipFill>
            <a:blip r:embed="rId11">
              <a:lum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013768" y="1033956"/>
              <a:ext cx="274320" cy="27432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5" name="Label 1"/>
            <p:cNvSpPr txBox="1">
              <a:spLocks noChangeArrowheads="1"/>
            </p:cNvSpPr>
            <p:nvPr/>
          </p:nvSpPr>
          <p:spPr bwMode="white">
            <a:xfrm>
              <a:off x="2240077" y="1040706"/>
              <a:ext cx="1116011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Risk</a:t>
              </a:r>
            </a:p>
          </p:txBody>
        </p:sp>
      </p:grpSp>
      <p:grpSp>
        <p:nvGrpSpPr>
          <p:cNvPr id="14" name="IconPlatforms"/>
          <p:cNvGrpSpPr>
            <a:grpSpLocks/>
          </p:cNvGrpSpPr>
          <p:nvPr/>
        </p:nvGrpSpPr>
        <p:grpSpPr bwMode="white">
          <a:xfrm>
            <a:off x="1927788" y="715249"/>
            <a:ext cx="1719285" cy="365760"/>
            <a:chOff x="3262737" y="994835"/>
            <a:chExt cx="1719285" cy="365760"/>
          </a:xfrm>
        </p:grpSpPr>
        <p:pic>
          <p:nvPicPr>
            <p:cNvPr id="29" name="Graphic 1"/>
            <p:cNvPicPr>
              <a:picLocks noChangeAspect="1"/>
            </p:cNvPicPr>
            <p:nvPr/>
          </p:nvPicPr>
          <p:blipFill>
            <a:blip r:embed="rId13">
              <a:lum/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3262737" y="994835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1" name="Label 1"/>
            <p:cNvSpPr txBox="1">
              <a:spLocks noChangeArrowheads="1"/>
            </p:cNvSpPr>
            <p:nvPr/>
          </p:nvSpPr>
          <p:spPr bwMode="white">
            <a:xfrm>
              <a:off x="3582397" y="1027255"/>
              <a:ext cx="1399625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Device platforms</a:t>
              </a:r>
            </a:p>
          </p:txBody>
        </p:sp>
      </p:grpSp>
      <p:grpSp>
        <p:nvGrpSpPr>
          <p:cNvPr id="17" name="IconClientAppTypes"/>
          <p:cNvGrpSpPr>
            <a:grpSpLocks/>
          </p:cNvGrpSpPr>
          <p:nvPr/>
        </p:nvGrpSpPr>
        <p:grpSpPr bwMode="white">
          <a:xfrm>
            <a:off x="3908159" y="670015"/>
            <a:ext cx="1852971" cy="365760"/>
            <a:chOff x="4858970" y="975927"/>
            <a:chExt cx="1852971" cy="365760"/>
          </a:xfrm>
        </p:grpSpPr>
        <p:pic>
          <p:nvPicPr>
            <p:cNvPr id="58" name="Graphic 1"/>
            <p:cNvPicPr>
              <a:picLocks noChangeAspect="1"/>
            </p:cNvPicPr>
            <p:nvPr/>
          </p:nvPicPr>
          <p:blipFill>
            <a:blip r:embed="rId15">
              <a:lum/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858970" y="975927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5" name="Label 1"/>
            <p:cNvSpPr txBox="1">
              <a:spLocks noChangeArrowheads="1"/>
            </p:cNvSpPr>
            <p:nvPr/>
          </p:nvSpPr>
          <p:spPr bwMode="white">
            <a:xfrm>
              <a:off x="5193983" y="1009899"/>
              <a:ext cx="1517958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Client apps</a:t>
              </a:r>
            </a:p>
          </p:txBody>
        </p:sp>
      </p:grpSp>
      <p:grpSp>
        <p:nvGrpSpPr>
          <p:cNvPr id="37" name="IconLocations"/>
          <p:cNvGrpSpPr>
            <a:grpSpLocks/>
          </p:cNvGrpSpPr>
          <p:nvPr/>
        </p:nvGrpSpPr>
        <p:grpSpPr bwMode="white">
          <a:xfrm>
            <a:off x="8411896" y="646848"/>
            <a:ext cx="1850168" cy="388465"/>
            <a:chOff x="2321433" y="3262888"/>
            <a:chExt cx="1850168" cy="388465"/>
          </a:xfrm>
        </p:grpSpPr>
        <p:pic>
          <p:nvPicPr>
            <p:cNvPr id="33" name="Graphic 1"/>
            <p:cNvPicPr>
              <a:picLocks noChangeAspect="1"/>
            </p:cNvPicPr>
            <p:nvPr/>
          </p:nvPicPr>
          <p:blipFill>
            <a:blip r:embed="rId17">
              <a:lum/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321433" y="3262888"/>
              <a:ext cx="388465" cy="388465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28" name="Label 1"/>
            <p:cNvSpPr txBox="1">
              <a:spLocks noChangeArrowheads="1"/>
            </p:cNvSpPr>
            <p:nvPr/>
          </p:nvSpPr>
          <p:spPr bwMode="white">
            <a:xfrm>
              <a:off x="2713321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Locations</a:t>
              </a:r>
              <a:endParaRPr lang="en-US" sz="1100" b="1" dirty="0"/>
            </a:p>
          </p:txBody>
        </p:sp>
      </p:grpSp>
      <p:grpSp>
        <p:nvGrpSpPr>
          <p:cNvPr id="39" name="IconDeviceFilters"/>
          <p:cNvGrpSpPr>
            <a:grpSpLocks/>
          </p:cNvGrpSpPr>
          <p:nvPr/>
        </p:nvGrpSpPr>
        <p:grpSpPr bwMode="white">
          <a:xfrm>
            <a:off x="5472818" y="661958"/>
            <a:ext cx="1839823" cy="364111"/>
            <a:chOff x="4195414" y="3273669"/>
            <a:chExt cx="1839823" cy="364111"/>
          </a:xfrm>
        </p:grpSpPr>
        <p:pic>
          <p:nvPicPr>
            <p:cNvPr id="60" name="Graphic 1"/>
            <p:cNvPicPr>
              <a:picLocks noChangeAspect="1"/>
            </p:cNvPicPr>
            <p:nvPr/>
          </p:nvPicPr>
          <p:blipFill>
            <a:blip r:embed="rId19">
              <a:lum/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195414" y="3273669"/>
              <a:ext cx="364111" cy="364111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31" name="Label 1"/>
            <p:cNvSpPr txBox="1">
              <a:spLocks noChangeArrowheads="1"/>
            </p:cNvSpPr>
            <p:nvPr/>
          </p:nvSpPr>
          <p:spPr bwMode="white">
            <a:xfrm>
              <a:off x="4576957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Filter for devices</a:t>
              </a:r>
              <a:endParaRPr lang="en-US" sz="1100" b="1" dirty="0"/>
            </a:p>
          </p:txBody>
        </p:sp>
      </p:grpSp>
      <p:pic>
        <p:nvPicPr>
          <p:cNvPr id="62" name="IconGrantMultifactorAuthentication"/>
          <p:cNvPicPr>
            <a:picLocks noChangeAspect="1"/>
          </p:cNvPicPr>
          <p:nvPr/>
        </p:nvPicPr>
        <p:blipFill>
          <a:blip r:embed="rId21">
            <a:lum/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>
            <a:fillRect/>
          </a:stretch>
        </p:blipFill>
        <p:spPr bwMode="white">
          <a:xfrm>
            <a:off x="3410647" y="3566863"/>
            <a:ext cx="17145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5" name="IconGrantMultifactorAuthenticationLabel"/>
          <p:cNvSpPr txBox="1">
            <a:spLocks noChangeArrowheads="1"/>
          </p:cNvSpPr>
          <p:nvPr/>
        </p:nvSpPr>
        <p:spPr bwMode="white">
          <a:xfrm>
            <a:off x="3575836" y="3571997"/>
            <a:ext cx="19007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Multifactor authentication</a:t>
            </a:r>
            <a:endParaRPr lang="en-US" sz="1000" dirty="0"/>
          </a:p>
        </p:txBody>
      </p:sp>
      <p:pic>
        <p:nvPicPr>
          <p:cNvPr id="38" name="IconGrantAuthenticationStrength"/>
          <p:cNvPicPr>
            <a:picLocks noChangeAspect="1"/>
          </p:cNvPicPr>
          <p:nvPr/>
        </p:nvPicPr>
        <p:blipFill>
          <a:blip r:embed="rId23">
            <a:lum/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/>
          <a:stretch>
            <a:fillRect/>
          </a:stretch>
        </p:blipFill>
        <p:spPr bwMode="white">
          <a:xfrm>
            <a:off x="3374515" y="3905034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7" name="IconGrantAuthenticationStrengthLabel"/>
          <p:cNvSpPr txBox="1">
            <a:spLocks noChangeArrowheads="1"/>
          </p:cNvSpPr>
          <p:nvPr/>
        </p:nvSpPr>
        <p:spPr bwMode="white">
          <a:xfrm>
            <a:off x="3575836" y="3907323"/>
            <a:ext cx="2185294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Authentication strength</a:t>
            </a:r>
            <a:endParaRPr lang="en-US" sz="1000" dirty="0"/>
          </a:p>
        </p:txBody>
      </p:sp>
      <p:pic>
        <p:nvPicPr>
          <p:cNvPr id="52" name="IconGrantDeviceCompliance"/>
          <p:cNvPicPr>
            <a:picLocks noChangeAspect="1"/>
          </p:cNvPicPr>
          <p:nvPr/>
        </p:nvPicPr>
        <p:blipFill>
          <a:blip r:embed="rId25">
            <a:lum/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/>
          <a:stretch>
            <a:fillRect/>
          </a:stretch>
        </p:blipFill>
        <p:spPr bwMode="white">
          <a:xfrm>
            <a:off x="3374515" y="4243205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9" name="IconGrantDeviceComplianceLabel"/>
          <p:cNvSpPr txBox="1">
            <a:spLocks noChangeArrowheads="1"/>
          </p:cNvSpPr>
          <p:nvPr/>
        </p:nvSpPr>
        <p:spPr bwMode="white">
          <a:xfrm>
            <a:off x="3575836" y="4242649"/>
            <a:ext cx="17378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Compliant device</a:t>
            </a:r>
            <a:endParaRPr lang="en-US" sz="1000" dirty="0"/>
          </a:p>
        </p:txBody>
      </p:sp>
      <p:pic>
        <p:nvPicPr>
          <p:cNvPr id="43" name="IconGrantHybridJoined"/>
          <p:cNvPicPr>
            <a:picLocks noChangeAspect="1"/>
          </p:cNvPicPr>
          <p:nvPr/>
        </p:nvPicPr>
        <p:blipFill>
          <a:blip r:embed="rId27">
            <a:lum/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/>
          <a:stretch>
            <a:fillRect/>
          </a:stretch>
        </p:blipFill>
        <p:spPr bwMode="white">
          <a:xfrm>
            <a:off x="3374515" y="4581376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3" name="IconGrantHybridJoinedLabel"/>
          <p:cNvSpPr txBox="1">
            <a:spLocks noChangeArrowheads="1"/>
          </p:cNvSpPr>
          <p:nvPr/>
        </p:nvSpPr>
        <p:spPr bwMode="white">
          <a:xfrm>
            <a:off x="3575836" y="4577975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Hybrid Azure AD joined device</a:t>
            </a:r>
            <a:endParaRPr lang="en-US" sz="1000" dirty="0"/>
          </a:p>
        </p:txBody>
      </p:sp>
      <p:pic>
        <p:nvPicPr>
          <p:cNvPr id="48" name="IconGrantApprovedClientApp"/>
          <p:cNvPicPr>
            <a:picLocks noChangeAspect="1"/>
          </p:cNvPicPr>
          <p:nvPr/>
        </p:nvPicPr>
        <p:blipFill>
          <a:blip r:embed="rId29">
            <a:lum/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rcRect/>
          <a:stretch>
            <a:fillRect/>
          </a:stretch>
        </p:blipFill>
        <p:spPr bwMode="white">
          <a:xfrm>
            <a:off x="3374515" y="491954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5" name="IconGrantApprovedClientAppLabel"/>
          <p:cNvSpPr txBox="1">
            <a:spLocks noChangeArrowheads="1"/>
          </p:cNvSpPr>
          <p:nvPr/>
        </p:nvSpPr>
        <p:spPr bwMode="white">
          <a:xfrm>
            <a:off x="3575836" y="4913301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Approved client app</a:t>
            </a:r>
            <a:endParaRPr lang="en-US" sz="1000" dirty="0"/>
          </a:p>
        </p:txBody>
      </p:sp>
      <p:pic>
        <p:nvPicPr>
          <p:cNvPr id="42" name="IconGrantCustomAuth"/>
          <p:cNvPicPr>
            <a:picLocks noChangeAspect="1"/>
          </p:cNvPicPr>
          <p:nvPr/>
        </p:nvPicPr>
        <p:blipFill>
          <a:blip r:embed="rId31">
            <a:lum/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rcRect/>
          <a:stretch>
            <a:fillRect/>
          </a:stretch>
        </p:blipFill>
        <p:spPr bwMode="white">
          <a:xfrm>
            <a:off x="3374515" y="593406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9" name="IconGrantCustomAuthLabel"/>
          <p:cNvSpPr txBox="1">
            <a:spLocks noChangeArrowheads="1"/>
          </p:cNvSpPr>
          <p:nvPr/>
        </p:nvSpPr>
        <p:spPr bwMode="white">
          <a:xfrm>
            <a:off x="3575836" y="5919279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Custom authentication factor</a:t>
            </a:r>
            <a:endParaRPr lang="en-US" sz="1000" dirty="0"/>
          </a:p>
        </p:txBody>
      </p:sp>
      <p:pic>
        <p:nvPicPr>
          <p:cNvPr id="40" name="IconGrantTermsOfUse"/>
          <p:cNvPicPr>
            <a:picLocks noChangeAspect="1"/>
          </p:cNvPicPr>
          <p:nvPr/>
        </p:nvPicPr>
        <p:blipFill>
          <a:blip r:embed="rId33">
            <a:lum/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rcRect/>
          <a:stretch>
            <a:fillRect/>
          </a:stretch>
        </p:blipFill>
        <p:spPr bwMode="white">
          <a:xfrm>
            <a:off x="3374515" y="627222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3" name="IconGrantTermsOfUseLabel"/>
          <p:cNvSpPr txBox="1">
            <a:spLocks noChangeArrowheads="1"/>
          </p:cNvSpPr>
          <p:nvPr/>
        </p:nvSpPr>
        <p:spPr bwMode="white">
          <a:xfrm>
            <a:off x="3575836" y="625460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Terms of use</a:t>
            </a:r>
            <a:endParaRPr lang="en-US" sz="1000" dirty="0"/>
          </a:p>
        </p:txBody>
      </p:sp>
      <p:sp>
        <p:nvSpPr>
          <p:cNvPr id="56" name="IconGrantAppProtectionLabel"/>
          <p:cNvSpPr txBox="1">
            <a:spLocks noChangeArrowheads="1"/>
          </p:cNvSpPr>
          <p:nvPr/>
        </p:nvSpPr>
        <p:spPr bwMode="white">
          <a:xfrm>
            <a:off x="3575836" y="524862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 protection policy</a:t>
            </a:r>
            <a:endParaRPr lang="en-US" sz="1000" dirty="0"/>
          </a:p>
        </p:txBody>
      </p:sp>
      <p:pic>
        <p:nvPicPr>
          <p:cNvPr id="65" name="IconGrantAppProtection"/>
          <p:cNvPicPr>
            <a:picLocks noChangeAspect="1"/>
          </p:cNvPicPr>
          <p:nvPr/>
        </p:nvPicPr>
        <p:blipFill>
          <a:blip r:embed="rId35">
            <a:lum/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rcRect/>
          <a:stretch>
            <a:fillRect/>
          </a:stretch>
        </p:blipFill>
        <p:spPr bwMode="white">
          <a:xfrm>
            <a:off x="3374515" y="525771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7" name="IconGrantChangePasswordLabel"/>
          <p:cNvSpPr txBox="1">
            <a:spLocks noChangeArrowheads="1"/>
          </p:cNvSpPr>
          <p:nvPr/>
        </p:nvSpPr>
        <p:spPr bwMode="white">
          <a:xfrm>
            <a:off x="3575836" y="5583953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Change password</a:t>
            </a:r>
            <a:endParaRPr lang="en-US" sz="1000" dirty="0"/>
          </a:p>
        </p:txBody>
      </p:sp>
      <p:pic>
        <p:nvPicPr>
          <p:cNvPr id="67" name="IconGrantChangePassword"/>
          <p:cNvPicPr>
            <a:picLocks noChangeAspect="1"/>
          </p:cNvPicPr>
          <p:nvPr/>
        </p:nvPicPr>
        <p:blipFill>
          <a:blip r:embed="rId37">
            <a:lum/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rcRect/>
          <a:stretch>
            <a:fillRect/>
          </a:stretch>
        </p:blipFill>
        <p:spPr bwMode="white">
          <a:xfrm>
            <a:off x="3374515" y="5595889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4" name="ShadeRisk"/>
          <p:cNvSpPr>
            <a:spLocks/>
          </p:cNvSpPr>
          <p:nvPr/>
        </p:nvSpPr>
        <p:spPr bwMode="white">
          <a:xfrm>
            <a:off x="507564" y="650246"/>
            <a:ext cx="976864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78" name="ShadeClientApps"/>
          <p:cNvSpPr>
            <a:spLocks/>
          </p:cNvSpPr>
          <p:nvPr/>
        </p:nvSpPr>
        <p:spPr bwMode="white">
          <a:xfrm>
            <a:off x="3802273" y="650246"/>
            <a:ext cx="1481482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2" name="ShadeFilterForDevices"/>
          <p:cNvSpPr>
            <a:spLocks/>
          </p:cNvSpPr>
          <p:nvPr/>
        </p:nvSpPr>
        <p:spPr bwMode="white">
          <a:xfrm>
            <a:off x="5438955" y="627922"/>
            <a:ext cx="1873685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3" name="ShadeGrantMultifactorAuth"/>
          <p:cNvSpPr>
            <a:spLocks/>
          </p:cNvSpPr>
          <p:nvPr/>
        </p:nvSpPr>
        <p:spPr bwMode="white">
          <a:xfrm>
            <a:off x="3369399" y="3534220"/>
            <a:ext cx="2069555" cy="28330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4" name="ShadeGrantAuthStrength"/>
          <p:cNvSpPr>
            <a:spLocks/>
          </p:cNvSpPr>
          <p:nvPr/>
        </p:nvSpPr>
        <p:spPr bwMode="white">
          <a:xfrm>
            <a:off x="3350256" y="3869846"/>
            <a:ext cx="2069555" cy="27801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5" name="ShadeGrantCompliantDevice"/>
          <p:cNvSpPr>
            <a:spLocks/>
          </p:cNvSpPr>
          <p:nvPr/>
        </p:nvSpPr>
        <p:spPr bwMode="white">
          <a:xfrm>
            <a:off x="3361852" y="4243205"/>
            <a:ext cx="2077102" cy="26110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6" name="ShadeGrantHybridAzureADJoined"/>
          <p:cNvSpPr>
            <a:spLocks/>
          </p:cNvSpPr>
          <p:nvPr/>
        </p:nvSpPr>
        <p:spPr bwMode="white">
          <a:xfrm>
            <a:off x="3353637" y="4552268"/>
            <a:ext cx="2160906" cy="298395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7" name="ShadeGrantApprovedClientApp"/>
          <p:cNvSpPr>
            <a:spLocks/>
          </p:cNvSpPr>
          <p:nvPr/>
        </p:nvSpPr>
        <p:spPr bwMode="white">
          <a:xfrm>
            <a:off x="3331918" y="4876027"/>
            <a:ext cx="2182625" cy="29839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8" name="ShadeGrantAppProtectionPolicy"/>
          <p:cNvSpPr>
            <a:spLocks/>
          </p:cNvSpPr>
          <p:nvPr/>
        </p:nvSpPr>
        <p:spPr bwMode="white">
          <a:xfrm>
            <a:off x="3350256" y="5207226"/>
            <a:ext cx="2122561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9" name="ShadeGrantChangePassword"/>
          <p:cNvSpPr>
            <a:spLocks/>
          </p:cNvSpPr>
          <p:nvPr/>
        </p:nvSpPr>
        <p:spPr bwMode="white">
          <a:xfrm>
            <a:off x="3350257" y="5557021"/>
            <a:ext cx="2042006" cy="287239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0" name="ShadeGrantCustomAuthFactor"/>
          <p:cNvSpPr>
            <a:spLocks/>
          </p:cNvSpPr>
          <p:nvPr/>
        </p:nvSpPr>
        <p:spPr bwMode="white">
          <a:xfrm>
            <a:off x="3331918" y="5899058"/>
            <a:ext cx="2182625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1" name="ShadeGrantTermsOfUse"/>
          <p:cNvSpPr>
            <a:spLocks/>
          </p:cNvSpPr>
          <p:nvPr/>
        </p:nvSpPr>
        <p:spPr bwMode="white">
          <a:xfrm>
            <a:off x="3313823" y="6192350"/>
            <a:ext cx="101602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99" name="Rectangle 98"/>
          <p:cNvSpPr>
            <a:spLocks/>
          </p:cNvSpPr>
          <p:nvPr/>
        </p:nvSpPr>
        <p:spPr bwMode="white">
          <a:xfrm>
            <a:off x="3268757" y="3253404"/>
            <a:ext cx="2357725" cy="3498546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0" name="Rectangle 109"/>
          <p:cNvSpPr>
            <a:spLocks/>
          </p:cNvSpPr>
          <p:nvPr/>
        </p:nvSpPr>
        <p:spPr bwMode="white">
          <a:xfrm>
            <a:off x="9881750" y="3248255"/>
            <a:ext cx="2220808" cy="3510149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7" name="Rectangle 116"/>
          <p:cNvSpPr>
            <a:spLocks/>
          </p:cNvSpPr>
          <p:nvPr/>
        </p:nvSpPr>
        <p:spPr bwMode="white">
          <a:xfrm>
            <a:off x="26741" y="606825"/>
            <a:ext cx="11985015" cy="2063636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2" name="Conditions Label"/>
          <p:cNvSpPr txBox="1">
            <a:spLocks noChangeArrowheads="1"/>
          </p:cNvSpPr>
          <p:nvPr/>
        </p:nvSpPr>
        <p:spPr bwMode="white">
          <a:xfrm rot="16200000">
            <a:off x="-883507" y="1514324"/>
            <a:ext cx="2081441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Conditions</a:t>
            </a:r>
          </a:p>
        </p:txBody>
      </p:sp>
      <p:sp>
        <p:nvSpPr>
          <p:cNvPr id="109" name="Grant Controls"/>
          <p:cNvSpPr txBox="1">
            <a:spLocks noChangeArrowheads="1"/>
          </p:cNvSpPr>
          <p:nvPr/>
        </p:nvSpPr>
        <p:spPr bwMode="white">
          <a:xfrm>
            <a:off x="3252146" y="3244395"/>
            <a:ext cx="2391873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Grant Controls</a:t>
            </a:r>
          </a:p>
        </p:txBody>
      </p:sp>
      <p:sp>
        <p:nvSpPr>
          <p:cNvPr id="111" name="Session Controls"/>
          <p:cNvSpPr txBox="1">
            <a:spLocks noChangeArrowheads="1"/>
          </p:cNvSpPr>
          <p:nvPr/>
        </p:nvSpPr>
        <p:spPr bwMode="white">
          <a:xfrm>
            <a:off x="9864212" y="3243751"/>
            <a:ext cx="2238346" cy="23786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Session Controls</a:t>
            </a:r>
          </a:p>
        </p:txBody>
      </p:sp>
      <p:pic>
        <p:nvPicPr>
          <p:cNvPr id="72" name="Graphic 71"/>
          <p:cNvPicPr>
            <a:picLocks noChangeAspect="1"/>
          </p:cNvPicPr>
          <p:nvPr/>
        </p:nvPicPr>
        <p:blipFill>
          <a:blip r:embed="rId39">
            <a:lum/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rcRect/>
          <a:stretch>
            <a:fillRect/>
          </a:stretch>
        </p:blipFill>
        <p:spPr bwMode="white">
          <a:xfrm>
            <a:off x="9996846" y="356982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4" name="Graphic 93"/>
          <p:cNvPicPr>
            <a:picLocks noChangeAspect="1"/>
          </p:cNvPicPr>
          <p:nvPr/>
        </p:nvPicPr>
        <p:blipFill>
          <a:blip r:embed="rId41">
            <a:lum/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rcRect/>
          <a:stretch>
            <a:fillRect/>
          </a:stretch>
        </p:blipFill>
        <p:spPr bwMode="white">
          <a:xfrm>
            <a:off x="10009443" y="525644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5" name="TextBox 94"/>
          <p:cNvSpPr txBox="1">
            <a:spLocks noChangeArrowheads="1"/>
          </p:cNvSpPr>
          <p:nvPr/>
        </p:nvSpPr>
        <p:spPr bwMode="white">
          <a:xfrm>
            <a:off x="10207481" y="3578463"/>
            <a:ext cx="150554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App enforced restrictions</a:t>
            </a:r>
          </a:p>
        </p:txBody>
      </p:sp>
      <p:sp>
        <p:nvSpPr>
          <p:cNvPr id="96" name="TextBox 95"/>
          <p:cNvSpPr txBox="1">
            <a:spLocks noChangeArrowheads="1"/>
          </p:cNvSpPr>
          <p:nvPr/>
        </p:nvSpPr>
        <p:spPr bwMode="white">
          <a:xfrm>
            <a:off x="10201167" y="3899846"/>
            <a:ext cx="181011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Conditional Access App Control</a:t>
            </a:r>
          </a:p>
        </p:txBody>
      </p:sp>
      <p:sp>
        <p:nvSpPr>
          <p:cNvPr id="97" name="TextBox 96"/>
          <p:cNvSpPr txBox="1">
            <a:spLocks noChangeArrowheads="1"/>
          </p:cNvSpPr>
          <p:nvPr/>
        </p:nvSpPr>
        <p:spPr bwMode="white">
          <a:xfrm>
            <a:off x="10215627" y="4357505"/>
            <a:ext cx="1090363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Sign-in frequency</a:t>
            </a:r>
          </a:p>
        </p:txBody>
      </p:sp>
      <p:sp>
        <p:nvSpPr>
          <p:cNvPr id="98" name="TextBox 97"/>
          <p:cNvSpPr txBox="1">
            <a:spLocks noChangeArrowheads="1"/>
          </p:cNvSpPr>
          <p:nvPr/>
        </p:nvSpPr>
        <p:spPr bwMode="white">
          <a:xfrm>
            <a:off x="10225446" y="4793305"/>
            <a:ext cx="156966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Persistent browser session</a:t>
            </a:r>
          </a:p>
        </p:txBody>
      </p:sp>
      <p:sp>
        <p:nvSpPr>
          <p:cNvPr id="100" name="TextBox 99"/>
          <p:cNvSpPr txBox="1">
            <a:spLocks noChangeArrowheads="1"/>
          </p:cNvSpPr>
          <p:nvPr/>
        </p:nvSpPr>
        <p:spPr bwMode="white">
          <a:xfrm>
            <a:off x="10229552" y="5232376"/>
            <a:ext cx="1717137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Continuous access evaluation</a:t>
            </a:r>
          </a:p>
        </p:txBody>
      </p:sp>
      <p:sp>
        <p:nvSpPr>
          <p:cNvPr id="101" name="TextBox 100"/>
          <p:cNvSpPr txBox="1">
            <a:spLocks noChangeArrowheads="1"/>
          </p:cNvSpPr>
          <p:nvPr/>
        </p:nvSpPr>
        <p:spPr bwMode="white">
          <a:xfrm>
            <a:off x="10259108" y="5658625"/>
            <a:ext cx="153599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Disable resilience defaults</a:t>
            </a:r>
          </a:p>
        </p:txBody>
      </p:sp>
      <p:pic>
        <p:nvPicPr>
          <p:cNvPr id="103" name="Graphic 102"/>
          <p:cNvPicPr>
            <a:picLocks noChangeAspect="1"/>
          </p:cNvPicPr>
          <p:nvPr/>
        </p:nvPicPr>
        <p:blipFill>
          <a:blip r:embed="rId43">
            <a:lum/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rcRect/>
          <a:stretch>
            <a:fillRect/>
          </a:stretch>
        </p:blipFill>
        <p:spPr bwMode="white">
          <a:xfrm>
            <a:off x="9996846" y="479900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5" name="Graphic 104"/>
          <p:cNvPicPr>
            <a:picLocks noChangeAspect="1"/>
          </p:cNvPicPr>
          <p:nvPr/>
        </p:nvPicPr>
        <p:blipFill>
          <a:blip r:embed="rId45">
            <a:lum/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rcRect/>
          <a:stretch>
            <a:fillRect/>
          </a:stretch>
        </p:blipFill>
        <p:spPr bwMode="white">
          <a:xfrm>
            <a:off x="9996846" y="437457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7" name="Graphic 106"/>
          <p:cNvPicPr>
            <a:picLocks noChangeAspect="1"/>
          </p:cNvPicPr>
          <p:nvPr/>
        </p:nvPicPr>
        <p:blipFill>
          <a:blip r:embed="rId7">
            <a:lum/>
            <a:extLst>
              <a:ext uri="{96DAC541-7B7A-43D3-8B79-37D633B846F1}">
                <asvg:svgBlip xmlns:asvg="http://schemas.microsoft.com/office/drawing/2016/SVG/main" r:embed="rId47"/>
              </a:ext>
            </a:extLst>
          </a:blip>
          <a:srcRect/>
          <a:stretch>
            <a:fillRect/>
          </a:stretch>
        </p:blipFill>
        <p:spPr bwMode="white">
          <a:xfrm>
            <a:off x="9996846" y="391529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15" name="SessionSifInterval"/>
          <p:cNvSpPr txBox="1">
            <a:spLocks noChangeArrowheads="1"/>
          </p:cNvSpPr>
          <p:nvPr/>
        </p:nvSpPr>
        <p:spPr bwMode="white">
          <a:xfrm>
            <a:off x="10296745" y="4516775"/>
            <a:ext cx="1249060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Periodic reauthentication</a:t>
            </a:r>
          </a:p>
        </p:txBody>
      </p:sp>
      <p:sp>
        <p:nvSpPr>
          <p:cNvPr id="114" name="SessionCasType"/>
          <p:cNvSpPr txBox="1">
            <a:spLocks noChangeArrowheads="1"/>
          </p:cNvSpPr>
          <p:nvPr/>
        </p:nvSpPr>
        <p:spPr bwMode="white">
          <a:xfrm>
            <a:off x="10296745" y="4075500"/>
            <a:ext cx="95410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App Control Policy</a:t>
            </a:r>
          </a:p>
        </p:txBody>
      </p:sp>
      <p:sp>
        <p:nvSpPr>
          <p:cNvPr id="116" name="SessionPersistenBrowserMode"/>
          <p:cNvSpPr txBox="1">
            <a:spLocks noChangeArrowheads="1"/>
          </p:cNvSpPr>
          <p:nvPr/>
        </p:nvSpPr>
        <p:spPr bwMode="white">
          <a:xfrm>
            <a:off x="10309761" y="4945281"/>
            <a:ext cx="918841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Always persistent</a:t>
            </a:r>
          </a:p>
        </p:txBody>
      </p:sp>
      <p:sp>
        <p:nvSpPr>
          <p:cNvPr id="118" name="SessionCaeMode"/>
          <p:cNvSpPr txBox="1">
            <a:spLocks noChangeArrowheads="1"/>
          </p:cNvSpPr>
          <p:nvPr/>
        </p:nvSpPr>
        <p:spPr bwMode="white">
          <a:xfrm>
            <a:off x="10301386" y="5393378"/>
            <a:ext cx="15359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US" sz="800" dirty="0"/>
              <a:t>Strictly enforce location policies</a:t>
            </a:r>
          </a:p>
        </p:txBody>
      </p:sp>
      <p:sp>
        <p:nvSpPr>
          <p:cNvPr id="119" name="ShadeSessionAppEnforced"/>
          <p:cNvSpPr>
            <a:spLocks/>
          </p:cNvSpPr>
          <p:nvPr/>
        </p:nvSpPr>
        <p:spPr bwMode="white">
          <a:xfrm>
            <a:off x="9959680" y="3548808"/>
            <a:ext cx="2051597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0" name="ShadeSessionCas"/>
          <p:cNvSpPr>
            <a:spLocks/>
          </p:cNvSpPr>
          <p:nvPr/>
        </p:nvSpPr>
        <p:spPr bwMode="white">
          <a:xfrm>
            <a:off x="9978939" y="3884212"/>
            <a:ext cx="2087576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1" name="ShadeSessionSif"/>
          <p:cNvSpPr>
            <a:spLocks/>
          </p:cNvSpPr>
          <p:nvPr/>
        </p:nvSpPr>
        <p:spPr bwMode="white">
          <a:xfrm>
            <a:off x="9940787" y="4320077"/>
            <a:ext cx="2125728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2" name="ShadeSessionPersistentBrowser"/>
          <p:cNvSpPr>
            <a:spLocks/>
          </p:cNvSpPr>
          <p:nvPr/>
        </p:nvSpPr>
        <p:spPr bwMode="white">
          <a:xfrm>
            <a:off x="9938833" y="4746195"/>
            <a:ext cx="207244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" name="Label Secure Sign In Session"/>
          <p:cNvSpPr txBox="1">
            <a:spLocks noChangeArrowheads="1"/>
          </p:cNvSpPr>
          <p:nvPr/>
        </p:nvSpPr>
        <p:spPr bwMode="white">
          <a:xfrm>
            <a:off x="10260000" y="6084874"/>
            <a:ext cx="166584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Token protection for session</a:t>
            </a:r>
          </a:p>
        </p:txBody>
      </p:sp>
      <p:pic>
        <p:nvPicPr>
          <p:cNvPr id="77" name="IconSessionCaeDisable" descr="Close with solid fill"/>
          <p:cNvPicPr>
            <a:picLocks noChangeAspect="1"/>
          </p:cNvPicPr>
          <p:nvPr/>
        </p:nvPicPr>
        <p:blipFill>
          <a:blip r:embed="rId48">
            <a:lum/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rcRect/>
          <a:stretch>
            <a:fillRect/>
          </a:stretch>
        </p:blipFill>
        <p:spPr bwMode="white">
          <a:xfrm>
            <a:off x="9979885" y="5218651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2" name="IconSessionSecureSignInSession 1"/>
          <p:cNvPicPr>
            <a:picLocks noChangeAspect="1"/>
          </p:cNvPicPr>
          <p:nvPr/>
        </p:nvPicPr>
        <p:blipFill>
          <a:blip r:embed="rId50">
            <a:lum/>
            <a:extLst>
              <a:ext uri="{96DAC541-7B7A-43D3-8B79-37D633B846F1}">
                <asvg:svgBlip xmlns:asvg="http://schemas.microsoft.com/office/drawing/2016/SVG/main" r:embed="rId51"/>
              </a:ext>
            </a:extLst>
          </a:blip>
          <a:srcRect/>
          <a:stretch>
            <a:fillRect/>
          </a:stretch>
        </p:blipFill>
        <p:spPr bwMode="white">
          <a:xfrm>
            <a:off x="9997200" y="6085768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3" name="ShadeSessionCae"/>
          <p:cNvSpPr>
            <a:spLocks/>
          </p:cNvSpPr>
          <p:nvPr/>
        </p:nvSpPr>
        <p:spPr bwMode="white">
          <a:xfrm>
            <a:off x="9987595" y="5219780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76" name="ShadeSessionSecureSignIn"/>
          <p:cNvSpPr>
            <a:spLocks/>
          </p:cNvSpPr>
          <p:nvPr/>
        </p:nvSpPr>
        <p:spPr bwMode="white">
          <a:xfrm>
            <a:off x="9996846" y="5986498"/>
            <a:ext cx="2014431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pic>
        <p:nvPicPr>
          <p:cNvPr id="102" name="Graphic 101"/>
          <p:cNvPicPr>
            <a:picLocks noChangeAspect="1"/>
          </p:cNvPicPr>
          <p:nvPr/>
        </p:nvPicPr>
        <p:blipFill>
          <a:blip r:embed="rId52">
            <a:lum/>
            <a:extLst>
              <a:ext uri="{96DAC541-7B7A-43D3-8B79-37D633B846F1}">
                <asvg:svgBlip xmlns:asvg="http://schemas.microsoft.com/office/drawing/2016/SVG/main" r:embed="rId53"/>
              </a:ext>
            </a:extLst>
          </a:blip>
          <a:srcRect/>
          <a:stretch>
            <a:fillRect/>
          </a:stretch>
        </p:blipFill>
        <p:spPr bwMode="white">
          <a:xfrm>
            <a:off x="9997200" y="5663777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80" name="Graphic 79" descr="Close with solid fill"/>
          <p:cNvPicPr>
            <a:picLocks noChangeAspect="1"/>
          </p:cNvPicPr>
          <p:nvPr/>
        </p:nvPicPr>
        <p:blipFill>
          <a:blip r:embed="rId48">
            <a:lum/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rcRect/>
          <a:stretch>
            <a:fillRect/>
          </a:stretch>
        </p:blipFill>
        <p:spPr bwMode="white">
          <a:xfrm>
            <a:off x="9963899" y="5637424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4" name="ShadeSessionDisableResilience"/>
          <p:cNvSpPr>
            <a:spLocks/>
          </p:cNvSpPr>
          <p:nvPr/>
        </p:nvSpPr>
        <p:spPr bwMode="white">
          <a:xfrm>
            <a:off x="9959681" y="5602709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2" name="PolicyName">
            <a:hlinkClick r:id="" action="ppaction://hlinkfile"/>
          </p:cNvPr>
          <p:cNvSpPr>
            <a:spLocks noGrp="1"/>
          </p:cNvSpPr>
          <p:nvPr>
            <p:ph type="title"/>
          </p:nvPr>
        </p:nvSpPr>
        <p:spPr bwMode="white">
          <a:xfrm>
            <a:off x="838200" y="115511"/>
            <a:ext cx="10003967" cy="609565"/>
          </a:xfrm>
          <a:ln>
            <a:headEnd type="none"/>
            <a:tailEnd type="none"/>
          </a:ln>
        </p:spPr>
        <p:txBody>
          <a:bodyPr wrap="square">
            <a:noAutofit/>
          </a:bodyPr>
          <a:lstStyle/>
          <a:p>
            <a:pPr defTabSz="914400"/>
            <a:r>
              <a:rPr lang="en-US" sz="2000" b="1" dirty="0"/>
              <a:t>[Geo Fencing] [All Users] (Block) All Users</a:t>
            </a:r>
          </a:p>
        </p:txBody>
      </p:sp>
      <p:sp>
        <p:nvSpPr>
          <p:cNvPr id="16" name="LastModified"/>
          <p:cNvSpPr txBox="1">
            <a:spLocks noChangeArrowheads="1"/>
          </p:cNvSpPr>
          <p:nvPr/>
        </p:nvSpPr>
        <p:spPr bwMode="white">
          <a:xfrm>
            <a:off x="10556111" y="388376"/>
            <a:ext cx="15483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algn="r" defTabSz="457200"/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Last modified: 2025-05-05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UserWorkload"/>
          <p:cNvSpPr>
            <a:spLocks/>
          </p:cNvSpPr>
          <p:nvPr/>
        </p:nvSpPr>
        <p:spPr bwMode="auto">
          <a:xfrm>
            <a:off x="175820" y="2709769"/>
            <a:ext cx="2202823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Users</a:t>
            </a:r>
          </a:p>
        </p:txBody>
      </p:sp>
      <p:sp>
        <p:nvSpPr>
          <p:cNvPr id="7" name="UserWorkloadIncExc"/>
          <p:cNvSpPr txBox="1">
            <a:spLocks noChangeArrowheads="1"/>
          </p:cNvSpPr>
          <p:nvPr/>
        </p:nvSpPr>
        <p:spPr bwMode="white">
          <a:xfrm>
            <a:off x="125485" y="3698952"/>
            <a:ext cx="3062115" cy="313265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 numCol="1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b="1" dirty="0"/>
            </a:pPr>
            <a:r>
              <a:t> Users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r>
              <a:t>🚫 Exclude:</a:t>
            </a:r>
          </a:p>
          <a:p>
            <a:pPr defTabSz="457200">
              <a:defRPr sz="1100" b="1" dirty="0"/>
            </a:pPr>
            <a:r>
              <a:t> Users</a:t>
            </a:r>
          </a:p>
          <a:p>
            <a:pPr defTabSz="457200">
              <a:defRPr sz="1100" dirty="0"/>
            </a:pPr>
            <a:r>
              <a:t> - BGA OCC01</a:t>
            </a:r>
          </a:p>
          <a:p>
            <a:pPr defTabSz="457200">
              <a:defRPr sz="1100" dirty="0"/>
            </a:pPr>
            <a:r>
              <a:t> - BGA OCC02</a:t>
            </a:r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19" name="Risks"/>
          <p:cNvSpPr txBox="1">
            <a:spLocks noChangeArrowheads="1"/>
          </p:cNvSpPr>
          <p:nvPr/>
        </p:nvSpPr>
        <p:spPr bwMode="white">
          <a:xfrm>
            <a:off x="524485" y="1021946"/>
            <a:ext cx="1348869" cy="166886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b="1" dirty="0"/>
            </a:pPr>
            <a:r>
              <a:t>Sign-in risk:</a:t>
            </a:r>
          </a:p>
          <a:p>
            <a:pPr defTabSz="457200">
              <a:defRPr sz="1100" dirty="0"/>
            </a:pPr>
            <a:r>
              <a:t> - High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20" name="Platforms"/>
          <p:cNvSpPr txBox="1">
            <a:spLocks noChangeArrowheads="1"/>
          </p:cNvSpPr>
          <p:nvPr/>
        </p:nvSpPr>
        <p:spPr bwMode="white">
          <a:xfrm>
            <a:off x="1826931" y="1021947"/>
            <a:ext cx="2061056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3" name="Locations"/>
          <p:cNvSpPr txBox="1">
            <a:spLocks noChangeArrowheads="1"/>
          </p:cNvSpPr>
          <p:nvPr/>
        </p:nvSpPr>
        <p:spPr bwMode="white">
          <a:xfrm>
            <a:off x="8324941" y="1021947"/>
            <a:ext cx="3513702" cy="159258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4" name="ClientAppTypes"/>
          <p:cNvSpPr txBox="1">
            <a:spLocks noChangeArrowheads="1"/>
          </p:cNvSpPr>
          <p:nvPr/>
        </p:nvSpPr>
        <p:spPr bwMode="white">
          <a:xfrm>
            <a:off x="3810664" y="1021947"/>
            <a:ext cx="1581599" cy="165343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5" name="DeviceFilters"/>
          <p:cNvSpPr txBox="1">
            <a:spLocks noChangeArrowheads="1"/>
          </p:cNvSpPr>
          <p:nvPr/>
        </p:nvSpPr>
        <p:spPr bwMode="white">
          <a:xfrm>
            <a:off x="5818151" y="1022762"/>
            <a:ext cx="2248808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cxnSp>
        <p:nvCxnSpPr>
          <p:cNvPr id="27" name="Straight Arrow Connector 26" descr="Arrow drawn from user/workload  to the action being performed by the user such as accessing cloud apps."/>
          <p:cNvCxnSpPr/>
          <p:nvPr/>
        </p:nvCxnSpPr>
        <p:spPr bwMode="white">
          <a:xfrm>
            <a:off x="2195232" y="3159047"/>
            <a:ext cx="3959471" cy="1"/>
          </a:xfrm>
          <a:prstGeom prst="straightConnector1">
            <a:avLst/>
          </a:prstGeom>
          <a:ln w="76200"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30" name="IconBlockAccess" descr="Picture with red color stop sign to indicate blocked access"/>
          <p:cNvPicPr>
            <a:picLocks noChangeAspect="1"/>
          </p:cNvPicPr>
          <p:nvPr/>
        </p:nvPicPr>
        <p:blipFill>
          <a:blip r:embed="rId3">
            <a:lum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 bwMode="white">
          <a:xfrm>
            <a:off x="5306633" y="2735805"/>
            <a:ext cx="356616" cy="35661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34" name="GrantLabelBlockAccess"/>
          <p:cNvSpPr txBox="1">
            <a:spLocks noChangeArrowheads="1"/>
          </p:cNvSpPr>
          <p:nvPr/>
        </p:nvSpPr>
        <p:spPr bwMode="white">
          <a:xfrm>
            <a:off x="3936931" y="2734375"/>
            <a:ext cx="1358065" cy="369332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algn="ctr" defTabSz="457200"/>
            <a:r>
              <a:rPr lang="en-US" b="1" dirty="0">
                <a:solidFill>
                  <a:srgbClr val="FF0000"/>
                </a:solidFill>
              </a:rPr>
              <a:t>Block access</a:t>
            </a:r>
          </a:p>
        </p:txBody>
      </p:sp>
      <p:sp>
        <p:nvSpPr>
          <p:cNvPr id="3" name="CloudAppActionIncExc"/>
          <p:cNvSpPr txBox="1">
            <a:spLocks noChangeArrowheads="1"/>
          </p:cNvSpPr>
          <p:nvPr/>
        </p:nvSpPr>
        <p:spPr bwMode="white">
          <a:xfrm>
            <a:off x="6039518" y="3662782"/>
            <a:ext cx="3649518" cy="315161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</p:txBody>
      </p:sp>
      <p:pic>
        <p:nvPicPr>
          <p:cNvPr id="26" name="IconGroupIdentity"/>
          <p:cNvPicPr>
            <a:picLocks noChangeAspect="1"/>
          </p:cNvPicPr>
          <p:nvPr/>
        </p:nvPicPr>
        <p:blipFill>
          <a:blip r:embed="rId5">
            <a:lum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 bwMode="white">
          <a:xfrm>
            <a:off x="327701" y="2839007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36" name="Graphic 35"/>
          <p:cNvPicPr>
            <a:picLocks noChangeAspect="1"/>
          </p:cNvPicPr>
          <p:nvPr/>
        </p:nvPicPr>
        <p:blipFill>
          <a:blip r:embed="rId7">
            <a:lum/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p:blipFill>
        <p:spPr bwMode="white">
          <a:xfrm>
            <a:off x="495610" y="197468"/>
            <a:ext cx="381196" cy="38119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" name="CloudAppAction"/>
          <p:cNvSpPr>
            <a:spLocks/>
          </p:cNvSpPr>
          <p:nvPr/>
        </p:nvSpPr>
        <p:spPr bwMode="auto">
          <a:xfrm>
            <a:off x="6206089" y="2718506"/>
            <a:ext cx="3227026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All cloud apps</a:t>
            </a:r>
          </a:p>
        </p:txBody>
      </p:sp>
      <p:pic>
        <p:nvPicPr>
          <p:cNvPr id="75" name="IconAccessAllCloudApps"/>
          <p:cNvPicPr>
            <a:picLocks noChangeAspect="1"/>
          </p:cNvPicPr>
          <p:nvPr/>
        </p:nvPicPr>
        <p:blipFill>
          <a:blip r:embed="rId9">
            <a:lum/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p:blipFill>
        <p:spPr bwMode="white">
          <a:xfrm>
            <a:off x="6439264" y="2836824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21" name="StateEnabled"/>
          <p:cNvSpPr>
            <a:spLocks/>
          </p:cNvSpPr>
          <p:nvPr/>
        </p:nvSpPr>
        <p:spPr bwMode="white">
          <a:xfrm>
            <a:off x="10842171" y="83487"/>
            <a:ext cx="1260389" cy="264812"/>
          </a:xfrm>
          <a:prstGeom prst="round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r>
              <a:rPr lang="en-US" sz="800" dirty="0"/>
              <a:t>Policy Enabled</a:t>
            </a:r>
          </a:p>
        </p:txBody>
      </p:sp>
      <p:grpSp>
        <p:nvGrpSpPr>
          <p:cNvPr id="10" name="IconRiskyUsers"/>
          <p:cNvGrpSpPr>
            <a:grpSpLocks/>
          </p:cNvGrpSpPr>
          <p:nvPr/>
        </p:nvGrpSpPr>
        <p:grpSpPr bwMode="white">
          <a:xfrm>
            <a:off x="635426" y="738677"/>
            <a:ext cx="1202553" cy="274320"/>
            <a:chOff x="2013768" y="1033956"/>
            <a:chExt cx="1342320" cy="274320"/>
          </a:xfrm>
        </p:grpSpPr>
        <p:pic>
          <p:nvPicPr>
            <p:cNvPr id="46" name="Graphic 1"/>
            <p:cNvPicPr>
              <a:picLocks noChangeAspect="1"/>
            </p:cNvPicPr>
            <p:nvPr/>
          </p:nvPicPr>
          <p:blipFill>
            <a:blip r:embed="rId11">
              <a:lum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013768" y="1033956"/>
              <a:ext cx="274320" cy="27432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5" name="Label 1"/>
            <p:cNvSpPr txBox="1">
              <a:spLocks noChangeArrowheads="1"/>
            </p:cNvSpPr>
            <p:nvPr/>
          </p:nvSpPr>
          <p:spPr bwMode="white">
            <a:xfrm>
              <a:off x="2240077" y="1040706"/>
              <a:ext cx="1116011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Risk</a:t>
              </a:r>
            </a:p>
          </p:txBody>
        </p:sp>
      </p:grpSp>
      <p:grpSp>
        <p:nvGrpSpPr>
          <p:cNvPr id="14" name="IconPlatforms"/>
          <p:cNvGrpSpPr>
            <a:grpSpLocks/>
          </p:cNvGrpSpPr>
          <p:nvPr/>
        </p:nvGrpSpPr>
        <p:grpSpPr bwMode="white">
          <a:xfrm>
            <a:off x="1927788" y="715249"/>
            <a:ext cx="1719285" cy="365760"/>
            <a:chOff x="3262737" y="994835"/>
            <a:chExt cx="1719285" cy="365760"/>
          </a:xfrm>
        </p:grpSpPr>
        <p:pic>
          <p:nvPicPr>
            <p:cNvPr id="29" name="Graphic 1"/>
            <p:cNvPicPr>
              <a:picLocks noChangeAspect="1"/>
            </p:cNvPicPr>
            <p:nvPr/>
          </p:nvPicPr>
          <p:blipFill>
            <a:blip r:embed="rId13">
              <a:lum/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3262737" y="994835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1" name="Label 1"/>
            <p:cNvSpPr txBox="1">
              <a:spLocks noChangeArrowheads="1"/>
            </p:cNvSpPr>
            <p:nvPr/>
          </p:nvSpPr>
          <p:spPr bwMode="white">
            <a:xfrm>
              <a:off x="3582397" y="1027255"/>
              <a:ext cx="1399625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Device platforms</a:t>
              </a:r>
            </a:p>
          </p:txBody>
        </p:sp>
      </p:grpSp>
      <p:grpSp>
        <p:nvGrpSpPr>
          <p:cNvPr id="17" name="IconClientAppTypes"/>
          <p:cNvGrpSpPr>
            <a:grpSpLocks/>
          </p:cNvGrpSpPr>
          <p:nvPr/>
        </p:nvGrpSpPr>
        <p:grpSpPr bwMode="white">
          <a:xfrm>
            <a:off x="3908159" y="670015"/>
            <a:ext cx="1852971" cy="365760"/>
            <a:chOff x="4858970" y="975927"/>
            <a:chExt cx="1852971" cy="365760"/>
          </a:xfrm>
        </p:grpSpPr>
        <p:pic>
          <p:nvPicPr>
            <p:cNvPr id="58" name="Graphic 1"/>
            <p:cNvPicPr>
              <a:picLocks noChangeAspect="1"/>
            </p:cNvPicPr>
            <p:nvPr/>
          </p:nvPicPr>
          <p:blipFill>
            <a:blip r:embed="rId15">
              <a:lum/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858970" y="975927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5" name="Label 1"/>
            <p:cNvSpPr txBox="1">
              <a:spLocks noChangeArrowheads="1"/>
            </p:cNvSpPr>
            <p:nvPr/>
          </p:nvSpPr>
          <p:spPr bwMode="white">
            <a:xfrm>
              <a:off x="5193983" y="1009899"/>
              <a:ext cx="1517958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Client apps</a:t>
              </a:r>
            </a:p>
          </p:txBody>
        </p:sp>
      </p:grpSp>
      <p:grpSp>
        <p:nvGrpSpPr>
          <p:cNvPr id="37" name="IconLocations"/>
          <p:cNvGrpSpPr>
            <a:grpSpLocks/>
          </p:cNvGrpSpPr>
          <p:nvPr/>
        </p:nvGrpSpPr>
        <p:grpSpPr bwMode="white">
          <a:xfrm>
            <a:off x="8411896" y="646848"/>
            <a:ext cx="1850168" cy="388465"/>
            <a:chOff x="2321433" y="3262888"/>
            <a:chExt cx="1850168" cy="388465"/>
          </a:xfrm>
        </p:grpSpPr>
        <p:pic>
          <p:nvPicPr>
            <p:cNvPr id="33" name="Graphic 1"/>
            <p:cNvPicPr>
              <a:picLocks noChangeAspect="1"/>
            </p:cNvPicPr>
            <p:nvPr/>
          </p:nvPicPr>
          <p:blipFill>
            <a:blip r:embed="rId17">
              <a:lum/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321433" y="3262888"/>
              <a:ext cx="388465" cy="388465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28" name="Label 1"/>
            <p:cNvSpPr txBox="1">
              <a:spLocks noChangeArrowheads="1"/>
            </p:cNvSpPr>
            <p:nvPr/>
          </p:nvSpPr>
          <p:spPr bwMode="white">
            <a:xfrm>
              <a:off x="2713321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Locations</a:t>
              </a:r>
              <a:endParaRPr lang="en-US" sz="1100" b="1" dirty="0"/>
            </a:p>
          </p:txBody>
        </p:sp>
      </p:grpSp>
      <p:grpSp>
        <p:nvGrpSpPr>
          <p:cNvPr id="39" name="IconDeviceFilters"/>
          <p:cNvGrpSpPr>
            <a:grpSpLocks/>
          </p:cNvGrpSpPr>
          <p:nvPr/>
        </p:nvGrpSpPr>
        <p:grpSpPr bwMode="white">
          <a:xfrm>
            <a:off x="5472818" y="661958"/>
            <a:ext cx="1839823" cy="364111"/>
            <a:chOff x="4195414" y="3273669"/>
            <a:chExt cx="1839823" cy="364111"/>
          </a:xfrm>
        </p:grpSpPr>
        <p:pic>
          <p:nvPicPr>
            <p:cNvPr id="60" name="Graphic 1"/>
            <p:cNvPicPr>
              <a:picLocks noChangeAspect="1"/>
            </p:cNvPicPr>
            <p:nvPr/>
          </p:nvPicPr>
          <p:blipFill>
            <a:blip r:embed="rId19">
              <a:lum/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195414" y="3273669"/>
              <a:ext cx="364111" cy="364111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31" name="Label 1"/>
            <p:cNvSpPr txBox="1">
              <a:spLocks noChangeArrowheads="1"/>
            </p:cNvSpPr>
            <p:nvPr/>
          </p:nvSpPr>
          <p:spPr bwMode="white">
            <a:xfrm>
              <a:off x="4576957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Filter for devices</a:t>
              </a:r>
              <a:endParaRPr lang="en-US" sz="1100" b="1" dirty="0"/>
            </a:p>
          </p:txBody>
        </p:sp>
      </p:grpSp>
      <p:pic>
        <p:nvPicPr>
          <p:cNvPr id="62" name="IconGrantMultifactorAuthentication"/>
          <p:cNvPicPr>
            <a:picLocks noChangeAspect="1"/>
          </p:cNvPicPr>
          <p:nvPr/>
        </p:nvPicPr>
        <p:blipFill>
          <a:blip r:embed="rId21">
            <a:lum/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>
            <a:fillRect/>
          </a:stretch>
        </p:blipFill>
        <p:spPr bwMode="white">
          <a:xfrm>
            <a:off x="3410647" y="3566863"/>
            <a:ext cx="17145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5" name="IconGrantMultifactorAuthenticationLabel"/>
          <p:cNvSpPr txBox="1">
            <a:spLocks noChangeArrowheads="1"/>
          </p:cNvSpPr>
          <p:nvPr/>
        </p:nvSpPr>
        <p:spPr bwMode="white">
          <a:xfrm>
            <a:off x="3575836" y="3571997"/>
            <a:ext cx="19007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Multifactor authentication</a:t>
            </a:r>
            <a:endParaRPr lang="en-US" sz="1000" dirty="0"/>
          </a:p>
        </p:txBody>
      </p:sp>
      <p:pic>
        <p:nvPicPr>
          <p:cNvPr id="38" name="IconGrantAuthenticationStrength"/>
          <p:cNvPicPr>
            <a:picLocks noChangeAspect="1"/>
          </p:cNvPicPr>
          <p:nvPr/>
        </p:nvPicPr>
        <p:blipFill>
          <a:blip r:embed="rId23">
            <a:lum/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/>
          <a:stretch>
            <a:fillRect/>
          </a:stretch>
        </p:blipFill>
        <p:spPr bwMode="white">
          <a:xfrm>
            <a:off x="3374515" y="3905034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7" name="IconGrantAuthenticationStrengthLabel"/>
          <p:cNvSpPr txBox="1">
            <a:spLocks noChangeArrowheads="1"/>
          </p:cNvSpPr>
          <p:nvPr/>
        </p:nvSpPr>
        <p:spPr bwMode="white">
          <a:xfrm>
            <a:off x="3575836" y="3907323"/>
            <a:ext cx="2185294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Authentication strength</a:t>
            </a:r>
            <a:endParaRPr lang="en-US" sz="1000" dirty="0"/>
          </a:p>
        </p:txBody>
      </p:sp>
      <p:pic>
        <p:nvPicPr>
          <p:cNvPr id="52" name="IconGrantDeviceCompliance"/>
          <p:cNvPicPr>
            <a:picLocks noChangeAspect="1"/>
          </p:cNvPicPr>
          <p:nvPr/>
        </p:nvPicPr>
        <p:blipFill>
          <a:blip r:embed="rId25">
            <a:lum/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/>
          <a:stretch>
            <a:fillRect/>
          </a:stretch>
        </p:blipFill>
        <p:spPr bwMode="white">
          <a:xfrm>
            <a:off x="3374515" y="4243205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9" name="IconGrantDeviceComplianceLabel"/>
          <p:cNvSpPr txBox="1">
            <a:spLocks noChangeArrowheads="1"/>
          </p:cNvSpPr>
          <p:nvPr/>
        </p:nvSpPr>
        <p:spPr bwMode="white">
          <a:xfrm>
            <a:off x="3575836" y="4242649"/>
            <a:ext cx="17378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Compliant device</a:t>
            </a:r>
            <a:endParaRPr lang="en-US" sz="1000" dirty="0"/>
          </a:p>
        </p:txBody>
      </p:sp>
      <p:pic>
        <p:nvPicPr>
          <p:cNvPr id="43" name="IconGrantHybridJoined"/>
          <p:cNvPicPr>
            <a:picLocks noChangeAspect="1"/>
          </p:cNvPicPr>
          <p:nvPr/>
        </p:nvPicPr>
        <p:blipFill>
          <a:blip r:embed="rId27">
            <a:lum/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/>
          <a:stretch>
            <a:fillRect/>
          </a:stretch>
        </p:blipFill>
        <p:spPr bwMode="white">
          <a:xfrm>
            <a:off x="3374515" y="4581376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3" name="IconGrantHybridJoinedLabel"/>
          <p:cNvSpPr txBox="1">
            <a:spLocks noChangeArrowheads="1"/>
          </p:cNvSpPr>
          <p:nvPr/>
        </p:nvSpPr>
        <p:spPr bwMode="white">
          <a:xfrm>
            <a:off x="3575836" y="4577975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Hybrid Azure AD joined device</a:t>
            </a:r>
            <a:endParaRPr lang="en-US" sz="1000" dirty="0"/>
          </a:p>
        </p:txBody>
      </p:sp>
      <p:pic>
        <p:nvPicPr>
          <p:cNvPr id="48" name="IconGrantApprovedClientApp"/>
          <p:cNvPicPr>
            <a:picLocks noChangeAspect="1"/>
          </p:cNvPicPr>
          <p:nvPr/>
        </p:nvPicPr>
        <p:blipFill>
          <a:blip r:embed="rId29">
            <a:lum/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rcRect/>
          <a:stretch>
            <a:fillRect/>
          </a:stretch>
        </p:blipFill>
        <p:spPr bwMode="white">
          <a:xfrm>
            <a:off x="3374515" y="491954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5" name="IconGrantApprovedClientAppLabel"/>
          <p:cNvSpPr txBox="1">
            <a:spLocks noChangeArrowheads="1"/>
          </p:cNvSpPr>
          <p:nvPr/>
        </p:nvSpPr>
        <p:spPr bwMode="white">
          <a:xfrm>
            <a:off x="3575836" y="4913301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Approved client app</a:t>
            </a:r>
            <a:endParaRPr lang="en-US" sz="1000" dirty="0"/>
          </a:p>
        </p:txBody>
      </p:sp>
      <p:pic>
        <p:nvPicPr>
          <p:cNvPr id="42" name="IconGrantCustomAuth"/>
          <p:cNvPicPr>
            <a:picLocks noChangeAspect="1"/>
          </p:cNvPicPr>
          <p:nvPr/>
        </p:nvPicPr>
        <p:blipFill>
          <a:blip r:embed="rId31">
            <a:lum/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rcRect/>
          <a:stretch>
            <a:fillRect/>
          </a:stretch>
        </p:blipFill>
        <p:spPr bwMode="white">
          <a:xfrm>
            <a:off x="3374515" y="593406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9" name="IconGrantCustomAuthLabel"/>
          <p:cNvSpPr txBox="1">
            <a:spLocks noChangeArrowheads="1"/>
          </p:cNvSpPr>
          <p:nvPr/>
        </p:nvSpPr>
        <p:spPr bwMode="white">
          <a:xfrm>
            <a:off x="3575836" y="5919279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Custom authentication factor</a:t>
            </a:r>
            <a:endParaRPr lang="en-US" sz="1000" dirty="0"/>
          </a:p>
        </p:txBody>
      </p:sp>
      <p:pic>
        <p:nvPicPr>
          <p:cNvPr id="40" name="IconGrantTermsOfUse"/>
          <p:cNvPicPr>
            <a:picLocks noChangeAspect="1"/>
          </p:cNvPicPr>
          <p:nvPr/>
        </p:nvPicPr>
        <p:blipFill>
          <a:blip r:embed="rId33">
            <a:lum/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rcRect/>
          <a:stretch>
            <a:fillRect/>
          </a:stretch>
        </p:blipFill>
        <p:spPr bwMode="white">
          <a:xfrm>
            <a:off x="3374515" y="627222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3" name="IconGrantTermsOfUseLabel"/>
          <p:cNvSpPr txBox="1">
            <a:spLocks noChangeArrowheads="1"/>
          </p:cNvSpPr>
          <p:nvPr/>
        </p:nvSpPr>
        <p:spPr bwMode="white">
          <a:xfrm>
            <a:off x="3575836" y="625460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Terms of use</a:t>
            </a:r>
            <a:endParaRPr lang="en-US" sz="1000" dirty="0"/>
          </a:p>
        </p:txBody>
      </p:sp>
      <p:sp>
        <p:nvSpPr>
          <p:cNvPr id="56" name="IconGrantAppProtectionLabel"/>
          <p:cNvSpPr txBox="1">
            <a:spLocks noChangeArrowheads="1"/>
          </p:cNvSpPr>
          <p:nvPr/>
        </p:nvSpPr>
        <p:spPr bwMode="white">
          <a:xfrm>
            <a:off x="3575836" y="524862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 protection policy</a:t>
            </a:r>
            <a:endParaRPr lang="en-US" sz="1000" dirty="0"/>
          </a:p>
        </p:txBody>
      </p:sp>
      <p:pic>
        <p:nvPicPr>
          <p:cNvPr id="65" name="IconGrantAppProtection"/>
          <p:cNvPicPr>
            <a:picLocks noChangeAspect="1"/>
          </p:cNvPicPr>
          <p:nvPr/>
        </p:nvPicPr>
        <p:blipFill>
          <a:blip r:embed="rId35">
            <a:lum/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rcRect/>
          <a:stretch>
            <a:fillRect/>
          </a:stretch>
        </p:blipFill>
        <p:spPr bwMode="white">
          <a:xfrm>
            <a:off x="3374515" y="525771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7" name="IconGrantChangePasswordLabel"/>
          <p:cNvSpPr txBox="1">
            <a:spLocks noChangeArrowheads="1"/>
          </p:cNvSpPr>
          <p:nvPr/>
        </p:nvSpPr>
        <p:spPr bwMode="white">
          <a:xfrm>
            <a:off x="3575836" y="5583953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Change password</a:t>
            </a:r>
            <a:endParaRPr lang="en-US" sz="1000" dirty="0"/>
          </a:p>
        </p:txBody>
      </p:sp>
      <p:pic>
        <p:nvPicPr>
          <p:cNvPr id="67" name="IconGrantChangePassword"/>
          <p:cNvPicPr>
            <a:picLocks noChangeAspect="1"/>
          </p:cNvPicPr>
          <p:nvPr/>
        </p:nvPicPr>
        <p:blipFill>
          <a:blip r:embed="rId37">
            <a:lum/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rcRect/>
          <a:stretch>
            <a:fillRect/>
          </a:stretch>
        </p:blipFill>
        <p:spPr bwMode="white">
          <a:xfrm>
            <a:off x="3374515" y="5595889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6" name="ShadeDevicePlatforms"/>
          <p:cNvSpPr>
            <a:spLocks/>
          </p:cNvSpPr>
          <p:nvPr/>
        </p:nvSpPr>
        <p:spPr bwMode="white">
          <a:xfrm>
            <a:off x="1863623" y="663409"/>
            <a:ext cx="1773927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78" name="ShadeClientApps"/>
          <p:cNvSpPr>
            <a:spLocks/>
          </p:cNvSpPr>
          <p:nvPr/>
        </p:nvSpPr>
        <p:spPr bwMode="white">
          <a:xfrm>
            <a:off x="3802273" y="650246"/>
            <a:ext cx="1481482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79" name="ShadeLocations"/>
          <p:cNvSpPr>
            <a:spLocks/>
          </p:cNvSpPr>
          <p:nvPr/>
        </p:nvSpPr>
        <p:spPr bwMode="white">
          <a:xfrm>
            <a:off x="8217572" y="669110"/>
            <a:ext cx="1873684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2" name="ShadeFilterForDevices"/>
          <p:cNvSpPr>
            <a:spLocks/>
          </p:cNvSpPr>
          <p:nvPr/>
        </p:nvSpPr>
        <p:spPr bwMode="white">
          <a:xfrm>
            <a:off x="5438955" y="627922"/>
            <a:ext cx="1873685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3" name="ShadeGrantMultifactorAuth"/>
          <p:cNvSpPr>
            <a:spLocks/>
          </p:cNvSpPr>
          <p:nvPr/>
        </p:nvSpPr>
        <p:spPr bwMode="white">
          <a:xfrm>
            <a:off x="3369399" y="3534220"/>
            <a:ext cx="2069555" cy="28330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4" name="ShadeGrantAuthStrength"/>
          <p:cNvSpPr>
            <a:spLocks/>
          </p:cNvSpPr>
          <p:nvPr/>
        </p:nvSpPr>
        <p:spPr bwMode="white">
          <a:xfrm>
            <a:off x="3350256" y="3869846"/>
            <a:ext cx="2069555" cy="27801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5" name="ShadeGrantCompliantDevice"/>
          <p:cNvSpPr>
            <a:spLocks/>
          </p:cNvSpPr>
          <p:nvPr/>
        </p:nvSpPr>
        <p:spPr bwMode="white">
          <a:xfrm>
            <a:off x="3361852" y="4243205"/>
            <a:ext cx="2077102" cy="26110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6" name="ShadeGrantHybridAzureADJoined"/>
          <p:cNvSpPr>
            <a:spLocks/>
          </p:cNvSpPr>
          <p:nvPr/>
        </p:nvSpPr>
        <p:spPr bwMode="white">
          <a:xfrm>
            <a:off x="3353637" y="4552268"/>
            <a:ext cx="2160906" cy="298395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7" name="ShadeGrantApprovedClientApp"/>
          <p:cNvSpPr>
            <a:spLocks/>
          </p:cNvSpPr>
          <p:nvPr/>
        </p:nvSpPr>
        <p:spPr bwMode="white">
          <a:xfrm>
            <a:off x="3331918" y="4876027"/>
            <a:ext cx="2182625" cy="29839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8" name="ShadeGrantAppProtectionPolicy"/>
          <p:cNvSpPr>
            <a:spLocks/>
          </p:cNvSpPr>
          <p:nvPr/>
        </p:nvSpPr>
        <p:spPr bwMode="white">
          <a:xfrm>
            <a:off x="3350256" y="5207226"/>
            <a:ext cx="2122561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9" name="ShadeGrantChangePassword"/>
          <p:cNvSpPr>
            <a:spLocks/>
          </p:cNvSpPr>
          <p:nvPr/>
        </p:nvSpPr>
        <p:spPr bwMode="white">
          <a:xfrm>
            <a:off x="3350257" y="5557021"/>
            <a:ext cx="2042006" cy="287239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0" name="ShadeGrantCustomAuthFactor"/>
          <p:cNvSpPr>
            <a:spLocks/>
          </p:cNvSpPr>
          <p:nvPr/>
        </p:nvSpPr>
        <p:spPr bwMode="white">
          <a:xfrm>
            <a:off x="3331918" y="5899058"/>
            <a:ext cx="2182625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1" name="ShadeGrantTermsOfUse"/>
          <p:cNvSpPr>
            <a:spLocks/>
          </p:cNvSpPr>
          <p:nvPr/>
        </p:nvSpPr>
        <p:spPr bwMode="white">
          <a:xfrm>
            <a:off x="3313823" y="6192350"/>
            <a:ext cx="101602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99" name="Rectangle 98"/>
          <p:cNvSpPr>
            <a:spLocks/>
          </p:cNvSpPr>
          <p:nvPr/>
        </p:nvSpPr>
        <p:spPr bwMode="white">
          <a:xfrm>
            <a:off x="3268757" y="3253404"/>
            <a:ext cx="2357725" cy="3498546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0" name="Rectangle 109"/>
          <p:cNvSpPr>
            <a:spLocks/>
          </p:cNvSpPr>
          <p:nvPr/>
        </p:nvSpPr>
        <p:spPr bwMode="white">
          <a:xfrm>
            <a:off x="9881750" y="3248255"/>
            <a:ext cx="2220808" cy="3510149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7" name="Rectangle 116"/>
          <p:cNvSpPr>
            <a:spLocks/>
          </p:cNvSpPr>
          <p:nvPr/>
        </p:nvSpPr>
        <p:spPr bwMode="white">
          <a:xfrm>
            <a:off x="26741" y="606825"/>
            <a:ext cx="11985015" cy="2063636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2" name="Conditions Label"/>
          <p:cNvSpPr txBox="1">
            <a:spLocks noChangeArrowheads="1"/>
          </p:cNvSpPr>
          <p:nvPr/>
        </p:nvSpPr>
        <p:spPr bwMode="white">
          <a:xfrm rot="16200000">
            <a:off x="-883507" y="1514324"/>
            <a:ext cx="2081441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Conditions</a:t>
            </a:r>
          </a:p>
        </p:txBody>
      </p:sp>
      <p:sp>
        <p:nvSpPr>
          <p:cNvPr id="109" name="Grant Controls"/>
          <p:cNvSpPr txBox="1">
            <a:spLocks noChangeArrowheads="1"/>
          </p:cNvSpPr>
          <p:nvPr/>
        </p:nvSpPr>
        <p:spPr bwMode="white">
          <a:xfrm>
            <a:off x="3252146" y="3244395"/>
            <a:ext cx="2391873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Grant Controls</a:t>
            </a:r>
          </a:p>
        </p:txBody>
      </p:sp>
      <p:sp>
        <p:nvSpPr>
          <p:cNvPr id="111" name="Session Controls"/>
          <p:cNvSpPr txBox="1">
            <a:spLocks noChangeArrowheads="1"/>
          </p:cNvSpPr>
          <p:nvPr/>
        </p:nvSpPr>
        <p:spPr bwMode="white">
          <a:xfrm>
            <a:off x="9864212" y="3243751"/>
            <a:ext cx="2238346" cy="23786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Session Controls</a:t>
            </a:r>
          </a:p>
        </p:txBody>
      </p:sp>
      <p:pic>
        <p:nvPicPr>
          <p:cNvPr id="72" name="Graphic 71"/>
          <p:cNvPicPr>
            <a:picLocks noChangeAspect="1"/>
          </p:cNvPicPr>
          <p:nvPr/>
        </p:nvPicPr>
        <p:blipFill>
          <a:blip r:embed="rId39">
            <a:lum/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rcRect/>
          <a:stretch>
            <a:fillRect/>
          </a:stretch>
        </p:blipFill>
        <p:spPr bwMode="white">
          <a:xfrm>
            <a:off x="9996846" y="356982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4" name="Graphic 93"/>
          <p:cNvPicPr>
            <a:picLocks noChangeAspect="1"/>
          </p:cNvPicPr>
          <p:nvPr/>
        </p:nvPicPr>
        <p:blipFill>
          <a:blip r:embed="rId41">
            <a:lum/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rcRect/>
          <a:stretch>
            <a:fillRect/>
          </a:stretch>
        </p:blipFill>
        <p:spPr bwMode="white">
          <a:xfrm>
            <a:off x="10009443" y="525644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5" name="TextBox 94"/>
          <p:cNvSpPr txBox="1">
            <a:spLocks noChangeArrowheads="1"/>
          </p:cNvSpPr>
          <p:nvPr/>
        </p:nvSpPr>
        <p:spPr bwMode="white">
          <a:xfrm>
            <a:off x="10207481" y="3578463"/>
            <a:ext cx="150554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App enforced restrictions</a:t>
            </a:r>
          </a:p>
        </p:txBody>
      </p:sp>
      <p:sp>
        <p:nvSpPr>
          <p:cNvPr id="96" name="TextBox 95"/>
          <p:cNvSpPr txBox="1">
            <a:spLocks noChangeArrowheads="1"/>
          </p:cNvSpPr>
          <p:nvPr/>
        </p:nvSpPr>
        <p:spPr bwMode="white">
          <a:xfrm>
            <a:off x="10201167" y="3899846"/>
            <a:ext cx="181011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Conditional Access App Control</a:t>
            </a:r>
          </a:p>
        </p:txBody>
      </p:sp>
      <p:sp>
        <p:nvSpPr>
          <p:cNvPr id="97" name="TextBox 96"/>
          <p:cNvSpPr txBox="1">
            <a:spLocks noChangeArrowheads="1"/>
          </p:cNvSpPr>
          <p:nvPr/>
        </p:nvSpPr>
        <p:spPr bwMode="white">
          <a:xfrm>
            <a:off x="10215627" y="4357505"/>
            <a:ext cx="1090363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Sign-in frequency</a:t>
            </a:r>
          </a:p>
        </p:txBody>
      </p:sp>
      <p:sp>
        <p:nvSpPr>
          <p:cNvPr id="98" name="TextBox 97"/>
          <p:cNvSpPr txBox="1">
            <a:spLocks noChangeArrowheads="1"/>
          </p:cNvSpPr>
          <p:nvPr/>
        </p:nvSpPr>
        <p:spPr bwMode="white">
          <a:xfrm>
            <a:off x="10225446" y="4793305"/>
            <a:ext cx="156966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Persistent browser session</a:t>
            </a:r>
          </a:p>
        </p:txBody>
      </p:sp>
      <p:sp>
        <p:nvSpPr>
          <p:cNvPr id="100" name="TextBox 99"/>
          <p:cNvSpPr txBox="1">
            <a:spLocks noChangeArrowheads="1"/>
          </p:cNvSpPr>
          <p:nvPr/>
        </p:nvSpPr>
        <p:spPr bwMode="white">
          <a:xfrm>
            <a:off x="10229552" y="5232376"/>
            <a:ext cx="1717137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Continuous access evaluation</a:t>
            </a:r>
          </a:p>
        </p:txBody>
      </p:sp>
      <p:sp>
        <p:nvSpPr>
          <p:cNvPr id="101" name="TextBox 100"/>
          <p:cNvSpPr txBox="1">
            <a:spLocks noChangeArrowheads="1"/>
          </p:cNvSpPr>
          <p:nvPr/>
        </p:nvSpPr>
        <p:spPr bwMode="white">
          <a:xfrm>
            <a:off x="10259108" y="5658625"/>
            <a:ext cx="153599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Disable resilience defaults</a:t>
            </a:r>
          </a:p>
        </p:txBody>
      </p:sp>
      <p:pic>
        <p:nvPicPr>
          <p:cNvPr id="103" name="Graphic 102"/>
          <p:cNvPicPr>
            <a:picLocks noChangeAspect="1"/>
          </p:cNvPicPr>
          <p:nvPr/>
        </p:nvPicPr>
        <p:blipFill>
          <a:blip r:embed="rId43">
            <a:lum/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rcRect/>
          <a:stretch>
            <a:fillRect/>
          </a:stretch>
        </p:blipFill>
        <p:spPr bwMode="white">
          <a:xfrm>
            <a:off x="9996846" y="479900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5" name="Graphic 104"/>
          <p:cNvPicPr>
            <a:picLocks noChangeAspect="1"/>
          </p:cNvPicPr>
          <p:nvPr/>
        </p:nvPicPr>
        <p:blipFill>
          <a:blip r:embed="rId45">
            <a:lum/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rcRect/>
          <a:stretch>
            <a:fillRect/>
          </a:stretch>
        </p:blipFill>
        <p:spPr bwMode="white">
          <a:xfrm>
            <a:off x="9996846" y="437457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7" name="Graphic 106"/>
          <p:cNvPicPr>
            <a:picLocks noChangeAspect="1"/>
          </p:cNvPicPr>
          <p:nvPr/>
        </p:nvPicPr>
        <p:blipFill>
          <a:blip r:embed="rId7">
            <a:lum/>
            <a:extLst>
              <a:ext uri="{96DAC541-7B7A-43D3-8B79-37D633B846F1}">
                <asvg:svgBlip xmlns:asvg="http://schemas.microsoft.com/office/drawing/2016/SVG/main" r:embed="rId47"/>
              </a:ext>
            </a:extLst>
          </a:blip>
          <a:srcRect/>
          <a:stretch>
            <a:fillRect/>
          </a:stretch>
        </p:blipFill>
        <p:spPr bwMode="white">
          <a:xfrm>
            <a:off x="9996846" y="391529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15" name="SessionSifInterval"/>
          <p:cNvSpPr txBox="1">
            <a:spLocks noChangeArrowheads="1"/>
          </p:cNvSpPr>
          <p:nvPr/>
        </p:nvSpPr>
        <p:spPr bwMode="white">
          <a:xfrm>
            <a:off x="10296745" y="4516775"/>
            <a:ext cx="1249060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Periodic reauthentication</a:t>
            </a:r>
          </a:p>
        </p:txBody>
      </p:sp>
      <p:sp>
        <p:nvSpPr>
          <p:cNvPr id="114" name="SessionCasType"/>
          <p:cNvSpPr txBox="1">
            <a:spLocks noChangeArrowheads="1"/>
          </p:cNvSpPr>
          <p:nvPr/>
        </p:nvSpPr>
        <p:spPr bwMode="white">
          <a:xfrm>
            <a:off x="10296745" y="4075500"/>
            <a:ext cx="95410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App Control Policy</a:t>
            </a:r>
          </a:p>
        </p:txBody>
      </p:sp>
      <p:sp>
        <p:nvSpPr>
          <p:cNvPr id="116" name="SessionPersistenBrowserMode"/>
          <p:cNvSpPr txBox="1">
            <a:spLocks noChangeArrowheads="1"/>
          </p:cNvSpPr>
          <p:nvPr/>
        </p:nvSpPr>
        <p:spPr bwMode="white">
          <a:xfrm>
            <a:off x="10309761" y="4945281"/>
            <a:ext cx="918841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Always persistent</a:t>
            </a:r>
          </a:p>
        </p:txBody>
      </p:sp>
      <p:sp>
        <p:nvSpPr>
          <p:cNvPr id="118" name="SessionCaeMode"/>
          <p:cNvSpPr txBox="1">
            <a:spLocks noChangeArrowheads="1"/>
          </p:cNvSpPr>
          <p:nvPr/>
        </p:nvSpPr>
        <p:spPr bwMode="white">
          <a:xfrm>
            <a:off x="10301386" y="5393378"/>
            <a:ext cx="15359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US" sz="800" dirty="0"/>
              <a:t>Strictly enforce location policies</a:t>
            </a:r>
          </a:p>
        </p:txBody>
      </p:sp>
      <p:sp>
        <p:nvSpPr>
          <p:cNvPr id="119" name="ShadeSessionAppEnforced"/>
          <p:cNvSpPr>
            <a:spLocks/>
          </p:cNvSpPr>
          <p:nvPr/>
        </p:nvSpPr>
        <p:spPr bwMode="white">
          <a:xfrm>
            <a:off x="9959680" y="3548808"/>
            <a:ext cx="2051597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0" name="ShadeSessionCas"/>
          <p:cNvSpPr>
            <a:spLocks/>
          </p:cNvSpPr>
          <p:nvPr/>
        </p:nvSpPr>
        <p:spPr bwMode="white">
          <a:xfrm>
            <a:off x="9978939" y="3884212"/>
            <a:ext cx="2087576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1" name="ShadeSessionSif"/>
          <p:cNvSpPr>
            <a:spLocks/>
          </p:cNvSpPr>
          <p:nvPr/>
        </p:nvSpPr>
        <p:spPr bwMode="white">
          <a:xfrm>
            <a:off x="9940787" y="4320077"/>
            <a:ext cx="2125728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2" name="ShadeSessionPersistentBrowser"/>
          <p:cNvSpPr>
            <a:spLocks/>
          </p:cNvSpPr>
          <p:nvPr/>
        </p:nvSpPr>
        <p:spPr bwMode="white">
          <a:xfrm>
            <a:off x="9938833" y="4746195"/>
            <a:ext cx="207244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" name="Label Secure Sign In Session"/>
          <p:cNvSpPr txBox="1">
            <a:spLocks noChangeArrowheads="1"/>
          </p:cNvSpPr>
          <p:nvPr/>
        </p:nvSpPr>
        <p:spPr bwMode="white">
          <a:xfrm>
            <a:off x="10260000" y="6084874"/>
            <a:ext cx="166584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Token protection for session</a:t>
            </a:r>
          </a:p>
        </p:txBody>
      </p:sp>
      <p:pic>
        <p:nvPicPr>
          <p:cNvPr id="77" name="IconSessionCaeDisable" descr="Close with solid fill"/>
          <p:cNvPicPr>
            <a:picLocks noChangeAspect="1"/>
          </p:cNvPicPr>
          <p:nvPr/>
        </p:nvPicPr>
        <p:blipFill>
          <a:blip r:embed="rId48">
            <a:lum/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rcRect/>
          <a:stretch>
            <a:fillRect/>
          </a:stretch>
        </p:blipFill>
        <p:spPr bwMode="white">
          <a:xfrm>
            <a:off x="9979885" y="5218651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2" name="IconSessionSecureSignInSession 1"/>
          <p:cNvPicPr>
            <a:picLocks noChangeAspect="1"/>
          </p:cNvPicPr>
          <p:nvPr/>
        </p:nvPicPr>
        <p:blipFill>
          <a:blip r:embed="rId50">
            <a:lum/>
            <a:extLst>
              <a:ext uri="{96DAC541-7B7A-43D3-8B79-37D633B846F1}">
                <asvg:svgBlip xmlns:asvg="http://schemas.microsoft.com/office/drawing/2016/SVG/main" r:embed="rId51"/>
              </a:ext>
            </a:extLst>
          </a:blip>
          <a:srcRect/>
          <a:stretch>
            <a:fillRect/>
          </a:stretch>
        </p:blipFill>
        <p:spPr bwMode="white">
          <a:xfrm>
            <a:off x="9997200" y="6085768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3" name="ShadeSessionCae"/>
          <p:cNvSpPr>
            <a:spLocks/>
          </p:cNvSpPr>
          <p:nvPr/>
        </p:nvSpPr>
        <p:spPr bwMode="white">
          <a:xfrm>
            <a:off x="9987595" y="5219780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76" name="ShadeSessionSecureSignIn"/>
          <p:cNvSpPr>
            <a:spLocks/>
          </p:cNvSpPr>
          <p:nvPr/>
        </p:nvSpPr>
        <p:spPr bwMode="white">
          <a:xfrm>
            <a:off x="9996846" y="5986498"/>
            <a:ext cx="2014431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pic>
        <p:nvPicPr>
          <p:cNvPr id="102" name="Graphic 101"/>
          <p:cNvPicPr>
            <a:picLocks noChangeAspect="1"/>
          </p:cNvPicPr>
          <p:nvPr/>
        </p:nvPicPr>
        <p:blipFill>
          <a:blip r:embed="rId52">
            <a:lum/>
            <a:extLst>
              <a:ext uri="{96DAC541-7B7A-43D3-8B79-37D633B846F1}">
                <asvg:svgBlip xmlns:asvg="http://schemas.microsoft.com/office/drawing/2016/SVG/main" r:embed="rId53"/>
              </a:ext>
            </a:extLst>
          </a:blip>
          <a:srcRect/>
          <a:stretch>
            <a:fillRect/>
          </a:stretch>
        </p:blipFill>
        <p:spPr bwMode="white">
          <a:xfrm>
            <a:off x="9997200" y="5663777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80" name="Graphic 79" descr="Close with solid fill"/>
          <p:cNvPicPr>
            <a:picLocks noChangeAspect="1"/>
          </p:cNvPicPr>
          <p:nvPr/>
        </p:nvPicPr>
        <p:blipFill>
          <a:blip r:embed="rId48">
            <a:lum/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rcRect/>
          <a:stretch>
            <a:fillRect/>
          </a:stretch>
        </p:blipFill>
        <p:spPr bwMode="white">
          <a:xfrm>
            <a:off x="9963899" y="5637424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4" name="ShadeSessionDisableResilience"/>
          <p:cNvSpPr>
            <a:spLocks/>
          </p:cNvSpPr>
          <p:nvPr/>
        </p:nvSpPr>
        <p:spPr bwMode="white">
          <a:xfrm>
            <a:off x="9959681" y="5602709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2" name="PolicyName">
            <a:hlinkClick r:id="" action="ppaction://hlinkfile"/>
          </p:cNvPr>
          <p:cNvSpPr>
            <a:spLocks noGrp="1"/>
          </p:cNvSpPr>
          <p:nvPr>
            <p:ph type="title"/>
          </p:nvPr>
        </p:nvSpPr>
        <p:spPr bwMode="white">
          <a:xfrm>
            <a:off x="838200" y="115511"/>
            <a:ext cx="10003967" cy="609565"/>
          </a:xfrm>
          <a:ln>
            <a:headEnd type="none"/>
            <a:tailEnd type="none"/>
          </a:ln>
        </p:spPr>
        <p:txBody>
          <a:bodyPr wrap="square">
            <a:noAutofit/>
          </a:bodyPr>
          <a:lstStyle/>
          <a:p>
            <a:pPr defTabSz="914400"/>
            <a:r>
              <a:rPr lang="en-US" sz="2000" b="1" dirty="0"/>
              <a:t>[Risky Sign in] [All Users] {HIGH} (Block)</a:t>
            </a:r>
          </a:p>
        </p:txBody>
      </p:sp>
      <p:sp>
        <p:nvSpPr>
          <p:cNvPr id="16" name="LastModified"/>
          <p:cNvSpPr txBox="1">
            <a:spLocks noChangeArrowheads="1"/>
          </p:cNvSpPr>
          <p:nvPr/>
        </p:nvSpPr>
        <p:spPr bwMode="white">
          <a:xfrm>
            <a:off x="10556111" y="388376"/>
            <a:ext cx="15483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algn="r" defTabSz="457200"/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Last modified: 2025-04-16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UserWorkload"/>
          <p:cNvSpPr>
            <a:spLocks/>
          </p:cNvSpPr>
          <p:nvPr/>
        </p:nvSpPr>
        <p:spPr bwMode="auto">
          <a:xfrm>
            <a:off x="175820" y="2709769"/>
            <a:ext cx="2202823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Users</a:t>
            </a:r>
          </a:p>
        </p:txBody>
      </p:sp>
      <p:sp>
        <p:nvSpPr>
          <p:cNvPr id="7" name="UserWorkloadIncExc"/>
          <p:cNvSpPr txBox="1">
            <a:spLocks noChangeArrowheads="1"/>
          </p:cNvSpPr>
          <p:nvPr/>
        </p:nvSpPr>
        <p:spPr bwMode="white">
          <a:xfrm>
            <a:off x="125485" y="3698952"/>
            <a:ext cx="3062115" cy="313265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 numCol="1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b="1" dirty="0"/>
            </a:pPr>
            <a:r>
              <a:t> Users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r>
              <a:t>🚫 Exclude:</a:t>
            </a:r>
          </a:p>
          <a:p>
            <a:pPr defTabSz="457200">
              <a:defRPr sz="1100" b="1" dirty="0"/>
            </a:pPr>
            <a:r>
              <a:t> Groups</a:t>
            </a:r>
          </a:p>
          <a:p>
            <a:pPr defTabSz="457200">
              <a:defRPr sz="1100" dirty="0"/>
            </a:pPr>
            <a:r>
              <a:t> - CO_PIVExceptions (8)</a:t>
            </a:r>
          </a:p>
          <a:p>
            <a:pPr defTabSz="457200">
              <a:defRPr sz="1100" dirty="0"/>
            </a:pPr>
            <a:r>
              <a:t> - CO_SVO365ServiceAccounts (25)</a:t>
            </a:r>
          </a:p>
          <a:p>
            <a:pPr defTabSz="457200">
              <a:defRPr sz="1100" dirty="0"/>
            </a:pPr>
            <a:r>
              <a:t> - EntraConnectSyncAccounts (2)</a:t>
            </a:r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19" name="Risks"/>
          <p:cNvSpPr txBox="1">
            <a:spLocks noChangeArrowheads="1"/>
          </p:cNvSpPr>
          <p:nvPr/>
        </p:nvSpPr>
        <p:spPr bwMode="white">
          <a:xfrm>
            <a:off x="524485" y="1021946"/>
            <a:ext cx="1348869" cy="166886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b="1" dirty="0"/>
            </a:pPr>
            <a:r>
              <a:t>Sign-in risk:</a:t>
            </a:r>
          </a:p>
          <a:p>
            <a:pPr defTabSz="457200">
              <a:defRPr sz="1100" dirty="0"/>
            </a:pPr>
            <a:r>
              <a:t> - Medium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20" name="Platforms"/>
          <p:cNvSpPr txBox="1">
            <a:spLocks noChangeArrowheads="1"/>
          </p:cNvSpPr>
          <p:nvPr/>
        </p:nvSpPr>
        <p:spPr bwMode="white">
          <a:xfrm>
            <a:off x="1826931" y="1021947"/>
            <a:ext cx="2061056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3" name="Locations"/>
          <p:cNvSpPr txBox="1">
            <a:spLocks noChangeArrowheads="1"/>
          </p:cNvSpPr>
          <p:nvPr/>
        </p:nvSpPr>
        <p:spPr bwMode="white">
          <a:xfrm>
            <a:off x="8324941" y="1021947"/>
            <a:ext cx="3513702" cy="159258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4" name="ClientAppTypes"/>
          <p:cNvSpPr txBox="1">
            <a:spLocks noChangeArrowheads="1"/>
          </p:cNvSpPr>
          <p:nvPr/>
        </p:nvSpPr>
        <p:spPr bwMode="white">
          <a:xfrm>
            <a:off x="3810664" y="1021947"/>
            <a:ext cx="1581599" cy="165343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5" name="DeviceFilters"/>
          <p:cNvSpPr txBox="1">
            <a:spLocks noChangeArrowheads="1"/>
          </p:cNvSpPr>
          <p:nvPr/>
        </p:nvSpPr>
        <p:spPr bwMode="white">
          <a:xfrm>
            <a:off x="5818151" y="1022762"/>
            <a:ext cx="2248808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cxnSp>
        <p:nvCxnSpPr>
          <p:cNvPr id="27" name="Straight Arrow Connector 26" descr="Arrow drawn from user/workload  to the action being performed by the user such as accessing cloud apps."/>
          <p:cNvCxnSpPr/>
          <p:nvPr/>
        </p:nvCxnSpPr>
        <p:spPr bwMode="white">
          <a:xfrm>
            <a:off x="2195232" y="3159047"/>
            <a:ext cx="3959471" cy="1"/>
          </a:xfrm>
          <a:prstGeom prst="straightConnector1">
            <a:avLst/>
          </a:prstGeom>
          <a:ln w="76200"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2" name="GrantLabelGrantAccess"/>
          <p:cNvSpPr txBox="1">
            <a:spLocks noChangeArrowheads="1"/>
          </p:cNvSpPr>
          <p:nvPr/>
        </p:nvSpPr>
        <p:spPr bwMode="white">
          <a:xfrm>
            <a:off x="3928464" y="2723089"/>
            <a:ext cx="1381340" cy="369332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algn="ctr" defTabSz="457200"/>
            <a:r>
              <a:rPr lang="en-US" b="1" dirty="0">
                <a:solidFill>
                  <a:srgbClr val="00B050"/>
                </a:solidFill>
              </a:rPr>
              <a:t>Grant access</a:t>
            </a:r>
          </a:p>
        </p:txBody>
      </p:sp>
      <p:pic>
        <p:nvPicPr>
          <p:cNvPr id="35" name="IconGrantAccess" descr="Picture with gren tick sign to indicate access was granted"/>
          <p:cNvPicPr>
            <a:picLocks noChangeAspect="1"/>
          </p:cNvPicPr>
          <p:nvPr/>
        </p:nvPicPr>
        <p:blipFill>
          <a:blip r:embed="rId3">
            <a:lum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 bwMode="white">
          <a:xfrm>
            <a:off x="5309361" y="2730170"/>
            <a:ext cx="356616" cy="356616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26" name="IconGroupIdentity"/>
          <p:cNvPicPr>
            <a:picLocks noChangeAspect="1"/>
          </p:cNvPicPr>
          <p:nvPr/>
        </p:nvPicPr>
        <p:blipFill>
          <a:blip r:embed="rId5">
            <a:lum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 bwMode="white">
          <a:xfrm>
            <a:off x="327701" y="2839007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36" name="Graphic 35"/>
          <p:cNvPicPr>
            <a:picLocks noChangeAspect="1"/>
          </p:cNvPicPr>
          <p:nvPr/>
        </p:nvPicPr>
        <p:blipFill>
          <a:blip r:embed="rId7">
            <a:lum/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p:blipFill>
        <p:spPr bwMode="white">
          <a:xfrm>
            <a:off x="495610" y="197468"/>
            <a:ext cx="381196" cy="38119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" name="CloudAppAction"/>
          <p:cNvSpPr>
            <a:spLocks/>
          </p:cNvSpPr>
          <p:nvPr/>
        </p:nvSpPr>
        <p:spPr bwMode="auto">
          <a:xfrm>
            <a:off x="6206089" y="2718506"/>
            <a:ext cx="3227026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Azure Active Directory</a:t>
            </a:r>
          </a:p>
        </p:txBody>
      </p:sp>
      <p:pic>
        <p:nvPicPr>
          <p:cNvPr id="41" name="IconAccessAzureAD"/>
          <p:cNvPicPr>
            <a:picLocks noChangeAspect="1"/>
          </p:cNvPicPr>
          <p:nvPr/>
        </p:nvPicPr>
        <p:blipFill>
          <a:blip r:embed="rId9">
            <a:lum/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p:blipFill>
        <p:spPr bwMode="white">
          <a:xfrm>
            <a:off x="6473980" y="2882544"/>
            <a:ext cx="548640" cy="54864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21" name="StateEnabled"/>
          <p:cNvSpPr>
            <a:spLocks/>
          </p:cNvSpPr>
          <p:nvPr/>
        </p:nvSpPr>
        <p:spPr bwMode="white">
          <a:xfrm>
            <a:off x="10842171" y="83487"/>
            <a:ext cx="1260389" cy="264812"/>
          </a:xfrm>
          <a:prstGeom prst="round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r>
              <a:rPr lang="en-US" sz="800" dirty="0"/>
              <a:t>Policy Enabled</a:t>
            </a:r>
          </a:p>
        </p:txBody>
      </p:sp>
      <p:grpSp>
        <p:nvGrpSpPr>
          <p:cNvPr id="10" name="IconRiskyUsers"/>
          <p:cNvGrpSpPr>
            <a:grpSpLocks/>
          </p:cNvGrpSpPr>
          <p:nvPr/>
        </p:nvGrpSpPr>
        <p:grpSpPr bwMode="white">
          <a:xfrm>
            <a:off x="635426" y="738677"/>
            <a:ext cx="1202553" cy="274320"/>
            <a:chOff x="2013768" y="1033956"/>
            <a:chExt cx="1342320" cy="274320"/>
          </a:xfrm>
        </p:grpSpPr>
        <p:pic>
          <p:nvPicPr>
            <p:cNvPr id="46" name="Graphic 1"/>
            <p:cNvPicPr>
              <a:picLocks noChangeAspect="1"/>
            </p:cNvPicPr>
            <p:nvPr/>
          </p:nvPicPr>
          <p:blipFill>
            <a:blip r:embed="rId11">
              <a:lum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013768" y="1033956"/>
              <a:ext cx="274320" cy="27432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5" name="Label 1"/>
            <p:cNvSpPr txBox="1">
              <a:spLocks noChangeArrowheads="1"/>
            </p:cNvSpPr>
            <p:nvPr/>
          </p:nvSpPr>
          <p:spPr bwMode="white">
            <a:xfrm>
              <a:off x="2240077" y="1040706"/>
              <a:ext cx="1116011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Risk</a:t>
              </a:r>
            </a:p>
          </p:txBody>
        </p:sp>
      </p:grpSp>
      <p:grpSp>
        <p:nvGrpSpPr>
          <p:cNvPr id="14" name="IconPlatforms"/>
          <p:cNvGrpSpPr>
            <a:grpSpLocks/>
          </p:cNvGrpSpPr>
          <p:nvPr/>
        </p:nvGrpSpPr>
        <p:grpSpPr bwMode="white">
          <a:xfrm>
            <a:off x="1927788" y="715249"/>
            <a:ext cx="1719285" cy="365760"/>
            <a:chOff x="3262737" y="994835"/>
            <a:chExt cx="1719285" cy="365760"/>
          </a:xfrm>
        </p:grpSpPr>
        <p:pic>
          <p:nvPicPr>
            <p:cNvPr id="29" name="Graphic 1"/>
            <p:cNvPicPr>
              <a:picLocks noChangeAspect="1"/>
            </p:cNvPicPr>
            <p:nvPr/>
          </p:nvPicPr>
          <p:blipFill>
            <a:blip r:embed="rId13">
              <a:lum/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3262737" y="994835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1" name="Label 1"/>
            <p:cNvSpPr txBox="1">
              <a:spLocks noChangeArrowheads="1"/>
            </p:cNvSpPr>
            <p:nvPr/>
          </p:nvSpPr>
          <p:spPr bwMode="white">
            <a:xfrm>
              <a:off x="3582397" y="1027255"/>
              <a:ext cx="1399625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Device platforms</a:t>
              </a:r>
            </a:p>
          </p:txBody>
        </p:sp>
      </p:grpSp>
      <p:grpSp>
        <p:nvGrpSpPr>
          <p:cNvPr id="17" name="IconClientAppTypes"/>
          <p:cNvGrpSpPr>
            <a:grpSpLocks/>
          </p:cNvGrpSpPr>
          <p:nvPr/>
        </p:nvGrpSpPr>
        <p:grpSpPr bwMode="white">
          <a:xfrm>
            <a:off x="3908159" y="670015"/>
            <a:ext cx="1852971" cy="365760"/>
            <a:chOff x="4858970" y="975927"/>
            <a:chExt cx="1852971" cy="365760"/>
          </a:xfrm>
        </p:grpSpPr>
        <p:pic>
          <p:nvPicPr>
            <p:cNvPr id="58" name="Graphic 1"/>
            <p:cNvPicPr>
              <a:picLocks noChangeAspect="1"/>
            </p:cNvPicPr>
            <p:nvPr/>
          </p:nvPicPr>
          <p:blipFill>
            <a:blip r:embed="rId15">
              <a:lum/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858970" y="975927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5" name="Label 1"/>
            <p:cNvSpPr txBox="1">
              <a:spLocks noChangeArrowheads="1"/>
            </p:cNvSpPr>
            <p:nvPr/>
          </p:nvSpPr>
          <p:spPr bwMode="white">
            <a:xfrm>
              <a:off x="5193983" y="1009899"/>
              <a:ext cx="1517958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Client apps</a:t>
              </a:r>
            </a:p>
          </p:txBody>
        </p:sp>
      </p:grpSp>
      <p:grpSp>
        <p:nvGrpSpPr>
          <p:cNvPr id="37" name="IconLocations"/>
          <p:cNvGrpSpPr>
            <a:grpSpLocks/>
          </p:cNvGrpSpPr>
          <p:nvPr/>
        </p:nvGrpSpPr>
        <p:grpSpPr bwMode="white">
          <a:xfrm>
            <a:off x="8411896" y="646848"/>
            <a:ext cx="1850168" cy="388465"/>
            <a:chOff x="2321433" y="3262888"/>
            <a:chExt cx="1850168" cy="388465"/>
          </a:xfrm>
        </p:grpSpPr>
        <p:pic>
          <p:nvPicPr>
            <p:cNvPr id="33" name="Graphic 1"/>
            <p:cNvPicPr>
              <a:picLocks noChangeAspect="1"/>
            </p:cNvPicPr>
            <p:nvPr/>
          </p:nvPicPr>
          <p:blipFill>
            <a:blip r:embed="rId17">
              <a:lum/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321433" y="3262888"/>
              <a:ext cx="388465" cy="388465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28" name="Label 1"/>
            <p:cNvSpPr txBox="1">
              <a:spLocks noChangeArrowheads="1"/>
            </p:cNvSpPr>
            <p:nvPr/>
          </p:nvSpPr>
          <p:spPr bwMode="white">
            <a:xfrm>
              <a:off x="2713321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Locations</a:t>
              </a:r>
              <a:endParaRPr lang="en-US" sz="1100" b="1" dirty="0"/>
            </a:p>
          </p:txBody>
        </p:sp>
      </p:grpSp>
      <p:grpSp>
        <p:nvGrpSpPr>
          <p:cNvPr id="39" name="IconDeviceFilters"/>
          <p:cNvGrpSpPr>
            <a:grpSpLocks/>
          </p:cNvGrpSpPr>
          <p:nvPr/>
        </p:nvGrpSpPr>
        <p:grpSpPr bwMode="white">
          <a:xfrm>
            <a:off x="5472818" y="661958"/>
            <a:ext cx="1839823" cy="364111"/>
            <a:chOff x="4195414" y="3273669"/>
            <a:chExt cx="1839823" cy="364111"/>
          </a:xfrm>
        </p:grpSpPr>
        <p:pic>
          <p:nvPicPr>
            <p:cNvPr id="60" name="Graphic 1"/>
            <p:cNvPicPr>
              <a:picLocks noChangeAspect="1"/>
            </p:cNvPicPr>
            <p:nvPr/>
          </p:nvPicPr>
          <p:blipFill>
            <a:blip r:embed="rId19">
              <a:lum/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195414" y="3273669"/>
              <a:ext cx="364111" cy="364111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31" name="Label 1"/>
            <p:cNvSpPr txBox="1">
              <a:spLocks noChangeArrowheads="1"/>
            </p:cNvSpPr>
            <p:nvPr/>
          </p:nvSpPr>
          <p:spPr bwMode="white">
            <a:xfrm>
              <a:off x="4576957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Filter for devices</a:t>
              </a:r>
              <a:endParaRPr lang="en-US" sz="1100" b="1" dirty="0"/>
            </a:p>
          </p:txBody>
        </p:sp>
      </p:grpSp>
      <p:pic>
        <p:nvPicPr>
          <p:cNvPr id="62" name="IconGrantMultifactorAuthentication"/>
          <p:cNvPicPr>
            <a:picLocks noChangeAspect="1"/>
          </p:cNvPicPr>
          <p:nvPr/>
        </p:nvPicPr>
        <p:blipFill>
          <a:blip r:embed="rId21">
            <a:lum/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>
            <a:fillRect/>
          </a:stretch>
        </p:blipFill>
        <p:spPr bwMode="white">
          <a:xfrm>
            <a:off x="3410647" y="3566863"/>
            <a:ext cx="17145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5" name="IconGrantMultifactorAuthenticationLabel"/>
          <p:cNvSpPr txBox="1">
            <a:spLocks noChangeArrowheads="1"/>
          </p:cNvSpPr>
          <p:nvPr/>
        </p:nvSpPr>
        <p:spPr bwMode="white">
          <a:xfrm>
            <a:off x="3575836" y="3571997"/>
            <a:ext cx="19007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Multifactor authentication</a:t>
            </a:r>
            <a:endParaRPr lang="en-US" sz="1000" dirty="0"/>
          </a:p>
        </p:txBody>
      </p:sp>
      <p:pic>
        <p:nvPicPr>
          <p:cNvPr id="38" name="IconGrantAuthenticationStrength"/>
          <p:cNvPicPr>
            <a:picLocks noChangeAspect="1"/>
          </p:cNvPicPr>
          <p:nvPr/>
        </p:nvPicPr>
        <p:blipFill>
          <a:blip r:embed="rId23">
            <a:lum/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/>
          <a:stretch>
            <a:fillRect/>
          </a:stretch>
        </p:blipFill>
        <p:spPr bwMode="white">
          <a:xfrm>
            <a:off x="3374515" y="3905034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7" name="IconGrantAuthenticationStrengthLabel"/>
          <p:cNvSpPr txBox="1">
            <a:spLocks noChangeArrowheads="1"/>
          </p:cNvSpPr>
          <p:nvPr/>
        </p:nvSpPr>
        <p:spPr bwMode="white">
          <a:xfrm>
            <a:off x="3575836" y="3907323"/>
            <a:ext cx="2185294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Auth strength:Phishing-resistant MFA</a:t>
            </a:r>
            <a:endParaRPr lang="en-US" sz="1000" dirty="0"/>
          </a:p>
        </p:txBody>
      </p:sp>
      <p:pic>
        <p:nvPicPr>
          <p:cNvPr id="52" name="IconGrantDeviceCompliance"/>
          <p:cNvPicPr>
            <a:picLocks noChangeAspect="1"/>
          </p:cNvPicPr>
          <p:nvPr/>
        </p:nvPicPr>
        <p:blipFill>
          <a:blip r:embed="rId25">
            <a:lum/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/>
          <a:stretch>
            <a:fillRect/>
          </a:stretch>
        </p:blipFill>
        <p:spPr bwMode="white">
          <a:xfrm>
            <a:off x="3374515" y="4243205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9" name="IconGrantDeviceComplianceLabel"/>
          <p:cNvSpPr txBox="1">
            <a:spLocks noChangeArrowheads="1"/>
          </p:cNvSpPr>
          <p:nvPr/>
        </p:nvSpPr>
        <p:spPr bwMode="white">
          <a:xfrm>
            <a:off x="3575836" y="4242649"/>
            <a:ext cx="17378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Compliant device</a:t>
            </a:r>
            <a:endParaRPr lang="en-US" sz="1000" dirty="0"/>
          </a:p>
        </p:txBody>
      </p:sp>
      <p:pic>
        <p:nvPicPr>
          <p:cNvPr id="43" name="IconGrantHybridJoined"/>
          <p:cNvPicPr>
            <a:picLocks noChangeAspect="1"/>
          </p:cNvPicPr>
          <p:nvPr/>
        </p:nvPicPr>
        <p:blipFill>
          <a:blip r:embed="rId27">
            <a:lum/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/>
          <a:stretch>
            <a:fillRect/>
          </a:stretch>
        </p:blipFill>
        <p:spPr bwMode="white">
          <a:xfrm>
            <a:off x="3374515" y="4581376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3" name="IconGrantHybridJoinedLabel"/>
          <p:cNvSpPr txBox="1">
            <a:spLocks noChangeArrowheads="1"/>
          </p:cNvSpPr>
          <p:nvPr/>
        </p:nvSpPr>
        <p:spPr bwMode="white">
          <a:xfrm>
            <a:off x="3575836" y="4577975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Hybrid Azure AD joined device</a:t>
            </a:r>
            <a:endParaRPr lang="en-US" sz="1000" dirty="0"/>
          </a:p>
        </p:txBody>
      </p:sp>
      <p:pic>
        <p:nvPicPr>
          <p:cNvPr id="48" name="IconGrantApprovedClientApp"/>
          <p:cNvPicPr>
            <a:picLocks noChangeAspect="1"/>
          </p:cNvPicPr>
          <p:nvPr/>
        </p:nvPicPr>
        <p:blipFill>
          <a:blip r:embed="rId29">
            <a:lum/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rcRect/>
          <a:stretch>
            <a:fillRect/>
          </a:stretch>
        </p:blipFill>
        <p:spPr bwMode="white">
          <a:xfrm>
            <a:off x="3374515" y="491954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5" name="IconGrantApprovedClientAppLabel"/>
          <p:cNvSpPr txBox="1">
            <a:spLocks noChangeArrowheads="1"/>
          </p:cNvSpPr>
          <p:nvPr/>
        </p:nvSpPr>
        <p:spPr bwMode="white">
          <a:xfrm>
            <a:off x="3575836" y="4913301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Approved client app</a:t>
            </a:r>
            <a:endParaRPr lang="en-US" sz="1000" dirty="0"/>
          </a:p>
        </p:txBody>
      </p:sp>
      <p:pic>
        <p:nvPicPr>
          <p:cNvPr id="42" name="IconGrantCustomAuth"/>
          <p:cNvPicPr>
            <a:picLocks noChangeAspect="1"/>
          </p:cNvPicPr>
          <p:nvPr/>
        </p:nvPicPr>
        <p:blipFill>
          <a:blip r:embed="rId31">
            <a:lum/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rcRect/>
          <a:stretch>
            <a:fillRect/>
          </a:stretch>
        </p:blipFill>
        <p:spPr bwMode="white">
          <a:xfrm>
            <a:off x="3374515" y="593406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9" name="IconGrantCustomAuthLabel"/>
          <p:cNvSpPr txBox="1">
            <a:spLocks noChangeArrowheads="1"/>
          </p:cNvSpPr>
          <p:nvPr/>
        </p:nvSpPr>
        <p:spPr bwMode="white">
          <a:xfrm>
            <a:off x="3575836" y="5919279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Custom authentication factor</a:t>
            </a:r>
            <a:endParaRPr lang="en-US" sz="1000" dirty="0"/>
          </a:p>
        </p:txBody>
      </p:sp>
      <p:pic>
        <p:nvPicPr>
          <p:cNvPr id="40" name="IconGrantTermsOfUse"/>
          <p:cNvPicPr>
            <a:picLocks noChangeAspect="1"/>
          </p:cNvPicPr>
          <p:nvPr/>
        </p:nvPicPr>
        <p:blipFill>
          <a:blip r:embed="rId33">
            <a:lum/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rcRect/>
          <a:stretch>
            <a:fillRect/>
          </a:stretch>
        </p:blipFill>
        <p:spPr bwMode="white">
          <a:xfrm>
            <a:off x="3374515" y="627222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3" name="IconGrantTermsOfUseLabel"/>
          <p:cNvSpPr txBox="1">
            <a:spLocks noChangeArrowheads="1"/>
          </p:cNvSpPr>
          <p:nvPr/>
        </p:nvSpPr>
        <p:spPr bwMode="white">
          <a:xfrm>
            <a:off x="3575836" y="625460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Terms of use</a:t>
            </a:r>
            <a:endParaRPr lang="en-US" sz="1000" dirty="0"/>
          </a:p>
        </p:txBody>
      </p:sp>
      <p:sp>
        <p:nvSpPr>
          <p:cNvPr id="56" name="IconGrantAppProtectionLabel"/>
          <p:cNvSpPr txBox="1">
            <a:spLocks noChangeArrowheads="1"/>
          </p:cNvSpPr>
          <p:nvPr/>
        </p:nvSpPr>
        <p:spPr bwMode="white">
          <a:xfrm>
            <a:off x="3575836" y="524862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 protection policy</a:t>
            </a:r>
            <a:endParaRPr lang="en-US" sz="1000" dirty="0"/>
          </a:p>
        </p:txBody>
      </p:sp>
      <p:pic>
        <p:nvPicPr>
          <p:cNvPr id="65" name="IconGrantAppProtection"/>
          <p:cNvPicPr>
            <a:picLocks noChangeAspect="1"/>
          </p:cNvPicPr>
          <p:nvPr/>
        </p:nvPicPr>
        <p:blipFill>
          <a:blip r:embed="rId35">
            <a:lum/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rcRect/>
          <a:stretch>
            <a:fillRect/>
          </a:stretch>
        </p:blipFill>
        <p:spPr bwMode="white">
          <a:xfrm>
            <a:off x="3374515" y="525771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7" name="IconGrantChangePasswordLabel"/>
          <p:cNvSpPr txBox="1">
            <a:spLocks noChangeArrowheads="1"/>
          </p:cNvSpPr>
          <p:nvPr/>
        </p:nvSpPr>
        <p:spPr bwMode="white">
          <a:xfrm>
            <a:off x="3575836" y="5583953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Change password</a:t>
            </a:r>
            <a:endParaRPr lang="en-US" sz="1000" dirty="0"/>
          </a:p>
        </p:txBody>
      </p:sp>
      <p:pic>
        <p:nvPicPr>
          <p:cNvPr id="67" name="IconGrantChangePassword"/>
          <p:cNvPicPr>
            <a:picLocks noChangeAspect="1"/>
          </p:cNvPicPr>
          <p:nvPr/>
        </p:nvPicPr>
        <p:blipFill>
          <a:blip r:embed="rId37">
            <a:lum/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rcRect/>
          <a:stretch>
            <a:fillRect/>
          </a:stretch>
        </p:blipFill>
        <p:spPr bwMode="white">
          <a:xfrm>
            <a:off x="3374515" y="5595889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6" name="ShadeDevicePlatforms"/>
          <p:cNvSpPr>
            <a:spLocks/>
          </p:cNvSpPr>
          <p:nvPr/>
        </p:nvSpPr>
        <p:spPr bwMode="white">
          <a:xfrm>
            <a:off x="1863623" y="663409"/>
            <a:ext cx="1773927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78" name="ShadeClientApps"/>
          <p:cNvSpPr>
            <a:spLocks/>
          </p:cNvSpPr>
          <p:nvPr/>
        </p:nvSpPr>
        <p:spPr bwMode="white">
          <a:xfrm>
            <a:off x="3802273" y="650246"/>
            <a:ext cx="1481482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79" name="ShadeLocations"/>
          <p:cNvSpPr>
            <a:spLocks/>
          </p:cNvSpPr>
          <p:nvPr/>
        </p:nvSpPr>
        <p:spPr bwMode="white">
          <a:xfrm>
            <a:off x="8217572" y="669110"/>
            <a:ext cx="1873684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2" name="ShadeFilterForDevices"/>
          <p:cNvSpPr>
            <a:spLocks/>
          </p:cNvSpPr>
          <p:nvPr/>
        </p:nvSpPr>
        <p:spPr bwMode="white">
          <a:xfrm>
            <a:off x="5438955" y="627922"/>
            <a:ext cx="1873685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3" name="ShadeGrantMultifactorAuth"/>
          <p:cNvSpPr>
            <a:spLocks/>
          </p:cNvSpPr>
          <p:nvPr/>
        </p:nvSpPr>
        <p:spPr bwMode="white">
          <a:xfrm>
            <a:off x="3369399" y="3534220"/>
            <a:ext cx="2069555" cy="28330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5" name="ShadeGrantCompliantDevice"/>
          <p:cNvSpPr>
            <a:spLocks/>
          </p:cNvSpPr>
          <p:nvPr/>
        </p:nvSpPr>
        <p:spPr bwMode="white">
          <a:xfrm>
            <a:off x="3361852" y="4243205"/>
            <a:ext cx="2077102" cy="26110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6" name="ShadeGrantHybridAzureADJoined"/>
          <p:cNvSpPr>
            <a:spLocks/>
          </p:cNvSpPr>
          <p:nvPr/>
        </p:nvSpPr>
        <p:spPr bwMode="white">
          <a:xfrm>
            <a:off x="3353637" y="4552268"/>
            <a:ext cx="2160906" cy="298395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7" name="ShadeGrantApprovedClientApp"/>
          <p:cNvSpPr>
            <a:spLocks/>
          </p:cNvSpPr>
          <p:nvPr/>
        </p:nvSpPr>
        <p:spPr bwMode="white">
          <a:xfrm>
            <a:off x="3331918" y="4876027"/>
            <a:ext cx="2182625" cy="29839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8" name="ShadeGrantAppProtectionPolicy"/>
          <p:cNvSpPr>
            <a:spLocks/>
          </p:cNvSpPr>
          <p:nvPr/>
        </p:nvSpPr>
        <p:spPr bwMode="white">
          <a:xfrm>
            <a:off x="3350256" y="5207226"/>
            <a:ext cx="2122561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9" name="ShadeGrantChangePassword"/>
          <p:cNvSpPr>
            <a:spLocks/>
          </p:cNvSpPr>
          <p:nvPr/>
        </p:nvSpPr>
        <p:spPr bwMode="white">
          <a:xfrm>
            <a:off x="3350257" y="5557021"/>
            <a:ext cx="2042006" cy="287239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0" name="ShadeGrantCustomAuthFactor"/>
          <p:cNvSpPr>
            <a:spLocks/>
          </p:cNvSpPr>
          <p:nvPr/>
        </p:nvSpPr>
        <p:spPr bwMode="white">
          <a:xfrm>
            <a:off x="3331918" y="5899058"/>
            <a:ext cx="2182625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1" name="ShadeGrantTermsOfUse"/>
          <p:cNvSpPr>
            <a:spLocks/>
          </p:cNvSpPr>
          <p:nvPr/>
        </p:nvSpPr>
        <p:spPr bwMode="white">
          <a:xfrm>
            <a:off x="3313823" y="6192350"/>
            <a:ext cx="101602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99" name="Rectangle 98"/>
          <p:cNvSpPr>
            <a:spLocks/>
          </p:cNvSpPr>
          <p:nvPr/>
        </p:nvSpPr>
        <p:spPr bwMode="white">
          <a:xfrm>
            <a:off x="3268757" y="3253404"/>
            <a:ext cx="2357725" cy="3498546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0" name="Rectangle 109"/>
          <p:cNvSpPr>
            <a:spLocks/>
          </p:cNvSpPr>
          <p:nvPr/>
        </p:nvSpPr>
        <p:spPr bwMode="white">
          <a:xfrm>
            <a:off x="9881750" y="3248255"/>
            <a:ext cx="2220808" cy="3510149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7" name="Rectangle 116"/>
          <p:cNvSpPr>
            <a:spLocks/>
          </p:cNvSpPr>
          <p:nvPr/>
        </p:nvSpPr>
        <p:spPr bwMode="white">
          <a:xfrm>
            <a:off x="26741" y="606825"/>
            <a:ext cx="11985015" cy="2063636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2" name="Conditions Label"/>
          <p:cNvSpPr txBox="1">
            <a:spLocks noChangeArrowheads="1"/>
          </p:cNvSpPr>
          <p:nvPr/>
        </p:nvSpPr>
        <p:spPr bwMode="white">
          <a:xfrm rot="16200000">
            <a:off x="-883507" y="1514324"/>
            <a:ext cx="2081441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Conditions</a:t>
            </a:r>
          </a:p>
        </p:txBody>
      </p:sp>
      <p:sp>
        <p:nvSpPr>
          <p:cNvPr id="109" name="Grant Controls"/>
          <p:cNvSpPr txBox="1">
            <a:spLocks noChangeArrowheads="1"/>
          </p:cNvSpPr>
          <p:nvPr/>
        </p:nvSpPr>
        <p:spPr bwMode="white">
          <a:xfrm>
            <a:off x="3252146" y="3244395"/>
            <a:ext cx="2391873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Grant Controls</a:t>
            </a:r>
          </a:p>
        </p:txBody>
      </p:sp>
      <p:sp>
        <p:nvSpPr>
          <p:cNvPr id="111" name="Session Controls"/>
          <p:cNvSpPr txBox="1">
            <a:spLocks noChangeArrowheads="1"/>
          </p:cNvSpPr>
          <p:nvPr/>
        </p:nvSpPr>
        <p:spPr bwMode="white">
          <a:xfrm>
            <a:off x="9864212" y="3243751"/>
            <a:ext cx="2238346" cy="23786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Session Controls</a:t>
            </a:r>
          </a:p>
        </p:txBody>
      </p:sp>
      <p:pic>
        <p:nvPicPr>
          <p:cNvPr id="72" name="Graphic 71"/>
          <p:cNvPicPr>
            <a:picLocks noChangeAspect="1"/>
          </p:cNvPicPr>
          <p:nvPr/>
        </p:nvPicPr>
        <p:blipFill>
          <a:blip r:embed="rId39">
            <a:lum/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rcRect/>
          <a:stretch>
            <a:fillRect/>
          </a:stretch>
        </p:blipFill>
        <p:spPr bwMode="white">
          <a:xfrm>
            <a:off x="9996846" y="356982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4" name="Graphic 93"/>
          <p:cNvPicPr>
            <a:picLocks noChangeAspect="1"/>
          </p:cNvPicPr>
          <p:nvPr/>
        </p:nvPicPr>
        <p:blipFill>
          <a:blip r:embed="rId41">
            <a:lum/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rcRect/>
          <a:stretch>
            <a:fillRect/>
          </a:stretch>
        </p:blipFill>
        <p:spPr bwMode="white">
          <a:xfrm>
            <a:off x="10009443" y="525644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5" name="TextBox 94"/>
          <p:cNvSpPr txBox="1">
            <a:spLocks noChangeArrowheads="1"/>
          </p:cNvSpPr>
          <p:nvPr/>
        </p:nvSpPr>
        <p:spPr bwMode="white">
          <a:xfrm>
            <a:off x="10207481" y="3578463"/>
            <a:ext cx="150554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App enforced restrictions</a:t>
            </a:r>
          </a:p>
        </p:txBody>
      </p:sp>
      <p:sp>
        <p:nvSpPr>
          <p:cNvPr id="96" name="TextBox 95"/>
          <p:cNvSpPr txBox="1">
            <a:spLocks noChangeArrowheads="1"/>
          </p:cNvSpPr>
          <p:nvPr/>
        </p:nvSpPr>
        <p:spPr bwMode="white">
          <a:xfrm>
            <a:off x="10201167" y="3899846"/>
            <a:ext cx="181011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Conditional Access App Control</a:t>
            </a:r>
          </a:p>
        </p:txBody>
      </p:sp>
      <p:sp>
        <p:nvSpPr>
          <p:cNvPr id="97" name="TextBox 96"/>
          <p:cNvSpPr txBox="1">
            <a:spLocks noChangeArrowheads="1"/>
          </p:cNvSpPr>
          <p:nvPr/>
        </p:nvSpPr>
        <p:spPr bwMode="white">
          <a:xfrm>
            <a:off x="10215627" y="4357505"/>
            <a:ext cx="1090363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Sign-in frequency</a:t>
            </a:r>
          </a:p>
        </p:txBody>
      </p:sp>
      <p:sp>
        <p:nvSpPr>
          <p:cNvPr id="98" name="TextBox 97"/>
          <p:cNvSpPr txBox="1">
            <a:spLocks noChangeArrowheads="1"/>
          </p:cNvSpPr>
          <p:nvPr/>
        </p:nvSpPr>
        <p:spPr bwMode="white">
          <a:xfrm>
            <a:off x="10225446" y="4793305"/>
            <a:ext cx="156966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Persistent browser session</a:t>
            </a:r>
          </a:p>
        </p:txBody>
      </p:sp>
      <p:sp>
        <p:nvSpPr>
          <p:cNvPr id="100" name="TextBox 99"/>
          <p:cNvSpPr txBox="1">
            <a:spLocks noChangeArrowheads="1"/>
          </p:cNvSpPr>
          <p:nvPr/>
        </p:nvSpPr>
        <p:spPr bwMode="white">
          <a:xfrm>
            <a:off x="10229552" y="5232376"/>
            <a:ext cx="1717137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Continuous access evaluation</a:t>
            </a:r>
          </a:p>
        </p:txBody>
      </p:sp>
      <p:sp>
        <p:nvSpPr>
          <p:cNvPr id="101" name="TextBox 100"/>
          <p:cNvSpPr txBox="1">
            <a:spLocks noChangeArrowheads="1"/>
          </p:cNvSpPr>
          <p:nvPr/>
        </p:nvSpPr>
        <p:spPr bwMode="white">
          <a:xfrm>
            <a:off x="10259108" y="5658625"/>
            <a:ext cx="153599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Disable resilience defaults</a:t>
            </a:r>
          </a:p>
        </p:txBody>
      </p:sp>
      <p:pic>
        <p:nvPicPr>
          <p:cNvPr id="103" name="Graphic 102"/>
          <p:cNvPicPr>
            <a:picLocks noChangeAspect="1"/>
          </p:cNvPicPr>
          <p:nvPr/>
        </p:nvPicPr>
        <p:blipFill>
          <a:blip r:embed="rId43">
            <a:lum/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rcRect/>
          <a:stretch>
            <a:fillRect/>
          </a:stretch>
        </p:blipFill>
        <p:spPr bwMode="white">
          <a:xfrm>
            <a:off x="9996846" y="479900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5" name="Graphic 104"/>
          <p:cNvPicPr>
            <a:picLocks noChangeAspect="1"/>
          </p:cNvPicPr>
          <p:nvPr/>
        </p:nvPicPr>
        <p:blipFill>
          <a:blip r:embed="rId45">
            <a:lum/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rcRect/>
          <a:stretch>
            <a:fillRect/>
          </a:stretch>
        </p:blipFill>
        <p:spPr bwMode="white">
          <a:xfrm>
            <a:off x="9996846" y="437457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7" name="Graphic 106"/>
          <p:cNvPicPr>
            <a:picLocks noChangeAspect="1"/>
          </p:cNvPicPr>
          <p:nvPr/>
        </p:nvPicPr>
        <p:blipFill>
          <a:blip r:embed="rId7">
            <a:lum/>
            <a:extLst>
              <a:ext uri="{96DAC541-7B7A-43D3-8B79-37D633B846F1}">
                <asvg:svgBlip xmlns:asvg="http://schemas.microsoft.com/office/drawing/2016/SVG/main" r:embed="rId47"/>
              </a:ext>
            </a:extLst>
          </a:blip>
          <a:srcRect/>
          <a:stretch>
            <a:fillRect/>
          </a:stretch>
        </p:blipFill>
        <p:spPr bwMode="white">
          <a:xfrm>
            <a:off x="9996846" y="391529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15" name="SessionSifInterval"/>
          <p:cNvSpPr txBox="1">
            <a:spLocks noChangeArrowheads="1"/>
          </p:cNvSpPr>
          <p:nvPr/>
        </p:nvSpPr>
        <p:spPr bwMode="white">
          <a:xfrm>
            <a:off x="10296745" y="4516775"/>
            <a:ext cx="1249060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Periodic reauthentication</a:t>
            </a:r>
          </a:p>
        </p:txBody>
      </p:sp>
      <p:sp>
        <p:nvSpPr>
          <p:cNvPr id="114" name="SessionCasType"/>
          <p:cNvSpPr txBox="1">
            <a:spLocks noChangeArrowheads="1"/>
          </p:cNvSpPr>
          <p:nvPr/>
        </p:nvSpPr>
        <p:spPr bwMode="white">
          <a:xfrm>
            <a:off x="10296745" y="4075500"/>
            <a:ext cx="95410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App Control Policy</a:t>
            </a:r>
          </a:p>
        </p:txBody>
      </p:sp>
      <p:sp>
        <p:nvSpPr>
          <p:cNvPr id="116" name="SessionPersistenBrowserMode"/>
          <p:cNvSpPr txBox="1">
            <a:spLocks noChangeArrowheads="1"/>
          </p:cNvSpPr>
          <p:nvPr/>
        </p:nvSpPr>
        <p:spPr bwMode="white">
          <a:xfrm>
            <a:off x="10309761" y="4945281"/>
            <a:ext cx="918841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Always persistent</a:t>
            </a:r>
          </a:p>
        </p:txBody>
      </p:sp>
      <p:sp>
        <p:nvSpPr>
          <p:cNvPr id="118" name="SessionCaeMode"/>
          <p:cNvSpPr txBox="1">
            <a:spLocks noChangeArrowheads="1"/>
          </p:cNvSpPr>
          <p:nvPr/>
        </p:nvSpPr>
        <p:spPr bwMode="white">
          <a:xfrm>
            <a:off x="10301386" y="5393378"/>
            <a:ext cx="15359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US" sz="800" dirty="0"/>
              <a:t>Strictly enforce location policies</a:t>
            </a:r>
          </a:p>
        </p:txBody>
      </p:sp>
      <p:sp>
        <p:nvSpPr>
          <p:cNvPr id="119" name="ShadeSessionAppEnforced"/>
          <p:cNvSpPr>
            <a:spLocks/>
          </p:cNvSpPr>
          <p:nvPr/>
        </p:nvSpPr>
        <p:spPr bwMode="white">
          <a:xfrm>
            <a:off x="9959680" y="3548808"/>
            <a:ext cx="2051597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0" name="ShadeSessionCas"/>
          <p:cNvSpPr>
            <a:spLocks/>
          </p:cNvSpPr>
          <p:nvPr/>
        </p:nvSpPr>
        <p:spPr bwMode="white">
          <a:xfrm>
            <a:off x="9978939" y="3884212"/>
            <a:ext cx="2087576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1" name="ShadeSessionSif"/>
          <p:cNvSpPr>
            <a:spLocks/>
          </p:cNvSpPr>
          <p:nvPr/>
        </p:nvSpPr>
        <p:spPr bwMode="white">
          <a:xfrm>
            <a:off x="9940787" y="4320077"/>
            <a:ext cx="2125728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2" name="ShadeSessionPersistentBrowser"/>
          <p:cNvSpPr>
            <a:spLocks/>
          </p:cNvSpPr>
          <p:nvPr/>
        </p:nvSpPr>
        <p:spPr bwMode="white">
          <a:xfrm>
            <a:off x="9938833" y="4746195"/>
            <a:ext cx="207244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" name="Label Secure Sign In Session"/>
          <p:cNvSpPr txBox="1">
            <a:spLocks noChangeArrowheads="1"/>
          </p:cNvSpPr>
          <p:nvPr/>
        </p:nvSpPr>
        <p:spPr bwMode="white">
          <a:xfrm>
            <a:off x="10260000" y="6084874"/>
            <a:ext cx="166584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Token protection for session</a:t>
            </a:r>
          </a:p>
        </p:txBody>
      </p:sp>
      <p:pic>
        <p:nvPicPr>
          <p:cNvPr id="77" name="IconSessionCaeDisable" descr="Close with solid fill"/>
          <p:cNvPicPr>
            <a:picLocks noChangeAspect="1"/>
          </p:cNvPicPr>
          <p:nvPr/>
        </p:nvPicPr>
        <p:blipFill>
          <a:blip r:embed="rId48">
            <a:lum/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rcRect/>
          <a:stretch>
            <a:fillRect/>
          </a:stretch>
        </p:blipFill>
        <p:spPr bwMode="white">
          <a:xfrm>
            <a:off x="9979885" y="5218651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2" name="IconSessionSecureSignInSession 1"/>
          <p:cNvPicPr>
            <a:picLocks noChangeAspect="1"/>
          </p:cNvPicPr>
          <p:nvPr/>
        </p:nvPicPr>
        <p:blipFill>
          <a:blip r:embed="rId50">
            <a:lum/>
            <a:extLst>
              <a:ext uri="{96DAC541-7B7A-43D3-8B79-37D633B846F1}">
                <asvg:svgBlip xmlns:asvg="http://schemas.microsoft.com/office/drawing/2016/SVG/main" r:embed="rId51"/>
              </a:ext>
            </a:extLst>
          </a:blip>
          <a:srcRect/>
          <a:stretch>
            <a:fillRect/>
          </a:stretch>
        </p:blipFill>
        <p:spPr bwMode="white">
          <a:xfrm>
            <a:off x="9997200" y="6085768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3" name="ShadeSessionCae"/>
          <p:cNvSpPr>
            <a:spLocks/>
          </p:cNvSpPr>
          <p:nvPr/>
        </p:nvSpPr>
        <p:spPr bwMode="white">
          <a:xfrm>
            <a:off x="9987595" y="5219780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76" name="ShadeSessionSecureSignIn"/>
          <p:cNvSpPr>
            <a:spLocks/>
          </p:cNvSpPr>
          <p:nvPr/>
        </p:nvSpPr>
        <p:spPr bwMode="white">
          <a:xfrm>
            <a:off x="9996846" y="5986498"/>
            <a:ext cx="2014431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pic>
        <p:nvPicPr>
          <p:cNvPr id="102" name="Graphic 101"/>
          <p:cNvPicPr>
            <a:picLocks noChangeAspect="1"/>
          </p:cNvPicPr>
          <p:nvPr/>
        </p:nvPicPr>
        <p:blipFill>
          <a:blip r:embed="rId52">
            <a:lum/>
            <a:extLst>
              <a:ext uri="{96DAC541-7B7A-43D3-8B79-37D633B846F1}">
                <asvg:svgBlip xmlns:asvg="http://schemas.microsoft.com/office/drawing/2016/SVG/main" r:embed="rId53"/>
              </a:ext>
            </a:extLst>
          </a:blip>
          <a:srcRect/>
          <a:stretch>
            <a:fillRect/>
          </a:stretch>
        </p:blipFill>
        <p:spPr bwMode="white">
          <a:xfrm>
            <a:off x="9997200" y="5663777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80" name="Graphic 79" descr="Close with solid fill"/>
          <p:cNvPicPr>
            <a:picLocks noChangeAspect="1"/>
          </p:cNvPicPr>
          <p:nvPr/>
        </p:nvPicPr>
        <p:blipFill>
          <a:blip r:embed="rId48">
            <a:lum/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rcRect/>
          <a:stretch>
            <a:fillRect/>
          </a:stretch>
        </p:blipFill>
        <p:spPr bwMode="white">
          <a:xfrm>
            <a:off x="9963899" y="5637424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4" name="ShadeSessionDisableResilience"/>
          <p:cNvSpPr>
            <a:spLocks/>
          </p:cNvSpPr>
          <p:nvPr/>
        </p:nvSpPr>
        <p:spPr bwMode="white">
          <a:xfrm>
            <a:off x="9959681" y="5602709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2" name="PolicyName">
            <a:hlinkClick r:id="" action="ppaction://hlinkfile"/>
          </p:cNvPr>
          <p:cNvSpPr>
            <a:spLocks noGrp="1"/>
          </p:cNvSpPr>
          <p:nvPr>
            <p:ph type="title"/>
          </p:nvPr>
        </p:nvSpPr>
        <p:spPr bwMode="white">
          <a:xfrm>
            <a:off x="838200" y="115511"/>
            <a:ext cx="10003967" cy="609565"/>
          </a:xfrm>
          <a:ln>
            <a:headEnd type="none"/>
            <a:tailEnd type="none"/>
          </a:ln>
        </p:spPr>
        <p:txBody>
          <a:bodyPr wrap="square">
            <a:noAutofit/>
          </a:bodyPr>
          <a:lstStyle/>
          <a:p>
            <a:pPr defTabSz="914400"/>
            <a:r>
              <a:rPr lang="en-US" sz="2000" b="1" dirty="0"/>
              <a:t>[Risky Sign in] [All Users] {Medium} {MFA}</a:t>
            </a:r>
          </a:p>
        </p:txBody>
      </p:sp>
      <p:sp>
        <p:nvSpPr>
          <p:cNvPr id="16" name="LastModified"/>
          <p:cNvSpPr txBox="1">
            <a:spLocks noChangeArrowheads="1"/>
          </p:cNvSpPr>
          <p:nvPr/>
        </p:nvSpPr>
        <p:spPr bwMode="white">
          <a:xfrm>
            <a:off x="10556111" y="388376"/>
            <a:ext cx="15483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algn="r" defTabSz="457200"/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Last modified: 2025-05-23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UserWorkload"/>
          <p:cNvSpPr>
            <a:spLocks/>
          </p:cNvSpPr>
          <p:nvPr/>
        </p:nvSpPr>
        <p:spPr bwMode="auto">
          <a:xfrm>
            <a:off x="175820" y="2709769"/>
            <a:ext cx="2202823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Users</a:t>
            </a:r>
          </a:p>
        </p:txBody>
      </p:sp>
      <p:sp>
        <p:nvSpPr>
          <p:cNvPr id="7" name="UserWorkloadIncExc"/>
          <p:cNvSpPr txBox="1">
            <a:spLocks noChangeArrowheads="1"/>
          </p:cNvSpPr>
          <p:nvPr/>
        </p:nvSpPr>
        <p:spPr bwMode="white">
          <a:xfrm>
            <a:off x="125485" y="3698952"/>
            <a:ext cx="3062115" cy="313265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 numCol="1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b="1" dirty="0"/>
            </a:pPr>
            <a:r>
              <a:t> Users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r>
              <a:t>🚫 Exclude:</a:t>
            </a:r>
          </a:p>
          <a:p>
            <a:pPr defTabSz="457200">
              <a:defRPr sz="1100" b="1" dirty="0"/>
            </a:pPr>
            <a:r>
              <a:t> Users</a:t>
            </a:r>
          </a:p>
          <a:p>
            <a:pPr defTabSz="457200">
              <a:defRPr sz="1100" dirty="0"/>
            </a:pPr>
            <a:r>
              <a:t> - BGA OCC01</a:t>
            </a:r>
          </a:p>
          <a:p>
            <a:pPr defTabSz="457200">
              <a:defRPr sz="1100" dirty="0"/>
            </a:pPr>
            <a:r>
              <a:t> - BGA OCC02</a:t>
            </a:r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19" name="Risks"/>
          <p:cNvSpPr txBox="1">
            <a:spLocks noChangeArrowheads="1"/>
          </p:cNvSpPr>
          <p:nvPr/>
        </p:nvSpPr>
        <p:spPr bwMode="white">
          <a:xfrm>
            <a:off x="524485" y="1021946"/>
            <a:ext cx="1348869" cy="166886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b="1" dirty="0"/>
            </a:pPr>
            <a:r>
              <a:t>User risk:</a:t>
            </a:r>
          </a:p>
          <a:p>
            <a:pPr defTabSz="457200">
              <a:defRPr sz="1100" dirty="0"/>
            </a:pPr>
            <a:r>
              <a:t> - High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20" name="Platforms"/>
          <p:cNvSpPr txBox="1">
            <a:spLocks noChangeArrowheads="1"/>
          </p:cNvSpPr>
          <p:nvPr/>
        </p:nvSpPr>
        <p:spPr bwMode="white">
          <a:xfrm>
            <a:off x="1826931" y="1021947"/>
            <a:ext cx="2061056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3" name="Locations"/>
          <p:cNvSpPr txBox="1">
            <a:spLocks noChangeArrowheads="1"/>
          </p:cNvSpPr>
          <p:nvPr/>
        </p:nvSpPr>
        <p:spPr bwMode="white">
          <a:xfrm>
            <a:off x="8324941" y="1021947"/>
            <a:ext cx="3513702" cy="159258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4" name="ClientAppTypes"/>
          <p:cNvSpPr txBox="1">
            <a:spLocks noChangeArrowheads="1"/>
          </p:cNvSpPr>
          <p:nvPr/>
        </p:nvSpPr>
        <p:spPr bwMode="white">
          <a:xfrm>
            <a:off x="3810664" y="1021947"/>
            <a:ext cx="1581599" cy="165343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5" name="DeviceFilters"/>
          <p:cNvSpPr txBox="1">
            <a:spLocks noChangeArrowheads="1"/>
          </p:cNvSpPr>
          <p:nvPr/>
        </p:nvSpPr>
        <p:spPr bwMode="white">
          <a:xfrm>
            <a:off x="5818151" y="1022762"/>
            <a:ext cx="2248808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cxnSp>
        <p:nvCxnSpPr>
          <p:cNvPr id="27" name="Straight Arrow Connector 26" descr="Arrow drawn from user/workload  to the action being performed by the user such as accessing cloud apps."/>
          <p:cNvCxnSpPr/>
          <p:nvPr/>
        </p:nvCxnSpPr>
        <p:spPr bwMode="white">
          <a:xfrm>
            <a:off x="2195232" y="3159047"/>
            <a:ext cx="3959471" cy="1"/>
          </a:xfrm>
          <a:prstGeom prst="straightConnector1">
            <a:avLst/>
          </a:prstGeom>
          <a:ln w="76200"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30" name="IconBlockAccess" descr="Picture with red color stop sign to indicate blocked access"/>
          <p:cNvPicPr>
            <a:picLocks noChangeAspect="1"/>
          </p:cNvPicPr>
          <p:nvPr/>
        </p:nvPicPr>
        <p:blipFill>
          <a:blip r:embed="rId3">
            <a:lum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 bwMode="white">
          <a:xfrm>
            <a:off x="5306633" y="2735805"/>
            <a:ext cx="356616" cy="35661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34" name="GrantLabelBlockAccess"/>
          <p:cNvSpPr txBox="1">
            <a:spLocks noChangeArrowheads="1"/>
          </p:cNvSpPr>
          <p:nvPr/>
        </p:nvSpPr>
        <p:spPr bwMode="white">
          <a:xfrm>
            <a:off x="3936931" y="2734375"/>
            <a:ext cx="1358065" cy="369332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algn="ctr" defTabSz="457200"/>
            <a:r>
              <a:rPr lang="en-US" b="1" dirty="0">
                <a:solidFill>
                  <a:srgbClr val="FF0000"/>
                </a:solidFill>
              </a:rPr>
              <a:t>Block access</a:t>
            </a:r>
          </a:p>
        </p:txBody>
      </p:sp>
      <p:sp>
        <p:nvSpPr>
          <p:cNvPr id="3" name="CloudAppActionIncExc"/>
          <p:cNvSpPr txBox="1">
            <a:spLocks noChangeArrowheads="1"/>
          </p:cNvSpPr>
          <p:nvPr/>
        </p:nvSpPr>
        <p:spPr bwMode="white">
          <a:xfrm>
            <a:off x="6039518" y="3662782"/>
            <a:ext cx="3649518" cy="315161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</p:txBody>
      </p:sp>
      <p:pic>
        <p:nvPicPr>
          <p:cNvPr id="26" name="IconGroupIdentity"/>
          <p:cNvPicPr>
            <a:picLocks noChangeAspect="1"/>
          </p:cNvPicPr>
          <p:nvPr/>
        </p:nvPicPr>
        <p:blipFill>
          <a:blip r:embed="rId5">
            <a:lum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 bwMode="white">
          <a:xfrm>
            <a:off x="327701" y="2839007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36" name="Graphic 35"/>
          <p:cNvPicPr>
            <a:picLocks noChangeAspect="1"/>
          </p:cNvPicPr>
          <p:nvPr/>
        </p:nvPicPr>
        <p:blipFill>
          <a:blip r:embed="rId7">
            <a:lum/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p:blipFill>
        <p:spPr bwMode="white">
          <a:xfrm>
            <a:off x="495610" y="197468"/>
            <a:ext cx="381196" cy="38119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" name="CloudAppAction"/>
          <p:cNvSpPr>
            <a:spLocks/>
          </p:cNvSpPr>
          <p:nvPr/>
        </p:nvSpPr>
        <p:spPr bwMode="auto">
          <a:xfrm>
            <a:off x="6206089" y="2718506"/>
            <a:ext cx="3227026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All cloud apps</a:t>
            </a:r>
          </a:p>
        </p:txBody>
      </p:sp>
      <p:pic>
        <p:nvPicPr>
          <p:cNvPr id="75" name="IconAccessAllCloudApps"/>
          <p:cNvPicPr>
            <a:picLocks noChangeAspect="1"/>
          </p:cNvPicPr>
          <p:nvPr/>
        </p:nvPicPr>
        <p:blipFill>
          <a:blip r:embed="rId9">
            <a:lum/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p:blipFill>
        <p:spPr bwMode="white">
          <a:xfrm>
            <a:off x="6439264" y="2836824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21" name="StateEnabled"/>
          <p:cNvSpPr>
            <a:spLocks/>
          </p:cNvSpPr>
          <p:nvPr/>
        </p:nvSpPr>
        <p:spPr bwMode="white">
          <a:xfrm>
            <a:off x="10842171" y="83487"/>
            <a:ext cx="1260389" cy="264812"/>
          </a:xfrm>
          <a:prstGeom prst="round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r>
              <a:rPr lang="en-US" sz="800" dirty="0"/>
              <a:t>Policy Enabled</a:t>
            </a:r>
          </a:p>
        </p:txBody>
      </p:sp>
      <p:grpSp>
        <p:nvGrpSpPr>
          <p:cNvPr id="10" name="IconRiskyUsers"/>
          <p:cNvGrpSpPr>
            <a:grpSpLocks/>
          </p:cNvGrpSpPr>
          <p:nvPr/>
        </p:nvGrpSpPr>
        <p:grpSpPr bwMode="white">
          <a:xfrm>
            <a:off x="635426" y="738677"/>
            <a:ext cx="1202553" cy="274320"/>
            <a:chOff x="2013768" y="1033956"/>
            <a:chExt cx="1342320" cy="274320"/>
          </a:xfrm>
        </p:grpSpPr>
        <p:pic>
          <p:nvPicPr>
            <p:cNvPr id="46" name="Graphic 1"/>
            <p:cNvPicPr>
              <a:picLocks noChangeAspect="1"/>
            </p:cNvPicPr>
            <p:nvPr/>
          </p:nvPicPr>
          <p:blipFill>
            <a:blip r:embed="rId11">
              <a:lum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013768" y="1033956"/>
              <a:ext cx="274320" cy="27432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5" name="Label 1"/>
            <p:cNvSpPr txBox="1">
              <a:spLocks noChangeArrowheads="1"/>
            </p:cNvSpPr>
            <p:nvPr/>
          </p:nvSpPr>
          <p:spPr bwMode="white">
            <a:xfrm>
              <a:off x="2240077" y="1040706"/>
              <a:ext cx="1116011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Risk</a:t>
              </a:r>
            </a:p>
          </p:txBody>
        </p:sp>
      </p:grpSp>
      <p:grpSp>
        <p:nvGrpSpPr>
          <p:cNvPr id="14" name="IconPlatforms"/>
          <p:cNvGrpSpPr>
            <a:grpSpLocks/>
          </p:cNvGrpSpPr>
          <p:nvPr/>
        </p:nvGrpSpPr>
        <p:grpSpPr bwMode="white">
          <a:xfrm>
            <a:off x="1927788" y="715249"/>
            <a:ext cx="1719285" cy="365760"/>
            <a:chOff x="3262737" y="994835"/>
            <a:chExt cx="1719285" cy="365760"/>
          </a:xfrm>
        </p:grpSpPr>
        <p:pic>
          <p:nvPicPr>
            <p:cNvPr id="29" name="Graphic 1"/>
            <p:cNvPicPr>
              <a:picLocks noChangeAspect="1"/>
            </p:cNvPicPr>
            <p:nvPr/>
          </p:nvPicPr>
          <p:blipFill>
            <a:blip r:embed="rId13">
              <a:lum/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3262737" y="994835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1" name="Label 1"/>
            <p:cNvSpPr txBox="1">
              <a:spLocks noChangeArrowheads="1"/>
            </p:cNvSpPr>
            <p:nvPr/>
          </p:nvSpPr>
          <p:spPr bwMode="white">
            <a:xfrm>
              <a:off x="3582397" y="1027255"/>
              <a:ext cx="1399625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Device platforms</a:t>
              </a:r>
            </a:p>
          </p:txBody>
        </p:sp>
      </p:grpSp>
      <p:grpSp>
        <p:nvGrpSpPr>
          <p:cNvPr id="17" name="IconClientAppTypes"/>
          <p:cNvGrpSpPr>
            <a:grpSpLocks/>
          </p:cNvGrpSpPr>
          <p:nvPr/>
        </p:nvGrpSpPr>
        <p:grpSpPr bwMode="white">
          <a:xfrm>
            <a:off x="3908159" y="670015"/>
            <a:ext cx="1852971" cy="365760"/>
            <a:chOff x="4858970" y="975927"/>
            <a:chExt cx="1852971" cy="365760"/>
          </a:xfrm>
        </p:grpSpPr>
        <p:pic>
          <p:nvPicPr>
            <p:cNvPr id="58" name="Graphic 1"/>
            <p:cNvPicPr>
              <a:picLocks noChangeAspect="1"/>
            </p:cNvPicPr>
            <p:nvPr/>
          </p:nvPicPr>
          <p:blipFill>
            <a:blip r:embed="rId15">
              <a:lum/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858970" y="975927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5" name="Label 1"/>
            <p:cNvSpPr txBox="1">
              <a:spLocks noChangeArrowheads="1"/>
            </p:cNvSpPr>
            <p:nvPr/>
          </p:nvSpPr>
          <p:spPr bwMode="white">
            <a:xfrm>
              <a:off x="5193983" y="1009899"/>
              <a:ext cx="1517958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Client apps</a:t>
              </a:r>
            </a:p>
          </p:txBody>
        </p:sp>
      </p:grpSp>
      <p:grpSp>
        <p:nvGrpSpPr>
          <p:cNvPr id="37" name="IconLocations"/>
          <p:cNvGrpSpPr>
            <a:grpSpLocks/>
          </p:cNvGrpSpPr>
          <p:nvPr/>
        </p:nvGrpSpPr>
        <p:grpSpPr bwMode="white">
          <a:xfrm>
            <a:off x="8411896" y="646848"/>
            <a:ext cx="1850168" cy="388465"/>
            <a:chOff x="2321433" y="3262888"/>
            <a:chExt cx="1850168" cy="388465"/>
          </a:xfrm>
        </p:grpSpPr>
        <p:pic>
          <p:nvPicPr>
            <p:cNvPr id="33" name="Graphic 1"/>
            <p:cNvPicPr>
              <a:picLocks noChangeAspect="1"/>
            </p:cNvPicPr>
            <p:nvPr/>
          </p:nvPicPr>
          <p:blipFill>
            <a:blip r:embed="rId17">
              <a:lum/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321433" y="3262888"/>
              <a:ext cx="388465" cy="388465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28" name="Label 1"/>
            <p:cNvSpPr txBox="1">
              <a:spLocks noChangeArrowheads="1"/>
            </p:cNvSpPr>
            <p:nvPr/>
          </p:nvSpPr>
          <p:spPr bwMode="white">
            <a:xfrm>
              <a:off x="2713321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Locations</a:t>
              </a:r>
              <a:endParaRPr lang="en-US" sz="1100" b="1" dirty="0"/>
            </a:p>
          </p:txBody>
        </p:sp>
      </p:grpSp>
      <p:grpSp>
        <p:nvGrpSpPr>
          <p:cNvPr id="39" name="IconDeviceFilters"/>
          <p:cNvGrpSpPr>
            <a:grpSpLocks/>
          </p:cNvGrpSpPr>
          <p:nvPr/>
        </p:nvGrpSpPr>
        <p:grpSpPr bwMode="white">
          <a:xfrm>
            <a:off x="5472818" y="661958"/>
            <a:ext cx="1839823" cy="364111"/>
            <a:chOff x="4195414" y="3273669"/>
            <a:chExt cx="1839823" cy="364111"/>
          </a:xfrm>
        </p:grpSpPr>
        <p:pic>
          <p:nvPicPr>
            <p:cNvPr id="60" name="Graphic 1"/>
            <p:cNvPicPr>
              <a:picLocks noChangeAspect="1"/>
            </p:cNvPicPr>
            <p:nvPr/>
          </p:nvPicPr>
          <p:blipFill>
            <a:blip r:embed="rId19">
              <a:lum/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195414" y="3273669"/>
              <a:ext cx="364111" cy="364111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31" name="Label 1"/>
            <p:cNvSpPr txBox="1">
              <a:spLocks noChangeArrowheads="1"/>
            </p:cNvSpPr>
            <p:nvPr/>
          </p:nvSpPr>
          <p:spPr bwMode="white">
            <a:xfrm>
              <a:off x="4576957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Filter for devices</a:t>
              </a:r>
              <a:endParaRPr lang="en-US" sz="1100" b="1" dirty="0"/>
            </a:p>
          </p:txBody>
        </p:sp>
      </p:grpSp>
      <p:pic>
        <p:nvPicPr>
          <p:cNvPr id="62" name="IconGrantMultifactorAuthentication"/>
          <p:cNvPicPr>
            <a:picLocks noChangeAspect="1"/>
          </p:cNvPicPr>
          <p:nvPr/>
        </p:nvPicPr>
        <p:blipFill>
          <a:blip r:embed="rId21">
            <a:lum/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>
            <a:fillRect/>
          </a:stretch>
        </p:blipFill>
        <p:spPr bwMode="white">
          <a:xfrm>
            <a:off x="3410647" y="3566863"/>
            <a:ext cx="17145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5" name="IconGrantMultifactorAuthenticationLabel"/>
          <p:cNvSpPr txBox="1">
            <a:spLocks noChangeArrowheads="1"/>
          </p:cNvSpPr>
          <p:nvPr/>
        </p:nvSpPr>
        <p:spPr bwMode="white">
          <a:xfrm>
            <a:off x="3575836" y="3571997"/>
            <a:ext cx="19007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Multifactor authentication</a:t>
            </a:r>
            <a:endParaRPr lang="en-US" sz="1000" dirty="0"/>
          </a:p>
        </p:txBody>
      </p:sp>
      <p:pic>
        <p:nvPicPr>
          <p:cNvPr id="38" name="IconGrantAuthenticationStrength"/>
          <p:cNvPicPr>
            <a:picLocks noChangeAspect="1"/>
          </p:cNvPicPr>
          <p:nvPr/>
        </p:nvPicPr>
        <p:blipFill>
          <a:blip r:embed="rId23">
            <a:lum/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/>
          <a:stretch>
            <a:fillRect/>
          </a:stretch>
        </p:blipFill>
        <p:spPr bwMode="white">
          <a:xfrm>
            <a:off x="3374515" y="3905034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7" name="IconGrantAuthenticationStrengthLabel"/>
          <p:cNvSpPr txBox="1">
            <a:spLocks noChangeArrowheads="1"/>
          </p:cNvSpPr>
          <p:nvPr/>
        </p:nvSpPr>
        <p:spPr bwMode="white">
          <a:xfrm>
            <a:off x="3575836" y="3907323"/>
            <a:ext cx="2185294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Authentication strength</a:t>
            </a:r>
            <a:endParaRPr lang="en-US" sz="1000" dirty="0"/>
          </a:p>
        </p:txBody>
      </p:sp>
      <p:pic>
        <p:nvPicPr>
          <p:cNvPr id="52" name="IconGrantDeviceCompliance"/>
          <p:cNvPicPr>
            <a:picLocks noChangeAspect="1"/>
          </p:cNvPicPr>
          <p:nvPr/>
        </p:nvPicPr>
        <p:blipFill>
          <a:blip r:embed="rId25">
            <a:lum/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/>
          <a:stretch>
            <a:fillRect/>
          </a:stretch>
        </p:blipFill>
        <p:spPr bwMode="white">
          <a:xfrm>
            <a:off x="3374515" y="4243205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9" name="IconGrantDeviceComplianceLabel"/>
          <p:cNvSpPr txBox="1">
            <a:spLocks noChangeArrowheads="1"/>
          </p:cNvSpPr>
          <p:nvPr/>
        </p:nvSpPr>
        <p:spPr bwMode="white">
          <a:xfrm>
            <a:off x="3575836" y="4242649"/>
            <a:ext cx="17378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Compliant device</a:t>
            </a:r>
            <a:endParaRPr lang="en-US" sz="1000" dirty="0"/>
          </a:p>
        </p:txBody>
      </p:sp>
      <p:pic>
        <p:nvPicPr>
          <p:cNvPr id="43" name="IconGrantHybridJoined"/>
          <p:cNvPicPr>
            <a:picLocks noChangeAspect="1"/>
          </p:cNvPicPr>
          <p:nvPr/>
        </p:nvPicPr>
        <p:blipFill>
          <a:blip r:embed="rId27">
            <a:lum/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/>
          <a:stretch>
            <a:fillRect/>
          </a:stretch>
        </p:blipFill>
        <p:spPr bwMode="white">
          <a:xfrm>
            <a:off x="3374515" y="4581376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3" name="IconGrantHybridJoinedLabel"/>
          <p:cNvSpPr txBox="1">
            <a:spLocks noChangeArrowheads="1"/>
          </p:cNvSpPr>
          <p:nvPr/>
        </p:nvSpPr>
        <p:spPr bwMode="white">
          <a:xfrm>
            <a:off x="3575836" y="4577975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Hybrid Azure AD joined device</a:t>
            </a:r>
            <a:endParaRPr lang="en-US" sz="1000" dirty="0"/>
          </a:p>
        </p:txBody>
      </p:sp>
      <p:pic>
        <p:nvPicPr>
          <p:cNvPr id="48" name="IconGrantApprovedClientApp"/>
          <p:cNvPicPr>
            <a:picLocks noChangeAspect="1"/>
          </p:cNvPicPr>
          <p:nvPr/>
        </p:nvPicPr>
        <p:blipFill>
          <a:blip r:embed="rId29">
            <a:lum/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rcRect/>
          <a:stretch>
            <a:fillRect/>
          </a:stretch>
        </p:blipFill>
        <p:spPr bwMode="white">
          <a:xfrm>
            <a:off x="3374515" y="491954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5" name="IconGrantApprovedClientAppLabel"/>
          <p:cNvSpPr txBox="1">
            <a:spLocks noChangeArrowheads="1"/>
          </p:cNvSpPr>
          <p:nvPr/>
        </p:nvSpPr>
        <p:spPr bwMode="white">
          <a:xfrm>
            <a:off x="3575836" y="4913301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Approved client app</a:t>
            </a:r>
            <a:endParaRPr lang="en-US" sz="1000" dirty="0"/>
          </a:p>
        </p:txBody>
      </p:sp>
      <p:pic>
        <p:nvPicPr>
          <p:cNvPr id="42" name="IconGrantCustomAuth"/>
          <p:cNvPicPr>
            <a:picLocks noChangeAspect="1"/>
          </p:cNvPicPr>
          <p:nvPr/>
        </p:nvPicPr>
        <p:blipFill>
          <a:blip r:embed="rId31">
            <a:lum/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rcRect/>
          <a:stretch>
            <a:fillRect/>
          </a:stretch>
        </p:blipFill>
        <p:spPr bwMode="white">
          <a:xfrm>
            <a:off x="3374515" y="593406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9" name="IconGrantCustomAuthLabel"/>
          <p:cNvSpPr txBox="1">
            <a:spLocks noChangeArrowheads="1"/>
          </p:cNvSpPr>
          <p:nvPr/>
        </p:nvSpPr>
        <p:spPr bwMode="white">
          <a:xfrm>
            <a:off x="3575836" y="5919279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Custom authentication factor</a:t>
            </a:r>
            <a:endParaRPr lang="en-US" sz="1000" dirty="0"/>
          </a:p>
        </p:txBody>
      </p:sp>
      <p:pic>
        <p:nvPicPr>
          <p:cNvPr id="40" name="IconGrantTermsOfUse"/>
          <p:cNvPicPr>
            <a:picLocks noChangeAspect="1"/>
          </p:cNvPicPr>
          <p:nvPr/>
        </p:nvPicPr>
        <p:blipFill>
          <a:blip r:embed="rId33">
            <a:lum/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rcRect/>
          <a:stretch>
            <a:fillRect/>
          </a:stretch>
        </p:blipFill>
        <p:spPr bwMode="white">
          <a:xfrm>
            <a:off x="3374515" y="627222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3" name="IconGrantTermsOfUseLabel"/>
          <p:cNvSpPr txBox="1">
            <a:spLocks noChangeArrowheads="1"/>
          </p:cNvSpPr>
          <p:nvPr/>
        </p:nvSpPr>
        <p:spPr bwMode="white">
          <a:xfrm>
            <a:off x="3575836" y="625460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Terms of use</a:t>
            </a:r>
            <a:endParaRPr lang="en-US" sz="1000" dirty="0"/>
          </a:p>
        </p:txBody>
      </p:sp>
      <p:sp>
        <p:nvSpPr>
          <p:cNvPr id="56" name="IconGrantAppProtectionLabel"/>
          <p:cNvSpPr txBox="1">
            <a:spLocks noChangeArrowheads="1"/>
          </p:cNvSpPr>
          <p:nvPr/>
        </p:nvSpPr>
        <p:spPr bwMode="white">
          <a:xfrm>
            <a:off x="3575836" y="524862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 protection policy</a:t>
            </a:r>
            <a:endParaRPr lang="en-US" sz="1000" dirty="0"/>
          </a:p>
        </p:txBody>
      </p:sp>
      <p:pic>
        <p:nvPicPr>
          <p:cNvPr id="65" name="IconGrantAppProtection"/>
          <p:cNvPicPr>
            <a:picLocks noChangeAspect="1"/>
          </p:cNvPicPr>
          <p:nvPr/>
        </p:nvPicPr>
        <p:blipFill>
          <a:blip r:embed="rId35">
            <a:lum/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rcRect/>
          <a:stretch>
            <a:fillRect/>
          </a:stretch>
        </p:blipFill>
        <p:spPr bwMode="white">
          <a:xfrm>
            <a:off x="3374515" y="525771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7" name="IconGrantChangePasswordLabel"/>
          <p:cNvSpPr txBox="1">
            <a:spLocks noChangeArrowheads="1"/>
          </p:cNvSpPr>
          <p:nvPr/>
        </p:nvSpPr>
        <p:spPr bwMode="white">
          <a:xfrm>
            <a:off x="3575836" y="5583953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Change password</a:t>
            </a:r>
            <a:endParaRPr lang="en-US" sz="1000" dirty="0"/>
          </a:p>
        </p:txBody>
      </p:sp>
      <p:pic>
        <p:nvPicPr>
          <p:cNvPr id="67" name="IconGrantChangePassword"/>
          <p:cNvPicPr>
            <a:picLocks noChangeAspect="1"/>
          </p:cNvPicPr>
          <p:nvPr/>
        </p:nvPicPr>
        <p:blipFill>
          <a:blip r:embed="rId37">
            <a:lum/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rcRect/>
          <a:stretch>
            <a:fillRect/>
          </a:stretch>
        </p:blipFill>
        <p:spPr bwMode="white">
          <a:xfrm>
            <a:off x="3374515" y="5595889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6" name="ShadeDevicePlatforms"/>
          <p:cNvSpPr>
            <a:spLocks/>
          </p:cNvSpPr>
          <p:nvPr/>
        </p:nvSpPr>
        <p:spPr bwMode="white">
          <a:xfrm>
            <a:off x="1863623" y="663409"/>
            <a:ext cx="1773927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78" name="ShadeClientApps"/>
          <p:cNvSpPr>
            <a:spLocks/>
          </p:cNvSpPr>
          <p:nvPr/>
        </p:nvSpPr>
        <p:spPr bwMode="white">
          <a:xfrm>
            <a:off x="3802273" y="650246"/>
            <a:ext cx="1481482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79" name="ShadeLocations"/>
          <p:cNvSpPr>
            <a:spLocks/>
          </p:cNvSpPr>
          <p:nvPr/>
        </p:nvSpPr>
        <p:spPr bwMode="white">
          <a:xfrm>
            <a:off x="8217572" y="669110"/>
            <a:ext cx="1873684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2" name="ShadeFilterForDevices"/>
          <p:cNvSpPr>
            <a:spLocks/>
          </p:cNvSpPr>
          <p:nvPr/>
        </p:nvSpPr>
        <p:spPr bwMode="white">
          <a:xfrm>
            <a:off x="5438955" y="627922"/>
            <a:ext cx="1873685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3" name="ShadeGrantMultifactorAuth"/>
          <p:cNvSpPr>
            <a:spLocks/>
          </p:cNvSpPr>
          <p:nvPr/>
        </p:nvSpPr>
        <p:spPr bwMode="white">
          <a:xfrm>
            <a:off x="3369399" y="3534220"/>
            <a:ext cx="2069555" cy="28330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4" name="ShadeGrantAuthStrength"/>
          <p:cNvSpPr>
            <a:spLocks/>
          </p:cNvSpPr>
          <p:nvPr/>
        </p:nvSpPr>
        <p:spPr bwMode="white">
          <a:xfrm>
            <a:off x="3350256" y="3869846"/>
            <a:ext cx="2069555" cy="27801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5" name="ShadeGrantCompliantDevice"/>
          <p:cNvSpPr>
            <a:spLocks/>
          </p:cNvSpPr>
          <p:nvPr/>
        </p:nvSpPr>
        <p:spPr bwMode="white">
          <a:xfrm>
            <a:off x="3361852" y="4243205"/>
            <a:ext cx="2077102" cy="26110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6" name="ShadeGrantHybridAzureADJoined"/>
          <p:cNvSpPr>
            <a:spLocks/>
          </p:cNvSpPr>
          <p:nvPr/>
        </p:nvSpPr>
        <p:spPr bwMode="white">
          <a:xfrm>
            <a:off x="3353637" y="4552268"/>
            <a:ext cx="2160906" cy="298395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7" name="ShadeGrantApprovedClientApp"/>
          <p:cNvSpPr>
            <a:spLocks/>
          </p:cNvSpPr>
          <p:nvPr/>
        </p:nvSpPr>
        <p:spPr bwMode="white">
          <a:xfrm>
            <a:off x="3331918" y="4876027"/>
            <a:ext cx="2182625" cy="29839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8" name="ShadeGrantAppProtectionPolicy"/>
          <p:cNvSpPr>
            <a:spLocks/>
          </p:cNvSpPr>
          <p:nvPr/>
        </p:nvSpPr>
        <p:spPr bwMode="white">
          <a:xfrm>
            <a:off x="3350256" y="5207226"/>
            <a:ext cx="2122561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9" name="ShadeGrantChangePassword"/>
          <p:cNvSpPr>
            <a:spLocks/>
          </p:cNvSpPr>
          <p:nvPr/>
        </p:nvSpPr>
        <p:spPr bwMode="white">
          <a:xfrm>
            <a:off x="3350257" y="5557021"/>
            <a:ext cx="2042006" cy="287239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0" name="ShadeGrantCustomAuthFactor"/>
          <p:cNvSpPr>
            <a:spLocks/>
          </p:cNvSpPr>
          <p:nvPr/>
        </p:nvSpPr>
        <p:spPr bwMode="white">
          <a:xfrm>
            <a:off x="3331918" y="5899058"/>
            <a:ext cx="2182625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1" name="ShadeGrantTermsOfUse"/>
          <p:cNvSpPr>
            <a:spLocks/>
          </p:cNvSpPr>
          <p:nvPr/>
        </p:nvSpPr>
        <p:spPr bwMode="white">
          <a:xfrm>
            <a:off x="3313823" y="6192350"/>
            <a:ext cx="101602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99" name="Rectangle 98"/>
          <p:cNvSpPr>
            <a:spLocks/>
          </p:cNvSpPr>
          <p:nvPr/>
        </p:nvSpPr>
        <p:spPr bwMode="white">
          <a:xfrm>
            <a:off x="3268757" y="3253404"/>
            <a:ext cx="2357725" cy="3498546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0" name="Rectangle 109"/>
          <p:cNvSpPr>
            <a:spLocks/>
          </p:cNvSpPr>
          <p:nvPr/>
        </p:nvSpPr>
        <p:spPr bwMode="white">
          <a:xfrm>
            <a:off x="9881750" y="3248255"/>
            <a:ext cx="2220808" cy="3510149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7" name="Rectangle 116"/>
          <p:cNvSpPr>
            <a:spLocks/>
          </p:cNvSpPr>
          <p:nvPr/>
        </p:nvSpPr>
        <p:spPr bwMode="white">
          <a:xfrm>
            <a:off x="26741" y="606825"/>
            <a:ext cx="11985015" cy="2063636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2" name="Conditions Label"/>
          <p:cNvSpPr txBox="1">
            <a:spLocks noChangeArrowheads="1"/>
          </p:cNvSpPr>
          <p:nvPr/>
        </p:nvSpPr>
        <p:spPr bwMode="white">
          <a:xfrm rot="16200000">
            <a:off x="-883507" y="1514324"/>
            <a:ext cx="2081441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Conditions</a:t>
            </a:r>
          </a:p>
        </p:txBody>
      </p:sp>
      <p:sp>
        <p:nvSpPr>
          <p:cNvPr id="109" name="Grant Controls"/>
          <p:cNvSpPr txBox="1">
            <a:spLocks noChangeArrowheads="1"/>
          </p:cNvSpPr>
          <p:nvPr/>
        </p:nvSpPr>
        <p:spPr bwMode="white">
          <a:xfrm>
            <a:off x="3252146" y="3244395"/>
            <a:ext cx="2391873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Grant Controls</a:t>
            </a:r>
          </a:p>
        </p:txBody>
      </p:sp>
      <p:sp>
        <p:nvSpPr>
          <p:cNvPr id="111" name="Session Controls"/>
          <p:cNvSpPr txBox="1">
            <a:spLocks noChangeArrowheads="1"/>
          </p:cNvSpPr>
          <p:nvPr/>
        </p:nvSpPr>
        <p:spPr bwMode="white">
          <a:xfrm>
            <a:off x="9864212" y="3243751"/>
            <a:ext cx="2238346" cy="23786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Session Controls</a:t>
            </a:r>
          </a:p>
        </p:txBody>
      </p:sp>
      <p:pic>
        <p:nvPicPr>
          <p:cNvPr id="72" name="Graphic 71"/>
          <p:cNvPicPr>
            <a:picLocks noChangeAspect="1"/>
          </p:cNvPicPr>
          <p:nvPr/>
        </p:nvPicPr>
        <p:blipFill>
          <a:blip r:embed="rId39">
            <a:lum/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rcRect/>
          <a:stretch>
            <a:fillRect/>
          </a:stretch>
        </p:blipFill>
        <p:spPr bwMode="white">
          <a:xfrm>
            <a:off x="9996846" y="356982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4" name="Graphic 93"/>
          <p:cNvPicPr>
            <a:picLocks noChangeAspect="1"/>
          </p:cNvPicPr>
          <p:nvPr/>
        </p:nvPicPr>
        <p:blipFill>
          <a:blip r:embed="rId41">
            <a:lum/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rcRect/>
          <a:stretch>
            <a:fillRect/>
          </a:stretch>
        </p:blipFill>
        <p:spPr bwMode="white">
          <a:xfrm>
            <a:off x="10009443" y="525644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5" name="TextBox 94"/>
          <p:cNvSpPr txBox="1">
            <a:spLocks noChangeArrowheads="1"/>
          </p:cNvSpPr>
          <p:nvPr/>
        </p:nvSpPr>
        <p:spPr bwMode="white">
          <a:xfrm>
            <a:off x="10207481" y="3578463"/>
            <a:ext cx="150554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App enforced restrictions</a:t>
            </a:r>
          </a:p>
        </p:txBody>
      </p:sp>
      <p:sp>
        <p:nvSpPr>
          <p:cNvPr id="96" name="TextBox 95"/>
          <p:cNvSpPr txBox="1">
            <a:spLocks noChangeArrowheads="1"/>
          </p:cNvSpPr>
          <p:nvPr/>
        </p:nvSpPr>
        <p:spPr bwMode="white">
          <a:xfrm>
            <a:off x="10201167" y="3899846"/>
            <a:ext cx="181011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Conditional Access App Control</a:t>
            </a:r>
          </a:p>
        </p:txBody>
      </p:sp>
      <p:sp>
        <p:nvSpPr>
          <p:cNvPr id="97" name="TextBox 96"/>
          <p:cNvSpPr txBox="1">
            <a:spLocks noChangeArrowheads="1"/>
          </p:cNvSpPr>
          <p:nvPr/>
        </p:nvSpPr>
        <p:spPr bwMode="white">
          <a:xfrm>
            <a:off x="10215627" y="4357505"/>
            <a:ext cx="1090363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Sign-in frequency</a:t>
            </a:r>
          </a:p>
        </p:txBody>
      </p:sp>
      <p:sp>
        <p:nvSpPr>
          <p:cNvPr id="98" name="TextBox 97"/>
          <p:cNvSpPr txBox="1">
            <a:spLocks noChangeArrowheads="1"/>
          </p:cNvSpPr>
          <p:nvPr/>
        </p:nvSpPr>
        <p:spPr bwMode="white">
          <a:xfrm>
            <a:off x="10225446" y="4793305"/>
            <a:ext cx="156966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Persistent browser session</a:t>
            </a:r>
          </a:p>
        </p:txBody>
      </p:sp>
      <p:sp>
        <p:nvSpPr>
          <p:cNvPr id="100" name="TextBox 99"/>
          <p:cNvSpPr txBox="1">
            <a:spLocks noChangeArrowheads="1"/>
          </p:cNvSpPr>
          <p:nvPr/>
        </p:nvSpPr>
        <p:spPr bwMode="white">
          <a:xfrm>
            <a:off x="10229552" y="5232376"/>
            <a:ext cx="1717137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Continuous access evaluation</a:t>
            </a:r>
          </a:p>
        </p:txBody>
      </p:sp>
      <p:sp>
        <p:nvSpPr>
          <p:cNvPr id="101" name="TextBox 100"/>
          <p:cNvSpPr txBox="1">
            <a:spLocks noChangeArrowheads="1"/>
          </p:cNvSpPr>
          <p:nvPr/>
        </p:nvSpPr>
        <p:spPr bwMode="white">
          <a:xfrm>
            <a:off x="10259108" y="5658625"/>
            <a:ext cx="153599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Disable resilience defaults</a:t>
            </a:r>
          </a:p>
        </p:txBody>
      </p:sp>
      <p:pic>
        <p:nvPicPr>
          <p:cNvPr id="103" name="Graphic 102"/>
          <p:cNvPicPr>
            <a:picLocks noChangeAspect="1"/>
          </p:cNvPicPr>
          <p:nvPr/>
        </p:nvPicPr>
        <p:blipFill>
          <a:blip r:embed="rId43">
            <a:lum/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rcRect/>
          <a:stretch>
            <a:fillRect/>
          </a:stretch>
        </p:blipFill>
        <p:spPr bwMode="white">
          <a:xfrm>
            <a:off x="9996846" y="479900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5" name="Graphic 104"/>
          <p:cNvPicPr>
            <a:picLocks noChangeAspect="1"/>
          </p:cNvPicPr>
          <p:nvPr/>
        </p:nvPicPr>
        <p:blipFill>
          <a:blip r:embed="rId45">
            <a:lum/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rcRect/>
          <a:stretch>
            <a:fillRect/>
          </a:stretch>
        </p:blipFill>
        <p:spPr bwMode="white">
          <a:xfrm>
            <a:off x="9996846" y="437457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7" name="Graphic 106"/>
          <p:cNvPicPr>
            <a:picLocks noChangeAspect="1"/>
          </p:cNvPicPr>
          <p:nvPr/>
        </p:nvPicPr>
        <p:blipFill>
          <a:blip r:embed="rId7">
            <a:lum/>
            <a:extLst>
              <a:ext uri="{96DAC541-7B7A-43D3-8B79-37D633B846F1}">
                <asvg:svgBlip xmlns:asvg="http://schemas.microsoft.com/office/drawing/2016/SVG/main" r:embed="rId47"/>
              </a:ext>
            </a:extLst>
          </a:blip>
          <a:srcRect/>
          <a:stretch>
            <a:fillRect/>
          </a:stretch>
        </p:blipFill>
        <p:spPr bwMode="white">
          <a:xfrm>
            <a:off x="9996846" y="391529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15" name="SessionSifInterval"/>
          <p:cNvSpPr txBox="1">
            <a:spLocks noChangeArrowheads="1"/>
          </p:cNvSpPr>
          <p:nvPr/>
        </p:nvSpPr>
        <p:spPr bwMode="white">
          <a:xfrm>
            <a:off x="10296745" y="4516775"/>
            <a:ext cx="1249060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Periodic reauthentication</a:t>
            </a:r>
          </a:p>
        </p:txBody>
      </p:sp>
      <p:sp>
        <p:nvSpPr>
          <p:cNvPr id="114" name="SessionCasType"/>
          <p:cNvSpPr txBox="1">
            <a:spLocks noChangeArrowheads="1"/>
          </p:cNvSpPr>
          <p:nvPr/>
        </p:nvSpPr>
        <p:spPr bwMode="white">
          <a:xfrm>
            <a:off x="10296745" y="4075500"/>
            <a:ext cx="95410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App Control Policy</a:t>
            </a:r>
          </a:p>
        </p:txBody>
      </p:sp>
      <p:sp>
        <p:nvSpPr>
          <p:cNvPr id="116" name="SessionPersistenBrowserMode"/>
          <p:cNvSpPr txBox="1">
            <a:spLocks noChangeArrowheads="1"/>
          </p:cNvSpPr>
          <p:nvPr/>
        </p:nvSpPr>
        <p:spPr bwMode="white">
          <a:xfrm>
            <a:off x="10309761" y="4945281"/>
            <a:ext cx="918841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Always persistent</a:t>
            </a:r>
          </a:p>
        </p:txBody>
      </p:sp>
      <p:sp>
        <p:nvSpPr>
          <p:cNvPr id="118" name="SessionCaeMode"/>
          <p:cNvSpPr txBox="1">
            <a:spLocks noChangeArrowheads="1"/>
          </p:cNvSpPr>
          <p:nvPr/>
        </p:nvSpPr>
        <p:spPr bwMode="white">
          <a:xfrm>
            <a:off x="10301386" y="5393378"/>
            <a:ext cx="15359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US" sz="800" dirty="0"/>
              <a:t>Strictly enforce location policies</a:t>
            </a:r>
          </a:p>
        </p:txBody>
      </p:sp>
      <p:sp>
        <p:nvSpPr>
          <p:cNvPr id="119" name="ShadeSessionAppEnforced"/>
          <p:cNvSpPr>
            <a:spLocks/>
          </p:cNvSpPr>
          <p:nvPr/>
        </p:nvSpPr>
        <p:spPr bwMode="white">
          <a:xfrm>
            <a:off x="9959680" y="3548808"/>
            <a:ext cx="2051597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0" name="ShadeSessionCas"/>
          <p:cNvSpPr>
            <a:spLocks/>
          </p:cNvSpPr>
          <p:nvPr/>
        </p:nvSpPr>
        <p:spPr bwMode="white">
          <a:xfrm>
            <a:off x="9978939" y="3884212"/>
            <a:ext cx="2087576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1" name="ShadeSessionSif"/>
          <p:cNvSpPr>
            <a:spLocks/>
          </p:cNvSpPr>
          <p:nvPr/>
        </p:nvSpPr>
        <p:spPr bwMode="white">
          <a:xfrm>
            <a:off x="9940787" y="4320077"/>
            <a:ext cx="2125728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2" name="ShadeSessionPersistentBrowser"/>
          <p:cNvSpPr>
            <a:spLocks/>
          </p:cNvSpPr>
          <p:nvPr/>
        </p:nvSpPr>
        <p:spPr bwMode="white">
          <a:xfrm>
            <a:off x="9938833" y="4746195"/>
            <a:ext cx="207244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" name="Label Secure Sign In Session"/>
          <p:cNvSpPr txBox="1">
            <a:spLocks noChangeArrowheads="1"/>
          </p:cNvSpPr>
          <p:nvPr/>
        </p:nvSpPr>
        <p:spPr bwMode="white">
          <a:xfrm>
            <a:off x="10260000" y="6084874"/>
            <a:ext cx="166584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Token protection for session</a:t>
            </a:r>
          </a:p>
        </p:txBody>
      </p:sp>
      <p:pic>
        <p:nvPicPr>
          <p:cNvPr id="77" name="IconSessionCaeDisable" descr="Close with solid fill"/>
          <p:cNvPicPr>
            <a:picLocks noChangeAspect="1"/>
          </p:cNvPicPr>
          <p:nvPr/>
        </p:nvPicPr>
        <p:blipFill>
          <a:blip r:embed="rId48">
            <a:lum/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rcRect/>
          <a:stretch>
            <a:fillRect/>
          </a:stretch>
        </p:blipFill>
        <p:spPr bwMode="white">
          <a:xfrm>
            <a:off x="9979885" y="5218651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2" name="IconSessionSecureSignInSession 1"/>
          <p:cNvPicPr>
            <a:picLocks noChangeAspect="1"/>
          </p:cNvPicPr>
          <p:nvPr/>
        </p:nvPicPr>
        <p:blipFill>
          <a:blip r:embed="rId50">
            <a:lum/>
            <a:extLst>
              <a:ext uri="{96DAC541-7B7A-43D3-8B79-37D633B846F1}">
                <asvg:svgBlip xmlns:asvg="http://schemas.microsoft.com/office/drawing/2016/SVG/main" r:embed="rId51"/>
              </a:ext>
            </a:extLst>
          </a:blip>
          <a:srcRect/>
          <a:stretch>
            <a:fillRect/>
          </a:stretch>
        </p:blipFill>
        <p:spPr bwMode="white">
          <a:xfrm>
            <a:off x="9997200" y="6085768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3" name="ShadeSessionCae"/>
          <p:cNvSpPr>
            <a:spLocks/>
          </p:cNvSpPr>
          <p:nvPr/>
        </p:nvSpPr>
        <p:spPr bwMode="white">
          <a:xfrm>
            <a:off x="9987595" y="5219780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76" name="ShadeSessionSecureSignIn"/>
          <p:cNvSpPr>
            <a:spLocks/>
          </p:cNvSpPr>
          <p:nvPr/>
        </p:nvSpPr>
        <p:spPr bwMode="white">
          <a:xfrm>
            <a:off x="9996846" y="5986498"/>
            <a:ext cx="2014431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pic>
        <p:nvPicPr>
          <p:cNvPr id="102" name="Graphic 101"/>
          <p:cNvPicPr>
            <a:picLocks noChangeAspect="1"/>
          </p:cNvPicPr>
          <p:nvPr/>
        </p:nvPicPr>
        <p:blipFill>
          <a:blip r:embed="rId52">
            <a:lum/>
            <a:extLst>
              <a:ext uri="{96DAC541-7B7A-43D3-8B79-37D633B846F1}">
                <asvg:svgBlip xmlns:asvg="http://schemas.microsoft.com/office/drawing/2016/SVG/main" r:embed="rId53"/>
              </a:ext>
            </a:extLst>
          </a:blip>
          <a:srcRect/>
          <a:stretch>
            <a:fillRect/>
          </a:stretch>
        </p:blipFill>
        <p:spPr bwMode="white">
          <a:xfrm>
            <a:off x="9997200" y="5663777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80" name="Graphic 79" descr="Close with solid fill"/>
          <p:cNvPicPr>
            <a:picLocks noChangeAspect="1"/>
          </p:cNvPicPr>
          <p:nvPr/>
        </p:nvPicPr>
        <p:blipFill>
          <a:blip r:embed="rId48">
            <a:lum/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rcRect/>
          <a:stretch>
            <a:fillRect/>
          </a:stretch>
        </p:blipFill>
        <p:spPr bwMode="white">
          <a:xfrm>
            <a:off x="9963899" y="5637424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4" name="ShadeSessionDisableResilience"/>
          <p:cNvSpPr>
            <a:spLocks/>
          </p:cNvSpPr>
          <p:nvPr/>
        </p:nvSpPr>
        <p:spPr bwMode="white">
          <a:xfrm>
            <a:off x="9959681" y="5602709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2" name="PolicyName">
            <a:hlinkClick r:id="" action="ppaction://hlinkfile"/>
          </p:cNvPr>
          <p:cNvSpPr>
            <a:spLocks noGrp="1"/>
          </p:cNvSpPr>
          <p:nvPr>
            <p:ph type="title"/>
          </p:nvPr>
        </p:nvSpPr>
        <p:spPr bwMode="white">
          <a:xfrm>
            <a:off x="838200" y="115511"/>
            <a:ext cx="10003967" cy="609565"/>
          </a:xfrm>
          <a:ln>
            <a:headEnd type="none"/>
            <a:tailEnd type="none"/>
          </a:ln>
        </p:spPr>
        <p:txBody>
          <a:bodyPr wrap="square">
            <a:noAutofit/>
          </a:bodyPr>
          <a:lstStyle/>
          <a:p>
            <a:pPr defTabSz="914400"/>
            <a:r>
              <a:rPr lang="en-US" sz="2000" b="1" dirty="0"/>
              <a:t>[Risky User] [All users] {HIGH} (Block)</a:t>
            </a:r>
          </a:p>
        </p:txBody>
      </p:sp>
      <p:sp>
        <p:nvSpPr>
          <p:cNvPr id="16" name="LastModified"/>
          <p:cNvSpPr txBox="1">
            <a:spLocks noChangeArrowheads="1"/>
          </p:cNvSpPr>
          <p:nvPr/>
        </p:nvSpPr>
        <p:spPr bwMode="white">
          <a:xfrm>
            <a:off x="10556111" y="388376"/>
            <a:ext cx="15483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algn="r" defTabSz="457200"/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Last modified: 2025-04-16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UserWorkload"/>
          <p:cNvSpPr>
            <a:spLocks/>
          </p:cNvSpPr>
          <p:nvPr/>
        </p:nvSpPr>
        <p:spPr bwMode="auto">
          <a:xfrm>
            <a:off x="175820" y="2709769"/>
            <a:ext cx="2202823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Users</a:t>
            </a:r>
          </a:p>
        </p:txBody>
      </p:sp>
      <p:sp>
        <p:nvSpPr>
          <p:cNvPr id="7" name="UserWorkloadIncExc"/>
          <p:cNvSpPr txBox="1">
            <a:spLocks noChangeArrowheads="1"/>
          </p:cNvSpPr>
          <p:nvPr/>
        </p:nvSpPr>
        <p:spPr bwMode="white">
          <a:xfrm>
            <a:off x="125485" y="3698952"/>
            <a:ext cx="3062115" cy="313265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 numCol="1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b="1" dirty="0"/>
            </a:pPr>
            <a:r>
              <a:t> Users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r>
              <a:t>🚫 Exclude:</a:t>
            </a:r>
          </a:p>
          <a:p>
            <a:pPr defTabSz="457200">
              <a:defRPr sz="1100" b="1" dirty="0"/>
            </a:pPr>
            <a:r>
              <a:t> Groups</a:t>
            </a:r>
          </a:p>
          <a:p>
            <a:pPr defTabSz="457200">
              <a:defRPr sz="1100" dirty="0"/>
            </a:pPr>
            <a:r>
              <a:t> - CO_PIVExceptions (8)</a:t>
            </a:r>
          </a:p>
          <a:p>
            <a:pPr defTabSz="457200">
              <a:defRPr sz="1100" dirty="0"/>
            </a:pPr>
            <a:r>
              <a:t> - CO_SVO365ServiceAccounts (25)</a:t>
            </a:r>
          </a:p>
          <a:p>
            <a:pPr defTabSz="457200">
              <a:defRPr sz="1100" dirty="0"/>
            </a:pPr>
            <a:r>
              <a:t> - EntraConnectSyncAccounts (2)</a:t>
            </a:r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19" name="Risks"/>
          <p:cNvSpPr txBox="1">
            <a:spLocks noChangeArrowheads="1"/>
          </p:cNvSpPr>
          <p:nvPr/>
        </p:nvSpPr>
        <p:spPr bwMode="white">
          <a:xfrm>
            <a:off x="524485" y="1021946"/>
            <a:ext cx="1348869" cy="166886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b="1" dirty="0"/>
            </a:pPr>
            <a:r>
              <a:t>User risk:</a:t>
            </a:r>
          </a:p>
          <a:p>
            <a:pPr defTabSz="457200">
              <a:defRPr sz="1100" dirty="0"/>
            </a:pPr>
            <a:r>
              <a:t> - Medium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20" name="Platforms"/>
          <p:cNvSpPr txBox="1">
            <a:spLocks noChangeArrowheads="1"/>
          </p:cNvSpPr>
          <p:nvPr/>
        </p:nvSpPr>
        <p:spPr bwMode="white">
          <a:xfrm>
            <a:off x="1826931" y="1021947"/>
            <a:ext cx="2061056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3" name="Locations"/>
          <p:cNvSpPr txBox="1">
            <a:spLocks noChangeArrowheads="1"/>
          </p:cNvSpPr>
          <p:nvPr/>
        </p:nvSpPr>
        <p:spPr bwMode="white">
          <a:xfrm>
            <a:off x="8324941" y="1021947"/>
            <a:ext cx="3513702" cy="159258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4" name="ClientAppTypes"/>
          <p:cNvSpPr txBox="1">
            <a:spLocks noChangeArrowheads="1"/>
          </p:cNvSpPr>
          <p:nvPr/>
        </p:nvSpPr>
        <p:spPr bwMode="white">
          <a:xfrm>
            <a:off x="3810664" y="1021947"/>
            <a:ext cx="1581599" cy="165343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5" name="DeviceFilters"/>
          <p:cNvSpPr txBox="1">
            <a:spLocks noChangeArrowheads="1"/>
          </p:cNvSpPr>
          <p:nvPr/>
        </p:nvSpPr>
        <p:spPr bwMode="white">
          <a:xfrm>
            <a:off x="5818151" y="1022762"/>
            <a:ext cx="2248808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cxnSp>
        <p:nvCxnSpPr>
          <p:cNvPr id="27" name="Straight Arrow Connector 26" descr="Arrow drawn from user/workload  to the action being performed by the user such as accessing cloud apps."/>
          <p:cNvCxnSpPr/>
          <p:nvPr/>
        </p:nvCxnSpPr>
        <p:spPr bwMode="white">
          <a:xfrm>
            <a:off x="2195232" y="3159047"/>
            <a:ext cx="3959471" cy="1"/>
          </a:xfrm>
          <a:prstGeom prst="straightConnector1">
            <a:avLst/>
          </a:prstGeom>
          <a:ln w="76200"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2" name="GrantLabelGrantAccess"/>
          <p:cNvSpPr txBox="1">
            <a:spLocks noChangeArrowheads="1"/>
          </p:cNvSpPr>
          <p:nvPr/>
        </p:nvSpPr>
        <p:spPr bwMode="white">
          <a:xfrm>
            <a:off x="3928464" y="2723089"/>
            <a:ext cx="1381340" cy="369332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algn="ctr" defTabSz="457200"/>
            <a:r>
              <a:rPr lang="en-US" b="1" dirty="0">
                <a:solidFill>
                  <a:srgbClr val="00B050"/>
                </a:solidFill>
              </a:rPr>
              <a:t>Grant access</a:t>
            </a:r>
          </a:p>
        </p:txBody>
      </p:sp>
      <p:pic>
        <p:nvPicPr>
          <p:cNvPr id="35" name="IconGrantAccess" descr="Picture with gren tick sign to indicate access was granted"/>
          <p:cNvPicPr>
            <a:picLocks noChangeAspect="1"/>
          </p:cNvPicPr>
          <p:nvPr/>
        </p:nvPicPr>
        <p:blipFill>
          <a:blip r:embed="rId3">
            <a:lum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 bwMode="white">
          <a:xfrm>
            <a:off x="5309361" y="2730170"/>
            <a:ext cx="356616" cy="356616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26" name="IconGroupIdentity"/>
          <p:cNvPicPr>
            <a:picLocks noChangeAspect="1"/>
          </p:cNvPicPr>
          <p:nvPr/>
        </p:nvPicPr>
        <p:blipFill>
          <a:blip r:embed="rId5">
            <a:lum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 bwMode="white">
          <a:xfrm>
            <a:off x="327701" y="2839007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36" name="Graphic 35"/>
          <p:cNvPicPr>
            <a:picLocks noChangeAspect="1"/>
          </p:cNvPicPr>
          <p:nvPr/>
        </p:nvPicPr>
        <p:blipFill>
          <a:blip r:embed="rId7">
            <a:lum/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p:blipFill>
        <p:spPr bwMode="white">
          <a:xfrm>
            <a:off x="495610" y="197468"/>
            <a:ext cx="381196" cy="38119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" name="CloudAppAction"/>
          <p:cNvSpPr>
            <a:spLocks/>
          </p:cNvSpPr>
          <p:nvPr/>
        </p:nvSpPr>
        <p:spPr bwMode="auto">
          <a:xfrm>
            <a:off x="6206089" y="2718506"/>
            <a:ext cx="3227026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Azure Active Directory</a:t>
            </a:r>
          </a:p>
        </p:txBody>
      </p:sp>
      <p:pic>
        <p:nvPicPr>
          <p:cNvPr id="41" name="IconAccessAzureAD"/>
          <p:cNvPicPr>
            <a:picLocks noChangeAspect="1"/>
          </p:cNvPicPr>
          <p:nvPr/>
        </p:nvPicPr>
        <p:blipFill>
          <a:blip r:embed="rId9">
            <a:lum/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p:blipFill>
        <p:spPr bwMode="white">
          <a:xfrm>
            <a:off x="6473980" y="2882544"/>
            <a:ext cx="548640" cy="54864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21" name="StateEnabled"/>
          <p:cNvSpPr>
            <a:spLocks/>
          </p:cNvSpPr>
          <p:nvPr/>
        </p:nvSpPr>
        <p:spPr bwMode="white">
          <a:xfrm>
            <a:off x="10842171" y="83487"/>
            <a:ext cx="1260389" cy="264812"/>
          </a:xfrm>
          <a:prstGeom prst="round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r>
              <a:rPr lang="en-US" sz="800" dirty="0"/>
              <a:t>Policy Enabled</a:t>
            </a:r>
          </a:p>
        </p:txBody>
      </p:sp>
      <p:grpSp>
        <p:nvGrpSpPr>
          <p:cNvPr id="10" name="IconRiskyUsers"/>
          <p:cNvGrpSpPr>
            <a:grpSpLocks/>
          </p:cNvGrpSpPr>
          <p:nvPr/>
        </p:nvGrpSpPr>
        <p:grpSpPr bwMode="white">
          <a:xfrm>
            <a:off x="635426" y="738677"/>
            <a:ext cx="1202553" cy="274320"/>
            <a:chOff x="2013768" y="1033956"/>
            <a:chExt cx="1342320" cy="274320"/>
          </a:xfrm>
        </p:grpSpPr>
        <p:pic>
          <p:nvPicPr>
            <p:cNvPr id="46" name="Graphic 1"/>
            <p:cNvPicPr>
              <a:picLocks noChangeAspect="1"/>
            </p:cNvPicPr>
            <p:nvPr/>
          </p:nvPicPr>
          <p:blipFill>
            <a:blip r:embed="rId11">
              <a:lum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013768" y="1033956"/>
              <a:ext cx="274320" cy="27432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5" name="Label 1"/>
            <p:cNvSpPr txBox="1">
              <a:spLocks noChangeArrowheads="1"/>
            </p:cNvSpPr>
            <p:nvPr/>
          </p:nvSpPr>
          <p:spPr bwMode="white">
            <a:xfrm>
              <a:off x="2240077" y="1040706"/>
              <a:ext cx="1116011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Risk</a:t>
              </a:r>
            </a:p>
          </p:txBody>
        </p:sp>
      </p:grpSp>
      <p:grpSp>
        <p:nvGrpSpPr>
          <p:cNvPr id="14" name="IconPlatforms"/>
          <p:cNvGrpSpPr>
            <a:grpSpLocks/>
          </p:cNvGrpSpPr>
          <p:nvPr/>
        </p:nvGrpSpPr>
        <p:grpSpPr bwMode="white">
          <a:xfrm>
            <a:off x="1927788" y="715249"/>
            <a:ext cx="1719285" cy="365760"/>
            <a:chOff x="3262737" y="994835"/>
            <a:chExt cx="1719285" cy="365760"/>
          </a:xfrm>
        </p:grpSpPr>
        <p:pic>
          <p:nvPicPr>
            <p:cNvPr id="29" name="Graphic 1"/>
            <p:cNvPicPr>
              <a:picLocks noChangeAspect="1"/>
            </p:cNvPicPr>
            <p:nvPr/>
          </p:nvPicPr>
          <p:blipFill>
            <a:blip r:embed="rId13">
              <a:lum/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3262737" y="994835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1" name="Label 1"/>
            <p:cNvSpPr txBox="1">
              <a:spLocks noChangeArrowheads="1"/>
            </p:cNvSpPr>
            <p:nvPr/>
          </p:nvSpPr>
          <p:spPr bwMode="white">
            <a:xfrm>
              <a:off x="3582397" y="1027255"/>
              <a:ext cx="1399625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Device platforms</a:t>
              </a:r>
            </a:p>
          </p:txBody>
        </p:sp>
      </p:grpSp>
      <p:grpSp>
        <p:nvGrpSpPr>
          <p:cNvPr id="17" name="IconClientAppTypes"/>
          <p:cNvGrpSpPr>
            <a:grpSpLocks/>
          </p:cNvGrpSpPr>
          <p:nvPr/>
        </p:nvGrpSpPr>
        <p:grpSpPr bwMode="white">
          <a:xfrm>
            <a:off x="3908159" y="670015"/>
            <a:ext cx="1852971" cy="365760"/>
            <a:chOff x="4858970" y="975927"/>
            <a:chExt cx="1852971" cy="365760"/>
          </a:xfrm>
        </p:grpSpPr>
        <p:pic>
          <p:nvPicPr>
            <p:cNvPr id="58" name="Graphic 1"/>
            <p:cNvPicPr>
              <a:picLocks noChangeAspect="1"/>
            </p:cNvPicPr>
            <p:nvPr/>
          </p:nvPicPr>
          <p:blipFill>
            <a:blip r:embed="rId15">
              <a:lum/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858970" y="975927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5" name="Label 1"/>
            <p:cNvSpPr txBox="1">
              <a:spLocks noChangeArrowheads="1"/>
            </p:cNvSpPr>
            <p:nvPr/>
          </p:nvSpPr>
          <p:spPr bwMode="white">
            <a:xfrm>
              <a:off x="5193983" y="1009899"/>
              <a:ext cx="1517958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Client apps</a:t>
              </a:r>
            </a:p>
          </p:txBody>
        </p:sp>
      </p:grpSp>
      <p:grpSp>
        <p:nvGrpSpPr>
          <p:cNvPr id="37" name="IconLocations"/>
          <p:cNvGrpSpPr>
            <a:grpSpLocks/>
          </p:cNvGrpSpPr>
          <p:nvPr/>
        </p:nvGrpSpPr>
        <p:grpSpPr bwMode="white">
          <a:xfrm>
            <a:off x="8411896" y="646848"/>
            <a:ext cx="1850168" cy="388465"/>
            <a:chOff x="2321433" y="3262888"/>
            <a:chExt cx="1850168" cy="388465"/>
          </a:xfrm>
        </p:grpSpPr>
        <p:pic>
          <p:nvPicPr>
            <p:cNvPr id="33" name="Graphic 1"/>
            <p:cNvPicPr>
              <a:picLocks noChangeAspect="1"/>
            </p:cNvPicPr>
            <p:nvPr/>
          </p:nvPicPr>
          <p:blipFill>
            <a:blip r:embed="rId17">
              <a:lum/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321433" y="3262888"/>
              <a:ext cx="388465" cy="388465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28" name="Label 1"/>
            <p:cNvSpPr txBox="1">
              <a:spLocks noChangeArrowheads="1"/>
            </p:cNvSpPr>
            <p:nvPr/>
          </p:nvSpPr>
          <p:spPr bwMode="white">
            <a:xfrm>
              <a:off x="2713321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Locations</a:t>
              </a:r>
              <a:endParaRPr lang="en-US" sz="1100" b="1" dirty="0"/>
            </a:p>
          </p:txBody>
        </p:sp>
      </p:grpSp>
      <p:grpSp>
        <p:nvGrpSpPr>
          <p:cNvPr id="39" name="IconDeviceFilters"/>
          <p:cNvGrpSpPr>
            <a:grpSpLocks/>
          </p:cNvGrpSpPr>
          <p:nvPr/>
        </p:nvGrpSpPr>
        <p:grpSpPr bwMode="white">
          <a:xfrm>
            <a:off x="5472818" y="661958"/>
            <a:ext cx="1839823" cy="364111"/>
            <a:chOff x="4195414" y="3273669"/>
            <a:chExt cx="1839823" cy="364111"/>
          </a:xfrm>
        </p:grpSpPr>
        <p:pic>
          <p:nvPicPr>
            <p:cNvPr id="60" name="Graphic 1"/>
            <p:cNvPicPr>
              <a:picLocks noChangeAspect="1"/>
            </p:cNvPicPr>
            <p:nvPr/>
          </p:nvPicPr>
          <p:blipFill>
            <a:blip r:embed="rId19">
              <a:lum/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195414" y="3273669"/>
              <a:ext cx="364111" cy="364111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31" name="Label 1"/>
            <p:cNvSpPr txBox="1">
              <a:spLocks noChangeArrowheads="1"/>
            </p:cNvSpPr>
            <p:nvPr/>
          </p:nvSpPr>
          <p:spPr bwMode="white">
            <a:xfrm>
              <a:off x="4576957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Filter for devices</a:t>
              </a:r>
              <a:endParaRPr lang="en-US" sz="1100" b="1" dirty="0"/>
            </a:p>
          </p:txBody>
        </p:sp>
      </p:grpSp>
      <p:pic>
        <p:nvPicPr>
          <p:cNvPr id="62" name="IconGrantMultifactorAuthentication"/>
          <p:cNvPicPr>
            <a:picLocks noChangeAspect="1"/>
          </p:cNvPicPr>
          <p:nvPr/>
        </p:nvPicPr>
        <p:blipFill>
          <a:blip r:embed="rId21">
            <a:lum/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>
            <a:fillRect/>
          </a:stretch>
        </p:blipFill>
        <p:spPr bwMode="white">
          <a:xfrm>
            <a:off x="3410647" y="3566863"/>
            <a:ext cx="17145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5" name="IconGrantMultifactorAuthenticationLabel"/>
          <p:cNvSpPr txBox="1">
            <a:spLocks noChangeArrowheads="1"/>
          </p:cNvSpPr>
          <p:nvPr/>
        </p:nvSpPr>
        <p:spPr bwMode="white">
          <a:xfrm>
            <a:off x="3575836" y="3571997"/>
            <a:ext cx="19007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Multifactor authentication</a:t>
            </a:r>
            <a:endParaRPr lang="en-US" sz="1000" dirty="0"/>
          </a:p>
        </p:txBody>
      </p:sp>
      <p:pic>
        <p:nvPicPr>
          <p:cNvPr id="38" name="IconGrantAuthenticationStrength"/>
          <p:cNvPicPr>
            <a:picLocks noChangeAspect="1"/>
          </p:cNvPicPr>
          <p:nvPr/>
        </p:nvPicPr>
        <p:blipFill>
          <a:blip r:embed="rId23">
            <a:lum/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/>
          <a:stretch>
            <a:fillRect/>
          </a:stretch>
        </p:blipFill>
        <p:spPr bwMode="white">
          <a:xfrm>
            <a:off x="3374515" y="3905034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7" name="IconGrantAuthenticationStrengthLabel"/>
          <p:cNvSpPr txBox="1">
            <a:spLocks noChangeArrowheads="1"/>
          </p:cNvSpPr>
          <p:nvPr/>
        </p:nvSpPr>
        <p:spPr bwMode="white">
          <a:xfrm>
            <a:off x="3575836" y="3907323"/>
            <a:ext cx="2185294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Auth strength:Phishing-resistant MFA</a:t>
            </a:r>
            <a:endParaRPr lang="en-US" sz="1000" dirty="0"/>
          </a:p>
        </p:txBody>
      </p:sp>
      <p:pic>
        <p:nvPicPr>
          <p:cNvPr id="52" name="IconGrantDeviceCompliance"/>
          <p:cNvPicPr>
            <a:picLocks noChangeAspect="1"/>
          </p:cNvPicPr>
          <p:nvPr/>
        </p:nvPicPr>
        <p:blipFill>
          <a:blip r:embed="rId25">
            <a:lum/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/>
          <a:stretch>
            <a:fillRect/>
          </a:stretch>
        </p:blipFill>
        <p:spPr bwMode="white">
          <a:xfrm>
            <a:off x="3374515" y="4243205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9" name="IconGrantDeviceComplianceLabel"/>
          <p:cNvSpPr txBox="1">
            <a:spLocks noChangeArrowheads="1"/>
          </p:cNvSpPr>
          <p:nvPr/>
        </p:nvSpPr>
        <p:spPr bwMode="white">
          <a:xfrm>
            <a:off x="3575836" y="4242649"/>
            <a:ext cx="17378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Compliant device</a:t>
            </a:r>
            <a:endParaRPr lang="en-US" sz="1000" dirty="0"/>
          </a:p>
        </p:txBody>
      </p:sp>
      <p:pic>
        <p:nvPicPr>
          <p:cNvPr id="43" name="IconGrantHybridJoined"/>
          <p:cNvPicPr>
            <a:picLocks noChangeAspect="1"/>
          </p:cNvPicPr>
          <p:nvPr/>
        </p:nvPicPr>
        <p:blipFill>
          <a:blip r:embed="rId27">
            <a:lum/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/>
          <a:stretch>
            <a:fillRect/>
          </a:stretch>
        </p:blipFill>
        <p:spPr bwMode="white">
          <a:xfrm>
            <a:off x="3374515" y="4581376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3" name="IconGrantHybridJoinedLabel"/>
          <p:cNvSpPr txBox="1">
            <a:spLocks noChangeArrowheads="1"/>
          </p:cNvSpPr>
          <p:nvPr/>
        </p:nvSpPr>
        <p:spPr bwMode="white">
          <a:xfrm>
            <a:off x="3575836" y="4577975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Hybrid Azure AD joined device</a:t>
            </a:r>
            <a:endParaRPr lang="en-US" sz="1000" dirty="0"/>
          </a:p>
        </p:txBody>
      </p:sp>
      <p:pic>
        <p:nvPicPr>
          <p:cNvPr id="48" name="IconGrantApprovedClientApp"/>
          <p:cNvPicPr>
            <a:picLocks noChangeAspect="1"/>
          </p:cNvPicPr>
          <p:nvPr/>
        </p:nvPicPr>
        <p:blipFill>
          <a:blip r:embed="rId29">
            <a:lum/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rcRect/>
          <a:stretch>
            <a:fillRect/>
          </a:stretch>
        </p:blipFill>
        <p:spPr bwMode="white">
          <a:xfrm>
            <a:off x="3374515" y="491954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5" name="IconGrantApprovedClientAppLabel"/>
          <p:cNvSpPr txBox="1">
            <a:spLocks noChangeArrowheads="1"/>
          </p:cNvSpPr>
          <p:nvPr/>
        </p:nvSpPr>
        <p:spPr bwMode="white">
          <a:xfrm>
            <a:off x="3575836" y="4913301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Approved client app</a:t>
            </a:r>
            <a:endParaRPr lang="en-US" sz="1000" dirty="0"/>
          </a:p>
        </p:txBody>
      </p:sp>
      <p:pic>
        <p:nvPicPr>
          <p:cNvPr id="42" name="IconGrantCustomAuth"/>
          <p:cNvPicPr>
            <a:picLocks noChangeAspect="1"/>
          </p:cNvPicPr>
          <p:nvPr/>
        </p:nvPicPr>
        <p:blipFill>
          <a:blip r:embed="rId31">
            <a:lum/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rcRect/>
          <a:stretch>
            <a:fillRect/>
          </a:stretch>
        </p:blipFill>
        <p:spPr bwMode="white">
          <a:xfrm>
            <a:off x="3374515" y="593406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9" name="IconGrantCustomAuthLabel"/>
          <p:cNvSpPr txBox="1">
            <a:spLocks noChangeArrowheads="1"/>
          </p:cNvSpPr>
          <p:nvPr/>
        </p:nvSpPr>
        <p:spPr bwMode="white">
          <a:xfrm>
            <a:off x="3575836" y="5919279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Custom authentication factor</a:t>
            </a:r>
            <a:endParaRPr lang="en-US" sz="1000" dirty="0"/>
          </a:p>
        </p:txBody>
      </p:sp>
      <p:pic>
        <p:nvPicPr>
          <p:cNvPr id="40" name="IconGrantTermsOfUse"/>
          <p:cNvPicPr>
            <a:picLocks noChangeAspect="1"/>
          </p:cNvPicPr>
          <p:nvPr/>
        </p:nvPicPr>
        <p:blipFill>
          <a:blip r:embed="rId33">
            <a:lum/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rcRect/>
          <a:stretch>
            <a:fillRect/>
          </a:stretch>
        </p:blipFill>
        <p:spPr bwMode="white">
          <a:xfrm>
            <a:off x="3374515" y="627222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3" name="IconGrantTermsOfUseLabel"/>
          <p:cNvSpPr txBox="1">
            <a:spLocks noChangeArrowheads="1"/>
          </p:cNvSpPr>
          <p:nvPr/>
        </p:nvSpPr>
        <p:spPr bwMode="white">
          <a:xfrm>
            <a:off x="3575836" y="625460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Terms of use</a:t>
            </a:r>
            <a:endParaRPr lang="en-US" sz="1000" dirty="0"/>
          </a:p>
        </p:txBody>
      </p:sp>
      <p:sp>
        <p:nvSpPr>
          <p:cNvPr id="56" name="IconGrantAppProtectionLabel"/>
          <p:cNvSpPr txBox="1">
            <a:spLocks noChangeArrowheads="1"/>
          </p:cNvSpPr>
          <p:nvPr/>
        </p:nvSpPr>
        <p:spPr bwMode="white">
          <a:xfrm>
            <a:off x="3575836" y="524862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 protection policy</a:t>
            </a:r>
            <a:endParaRPr lang="en-US" sz="1000" dirty="0"/>
          </a:p>
        </p:txBody>
      </p:sp>
      <p:pic>
        <p:nvPicPr>
          <p:cNvPr id="65" name="IconGrantAppProtection"/>
          <p:cNvPicPr>
            <a:picLocks noChangeAspect="1"/>
          </p:cNvPicPr>
          <p:nvPr/>
        </p:nvPicPr>
        <p:blipFill>
          <a:blip r:embed="rId35">
            <a:lum/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rcRect/>
          <a:stretch>
            <a:fillRect/>
          </a:stretch>
        </p:blipFill>
        <p:spPr bwMode="white">
          <a:xfrm>
            <a:off x="3374515" y="525771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7" name="IconGrantChangePasswordLabel"/>
          <p:cNvSpPr txBox="1">
            <a:spLocks noChangeArrowheads="1"/>
          </p:cNvSpPr>
          <p:nvPr/>
        </p:nvSpPr>
        <p:spPr bwMode="white">
          <a:xfrm>
            <a:off x="3575836" y="5583953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Change password</a:t>
            </a:r>
            <a:endParaRPr lang="en-US" sz="1000" dirty="0"/>
          </a:p>
        </p:txBody>
      </p:sp>
      <p:pic>
        <p:nvPicPr>
          <p:cNvPr id="67" name="IconGrantChangePassword"/>
          <p:cNvPicPr>
            <a:picLocks noChangeAspect="1"/>
          </p:cNvPicPr>
          <p:nvPr/>
        </p:nvPicPr>
        <p:blipFill>
          <a:blip r:embed="rId37">
            <a:lum/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rcRect/>
          <a:stretch>
            <a:fillRect/>
          </a:stretch>
        </p:blipFill>
        <p:spPr bwMode="white">
          <a:xfrm>
            <a:off x="3374515" y="5595889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6" name="ShadeDevicePlatforms"/>
          <p:cNvSpPr>
            <a:spLocks/>
          </p:cNvSpPr>
          <p:nvPr/>
        </p:nvSpPr>
        <p:spPr bwMode="white">
          <a:xfrm>
            <a:off x="1863623" y="663409"/>
            <a:ext cx="1773927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78" name="ShadeClientApps"/>
          <p:cNvSpPr>
            <a:spLocks/>
          </p:cNvSpPr>
          <p:nvPr/>
        </p:nvSpPr>
        <p:spPr bwMode="white">
          <a:xfrm>
            <a:off x="3802273" y="650246"/>
            <a:ext cx="1481482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79" name="ShadeLocations"/>
          <p:cNvSpPr>
            <a:spLocks/>
          </p:cNvSpPr>
          <p:nvPr/>
        </p:nvSpPr>
        <p:spPr bwMode="white">
          <a:xfrm>
            <a:off x="8217572" y="669110"/>
            <a:ext cx="1873684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2" name="ShadeFilterForDevices"/>
          <p:cNvSpPr>
            <a:spLocks/>
          </p:cNvSpPr>
          <p:nvPr/>
        </p:nvSpPr>
        <p:spPr bwMode="white">
          <a:xfrm>
            <a:off x="5438955" y="627922"/>
            <a:ext cx="1873685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3" name="ShadeGrantMultifactorAuth"/>
          <p:cNvSpPr>
            <a:spLocks/>
          </p:cNvSpPr>
          <p:nvPr/>
        </p:nvSpPr>
        <p:spPr bwMode="white">
          <a:xfrm>
            <a:off x="3369399" y="3534220"/>
            <a:ext cx="2069555" cy="28330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5" name="ShadeGrantCompliantDevice"/>
          <p:cNvSpPr>
            <a:spLocks/>
          </p:cNvSpPr>
          <p:nvPr/>
        </p:nvSpPr>
        <p:spPr bwMode="white">
          <a:xfrm>
            <a:off x="3361852" y="4243205"/>
            <a:ext cx="2077102" cy="26110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6" name="ShadeGrantHybridAzureADJoined"/>
          <p:cNvSpPr>
            <a:spLocks/>
          </p:cNvSpPr>
          <p:nvPr/>
        </p:nvSpPr>
        <p:spPr bwMode="white">
          <a:xfrm>
            <a:off x="3353637" y="4552268"/>
            <a:ext cx="2160906" cy="298395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7" name="ShadeGrantApprovedClientApp"/>
          <p:cNvSpPr>
            <a:spLocks/>
          </p:cNvSpPr>
          <p:nvPr/>
        </p:nvSpPr>
        <p:spPr bwMode="white">
          <a:xfrm>
            <a:off x="3331918" y="4876027"/>
            <a:ext cx="2182625" cy="29839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8" name="ShadeGrantAppProtectionPolicy"/>
          <p:cNvSpPr>
            <a:spLocks/>
          </p:cNvSpPr>
          <p:nvPr/>
        </p:nvSpPr>
        <p:spPr bwMode="white">
          <a:xfrm>
            <a:off x="3350256" y="5207226"/>
            <a:ext cx="2122561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9" name="ShadeGrantChangePassword"/>
          <p:cNvSpPr>
            <a:spLocks/>
          </p:cNvSpPr>
          <p:nvPr/>
        </p:nvSpPr>
        <p:spPr bwMode="white">
          <a:xfrm>
            <a:off x="3350257" y="5557021"/>
            <a:ext cx="2042006" cy="287239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0" name="ShadeGrantCustomAuthFactor"/>
          <p:cNvSpPr>
            <a:spLocks/>
          </p:cNvSpPr>
          <p:nvPr/>
        </p:nvSpPr>
        <p:spPr bwMode="white">
          <a:xfrm>
            <a:off x="3331918" y="5899058"/>
            <a:ext cx="2182625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1" name="ShadeGrantTermsOfUse"/>
          <p:cNvSpPr>
            <a:spLocks/>
          </p:cNvSpPr>
          <p:nvPr/>
        </p:nvSpPr>
        <p:spPr bwMode="white">
          <a:xfrm>
            <a:off x="3313823" y="6192350"/>
            <a:ext cx="101602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99" name="Rectangle 98"/>
          <p:cNvSpPr>
            <a:spLocks/>
          </p:cNvSpPr>
          <p:nvPr/>
        </p:nvSpPr>
        <p:spPr bwMode="white">
          <a:xfrm>
            <a:off x="3268757" y="3253404"/>
            <a:ext cx="2357725" cy="3498546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0" name="Rectangle 109"/>
          <p:cNvSpPr>
            <a:spLocks/>
          </p:cNvSpPr>
          <p:nvPr/>
        </p:nvSpPr>
        <p:spPr bwMode="white">
          <a:xfrm>
            <a:off x="9881750" y="3248255"/>
            <a:ext cx="2220808" cy="3510149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7" name="Rectangle 116"/>
          <p:cNvSpPr>
            <a:spLocks/>
          </p:cNvSpPr>
          <p:nvPr/>
        </p:nvSpPr>
        <p:spPr bwMode="white">
          <a:xfrm>
            <a:off x="26741" y="606825"/>
            <a:ext cx="11985015" cy="2063636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2" name="Conditions Label"/>
          <p:cNvSpPr txBox="1">
            <a:spLocks noChangeArrowheads="1"/>
          </p:cNvSpPr>
          <p:nvPr/>
        </p:nvSpPr>
        <p:spPr bwMode="white">
          <a:xfrm rot="16200000">
            <a:off x="-883507" y="1514324"/>
            <a:ext cx="2081441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Conditions</a:t>
            </a:r>
          </a:p>
        </p:txBody>
      </p:sp>
      <p:sp>
        <p:nvSpPr>
          <p:cNvPr id="109" name="Grant Controls"/>
          <p:cNvSpPr txBox="1">
            <a:spLocks noChangeArrowheads="1"/>
          </p:cNvSpPr>
          <p:nvPr/>
        </p:nvSpPr>
        <p:spPr bwMode="white">
          <a:xfrm>
            <a:off x="3252146" y="3244395"/>
            <a:ext cx="2391873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Grant Controls</a:t>
            </a:r>
          </a:p>
        </p:txBody>
      </p:sp>
      <p:sp>
        <p:nvSpPr>
          <p:cNvPr id="111" name="Session Controls"/>
          <p:cNvSpPr txBox="1">
            <a:spLocks noChangeArrowheads="1"/>
          </p:cNvSpPr>
          <p:nvPr/>
        </p:nvSpPr>
        <p:spPr bwMode="white">
          <a:xfrm>
            <a:off x="9864212" y="3243751"/>
            <a:ext cx="2238346" cy="23786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Session Controls</a:t>
            </a:r>
          </a:p>
        </p:txBody>
      </p:sp>
      <p:pic>
        <p:nvPicPr>
          <p:cNvPr id="72" name="Graphic 71"/>
          <p:cNvPicPr>
            <a:picLocks noChangeAspect="1"/>
          </p:cNvPicPr>
          <p:nvPr/>
        </p:nvPicPr>
        <p:blipFill>
          <a:blip r:embed="rId39">
            <a:lum/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rcRect/>
          <a:stretch>
            <a:fillRect/>
          </a:stretch>
        </p:blipFill>
        <p:spPr bwMode="white">
          <a:xfrm>
            <a:off x="9996846" y="356982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4" name="Graphic 93"/>
          <p:cNvPicPr>
            <a:picLocks noChangeAspect="1"/>
          </p:cNvPicPr>
          <p:nvPr/>
        </p:nvPicPr>
        <p:blipFill>
          <a:blip r:embed="rId41">
            <a:lum/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rcRect/>
          <a:stretch>
            <a:fillRect/>
          </a:stretch>
        </p:blipFill>
        <p:spPr bwMode="white">
          <a:xfrm>
            <a:off x="10009443" y="525644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5" name="TextBox 94"/>
          <p:cNvSpPr txBox="1">
            <a:spLocks noChangeArrowheads="1"/>
          </p:cNvSpPr>
          <p:nvPr/>
        </p:nvSpPr>
        <p:spPr bwMode="white">
          <a:xfrm>
            <a:off x="10207481" y="3578463"/>
            <a:ext cx="150554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App enforced restrictions</a:t>
            </a:r>
          </a:p>
        </p:txBody>
      </p:sp>
      <p:sp>
        <p:nvSpPr>
          <p:cNvPr id="96" name="TextBox 95"/>
          <p:cNvSpPr txBox="1">
            <a:spLocks noChangeArrowheads="1"/>
          </p:cNvSpPr>
          <p:nvPr/>
        </p:nvSpPr>
        <p:spPr bwMode="white">
          <a:xfrm>
            <a:off x="10201167" y="3899846"/>
            <a:ext cx="181011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Conditional Access App Control</a:t>
            </a:r>
          </a:p>
        </p:txBody>
      </p:sp>
      <p:sp>
        <p:nvSpPr>
          <p:cNvPr id="97" name="TextBox 96"/>
          <p:cNvSpPr txBox="1">
            <a:spLocks noChangeArrowheads="1"/>
          </p:cNvSpPr>
          <p:nvPr/>
        </p:nvSpPr>
        <p:spPr bwMode="white">
          <a:xfrm>
            <a:off x="10215627" y="4357505"/>
            <a:ext cx="1090363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Sign-in frequency</a:t>
            </a:r>
          </a:p>
        </p:txBody>
      </p:sp>
      <p:sp>
        <p:nvSpPr>
          <p:cNvPr id="98" name="TextBox 97"/>
          <p:cNvSpPr txBox="1">
            <a:spLocks noChangeArrowheads="1"/>
          </p:cNvSpPr>
          <p:nvPr/>
        </p:nvSpPr>
        <p:spPr bwMode="white">
          <a:xfrm>
            <a:off x="10225446" y="4793305"/>
            <a:ext cx="156966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Persistent browser session</a:t>
            </a:r>
          </a:p>
        </p:txBody>
      </p:sp>
      <p:sp>
        <p:nvSpPr>
          <p:cNvPr id="100" name="TextBox 99"/>
          <p:cNvSpPr txBox="1">
            <a:spLocks noChangeArrowheads="1"/>
          </p:cNvSpPr>
          <p:nvPr/>
        </p:nvSpPr>
        <p:spPr bwMode="white">
          <a:xfrm>
            <a:off x="10229552" y="5232376"/>
            <a:ext cx="1717137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Continuous access evaluation</a:t>
            </a:r>
          </a:p>
        </p:txBody>
      </p:sp>
      <p:sp>
        <p:nvSpPr>
          <p:cNvPr id="101" name="TextBox 100"/>
          <p:cNvSpPr txBox="1">
            <a:spLocks noChangeArrowheads="1"/>
          </p:cNvSpPr>
          <p:nvPr/>
        </p:nvSpPr>
        <p:spPr bwMode="white">
          <a:xfrm>
            <a:off x="10259108" y="5658625"/>
            <a:ext cx="153599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Disable resilience defaults</a:t>
            </a:r>
          </a:p>
        </p:txBody>
      </p:sp>
      <p:pic>
        <p:nvPicPr>
          <p:cNvPr id="103" name="Graphic 102"/>
          <p:cNvPicPr>
            <a:picLocks noChangeAspect="1"/>
          </p:cNvPicPr>
          <p:nvPr/>
        </p:nvPicPr>
        <p:blipFill>
          <a:blip r:embed="rId43">
            <a:lum/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rcRect/>
          <a:stretch>
            <a:fillRect/>
          </a:stretch>
        </p:blipFill>
        <p:spPr bwMode="white">
          <a:xfrm>
            <a:off x="9996846" y="479900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5" name="Graphic 104"/>
          <p:cNvPicPr>
            <a:picLocks noChangeAspect="1"/>
          </p:cNvPicPr>
          <p:nvPr/>
        </p:nvPicPr>
        <p:blipFill>
          <a:blip r:embed="rId45">
            <a:lum/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rcRect/>
          <a:stretch>
            <a:fillRect/>
          </a:stretch>
        </p:blipFill>
        <p:spPr bwMode="white">
          <a:xfrm>
            <a:off x="9996846" y="437457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7" name="Graphic 106"/>
          <p:cNvPicPr>
            <a:picLocks noChangeAspect="1"/>
          </p:cNvPicPr>
          <p:nvPr/>
        </p:nvPicPr>
        <p:blipFill>
          <a:blip r:embed="rId7">
            <a:lum/>
            <a:extLst>
              <a:ext uri="{96DAC541-7B7A-43D3-8B79-37D633B846F1}">
                <asvg:svgBlip xmlns:asvg="http://schemas.microsoft.com/office/drawing/2016/SVG/main" r:embed="rId47"/>
              </a:ext>
            </a:extLst>
          </a:blip>
          <a:srcRect/>
          <a:stretch>
            <a:fillRect/>
          </a:stretch>
        </p:blipFill>
        <p:spPr bwMode="white">
          <a:xfrm>
            <a:off x="9996846" y="391529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15" name="SessionSifInterval"/>
          <p:cNvSpPr txBox="1">
            <a:spLocks noChangeArrowheads="1"/>
          </p:cNvSpPr>
          <p:nvPr/>
        </p:nvSpPr>
        <p:spPr bwMode="white">
          <a:xfrm>
            <a:off x="10296745" y="4516775"/>
            <a:ext cx="1249060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Periodic reauthentication</a:t>
            </a:r>
          </a:p>
        </p:txBody>
      </p:sp>
      <p:sp>
        <p:nvSpPr>
          <p:cNvPr id="114" name="SessionCasType"/>
          <p:cNvSpPr txBox="1">
            <a:spLocks noChangeArrowheads="1"/>
          </p:cNvSpPr>
          <p:nvPr/>
        </p:nvSpPr>
        <p:spPr bwMode="white">
          <a:xfrm>
            <a:off x="10296745" y="4075500"/>
            <a:ext cx="95410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App Control Policy</a:t>
            </a:r>
          </a:p>
        </p:txBody>
      </p:sp>
      <p:sp>
        <p:nvSpPr>
          <p:cNvPr id="116" name="SessionPersistenBrowserMode"/>
          <p:cNvSpPr txBox="1">
            <a:spLocks noChangeArrowheads="1"/>
          </p:cNvSpPr>
          <p:nvPr/>
        </p:nvSpPr>
        <p:spPr bwMode="white">
          <a:xfrm>
            <a:off x="10309761" y="4945281"/>
            <a:ext cx="918841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Always persistent</a:t>
            </a:r>
          </a:p>
        </p:txBody>
      </p:sp>
      <p:sp>
        <p:nvSpPr>
          <p:cNvPr id="118" name="SessionCaeMode"/>
          <p:cNvSpPr txBox="1">
            <a:spLocks noChangeArrowheads="1"/>
          </p:cNvSpPr>
          <p:nvPr/>
        </p:nvSpPr>
        <p:spPr bwMode="white">
          <a:xfrm>
            <a:off x="10301386" y="5393378"/>
            <a:ext cx="15359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US" sz="800" dirty="0"/>
              <a:t>Strictly enforce location policies</a:t>
            </a:r>
          </a:p>
        </p:txBody>
      </p:sp>
      <p:sp>
        <p:nvSpPr>
          <p:cNvPr id="119" name="ShadeSessionAppEnforced"/>
          <p:cNvSpPr>
            <a:spLocks/>
          </p:cNvSpPr>
          <p:nvPr/>
        </p:nvSpPr>
        <p:spPr bwMode="white">
          <a:xfrm>
            <a:off x="9959680" y="3548808"/>
            <a:ext cx="2051597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0" name="ShadeSessionCas"/>
          <p:cNvSpPr>
            <a:spLocks/>
          </p:cNvSpPr>
          <p:nvPr/>
        </p:nvSpPr>
        <p:spPr bwMode="white">
          <a:xfrm>
            <a:off x="9978939" y="3884212"/>
            <a:ext cx="2087576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1" name="ShadeSessionSif"/>
          <p:cNvSpPr>
            <a:spLocks/>
          </p:cNvSpPr>
          <p:nvPr/>
        </p:nvSpPr>
        <p:spPr bwMode="white">
          <a:xfrm>
            <a:off x="9940787" y="4320077"/>
            <a:ext cx="2125728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2" name="ShadeSessionPersistentBrowser"/>
          <p:cNvSpPr>
            <a:spLocks/>
          </p:cNvSpPr>
          <p:nvPr/>
        </p:nvSpPr>
        <p:spPr bwMode="white">
          <a:xfrm>
            <a:off x="9938833" y="4746195"/>
            <a:ext cx="207244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" name="Label Secure Sign In Session"/>
          <p:cNvSpPr txBox="1">
            <a:spLocks noChangeArrowheads="1"/>
          </p:cNvSpPr>
          <p:nvPr/>
        </p:nvSpPr>
        <p:spPr bwMode="white">
          <a:xfrm>
            <a:off x="10260000" y="6084874"/>
            <a:ext cx="166584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Token protection for session</a:t>
            </a:r>
          </a:p>
        </p:txBody>
      </p:sp>
      <p:pic>
        <p:nvPicPr>
          <p:cNvPr id="77" name="IconSessionCaeDisable" descr="Close with solid fill"/>
          <p:cNvPicPr>
            <a:picLocks noChangeAspect="1"/>
          </p:cNvPicPr>
          <p:nvPr/>
        </p:nvPicPr>
        <p:blipFill>
          <a:blip r:embed="rId48">
            <a:lum/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rcRect/>
          <a:stretch>
            <a:fillRect/>
          </a:stretch>
        </p:blipFill>
        <p:spPr bwMode="white">
          <a:xfrm>
            <a:off x="9979885" y="5218651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2" name="IconSessionSecureSignInSession 1"/>
          <p:cNvPicPr>
            <a:picLocks noChangeAspect="1"/>
          </p:cNvPicPr>
          <p:nvPr/>
        </p:nvPicPr>
        <p:blipFill>
          <a:blip r:embed="rId50">
            <a:lum/>
            <a:extLst>
              <a:ext uri="{96DAC541-7B7A-43D3-8B79-37D633B846F1}">
                <asvg:svgBlip xmlns:asvg="http://schemas.microsoft.com/office/drawing/2016/SVG/main" r:embed="rId51"/>
              </a:ext>
            </a:extLst>
          </a:blip>
          <a:srcRect/>
          <a:stretch>
            <a:fillRect/>
          </a:stretch>
        </p:blipFill>
        <p:spPr bwMode="white">
          <a:xfrm>
            <a:off x="9997200" y="6085768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3" name="ShadeSessionCae"/>
          <p:cNvSpPr>
            <a:spLocks/>
          </p:cNvSpPr>
          <p:nvPr/>
        </p:nvSpPr>
        <p:spPr bwMode="white">
          <a:xfrm>
            <a:off x="9987595" y="5219780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76" name="ShadeSessionSecureSignIn"/>
          <p:cNvSpPr>
            <a:spLocks/>
          </p:cNvSpPr>
          <p:nvPr/>
        </p:nvSpPr>
        <p:spPr bwMode="white">
          <a:xfrm>
            <a:off x="9996846" y="5986498"/>
            <a:ext cx="2014431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pic>
        <p:nvPicPr>
          <p:cNvPr id="102" name="Graphic 101"/>
          <p:cNvPicPr>
            <a:picLocks noChangeAspect="1"/>
          </p:cNvPicPr>
          <p:nvPr/>
        </p:nvPicPr>
        <p:blipFill>
          <a:blip r:embed="rId52">
            <a:lum/>
            <a:extLst>
              <a:ext uri="{96DAC541-7B7A-43D3-8B79-37D633B846F1}">
                <asvg:svgBlip xmlns:asvg="http://schemas.microsoft.com/office/drawing/2016/SVG/main" r:embed="rId53"/>
              </a:ext>
            </a:extLst>
          </a:blip>
          <a:srcRect/>
          <a:stretch>
            <a:fillRect/>
          </a:stretch>
        </p:blipFill>
        <p:spPr bwMode="white">
          <a:xfrm>
            <a:off x="9997200" y="5663777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80" name="Graphic 79" descr="Close with solid fill"/>
          <p:cNvPicPr>
            <a:picLocks noChangeAspect="1"/>
          </p:cNvPicPr>
          <p:nvPr/>
        </p:nvPicPr>
        <p:blipFill>
          <a:blip r:embed="rId48">
            <a:lum/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rcRect/>
          <a:stretch>
            <a:fillRect/>
          </a:stretch>
        </p:blipFill>
        <p:spPr bwMode="white">
          <a:xfrm>
            <a:off x="9963899" y="5637424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4" name="ShadeSessionDisableResilience"/>
          <p:cNvSpPr>
            <a:spLocks/>
          </p:cNvSpPr>
          <p:nvPr/>
        </p:nvSpPr>
        <p:spPr bwMode="white">
          <a:xfrm>
            <a:off x="9959681" y="5602709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2" name="PolicyName">
            <a:hlinkClick r:id="" action="ppaction://hlinkfile"/>
          </p:cNvPr>
          <p:cNvSpPr>
            <a:spLocks noGrp="1"/>
          </p:cNvSpPr>
          <p:nvPr>
            <p:ph type="title"/>
          </p:nvPr>
        </p:nvSpPr>
        <p:spPr bwMode="white">
          <a:xfrm>
            <a:off x="838200" y="115511"/>
            <a:ext cx="10003967" cy="609565"/>
          </a:xfrm>
          <a:ln>
            <a:headEnd type="none"/>
            <a:tailEnd type="none"/>
          </a:ln>
        </p:spPr>
        <p:txBody>
          <a:bodyPr wrap="square">
            <a:noAutofit/>
          </a:bodyPr>
          <a:lstStyle/>
          <a:p>
            <a:pPr defTabSz="914400"/>
            <a:r>
              <a:rPr lang="en-US" sz="2000" b="1" dirty="0"/>
              <a:t>[Risky User] [All Users] {Medium} {MFA}</a:t>
            </a:r>
          </a:p>
        </p:txBody>
      </p:sp>
      <p:sp>
        <p:nvSpPr>
          <p:cNvPr id="16" name="LastModified"/>
          <p:cNvSpPr txBox="1">
            <a:spLocks noChangeArrowheads="1"/>
          </p:cNvSpPr>
          <p:nvPr/>
        </p:nvSpPr>
        <p:spPr bwMode="white">
          <a:xfrm>
            <a:off x="10556111" y="388376"/>
            <a:ext cx="15483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algn="r" defTabSz="457200"/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Last modified: 2025-05-23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UserWorkload"/>
          <p:cNvSpPr>
            <a:spLocks/>
          </p:cNvSpPr>
          <p:nvPr/>
        </p:nvSpPr>
        <p:spPr bwMode="auto">
          <a:xfrm>
            <a:off x="175820" y="2709769"/>
            <a:ext cx="2202823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Users</a:t>
            </a:r>
          </a:p>
        </p:txBody>
      </p:sp>
      <p:sp>
        <p:nvSpPr>
          <p:cNvPr id="7" name="UserWorkloadIncExc"/>
          <p:cNvSpPr txBox="1">
            <a:spLocks noChangeArrowheads="1"/>
          </p:cNvSpPr>
          <p:nvPr/>
        </p:nvSpPr>
        <p:spPr bwMode="white">
          <a:xfrm>
            <a:off x="125485" y="3698952"/>
            <a:ext cx="3062115" cy="313265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 numCol="1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b="1" dirty="0"/>
            </a:pPr>
            <a:r>
              <a:t> Users</a:t>
            </a:r>
          </a:p>
          <a:p>
            <a:pPr defTabSz="457200">
              <a:defRPr sz="1100" dirty="0"/>
            </a:pPr>
            <a:r>
              <a:t> - GetHelp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19" name="Risks"/>
          <p:cNvSpPr txBox="1">
            <a:spLocks noChangeArrowheads="1"/>
          </p:cNvSpPr>
          <p:nvPr/>
        </p:nvSpPr>
        <p:spPr bwMode="white">
          <a:xfrm>
            <a:off x="524485" y="1021946"/>
            <a:ext cx="1348869" cy="166886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0" name="Platforms"/>
          <p:cNvSpPr txBox="1">
            <a:spLocks noChangeArrowheads="1"/>
          </p:cNvSpPr>
          <p:nvPr/>
        </p:nvSpPr>
        <p:spPr bwMode="white">
          <a:xfrm>
            <a:off x="1826931" y="1021947"/>
            <a:ext cx="2061056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3" name="Locations"/>
          <p:cNvSpPr txBox="1">
            <a:spLocks noChangeArrowheads="1"/>
          </p:cNvSpPr>
          <p:nvPr/>
        </p:nvSpPr>
        <p:spPr bwMode="white">
          <a:xfrm>
            <a:off x="8324941" y="1021947"/>
            <a:ext cx="3513702" cy="159258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4" name="ClientAppTypes"/>
          <p:cNvSpPr txBox="1">
            <a:spLocks noChangeArrowheads="1"/>
          </p:cNvSpPr>
          <p:nvPr/>
        </p:nvSpPr>
        <p:spPr bwMode="white">
          <a:xfrm>
            <a:off x="3810664" y="1021947"/>
            <a:ext cx="1581599" cy="165343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5" name="DeviceFilters"/>
          <p:cNvSpPr txBox="1">
            <a:spLocks noChangeArrowheads="1"/>
          </p:cNvSpPr>
          <p:nvPr/>
        </p:nvSpPr>
        <p:spPr bwMode="white">
          <a:xfrm>
            <a:off x="5818151" y="1022762"/>
            <a:ext cx="2248808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cxnSp>
        <p:nvCxnSpPr>
          <p:cNvPr id="27" name="Straight Arrow Connector 26" descr="Arrow drawn from user/workload  to the action being performed by the user such as accessing cloud apps."/>
          <p:cNvCxnSpPr/>
          <p:nvPr/>
        </p:nvCxnSpPr>
        <p:spPr bwMode="white">
          <a:xfrm>
            <a:off x="2195232" y="3159047"/>
            <a:ext cx="3959471" cy="1"/>
          </a:xfrm>
          <a:prstGeom prst="straightConnector1">
            <a:avLst/>
          </a:prstGeom>
          <a:ln w="76200"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30" name="IconBlockAccess" descr="Picture with red color stop sign to indicate blocked access"/>
          <p:cNvPicPr>
            <a:picLocks noChangeAspect="1"/>
          </p:cNvPicPr>
          <p:nvPr/>
        </p:nvPicPr>
        <p:blipFill>
          <a:blip r:embed="rId3">
            <a:lum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 bwMode="white">
          <a:xfrm>
            <a:off x="5306633" y="2735805"/>
            <a:ext cx="356616" cy="35661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34" name="GrantLabelBlockAccess"/>
          <p:cNvSpPr txBox="1">
            <a:spLocks noChangeArrowheads="1"/>
          </p:cNvSpPr>
          <p:nvPr/>
        </p:nvSpPr>
        <p:spPr bwMode="white">
          <a:xfrm>
            <a:off x="3936931" y="2734375"/>
            <a:ext cx="1358065" cy="369332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algn="ctr" defTabSz="457200"/>
            <a:r>
              <a:rPr lang="en-US" b="1" dirty="0">
                <a:solidFill>
                  <a:srgbClr val="FF0000"/>
                </a:solidFill>
              </a:rPr>
              <a:t>Block access</a:t>
            </a:r>
          </a:p>
        </p:txBody>
      </p:sp>
      <p:sp>
        <p:nvSpPr>
          <p:cNvPr id="3" name="CloudAppActionIncExc"/>
          <p:cNvSpPr txBox="1">
            <a:spLocks noChangeArrowheads="1"/>
          </p:cNvSpPr>
          <p:nvPr/>
        </p:nvSpPr>
        <p:spPr bwMode="white">
          <a:xfrm>
            <a:off x="6039518" y="3662782"/>
            <a:ext cx="3649518" cy="315161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r>
              <a:t>🚫 Exclude:</a:t>
            </a:r>
          </a:p>
          <a:p>
            <a:pPr defTabSz="457200">
              <a:defRPr sz="1100" dirty="0"/>
            </a:pPr>
            <a:r>
              <a:t> - Office 365 Exchange Online</a:t>
            </a:r>
          </a:p>
          <a:p>
            <a:pPr defTabSz="457200">
              <a:defRPr sz="1100" dirty="0"/>
            </a:pPr>
            <a:r>
              <a:t> - ServiceNow Email - Authentication</a:t>
            </a:r>
          </a:p>
          <a:p>
            <a:pPr defTabSz="457200">
              <a:defRPr sz="1100" b="1" dirty="0"/>
            </a:pPr>
            <a:endParaRPr/>
          </a:p>
        </p:txBody>
      </p:sp>
      <p:pic>
        <p:nvPicPr>
          <p:cNvPr id="26" name="IconGroupIdentity"/>
          <p:cNvPicPr>
            <a:picLocks noChangeAspect="1"/>
          </p:cNvPicPr>
          <p:nvPr/>
        </p:nvPicPr>
        <p:blipFill>
          <a:blip r:embed="rId5">
            <a:lum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 bwMode="white">
          <a:xfrm>
            <a:off x="327701" y="2839007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36" name="Graphic 35"/>
          <p:cNvPicPr>
            <a:picLocks noChangeAspect="1"/>
          </p:cNvPicPr>
          <p:nvPr/>
        </p:nvPicPr>
        <p:blipFill>
          <a:blip r:embed="rId7">
            <a:lum/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p:blipFill>
        <p:spPr bwMode="white">
          <a:xfrm>
            <a:off x="495610" y="197468"/>
            <a:ext cx="381196" cy="38119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" name="CloudAppAction"/>
          <p:cNvSpPr>
            <a:spLocks/>
          </p:cNvSpPr>
          <p:nvPr/>
        </p:nvSpPr>
        <p:spPr bwMode="auto">
          <a:xfrm>
            <a:off x="6206089" y="2718506"/>
            <a:ext cx="3227026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All cloud apps</a:t>
            </a:r>
          </a:p>
        </p:txBody>
      </p:sp>
      <p:pic>
        <p:nvPicPr>
          <p:cNvPr id="75" name="IconAccessAllCloudApps"/>
          <p:cNvPicPr>
            <a:picLocks noChangeAspect="1"/>
          </p:cNvPicPr>
          <p:nvPr/>
        </p:nvPicPr>
        <p:blipFill>
          <a:blip r:embed="rId9">
            <a:lum/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p:blipFill>
        <p:spPr bwMode="white">
          <a:xfrm>
            <a:off x="6439264" y="2836824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21" name="StateEnabled"/>
          <p:cNvSpPr>
            <a:spLocks/>
          </p:cNvSpPr>
          <p:nvPr/>
        </p:nvSpPr>
        <p:spPr bwMode="white">
          <a:xfrm>
            <a:off x="10842171" y="83487"/>
            <a:ext cx="1260389" cy="264812"/>
          </a:xfrm>
          <a:prstGeom prst="round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r>
              <a:rPr lang="en-US" sz="800" dirty="0"/>
              <a:t>Policy Enabled</a:t>
            </a:r>
          </a:p>
        </p:txBody>
      </p:sp>
      <p:grpSp>
        <p:nvGrpSpPr>
          <p:cNvPr id="10" name="IconRiskyUsers"/>
          <p:cNvGrpSpPr>
            <a:grpSpLocks/>
          </p:cNvGrpSpPr>
          <p:nvPr/>
        </p:nvGrpSpPr>
        <p:grpSpPr bwMode="white">
          <a:xfrm>
            <a:off x="635426" y="738677"/>
            <a:ext cx="1202553" cy="274320"/>
            <a:chOff x="2013768" y="1033956"/>
            <a:chExt cx="1342320" cy="274320"/>
          </a:xfrm>
        </p:grpSpPr>
        <p:pic>
          <p:nvPicPr>
            <p:cNvPr id="46" name="Graphic 1"/>
            <p:cNvPicPr>
              <a:picLocks noChangeAspect="1"/>
            </p:cNvPicPr>
            <p:nvPr/>
          </p:nvPicPr>
          <p:blipFill>
            <a:blip r:embed="rId11">
              <a:lum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013768" y="1033956"/>
              <a:ext cx="274320" cy="27432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5" name="Label 1"/>
            <p:cNvSpPr txBox="1">
              <a:spLocks noChangeArrowheads="1"/>
            </p:cNvSpPr>
            <p:nvPr/>
          </p:nvSpPr>
          <p:spPr bwMode="white">
            <a:xfrm>
              <a:off x="2240077" y="1040706"/>
              <a:ext cx="1116011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Risk</a:t>
              </a:r>
            </a:p>
          </p:txBody>
        </p:sp>
      </p:grpSp>
      <p:grpSp>
        <p:nvGrpSpPr>
          <p:cNvPr id="14" name="IconPlatforms"/>
          <p:cNvGrpSpPr>
            <a:grpSpLocks/>
          </p:cNvGrpSpPr>
          <p:nvPr/>
        </p:nvGrpSpPr>
        <p:grpSpPr bwMode="white">
          <a:xfrm>
            <a:off x="1927788" y="715249"/>
            <a:ext cx="1719285" cy="365760"/>
            <a:chOff x="3262737" y="994835"/>
            <a:chExt cx="1719285" cy="365760"/>
          </a:xfrm>
        </p:grpSpPr>
        <p:pic>
          <p:nvPicPr>
            <p:cNvPr id="29" name="Graphic 1"/>
            <p:cNvPicPr>
              <a:picLocks noChangeAspect="1"/>
            </p:cNvPicPr>
            <p:nvPr/>
          </p:nvPicPr>
          <p:blipFill>
            <a:blip r:embed="rId13">
              <a:lum/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3262737" y="994835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1" name="Label 1"/>
            <p:cNvSpPr txBox="1">
              <a:spLocks noChangeArrowheads="1"/>
            </p:cNvSpPr>
            <p:nvPr/>
          </p:nvSpPr>
          <p:spPr bwMode="white">
            <a:xfrm>
              <a:off x="3582397" y="1027255"/>
              <a:ext cx="1399625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Device platforms</a:t>
              </a:r>
            </a:p>
          </p:txBody>
        </p:sp>
      </p:grpSp>
      <p:grpSp>
        <p:nvGrpSpPr>
          <p:cNvPr id="17" name="IconClientAppTypes"/>
          <p:cNvGrpSpPr>
            <a:grpSpLocks/>
          </p:cNvGrpSpPr>
          <p:nvPr/>
        </p:nvGrpSpPr>
        <p:grpSpPr bwMode="white">
          <a:xfrm>
            <a:off x="3908159" y="670015"/>
            <a:ext cx="1852971" cy="365760"/>
            <a:chOff x="4858970" y="975927"/>
            <a:chExt cx="1852971" cy="365760"/>
          </a:xfrm>
        </p:grpSpPr>
        <p:pic>
          <p:nvPicPr>
            <p:cNvPr id="58" name="Graphic 1"/>
            <p:cNvPicPr>
              <a:picLocks noChangeAspect="1"/>
            </p:cNvPicPr>
            <p:nvPr/>
          </p:nvPicPr>
          <p:blipFill>
            <a:blip r:embed="rId15">
              <a:lum/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858970" y="975927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5" name="Label 1"/>
            <p:cNvSpPr txBox="1">
              <a:spLocks noChangeArrowheads="1"/>
            </p:cNvSpPr>
            <p:nvPr/>
          </p:nvSpPr>
          <p:spPr bwMode="white">
            <a:xfrm>
              <a:off x="5193983" y="1009899"/>
              <a:ext cx="1517958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Client apps</a:t>
              </a:r>
            </a:p>
          </p:txBody>
        </p:sp>
      </p:grpSp>
      <p:grpSp>
        <p:nvGrpSpPr>
          <p:cNvPr id="37" name="IconLocations"/>
          <p:cNvGrpSpPr>
            <a:grpSpLocks/>
          </p:cNvGrpSpPr>
          <p:nvPr/>
        </p:nvGrpSpPr>
        <p:grpSpPr bwMode="white">
          <a:xfrm>
            <a:off x="8411896" y="646848"/>
            <a:ext cx="1850168" cy="388465"/>
            <a:chOff x="2321433" y="3262888"/>
            <a:chExt cx="1850168" cy="388465"/>
          </a:xfrm>
        </p:grpSpPr>
        <p:pic>
          <p:nvPicPr>
            <p:cNvPr id="33" name="Graphic 1"/>
            <p:cNvPicPr>
              <a:picLocks noChangeAspect="1"/>
            </p:cNvPicPr>
            <p:nvPr/>
          </p:nvPicPr>
          <p:blipFill>
            <a:blip r:embed="rId17">
              <a:lum/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321433" y="3262888"/>
              <a:ext cx="388465" cy="388465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28" name="Label 1"/>
            <p:cNvSpPr txBox="1">
              <a:spLocks noChangeArrowheads="1"/>
            </p:cNvSpPr>
            <p:nvPr/>
          </p:nvSpPr>
          <p:spPr bwMode="white">
            <a:xfrm>
              <a:off x="2713321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Locations</a:t>
              </a:r>
              <a:endParaRPr lang="en-US" sz="1100" b="1" dirty="0"/>
            </a:p>
          </p:txBody>
        </p:sp>
      </p:grpSp>
      <p:grpSp>
        <p:nvGrpSpPr>
          <p:cNvPr id="39" name="IconDeviceFilters"/>
          <p:cNvGrpSpPr>
            <a:grpSpLocks/>
          </p:cNvGrpSpPr>
          <p:nvPr/>
        </p:nvGrpSpPr>
        <p:grpSpPr bwMode="white">
          <a:xfrm>
            <a:off x="5472818" y="661958"/>
            <a:ext cx="1839823" cy="364111"/>
            <a:chOff x="4195414" y="3273669"/>
            <a:chExt cx="1839823" cy="364111"/>
          </a:xfrm>
        </p:grpSpPr>
        <p:pic>
          <p:nvPicPr>
            <p:cNvPr id="60" name="Graphic 1"/>
            <p:cNvPicPr>
              <a:picLocks noChangeAspect="1"/>
            </p:cNvPicPr>
            <p:nvPr/>
          </p:nvPicPr>
          <p:blipFill>
            <a:blip r:embed="rId19">
              <a:lum/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195414" y="3273669"/>
              <a:ext cx="364111" cy="364111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31" name="Label 1"/>
            <p:cNvSpPr txBox="1">
              <a:spLocks noChangeArrowheads="1"/>
            </p:cNvSpPr>
            <p:nvPr/>
          </p:nvSpPr>
          <p:spPr bwMode="white">
            <a:xfrm>
              <a:off x="4576957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Filter for devices</a:t>
              </a:r>
              <a:endParaRPr lang="en-US" sz="1100" b="1" dirty="0"/>
            </a:p>
          </p:txBody>
        </p:sp>
      </p:grpSp>
      <p:pic>
        <p:nvPicPr>
          <p:cNvPr id="62" name="IconGrantMultifactorAuthentication"/>
          <p:cNvPicPr>
            <a:picLocks noChangeAspect="1"/>
          </p:cNvPicPr>
          <p:nvPr/>
        </p:nvPicPr>
        <p:blipFill>
          <a:blip r:embed="rId21">
            <a:lum/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>
            <a:fillRect/>
          </a:stretch>
        </p:blipFill>
        <p:spPr bwMode="white">
          <a:xfrm>
            <a:off x="3410647" y="3566863"/>
            <a:ext cx="17145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5" name="IconGrantMultifactorAuthenticationLabel"/>
          <p:cNvSpPr txBox="1">
            <a:spLocks noChangeArrowheads="1"/>
          </p:cNvSpPr>
          <p:nvPr/>
        </p:nvSpPr>
        <p:spPr bwMode="white">
          <a:xfrm>
            <a:off x="3575836" y="3571997"/>
            <a:ext cx="19007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Multifactor authentication</a:t>
            </a:r>
            <a:endParaRPr lang="en-US" sz="1000" dirty="0"/>
          </a:p>
        </p:txBody>
      </p:sp>
      <p:pic>
        <p:nvPicPr>
          <p:cNvPr id="38" name="IconGrantAuthenticationStrength"/>
          <p:cNvPicPr>
            <a:picLocks noChangeAspect="1"/>
          </p:cNvPicPr>
          <p:nvPr/>
        </p:nvPicPr>
        <p:blipFill>
          <a:blip r:embed="rId23">
            <a:lum/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/>
          <a:stretch>
            <a:fillRect/>
          </a:stretch>
        </p:blipFill>
        <p:spPr bwMode="white">
          <a:xfrm>
            <a:off x="3374515" y="3905034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7" name="IconGrantAuthenticationStrengthLabel"/>
          <p:cNvSpPr txBox="1">
            <a:spLocks noChangeArrowheads="1"/>
          </p:cNvSpPr>
          <p:nvPr/>
        </p:nvSpPr>
        <p:spPr bwMode="white">
          <a:xfrm>
            <a:off x="3575836" y="3907323"/>
            <a:ext cx="2185294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Authentication strength</a:t>
            </a:r>
            <a:endParaRPr lang="en-US" sz="1000" dirty="0"/>
          </a:p>
        </p:txBody>
      </p:sp>
      <p:pic>
        <p:nvPicPr>
          <p:cNvPr id="52" name="IconGrantDeviceCompliance"/>
          <p:cNvPicPr>
            <a:picLocks noChangeAspect="1"/>
          </p:cNvPicPr>
          <p:nvPr/>
        </p:nvPicPr>
        <p:blipFill>
          <a:blip r:embed="rId25">
            <a:lum/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/>
          <a:stretch>
            <a:fillRect/>
          </a:stretch>
        </p:blipFill>
        <p:spPr bwMode="white">
          <a:xfrm>
            <a:off x="3374515" y="4243205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9" name="IconGrantDeviceComplianceLabel"/>
          <p:cNvSpPr txBox="1">
            <a:spLocks noChangeArrowheads="1"/>
          </p:cNvSpPr>
          <p:nvPr/>
        </p:nvSpPr>
        <p:spPr bwMode="white">
          <a:xfrm>
            <a:off x="3575836" y="4242649"/>
            <a:ext cx="17378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Compliant device</a:t>
            </a:r>
            <a:endParaRPr lang="en-US" sz="1000" dirty="0"/>
          </a:p>
        </p:txBody>
      </p:sp>
      <p:pic>
        <p:nvPicPr>
          <p:cNvPr id="43" name="IconGrantHybridJoined"/>
          <p:cNvPicPr>
            <a:picLocks noChangeAspect="1"/>
          </p:cNvPicPr>
          <p:nvPr/>
        </p:nvPicPr>
        <p:blipFill>
          <a:blip r:embed="rId27">
            <a:lum/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/>
          <a:stretch>
            <a:fillRect/>
          </a:stretch>
        </p:blipFill>
        <p:spPr bwMode="white">
          <a:xfrm>
            <a:off x="3374515" y="4581376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3" name="IconGrantHybridJoinedLabel"/>
          <p:cNvSpPr txBox="1">
            <a:spLocks noChangeArrowheads="1"/>
          </p:cNvSpPr>
          <p:nvPr/>
        </p:nvSpPr>
        <p:spPr bwMode="white">
          <a:xfrm>
            <a:off x="3575836" y="4577975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Hybrid Azure AD joined device</a:t>
            </a:r>
            <a:endParaRPr lang="en-US" sz="1000" dirty="0"/>
          </a:p>
        </p:txBody>
      </p:sp>
      <p:pic>
        <p:nvPicPr>
          <p:cNvPr id="48" name="IconGrantApprovedClientApp"/>
          <p:cNvPicPr>
            <a:picLocks noChangeAspect="1"/>
          </p:cNvPicPr>
          <p:nvPr/>
        </p:nvPicPr>
        <p:blipFill>
          <a:blip r:embed="rId29">
            <a:lum/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rcRect/>
          <a:stretch>
            <a:fillRect/>
          </a:stretch>
        </p:blipFill>
        <p:spPr bwMode="white">
          <a:xfrm>
            <a:off x="3374515" y="491954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5" name="IconGrantApprovedClientAppLabel"/>
          <p:cNvSpPr txBox="1">
            <a:spLocks noChangeArrowheads="1"/>
          </p:cNvSpPr>
          <p:nvPr/>
        </p:nvSpPr>
        <p:spPr bwMode="white">
          <a:xfrm>
            <a:off x="3575836" y="4913301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Approved client app</a:t>
            </a:r>
            <a:endParaRPr lang="en-US" sz="1000" dirty="0"/>
          </a:p>
        </p:txBody>
      </p:sp>
      <p:pic>
        <p:nvPicPr>
          <p:cNvPr id="42" name="IconGrantCustomAuth"/>
          <p:cNvPicPr>
            <a:picLocks noChangeAspect="1"/>
          </p:cNvPicPr>
          <p:nvPr/>
        </p:nvPicPr>
        <p:blipFill>
          <a:blip r:embed="rId31">
            <a:lum/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rcRect/>
          <a:stretch>
            <a:fillRect/>
          </a:stretch>
        </p:blipFill>
        <p:spPr bwMode="white">
          <a:xfrm>
            <a:off x="3374515" y="593406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9" name="IconGrantCustomAuthLabel"/>
          <p:cNvSpPr txBox="1">
            <a:spLocks noChangeArrowheads="1"/>
          </p:cNvSpPr>
          <p:nvPr/>
        </p:nvSpPr>
        <p:spPr bwMode="white">
          <a:xfrm>
            <a:off x="3575836" y="5919279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Custom authentication factor</a:t>
            </a:r>
            <a:endParaRPr lang="en-US" sz="1000" dirty="0"/>
          </a:p>
        </p:txBody>
      </p:sp>
      <p:pic>
        <p:nvPicPr>
          <p:cNvPr id="40" name="IconGrantTermsOfUse"/>
          <p:cNvPicPr>
            <a:picLocks noChangeAspect="1"/>
          </p:cNvPicPr>
          <p:nvPr/>
        </p:nvPicPr>
        <p:blipFill>
          <a:blip r:embed="rId33">
            <a:lum/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rcRect/>
          <a:stretch>
            <a:fillRect/>
          </a:stretch>
        </p:blipFill>
        <p:spPr bwMode="white">
          <a:xfrm>
            <a:off x="3374515" y="627222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3" name="IconGrantTermsOfUseLabel"/>
          <p:cNvSpPr txBox="1">
            <a:spLocks noChangeArrowheads="1"/>
          </p:cNvSpPr>
          <p:nvPr/>
        </p:nvSpPr>
        <p:spPr bwMode="white">
          <a:xfrm>
            <a:off x="3575836" y="625460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Terms of use</a:t>
            </a:r>
            <a:endParaRPr lang="en-US" sz="1000" dirty="0"/>
          </a:p>
        </p:txBody>
      </p:sp>
      <p:sp>
        <p:nvSpPr>
          <p:cNvPr id="56" name="IconGrantAppProtectionLabel"/>
          <p:cNvSpPr txBox="1">
            <a:spLocks noChangeArrowheads="1"/>
          </p:cNvSpPr>
          <p:nvPr/>
        </p:nvSpPr>
        <p:spPr bwMode="white">
          <a:xfrm>
            <a:off x="3575836" y="524862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 protection policy</a:t>
            </a:r>
            <a:endParaRPr lang="en-US" sz="1000" dirty="0"/>
          </a:p>
        </p:txBody>
      </p:sp>
      <p:pic>
        <p:nvPicPr>
          <p:cNvPr id="65" name="IconGrantAppProtection"/>
          <p:cNvPicPr>
            <a:picLocks noChangeAspect="1"/>
          </p:cNvPicPr>
          <p:nvPr/>
        </p:nvPicPr>
        <p:blipFill>
          <a:blip r:embed="rId35">
            <a:lum/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rcRect/>
          <a:stretch>
            <a:fillRect/>
          </a:stretch>
        </p:blipFill>
        <p:spPr bwMode="white">
          <a:xfrm>
            <a:off x="3374515" y="525771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7" name="IconGrantChangePasswordLabel"/>
          <p:cNvSpPr txBox="1">
            <a:spLocks noChangeArrowheads="1"/>
          </p:cNvSpPr>
          <p:nvPr/>
        </p:nvSpPr>
        <p:spPr bwMode="white">
          <a:xfrm>
            <a:off x="3575836" y="5583953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Change password</a:t>
            </a:r>
            <a:endParaRPr lang="en-US" sz="1000" dirty="0"/>
          </a:p>
        </p:txBody>
      </p:sp>
      <p:pic>
        <p:nvPicPr>
          <p:cNvPr id="67" name="IconGrantChangePassword"/>
          <p:cNvPicPr>
            <a:picLocks noChangeAspect="1"/>
          </p:cNvPicPr>
          <p:nvPr/>
        </p:nvPicPr>
        <p:blipFill>
          <a:blip r:embed="rId37">
            <a:lum/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rcRect/>
          <a:stretch>
            <a:fillRect/>
          </a:stretch>
        </p:blipFill>
        <p:spPr bwMode="white">
          <a:xfrm>
            <a:off x="3374515" y="5595889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4" name="ShadeRisk"/>
          <p:cNvSpPr>
            <a:spLocks/>
          </p:cNvSpPr>
          <p:nvPr/>
        </p:nvSpPr>
        <p:spPr bwMode="white">
          <a:xfrm>
            <a:off x="507564" y="650246"/>
            <a:ext cx="976864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66" name="ShadeDevicePlatforms"/>
          <p:cNvSpPr>
            <a:spLocks/>
          </p:cNvSpPr>
          <p:nvPr/>
        </p:nvSpPr>
        <p:spPr bwMode="white">
          <a:xfrm>
            <a:off x="1863623" y="663409"/>
            <a:ext cx="1773927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78" name="ShadeClientApps"/>
          <p:cNvSpPr>
            <a:spLocks/>
          </p:cNvSpPr>
          <p:nvPr/>
        </p:nvSpPr>
        <p:spPr bwMode="white">
          <a:xfrm>
            <a:off x="3802273" y="650246"/>
            <a:ext cx="1481482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79" name="ShadeLocations"/>
          <p:cNvSpPr>
            <a:spLocks/>
          </p:cNvSpPr>
          <p:nvPr/>
        </p:nvSpPr>
        <p:spPr bwMode="white">
          <a:xfrm>
            <a:off x="8217572" y="669110"/>
            <a:ext cx="1873684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2" name="ShadeFilterForDevices"/>
          <p:cNvSpPr>
            <a:spLocks/>
          </p:cNvSpPr>
          <p:nvPr/>
        </p:nvSpPr>
        <p:spPr bwMode="white">
          <a:xfrm>
            <a:off x="5438955" y="627922"/>
            <a:ext cx="1873685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3" name="ShadeGrantMultifactorAuth"/>
          <p:cNvSpPr>
            <a:spLocks/>
          </p:cNvSpPr>
          <p:nvPr/>
        </p:nvSpPr>
        <p:spPr bwMode="white">
          <a:xfrm>
            <a:off x="3369399" y="3534220"/>
            <a:ext cx="2069555" cy="28330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4" name="ShadeGrantAuthStrength"/>
          <p:cNvSpPr>
            <a:spLocks/>
          </p:cNvSpPr>
          <p:nvPr/>
        </p:nvSpPr>
        <p:spPr bwMode="white">
          <a:xfrm>
            <a:off x="3350256" y="3869846"/>
            <a:ext cx="2069555" cy="27801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5" name="ShadeGrantCompliantDevice"/>
          <p:cNvSpPr>
            <a:spLocks/>
          </p:cNvSpPr>
          <p:nvPr/>
        </p:nvSpPr>
        <p:spPr bwMode="white">
          <a:xfrm>
            <a:off x="3361852" y="4243205"/>
            <a:ext cx="2077102" cy="26110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6" name="ShadeGrantHybridAzureADJoined"/>
          <p:cNvSpPr>
            <a:spLocks/>
          </p:cNvSpPr>
          <p:nvPr/>
        </p:nvSpPr>
        <p:spPr bwMode="white">
          <a:xfrm>
            <a:off x="3353637" y="4552268"/>
            <a:ext cx="2160906" cy="298395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7" name="ShadeGrantApprovedClientApp"/>
          <p:cNvSpPr>
            <a:spLocks/>
          </p:cNvSpPr>
          <p:nvPr/>
        </p:nvSpPr>
        <p:spPr bwMode="white">
          <a:xfrm>
            <a:off x="3331918" y="4876027"/>
            <a:ext cx="2182625" cy="29839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8" name="ShadeGrantAppProtectionPolicy"/>
          <p:cNvSpPr>
            <a:spLocks/>
          </p:cNvSpPr>
          <p:nvPr/>
        </p:nvSpPr>
        <p:spPr bwMode="white">
          <a:xfrm>
            <a:off x="3350256" y="5207226"/>
            <a:ext cx="2122561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9" name="ShadeGrantChangePassword"/>
          <p:cNvSpPr>
            <a:spLocks/>
          </p:cNvSpPr>
          <p:nvPr/>
        </p:nvSpPr>
        <p:spPr bwMode="white">
          <a:xfrm>
            <a:off x="3350257" y="5557021"/>
            <a:ext cx="2042006" cy="287239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0" name="ShadeGrantCustomAuthFactor"/>
          <p:cNvSpPr>
            <a:spLocks/>
          </p:cNvSpPr>
          <p:nvPr/>
        </p:nvSpPr>
        <p:spPr bwMode="white">
          <a:xfrm>
            <a:off x="3331918" y="5899058"/>
            <a:ext cx="2182625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1" name="ShadeGrantTermsOfUse"/>
          <p:cNvSpPr>
            <a:spLocks/>
          </p:cNvSpPr>
          <p:nvPr/>
        </p:nvSpPr>
        <p:spPr bwMode="white">
          <a:xfrm>
            <a:off x="3313823" y="6192350"/>
            <a:ext cx="101602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99" name="Rectangle 98"/>
          <p:cNvSpPr>
            <a:spLocks/>
          </p:cNvSpPr>
          <p:nvPr/>
        </p:nvSpPr>
        <p:spPr bwMode="white">
          <a:xfrm>
            <a:off x="3268757" y="3253404"/>
            <a:ext cx="2357725" cy="3498546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0" name="Rectangle 109"/>
          <p:cNvSpPr>
            <a:spLocks/>
          </p:cNvSpPr>
          <p:nvPr/>
        </p:nvSpPr>
        <p:spPr bwMode="white">
          <a:xfrm>
            <a:off x="9881750" y="3248255"/>
            <a:ext cx="2220808" cy="3510149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7" name="Rectangle 116"/>
          <p:cNvSpPr>
            <a:spLocks/>
          </p:cNvSpPr>
          <p:nvPr/>
        </p:nvSpPr>
        <p:spPr bwMode="white">
          <a:xfrm>
            <a:off x="26741" y="606825"/>
            <a:ext cx="11985015" cy="2063636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2" name="Conditions Label"/>
          <p:cNvSpPr txBox="1">
            <a:spLocks noChangeArrowheads="1"/>
          </p:cNvSpPr>
          <p:nvPr/>
        </p:nvSpPr>
        <p:spPr bwMode="white">
          <a:xfrm rot="16200000">
            <a:off x="-883507" y="1514324"/>
            <a:ext cx="2081441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Conditions</a:t>
            </a:r>
          </a:p>
        </p:txBody>
      </p:sp>
      <p:sp>
        <p:nvSpPr>
          <p:cNvPr id="109" name="Grant Controls"/>
          <p:cNvSpPr txBox="1">
            <a:spLocks noChangeArrowheads="1"/>
          </p:cNvSpPr>
          <p:nvPr/>
        </p:nvSpPr>
        <p:spPr bwMode="white">
          <a:xfrm>
            <a:off x="3252146" y="3244395"/>
            <a:ext cx="2391873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Grant Controls</a:t>
            </a:r>
          </a:p>
        </p:txBody>
      </p:sp>
      <p:sp>
        <p:nvSpPr>
          <p:cNvPr id="111" name="Session Controls"/>
          <p:cNvSpPr txBox="1">
            <a:spLocks noChangeArrowheads="1"/>
          </p:cNvSpPr>
          <p:nvPr/>
        </p:nvSpPr>
        <p:spPr bwMode="white">
          <a:xfrm>
            <a:off x="9864212" y="3243751"/>
            <a:ext cx="2238346" cy="23786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Session Controls</a:t>
            </a:r>
          </a:p>
        </p:txBody>
      </p:sp>
      <p:pic>
        <p:nvPicPr>
          <p:cNvPr id="72" name="Graphic 71"/>
          <p:cNvPicPr>
            <a:picLocks noChangeAspect="1"/>
          </p:cNvPicPr>
          <p:nvPr/>
        </p:nvPicPr>
        <p:blipFill>
          <a:blip r:embed="rId39">
            <a:lum/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rcRect/>
          <a:stretch>
            <a:fillRect/>
          </a:stretch>
        </p:blipFill>
        <p:spPr bwMode="white">
          <a:xfrm>
            <a:off x="9996846" y="356982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4" name="Graphic 93"/>
          <p:cNvPicPr>
            <a:picLocks noChangeAspect="1"/>
          </p:cNvPicPr>
          <p:nvPr/>
        </p:nvPicPr>
        <p:blipFill>
          <a:blip r:embed="rId41">
            <a:lum/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rcRect/>
          <a:stretch>
            <a:fillRect/>
          </a:stretch>
        </p:blipFill>
        <p:spPr bwMode="white">
          <a:xfrm>
            <a:off x="10009443" y="525644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5" name="TextBox 94"/>
          <p:cNvSpPr txBox="1">
            <a:spLocks noChangeArrowheads="1"/>
          </p:cNvSpPr>
          <p:nvPr/>
        </p:nvSpPr>
        <p:spPr bwMode="white">
          <a:xfrm>
            <a:off x="10207481" y="3578463"/>
            <a:ext cx="150554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App enforced restrictions</a:t>
            </a:r>
          </a:p>
        </p:txBody>
      </p:sp>
      <p:sp>
        <p:nvSpPr>
          <p:cNvPr id="96" name="TextBox 95"/>
          <p:cNvSpPr txBox="1">
            <a:spLocks noChangeArrowheads="1"/>
          </p:cNvSpPr>
          <p:nvPr/>
        </p:nvSpPr>
        <p:spPr bwMode="white">
          <a:xfrm>
            <a:off x="10201167" y="3899846"/>
            <a:ext cx="181011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Conditional Access App Control</a:t>
            </a:r>
          </a:p>
        </p:txBody>
      </p:sp>
      <p:sp>
        <p:nvSpPr>
          <p:cNvPr id="97" name="TextBox 96"/>
          <p:cNvSpPr txBox="1">
            <a:spLocks noChangeArrowheads="1"/>
          </p:cNvSpPr>
          <p:nvPr/>
        </p:nvSpPr>
        <p:spPr bwMode="white">
          <a:xfrm>
            <a:off x="10215627" y="4357505"/>
            <a:ext cx="1090363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Sign-in frequency</a:t>
            </a:r>
          </a:p>
        </p:txBody>
      </p:sp>
      <p:sp>
        <p:nvSpPr>
          <p:cNvPr id="98" name="TextBox 97"/>
          <p:cNvSpPr txBox="1">
            <a:spLocks noChangeArrowheads="1"/>
          </p:cNvSpPr>
          <p:nvPr/>
        </p:nvSpPr>
        <p:spPr bwMode="white">
          <a:xfrm>
            <a:off x="10225446" y="4793305"/>
            <a:ext cx="156966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Persistent browser session</a:t>
            </a:r>
          </a:p>
        </p:txBody>
      </p:sp>
      <p:sp>
        <p:nvSpPr>
          <p:cNvPr id="100" name="TextBox 99"/>
          <p:cNvSpPr txBox="1">
            <a:spLocks noChangeArrowheads="1"/>
          </p:cNvSpPr>
          <p:nvPr/>
        </p:nvSpPr>
        <p:spPr bwMode="white">
          <a:xfrm>
            <a:off x="10229552" y="5232376"/>
            <a:ext cx="1717137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Continuous access evaluation</a:t>
            </a:r>
          </a:p>
        </p:txBody>
      </p:sp>
      <p:sp>
        <p:nvSpPr>
          <p:cNvPr id="101" name="TextBox 100"/>
          <p:cNvSpPr txBox="1">
            <a:spLocks noChangeArrowheads="1"/>
          </p:cNvSpPr>
          <p:nvPr/>
        </p:nvSpPr>
        <p:spPr bwMode="white">
          <a:xfrm>
            <a:off x="10259108" y="5658625"/>
            <a:ext cx="153599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Disable resilience defaults</a:t>
            </a:r>
          </a:p>
        </p:txBody>
      </p:sp>
      <p:pic>
        <p:nvPicPr>
          <p:cNvPr id="103" name="Graphic 102"/>
          <p:cNvPicPr>
            <a:picLocks noChangeAspect="1"/>
          </p:cNvPicPr>
          <p:nvPr/>
        </p:nvPicPr>
        <p:blipFill>
          <a:blip r:embed="rId43">
            <a:lum/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rcRect/>
          <a:stretch>
            <a:fillRect/>
          </a:stretch>
        </p:blipFill>
        <p:spPr bwMode="white">
          <a:xfrm>
            <a:off x="9996846" y="479900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5" name="Graphic 104"/>
          <p:cNvPicPr>
            <a:picLocks noChangeAspect="1"/>
          </p:cNvPicPr>
          <p:nvPr/>
        </p:nvPicPr>
        <p:blipFill>
          <a:blip r:embed="rId45">
            <a:lum/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rcRect/>
          <a:stretch>
            <a:fillRect/>
          </a:stretch>
        </p:blipFill>
        <p:spPr bwMode="white">
          <a:xfrm>
            <a:off x="9996846" y="437457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7" name="Graphic 106"/>
          <p:cNvPicPr>
            <a:picLocks noChangeAspect="1"/>
          </p:cNvPicPr>
          <p:nvPr/>
        </p:nvPicPr>
        <p:blipFill>
          <a:blip r:embed="rId7">
            <a:lum/>
            <a:extLst>
              <a:ext uri="{96DAC541-7B7A-43D3-8B79-37D633B846F1}">
                <asvg:svgBlip xmlns:asvg="http://schemas.microsoft.com/office/drawing/2016/SVG/main" r:embed="rId47"/>
              </a:ext>
            </a:extLst>
          </a:blip>
          <a:srcRect/>
          <a:stretch>
            <a:fillRect/>
          </a:stretch>
        </p:blipFill>
        <p:spPr bwMode="white">
          <a:xfrm>
            <a:off x="9996846" y="391529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15" name="SessionSifInterval"/>
          <p:cNvSpPr txBox="1">
            <a:spLocks noChangeArrowheads="1"/>
          </p:cNvSpPr>
          <p:nvPr/>
        </p:nvSpPr>
        <p:spPr bwMode="white">
          <a:xfrm>
            <a:off x="10296745" y="4516775"/>
            <a:ext cx="1249060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Periodic reauthentication</a:t>
            </a:r>
          </a:p>
        </p:txBody>
      </p:sp>
      <p:sp>
        <p:nvSpPr>
          <p:cNvPr id="114" name="SessionCasType"/>
          <p:cNvSpPr txBox="1">
            <a:spLocks noChangeArrowheads="1"/>
          </p:cNvSpPr>
          <p:nvPr/>
        </p:nvSpPr>
        <p:spPr bwMode="white">
          <a:xfrm>
            <a:off x="10296745" y="4075500"/>
            <a:ext cx="95410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App Control Policy</a:t>
            </a:r>
          </a:p>
        </p:txBody>
      </p:sp>
      <p:sp>
        <p:nvSpPr>
          <p:cNvPr id="116" name="SessionPersistenBrowserMode"/>
          <p:cNvSpPr txBox="1">
            <a:spLocks noChangeArrowheads="1"/>
          </p:cNvSpPr>
          <p:nvPr/>
        </p:nvSpPr>
        <p:spPr bwMode="white">
          <a:xfrm>
            <a:off x="10309761" y="4945281"/>
            <a:ext cx="918841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Always persistent</a:t>
            </a:r>
          </a:p>
        </p:txBody>
      </p:sp>
      <p:sp>
        <p:nvSpPr>
          <p:cNvPr id="118" name="SessionCaeMode"/>
          <p:cNvSpPr txBox="1">
            <a:spLocks noChangeArrowheads="1"/>
          </p:cNvSpPr>
          <p:nvPr/>
        </p:nvSpPr>
        <p:spPr bwMode="white">
          <a:xfrm>
            <a:off x="10301386" y="5393378"/>
            <a:ext cx="15359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US" sz="800" dirty="0"/>
              <a:t>Strictly enforce location policies</a:t>
            </a:r>
          </a:p>
        </p:txBody>
      </p:sp>
      <p:sp>
        <p:nvSpPr>
          <p:cNvPr id="119" name="ShadeSessionAppEnforced"/>
          <p:cNvSpPr>
            <a:spLocks/>
          </p:cNvSpPr>
          <p:nvPr/>
        </p:nvSpPr>
        <p:spPr bwMode="white">
          <a:xfrm>
            <a:off x="9959680" y="3548808"/>
            <a:ext cx="2051597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0" name="ShadeSessionCas"/>
          <p:cNvSpPr>
            <a:spLocks/>
          </p:cNvSpPr>
          <p:nvPr/>
        </p:nvSpPr>
        <p:spPr bwMode="white">
          <a:xfrm>
            <a:off x="9978939" y="3884212"/>
            <a:ext cx="2087576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1" name="ShadeSessionSif"/>
          <p:cNvSpPr>
            <a:spLocks/>
          </p:cNvSpPr>
          <p:nvPr/>
        </p:nvSpPr>
        <p:spPr bwMode="white">
          <a:xfrm>
            <a:off x="9940787" y="4320077"/>
            <a:ext cx="2125728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2" name="ShadeSessionPersistentBrowser"/>
          <p:cNvSpPr>
            <a:spLocks/>
          </p:cNvSpPr>
          <p:nvPr/>
        </p:nvSpPr>
        <p:spPr bwMode="white">
          <a:xfrm>
            <a:off x="9938833" y="4746195"/>
            <a:ext cx="207244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" name="Label Secure Sign In Session"/>
          <p:cNvSpPr txBox="1">
            <a:spLocks noChangeArrowheads="1"/>
          </p:cNvSpPr>
          <p:nvPr/>
        </p:nvSpPr>
        <p:spPr bwMode="white">
          <a:xfrm>
            <a:off x="10260000" y="6084874"/>
            <a:ext cx="166584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Token protection for session</a:t>
            </a:r>
          </a:p>
        </p:txBody>
      </p:sp>
      <p:pic>
        <p:nvPicPr>
          <p:cNvPr id="77" name="IconSessionCaeDisable" descr="Close with solid fill"/>
          <p:cNvPicPr>
            <a:picLocks noChangeAspect="1"/>
          </p:cNvPicPr>
          <p:nvPr/>
        </p:nvPicPr>
        <p:blipFill>
          <a:blip r:embed="rId48">
            <a:lum/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rcRect/>
          <a:stretch>
            <a:fillRect/>
          </a:stretch>
        </p:blipFill>
        <p:spPr bwMode="white">
          <a:xfrm>
            <a:off x="9979885" y="5218651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2" name="IconSessionSecureSignInSession 1"/>
          <p:cNvPicPr>
            <a:picLocks noChangeAspect="1"/>
          </p:cNvPicPr>
          <p:nvPr/>
        </p:nvPicPr>
        <p:blipFill>
          <a:blip r:embed="rId50">
            <a:lum/>
            <a:extLst>
              <a:ext uri="{96DAC541-7B7A-43D3-8B79-37D633B846F1}">
                <asvg:svgBlip xmlns:asvg="http://schemas.microsoft.com/office/drawing/2016/SVG/main" r:embed="rId51"/>
              </a:ext>
            </a:extLst>
          </a:blip>
          <a:srcRect/>
          <a:stretch>
            <a:fillRect/>
          </a:stretch>
        </p:blipFill>
        <p:spPr bwMode="white">
          <a:xfrm>
            <a:off x="9997200" y="6085768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3" name="ShadeSessionCae"/>
          <p:cNvSpPr>
            <a:spLocks/>
          </p:cNvSpPr>
          <p:nvPr/>
        </p:nvSpPr>
        <p:spPr bwMode="white">
          <a:xfrm>
            <a:off x="9987595" y="5219780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76" name="ShadeSessionSecureSignIn"/>
          <p:cNvSpPr>
            <a:spLocks/>
          </p:cNvSpPr>
          <p:nvPr/>
        </p:nvSpPr>
        <p:spPr bwMode="white">
          <a:xfrm>
            <a:off x="9996846" y="5986498"/>
            <a:ext cx="2014431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pic>
        <p:nvPicPr>
          <p:cNvPr id="102" name="Graphic 101"/>
          <p:cNvPicPr>
            <a:picLocks noChangeAspect="1"/>
          </p:cNvPicPr>
          <p:nvPr/>
        </p:nvPicPr>
        <p:blipFill>
          <a:blip r:embed="rId52">
            <a:lum/>
            <a:extLst>
              <a:ext uri="{96DAC541-7B7A-43D3-8B79-37D633B846F1}">
                <asvg:svgBlip xmlns:asvg="http://schemas.microsoft.com/office/drawing/2016/SVG/main" r:embed="rId53"/>
              </a:ext>
            </a:extLst>
          </a:blip>
          <a:srcRect/>
          <a:stretch>
            <a:fillRect/>
          </a:stretch>
        </p:blipFill>
        <p:spPr bwMode="white">
          <a:xfrm>
            <a:off x="9997200" y="5663777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80" name="Graphic 79" descr="Close with solid fill"/>
          <p:cNvPicPr>
            <a:picLocks noChangeAspect="1"/>
          </p:cNvPicPr>
          <p:nvPr/>
        </p:nvPicPr>
        <p:blipFill>
          <a:blip r:embed="rId48">
            <a:lum/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rcRect/>
          <a:stretch>
            <a:fillRect/>
          </a:stretch>
        </p:blipFill>
        <p:spPr bwMode="white">
          <a:xfrm>
            <a:off x="9963899" y="5637424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4" name="ShadeSessionDisableResilience"/>
          <p:cNvSpPr>
            <a:spLocks/>
          </p:cNvSpPr>
          <p:nvPr/>
        </p:nvSpPr>
        <p:spPr bwMode="white">
          <a:xfrm>
            <a:off x="9959681" y="5602709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2" name="PolicyName">
            <a:hlinkClick r:id="" action="ppaction://hlinkfile"/>
          </p:cNvPr>
          <p:cNvSpPr>
            <a:spLocks noGrp="1"/>
          </p:cNvSpPr>
          <p:nvPr>
            <p:ph type="title"/>
          </p:nvPr>
        </p:nvSpPr>
        <p:spPr bwMode="white">
          <a:xfrm>
            <a:off x="838200" y="115511"/>
            <a:ext cx="10003967" cy="609565"/>
          </a:xfrm>
          <a:ln>
            <a:headEnd type="none"/>
            <a:tailEnd type="none"/>
          </a:ln>
        </p:spPr>
        <p:txBody>
          <a:bodyPr wrap="square">
            <a:noAutofit/>
          </a:bodyPr>
          <a:lstStyle/>
          <a:p>
            <a:pPr defTabSz="914400"/>
            <a:r>
              <a:rPr lang="en-US" sz="2000" b="1" dirty="0"/>
              <a:t>[ServiceNow][SVo365 GetHelp] Service Account Has Limited Access To Specific OCC Resources</a:t>
            </a:r>
          </a:p>
        </p:txBody>
      </p:sp>
      <p:sp>
        <p:nvSpPr>
          <p:cNvPr id="16" name="LastModified"/>
          <p:cNvSpPr txBox="1">
            <a:spLocks noChangeArrowheads="1"/>
          </p:cNvSpPr>
          <p:nvPr/>
        </p:nvSpPr>
        <p:spPr bwMode="white">
          <a:xfrm>
            <a:off x="10556111" y="388376"/>
            <a:ext cx="15483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algn="r" defTabSz="457200"/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Last modified: 2025-06-05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UserWorkload"/>
          <p:cNvSpPr>
            <a:spLocks/>
          </p:cNvSpPr>
          <p:nvPr/>
        </p:nvSpPr>
        <p:spPr bwMode="auto">
          <a:xfrm>
            <a:off x="175820" y="2709769"/>
            <a:ext cx="2202823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Users</a:t>
            </a:r>
          </a:p>
        </p:txBody>
      </p:sp>
      <p:sp>
        <p:nvSpPr>
          <p:cNvPr id="7" name="UserWorkloadIncExc"/>
          <p:cNvSpPr txBox="1">
            <a:spLocks noChangeArrowheads="1"/>
          </p:cNvSpPr>
          <p:nvPr/>
        </p:nvSpPr>
        <p:spPr bwMode="white">
          <a:xfrm>
            <a:off x="125485" y="3698952"/>
            <a:ext cx="3062115" cy="313265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 numCol="1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b="1" dirty="0"/>
            </a:pPr>
            <a:r>
              <a:t> Groups</a:t>
            </a:r>
          </a:p>
          <a:p>
            <a:pPr defTabSz="457200">
              <a:defRPr sz="1100" dirty="0"/>
            </a:pPr>
            <a:r>
              <a:t> - Conditional Access: Risky sign-in multifactor authentication (a4ea6c0f-b8fb-4d29-91f1-9f8cf0601e98) (370)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19" name="Risks"/>
          <p:cNvSpPr txBox="1">
            <a:spLocks noChangeArrowheads="1"/>
          </p:cNvSpPr>
          <p:nvPr/>
        </p:nvSpPr>
        <p:spPr bwMode="white">
          <a:xfrm>
            <a:off x="524485" y="1021946"/>
            <a:ext cx="1348869" cy="166886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b="1" dirty="0"/>
            </a:pPr>
            <a:r>
              <a:t>Sign-in risk:</a:t>
            </a:r>
          </a:p>
          <a:p>
            <a:pPr defTabSz="457200">
              <a:defRPr sz="1100" dirty="0"/>
            </a:pPr>
            <a:r>
              <a:t> - High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20" name="Platforms"/>
          <p:cNvSpPr txBox="1">
            <a:spLocks noChangeArrowheads="1"/>
          </p:cNvSpPr>
          <p:nvPr/>
        </p:nvSpPr>
        <p:spPr bwMode="white">
          <a:xfrm>
            <a:off x="1826931" y="1021947"/>
            <a:ext cx="2061056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3" name="Locations"/>
          <p:cNvSpPr txBox="1">
            <a:spLocks noChangeArrowheads="1"/>
          </p:cNvSpPr>
          <p:nvPr/>
        </p:nvSpPr>
        <p:spPr bwMode="white">
          <a:xfrm>
            <a:off x="8324941" y="1021947"/>
            <a:ext cx="3513702" cy="159258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4" name="ClientAppTypes"/>
          <p:cNvSpPr txBox="1">
            <a:spLocks noChangeArrowheads="1"/>
          </p:cNvSpPr>
          <p:nvPr/>
        </p:nvSpPr>
        <p:spPr bwMode="white">
          <a:xfrm>
            <a:off x="3810664" y="1021947"/>
            <a:ext cx="1581599" cy="165343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5" name="DeviceFilters"/>
          <p:cNvSpPr txBox="1">
            <a:spLocks noChangeArrowheads="1"/>
          </p:cNvSpPr>
          <p:nvPr/>
        </p:nvSpPr>
        <p:spPr bwMode="white">
          <a:xfrm>
            <a:off x="5818151" y="1022762"/>
            <a:ext cx="2248808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cxnSp>
        <p:nvCxnSpPr>
          <p:cNvPr id="27" name="Straight Arrow Connector 26" descr="Arrow drawn from user/workload  to the action being performed by the user such as accessing cloud apps."/>
          <p:cNvCxnSpPr/>
          <p:nvPr/>
        </p:nvCxnSpPr>
        <p:spPr bwMode="white">
          <a:xfrm>
            <a:off x="2195232" y="3159047"/>
            <a:ext cx="3959471" cy="1"/>
          </a:xfrm>
          <a:prstGeom prst="straightConnector1">
            <a:avLst/>
          </a:prstGeom>
          <a:ln w="76200"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2" name="GrantLabelGrantAccess"/>
          <p:cNvSpPr txBox="1">
            <a:spLocks noChangeArrowheads="1"/>
          </p:cNvSpPr>
          <p:nvPr/>
        </p:nvSpPr>
        <p:spPr bwMode="white">
          <a:xfrm>
            <a:off x="3928464" y="2723089"/>
            <a:ext cx="1381340" cy="369332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algn="ctr" defTabSz="457200"/>
            <a:r>
              <a:rPr lang="en-US" b="1" dirty="0">
                <a:solidFill>
                  <a:srgbClr val="00B050"/>
                </a:solidFill>
              </a:rPr>
              <a:t>Grant access</a:t>
            </a:r>
          </a:p>
        </p:txBody>
      </p:sp>
      <p:pic>
        <p:nvPicPr>
          <p:cNvPr id="35" name="IconGrantAccess" descr="Picture with gren tick sign to indicate access was granted"/>
          <p:cNvPicPr>
            <a:picLocks noChangeAspect="1"/>
          </p:cNvPicPr>
          <p:nvPr/>
        </p:nvPicPr>
        <p:blipFill>
          <a:blip r:embed="rId3">
            <a:lum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 bwMode="white">
          <a:xfrm>
            <a:off x="5309361" y="2730170"/>
            <a:ext cx="356616" cy="35661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3" name="CloudAppActionIncExc"/>
          <p:cNvSpPr txBox="1">
            <a:spLocks noChangeArrowheads="1"/>
          </p:cNvSpPr>
          <p:nvPr/>
        </p:nvSpPr>
        <p:spPr bwMode="white">
          <a:xfrm>
            <a:off x="6039518" y="3662782"/>
            <a:ext cx="3649518" cy="315161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</p:txBody>
      </p:sp>
      <p:pic>
        <p:nvPicPr>
          <p:cNvPr id="26" name="IconGroupIdentity"/>
          <p:cNvPicPr>
            <a:picLocks noChangeAspect="1"/>
          </p:cNvPicPr>
          <p:nvPr/>
        </p:nvPicPr>
        <p:blipFill>
          <a:blip r:embed="rId5">
            <a:lum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 bwMode="white">
          <a:xfrm>
            <a:off x="327701" y="2839007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36" name="Graphic 35"/>
          <p:cNvPicPr>
            <a:picLocks noChangeAspect="1"/>
          </p:cNvPicPr>
          <p:nvPr/>
        </p:nvPicPr>
        <p:blipFill>
          <a:blip r:embed="rId7">
            <a:lum/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p:blipFill>
        <p:spPr bwMode="white">
          <a:xfrm>
            <a:off x="495610" y="197468"/>
            <a:ext cx="381196" cy="38119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" name="CloudAppAction"/>
          <p:cNvSpPr>
            <a:spLocks/>
          </p:cNvSpPr>
          <p:nvPr/>
        </p:nvSpPr>
        <p:spPr bwMode="auto">
          <a:xfrm>
            <a:off x="6206089" y="2718506"/>
            <a:ext cx="3227026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All cloud apps</a:t>
            </a:r>
          </a:p>
        </p:txBody>
      </p:sp>
      <p:pic>
        <p:nvPicPr>
          <p:cNvPr id="75" name="IconAccessAllCloudApps"/>
          <p:cNvPicPr>
            <a:picLocks noChangeAspect="1"/>
          </p:cNvPicPr>
          <p:nvPr/>
        </p:nvPicPr>
        <p:blipFill>
          <a:blip r:embed="rId9">
            <a:lum/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p:blipFill>
        <p:spPr bwMode="white">
          <a:xfrm>
            <a:off x="6439264" y="2836824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21" name="StateEnabled"/>
          <p:cNvSpPr>
            <a:spLocks/>
          </p:cNvSpPr>
          <p:nvPr/>
        </p:nvSpPr>
        <p:spPr bwMode="white">
          <a:xfrm>
            <a:off x="10842171" y="83487"/>
            <a:ext cx="1260389" cy="264812"/>
          </a:xfrm>
          <a:prstGeom prst="round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r>
              <a:rPr lang="en-US" sz="800" dirty="0"/>
              <a:t>Policy Enabled</a:t>
            </a:r>
          </a:p>
        </p:txBody>
      </p:sp>
      <p:grpSp>
        <p:nvGrpSpPr>
          <p:cNvPr id="10" name="IconRiskyUsers"/>
          <p:cNvGrpSpPr>
            <a:grpSpLocks/>
          </p:cNvGrpSpPr>
          <p:nvPr/>
        </p:nvGrpSpPr>
        <p:grpSpPr bwMode="white">
          <a:xfrm>
            <a:off x="635426" y="738677"/>
            <a:ext cx="1202553" cy="274320"/>
            <a:chOff x="2013768" y="1033956"/>
            <a:chExt cx="1342320" cy="274320"/>
          </a:xfrm>
        </p:grpSpPr>
        <p:pic>
          <p:nvPicPr>
            <p:cNvPr id="46" name="Graphic 1"/>
            <p:cNvPicPr>
              <a:picLocks noChangeAspect="1"/>
            </p:cNvPicPr>
            <p:nvPr/>
          </p:nvPicPr>
          <p:blipFill>
            <a:blip r:embed="rId11">
              <a:lum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013768" y="1033956"/>
              <a:ext cx="274320" cy="27432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5" name="Label 1"/>
            <p:cNvSpPr txBox="1">
              <a:spLocks noChangeArrowheads="1"/>
            </p:cNvSpPr>
            <p:nvPr/>
          </p:nvSpPr>
          <p:spPr bwMode="white">
            <a:xfrm>
              <a:off x="2240077" y="1040706"/>
              <a:ext cx="1116011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Risk</a:t>
              </a:r>
            </a:p>
          </p:txBody>
        </p:sp>
      </p:grpSp>
      <p:grpSp>
        <p:nvGrpSpPr>
          <p:cNvPr id="14" name="IconPlatforms"/>
          <p:cNvGrpSpPr>
            <a:grpSpLocks/>
          </p:cNvGrpSpPr>
          <p:nvPr/>
        </p:nvGrpSpPr>
        <p:grpSpPr bwMode="white">
          <a:xfrm>
            <a:off x="1927788" y="715249"/>
            <a:ext cx="1719285" cy="365760"/>
            <a:chOff x="3262737" y="994835"/>
            <a:chExt cx="1719285" cy="365760"/>
          </a:xfrm>
        </p:grpSpPr>
        <p:pic>
          <p:nvPicPr>
            <p:cNvPr id="29" name="Graphic 1"/>
            <p:cNvPicPr>
              <a:picLocks noChangeAspect="1"/>
            </p:cNvPicPr>
            <p:nvPr/>
          </p:nvPicPr>
          <p:blipFill>
            <a:blip r:embed="rId13">
              <a:lum/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3262737" y="994835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1" name="Label 1"/>
            <p:cNvSpPr txBox="1">
              <a:spLocks noChangeArrowheads="1"/>
            </p:cNvSpPr>
            <p:nvPr/>
          </p:nvSpPr>
          <p:spPr bwMode="white">
            <a:xfrm>
              <a:off x="3582397" y="1027255"/>
              <a:ext cx="1399625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Device platforms</a:t>
              </a:r>
            </a:p>
          </p:txBody>
        </p:sp>
      </p:grpSp>
      <p:grpSp>
        <p:nvGrpSpPr>
          <p:cNvPr id="17" name="IconClientAppTypes"/>
          <p:cNvGrpSpPr>
            <a:grpSpLocks/>
          </p:cNvGrpSpPr>
          <p:nvPr/>
        </p:nvGrpSpPr>
        <p:grpSpPr bwMode="white">
          <a:xfrm>
            <a:off x="3908159" y="670015"/>
            <a:ext cx="1852971" cy="365760"/>
            <a:chOff x="4858970" y="975927"/>
            <a:chExt cx="1852971" cy="365760"/>
          </a:xfrm>
        </p:grpSpPr>
        <p:pic>
          <p:nvPicPr>
            <p:cNvPr id="58" name="Graphic 1"/>
            <p:cNvPicPr>
              <a:picLocks noChangeAspect="1"/>
            </p:cNvPicPr>
            <p:nvPr/>
          </p:nvPicPr>
          <p:blipFill>
            <a:blip r:embed="rId15">
              <a:lum/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858970" y="975927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5" name="Label 1"/>
            <p:cNvSpPr txBox="1">
              <a:spLocks noChangeArrowheads="1"/>
            </p:cNvSpPr>
            <p:nvPr/>
          </p:nvSpPr>
          <p:spPr bwMode="white">
            <a:xfrm>
              <a:off x="5193983" y="1009899"/>
              <a:ext cx="1517958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Client apps</a:t>
              </a:r>
            </a:p>
          </p:txBody>
        </p:sp>
      </p:grpSp>
      <p:grpSp>
        <p:nvGrpSpPr>
          <p:cNvPr id="37" name="IconLocations"/>
          <p:cNvGrpSpPr>
            <a:grpSpLocks/>
          </p:cNvGrpSpPr>
          <p:nvPr/>
        </p:nvGrpSpPr>
        <p:grpSpPr bwMode="white">
          <a:xfrm>
            <a:off x="8411896" y="646848"/>
            <a:ext cx="1850168" cy="388465"/>
            <a:chOff x="2321433" y="3262888"/>
            <a:chExt cx="1850168" cy="388465"/>
          </a:xfrm>
        </p:grpSpPr>
        <p:pic>
          <p:nvPicPr>
            <p:cNvPr id="33" name="Graphic 1"/>
            <p:cNvPicPr>
              <a:picLocks noChangeAspect="1"/>
            </p:cNvPicPr>
            <p:nvPr/>
          </p:nvPicPr>
          <p:blipFill>
            <a:blip r:embed="rId17">
              <a:lum/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321433" y="3262888"/>
              <a:ext cx="388465" cy="388465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28" name="Label 1"/>
            <p:cNvSpPr txBox="1">
              <a:spLocks noChangeArrowheads="1"/>
            </p:cNvSpPr>
            <p:nvPr/>
          </p:nvSpPr>
          <p:spPr bwMode="white">
            <a:xfrm>
              <a:off x="2713321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Locations</a:t>
              </a:r>
              <a:endParaRPr lang="en-US" sz="1100" b="1" dirty="0"/>
            </a:p>
          </p:txBody>
        </p:sp>
      </p:grpSp>
      <p:grpSp>
        <p:nvGrpSpPr>
          <p:cNvPr id="39" name="IconDeviceFilters"/>
          <p:cNvGrpSpPr>
            <a:grpSpLocks/>
          </p:cNvGrpSpPr>
          <p:nvPr/>
        </p:nvGrpSpPr>
        <p:grpSpPr bwMode="white">
          <a:xfrm>
            <a:off x="5472818" y="661958"/>
            <a:ext cx="1839823" cy="364111"/>
            <a:chOff x="4195414" y="3273669"/>
            <a:chExt cx="1839823" cy="364111"/>
          </a:xfrm>
        </p:grpSpPr>
        <p:pic>
          <p:nvPicPr>
            <p:cNvPr id="60" name="Graphic 1"/>
            <p:cNvPicPr>
              <a:picLocks noChangeAspect="1"/>
            </p:cNvPicPr>
            <p:nvPr/>
          </p:nvPicPr>
          <p:blipFill>
            <a:blip r:embed="rId19">
              <a:lum/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195414" y="3273669"/>
              <a:ext cx="364111" cy="364111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31" name="Label 1"/>
            <p:cNvSpPr txBox="1">
              <a:spLocks noChangeArrowheads="1"/>
            </p:cNvSpPr>
            <p:nvPr/>
          </p:nvSpPr>
          <p:spPr bwMode="white">
            <a:xfrm>
              <a:off x="4576957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Filter for devices</a:t>
              </a:r>
              <a:endParaRPr lang="en-US" sz="1100" b="1" dirty="0"/>
            </a:p>
          </p:txBody>
        </p:sp>
      </p:grpSp>
      <p:pic>
        <p:nvPicPr>
          <p:cNvPr id="62" name="IconGrantMultifactorAuthentication"/>
          <p:cNvPicPr>
            <a:picLocks noChangeAspect="1"/>
          </p:cNvPicPr>
          <p:nvPr/>
        </p:nvPicPr>
        <p:blipFill>
          <a:blip r:embed="rId21">
            <a:lum/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>
            <a:fillRect/>
          </a:stretch>
        </p:blipFill>
        <p:spPr bwMode="white">
          <a:xfrm>
            <a:off x="3410647" y="3566863"/>
            <a:ext cx="17145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5" name="IconGrantMultifactorAuthenticationLabel"/>
          <p:cNvSpPr txBox="1">
            <a:spLocks noChangeArrowheads="1"/>
          </p:cNvSpPr>
          <p:nvPr/>
        </p:nvSpPr>
        <p:spPr bwMode="white">
          <a:xfrm>
            <a:off x="3575836" y="3571997"/>
            <a:ext cx="19007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Multifactor authentication</a:t>
            </a:r>
            <a:endParaRPr lang="en-US" sz="1000" dirty="0"/>
          </a:p>
        </p:txBody>
      </p:sp>
      <p:pic>
        <p:nvPicPr>
          <p:cNvPr id="38" name="IconGrantAuthenticationStrength"/>
          <p:cNvPicPr>
            <a:picLocks noChangeAspect="1"/>
          </p:cNvPicPr>
          <p:nvPr/>
        </p:nvPicPr>
        <p:blipFill>
          <a:blip r:embed="rId23">
            <a:lum/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/>
          <a:stretch>
            <a:fillRect/>
          </a:stretch>
        </p:blipFill>
        <p:spPr bwMode="white">
          <a:xfrm>
            <a:off x="3374515" y="3905034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7" name="IconGrantAuthenticationStrengthLabel"/>
          <p:cNvSpPr txBox="1">
            <a:spLocks noChangeArrowheads="1"/>
          </p:cNvSpPr>
          <p:nvPr/>
        </p:nvSpPr>
        <p:spPr bwMode="white">
          <a:xfrm>
            <a:off x="3575836" y="3907323"/>
            <a:ext cx="2185294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Authentication strength</a:t>
            </a:r>
            <a:endParaRPr lang="en-US" sz="1000" dirty="0"/>
          </a:p>
        </p:txBody>
      </p:sp>
      <p:pic>
        <p:nvPicPr>
          <p:cNvPr id="52" name="IconGrantDeviceCompliance"/>
          <p:cNvPicPr>
            <a:picLocks noChangeAspect="1"/>
          </p:cNvPicPr>
          <p:nvPr/>
        </p:nvPicPr>
        <p:blipFill>
          <a:blip r:embed="rId25">
            <a:lum/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/>
          <a:stretch>
            <a:fillRect/>
          </a:stretch>
        </p:blipFill>
        <p:spPr bwMode="white">
          <a:xfrm>
            <a:off x="3374515" y="4243205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9" name="IconGrantDeviceComplianceLabel"/>
          <p:cNvSpPr txBox="1">
            <a:spLocks noChangeArrowheads="1"/>
          </p:cNvSpPr>
          <p:nvPr/>
        </p:nvSpPr>
        <p:spPr bwMode="white">
          <a:xfrm>
            <a:off x="3575836" y="4242649"/>
            <a:ext cx="17378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Compliant device</a:t>
            </a:r>
            <a:endParaRPr lang="en-US" sz="1000" dirty="0"/>
          </a:p>
        </p:txBody>
      </p:sp>
      <p:pic>
        <p:nvPicPr>
          <p:cNvPr id="43" name="IconGrantHybridJoined"/>
          <p:cNvPicPr>
            <a:picLocks noChangeAspect="1"/>
          </p:cNvPicPr>
          <p:nvPr/>
        </p:nvPicPr>
        <p:blipFill>
          <a:blip r:embed="rId27">
            <a:lum/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/>
          <a:stretch>
            <a:fillRect/>
          </a:stretch>
        </p:blipFill>
        <p:spPr bwMode="white">
          <a:xfrm>
            <a:off x="3374515" y="4581376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3" name="IconGrantHybridJoinedLabel"/>
          <p:cNvSpPr txBox="1">
            <a:spLocks noChangeArrowheads="1"/>
          </p:cNvSpPr>
          <p:nvPr/>
        </p:nvSpPr>
        <p:spPr bwMode="white">
          <a:xfrm>
            <a:off x="3575836" y="4577975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Hybrid Azure AD joined device</a:t>
            </a:r>
            <a:endParaRPr lang="en-US" sz="1000" dirty="0"/>
          </a:p>
        </p:txBody>
      </p:sp>
      <p:pic>
        <p:nvPicPr>
          <p:cNvPr id="48" name="IconGrantApprovedClientApp"/>
          <p:cNvPicPr>
            <a:picLocks noChangeAspect="1"/>
          </p:cNvPicPr>
          <p:nvPr/>
        </p:nvPicPr>
        <p:blipFill>
          <a:blip r:embed="rId29">
            <a:lum/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rcRect/>
          <a:stretch>
            <a:fillRect/>
          </a:stretch>
        </p:blipFill>
        <p:spPr bwMode="white">
          <a:xfrm>
            <a:off x="3374515" y="491954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5" name="IconGrantApprovedClientAppLabel"/>
          <p:cNvSpPr txBox="1">
            <a:spLocks noChangeArrowheads="1"/>
          </p:cNvSpPr>
          <p:nvPr/>
        </p:nvSpPr>
        <p:spPr bwMode="white">
          <a:xfrm>
            <a:off x="3575836" y="4913301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Approved client app</a:t>
            </a:r>
            <a:endParaRPr lang="en-US" sz="1000" dirty="0"/>
          </a:p>
        </p:txBody>
      </p:sp>
      <p:pic>
        <p:nvPicPr>
          <p:cNvPr id="42" name="IconGrantCustomAuth"/>
          <p:cNvPicPr>
            <a:picLocks noChangeAspect="1"/>
          </p:cNvPicPr>
          <p:nvPr/>
        </p:nvPicPr>
        <p:blipFill>
          <a:blip r:embed="rId31">
            <a:lum/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rcRect/>
          <a:stretch>
            <a:fillRect/>
          </a:stretch>
        </p:blipFill>
        <p:spPr bwMode="white">
          <a:xfrm>
            <a:off x="3374515" y="593406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9" name="IconGrantCustomAuthLabel"/>
          <p:cNvSpPr txBox="1">
            <a:spLocks noChangeArrowheads="1"/>
          </p:cNvSpPr>
          <p:nvPr/>
        </p:nvSpPr>
        <p:spPr bwMode="white">
          <a:xfrm>
            <a:off x="3575836" y="5919279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Custom authentication factor</a:t>
            </a:r>
            <a:endParaRPr lang="en-US" sz="1000" dirty="0"/>
          </a:p>
        </p:txBody>
      </p:sp>
      <p:pic>
        <p:nvPicPr>
          <p:cNvPr id="40" name="IconGrantTermsOfUse"/>
          <p:cNvPicPr>
            <a:picLocks noChangeAspect="1"/>
          </p:cNvPicPr>
          <p:nvPr/>
        </p:nvPicPr>
        <p:blipFill>
          <a:blip r:embed="rId33">
            <a:lum/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rcRect/>
          <a:stretch>
            <a:fillRect/>
          </a:stretch>
        </p:blipFill>
        <p:spPr bwMode="white">
          <a:xfrm>
            <a:off x="3374515" y="627222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3" name="IconGrantTermsOfUseLabel"/>
          <p:cNvSpPr txBox="1">
            <a:spLocks noChangeArrowheads="1"/>
          </p:cNvSpPr>
          <p:nvPr/>
        </p:nvSpPr>
        <p:spPr bwMode="white">
          <a:xfrm>
            <a:off x="3575836" y="625460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Terms of use</a:t>
            </a:r>
            <a:endParaRPr lang="en-US" sz="1000" dirty="0"/>
          </a:p>
        </p:txBody>
      </p:sp>
      <p:sp>
        <p:nvSpPr>
          <p:cNvPr id="56" name="IconGrantAppProtectionLabel"/>
          <p:cNvSpPr txBox="1">
            <a:spLocks noChangeArrowheads="1"/>
          </p:cNvSpPr>
          <p:nvPr/>
        </p:nvSpPr>
        <p:spPr bwMode="white">
          <a:xfrm>
            <a:off x="3575836" y="524862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 protection policy</a:t>
            </a:r>
            <a:endParaRPr lang="en-US" sz="1000" dirty="0"/>
          </a:p>
        </p:txBody>
      </p:sp>
      <p:pic>
        <p:nvPicPr>
          <p:cNvPr id="65" name="IconGrantAppProtection"/>
          <p:cNvPicPr>
            <a:picLocks noChangeAspect="1"/>
          </p:cNvPicPr>
          <p:nvPr/>
        </p:nvPicPr>
        <p:blipFill>
          <a:blip r:embed="rId35">
            <a:lum/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rcRect/>
          <a:stretch>
            <a:fillRect/>
          </a:stretch>
        </p:blipFill>
        <p:spPr bwMode="white">
          <a:xfrm>
            <a:off x="3374515" y="525771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7" name="IconGrantChangePasswordLabel"/>
          <p:cNvSpPr txBox="1">
            <a:spLocks noChangeArrowheads="1"/>
          </p:cNvSpPr>
          <p:nvPr/>
        </p:nvSpPr>
        <p:spPr bwMode="white">
          <a:xfrm>
            <a:off x="3575836" y="5583953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Change password</a:t>
            </a:r>
            <a:endParaRPr lang="en-US" sz="1000" dirty="0"/>
          </a:p>
        </p:txBody>
      </p:sp>
      <p:pic>
        <p:nvPicPr>
          <p:cNvPr id="67" name="IconGrantChangePassword"/>
          <p:cNvPicPr>
            <a:picLocks noChangeAspect="1"/>
          </p:cNvPicPr>
          <p:nvPr/>
        </p:nvPicPr>
        <p:blipFill>
          <a:blip r:embed="rId37">
            <a:lum/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rcRect/>
          <a:stretch>
            <a:fillRect/>
          </a:stretch>
        </p:blipFill>
        <p:spPr bwMode="white">
          <a:xfrm>
            <a:off x="3374515" y="5595889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6" name="ShadeDevicePlatforms"/>
          <p:cNvSpPr>
            <a:spLocks/>
          </p:cNvSpPr>
          <p:nvPr/>
        </p:nvSpPr>
        <p:spPr bwMode="white">
          <a:xfrm>
            <a:off x="1863623" y="663409"/>
            <a:ext cx="1773927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78" name="ShadeClientApps"/>
          <p:cNvSpPr>
            <a:spLocks/>
          </p:cNvSpPr>
          <p:nvPr/>
        </p:nvSpPr>
        <p:spPr bwMode="white">
          <a:xfrm>
            <a:off x="3802273" y="650246"/>
            <a:ext cx="1481482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79" name="ShadeLocations"/>
          <p:cNvSpPr>
            <a:spLocks/>
          </p:cNvSpPr>
          <p:nvPr/>
        </p:nvSpPr>
        <p:spPr bwMode="white">
          <a:xfrm>
            <a:off x="8217572" y="669110"/>
            <a:ext cx="1873684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2" name="ShadeFilterForDevices"/>
          <p:cNvSpPr>
            <a:spLocks/>
          </p:cNvSpPr>
          <p:nvPr/>
        </p:nvSpPr>
        <p:spPr bwMode="white">
          <a:xfrm>
            <a:off x="5438955" y="627922"/>
            <a:ext cx="1873685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4" name="ShadeGrantAuthStrength"/>
          <p:cNvSpPr>
            <a:spLocks/>
          </p:cNvSpPr>
          <p:nvPr/>
        </p:nvSpPr>
        <p:spPr bwMode="white">
          <a:xfrm>
            <a:off x="3350256" y="3869846"/>
            <a:ext cx="2069555" cy="27801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5" name="ShadeGrantCompliantDevice"/>
          <p:cNvSpPr>
            <a:spLocks/>
          </p:cNvSpPr>
          <p:nvPr/>
        </p:nvSpPr>
        <p:spPr bwMode="white">
          <a:xfrm>
            <a:off x="3361852" y="4243205"/>
            <a:ext cx="2077102" cy="26110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6" name="ShadeGrantHybridAzureADJoined"/>
          <p:cNvSpPr>
            <a:spLocks/>
          </p:cNvSpPr>
          <p:nvPr/>
        </p:nvSpPr>
        <p:spPr bwMode="white">
          <a:xfrm>
            <a:off x="3353637" y="4552268"/>
            <a:ext cx="2160906" cy="298395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7" name="ShadeGrantApprovedClientApp"/>
          <p:cNvSpPr>
            <a:spLocks/>
          </p:cNvSpPr>
          <p:nvPr/>
        </p:nvSpPr>
        <p:spPr bwMode="white">
          <a:xfrm>
            <a:off x="3331918" y="4876027"/>
            <a:ext cx="2182625" cy="29839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8" name="ShadeGrantAppProtectionPolicy"/>
          <p:cNvSpPr>
            <a:spLocks/>
          </p:cNvSpPr>
          <p:nvPr/>
        </p:nvSpPr>
        <p:spPr bwMode="white">
          <a:xfrm>
            <a:off x="3350256" y="5207226"/>
            <a:ext cx="2122561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9" name="ShadeGrantChangePassword"/>
          <p:cNvSpPr>
            <a:spLocks/>
          </p:cNvSpPr>
          <p:nvPr/>
        </p:nvSpPr>
        <p:spPr bwMode="white">
          <a:xfrm>
            <a:off x="3350257" y="5557021"/>
            <a:ext cx="2042006" cy="287239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0" name="ShadeGrantCustomAuthFactor"/>
          <p:cNvSpPr>
            <a:spLocks/>
          </p:cNvSpPr>
          <p:nvPr/>
        </p:nvSpPr>
        <p:spPr bwMode="white">
          <a:xfrm>
            <a:off x="3331918" y="5899058"/>
            <a:ext cx="2182625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1" name="ShadeGrantTermsOfUse"/>
          <p:cNvSpPr>
            <a:spLocks/>
          </p:cNvSpPr>
          <p:nvPr/>
        </p:nvSpPr>
        <p:spPr bwMode="white">
          <a:xfrm>
            <a:off x="3313823" y="6192350"/>
            <a:ext cx="101602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99" name="Rectangle 98"/>
          <p:cNvSpPr>
            <a:spLocks/>
          </p:cNvSpPr>
          <p:nvPr/>
        </p:nvSpPr>
        <p:spPr bwMode="white">
          <a:xfrm>
            <a:off x="3268757" y="3253404"/>
            <a:ext cx="2357725" cy="3498546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0" name="Rectangle 109"/>
          <p:cNvSpPr>
            <a:spLocks/>
          </p:cNvSpPr>
          <p:nvPr/>
        </p:nvSpPr>
        <p:spPr bwMode="white">
          <a:xfrm>
            <a:off x="9881750" y="3248255"/>
            <a:ext cx="2220808" cy="3510149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7" name="Rectangle 116"/>
          <p:cNvSpPr>
            <a:spLocks/>
          </p:cNvSpPr>
          <p:nvPr/>
        </p:nvSpPr>
        <p:spPr bwMode="white">
          <a:xfrm>
            <a:off x="26741" y="606825"/>
            <a:ext cx="11985015" cy="2063636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2" name="Conditions Label"/>
          <p:cNvSpPr txBox="1">
            <a:spLocks noChangeArrowheads="1"/>
          </p:cNvSpPr>
          <p:nvPr/>
        </p:nvSpPr>
        <p:spPr bwMode="white">
          <a:xfrm rot="16200000">
            <a:off x="-883507" y="1514324"/>
            <a:ext cx="2081441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Conditions</a:t>
            </a:r>
          </a:p>
        </p:txBody>
      </p:sp>
      <p:sp>
        <p:nvSpPr>
          <p:cNvPr id="109" name="Grant Controls"/>
          <p:cNvSpPr txBox="1">
            <a:spLocks noChangeArrowheads="1"/>
          </p:cNvSpPr>
          <p:nvPr/>
        </p:nvSpPr>
        <p:spPr bwMode="white">
          <a:xfrm>
            <a:off x="3252146" y="3244395"/>
            <a:ext cx="2391873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Grant Controls</a:t>
            </a:r>
          </a:p>
        </p:txBody>
      </p:sp>
      <p:sp>
        <p:nvSpPr>
          <p:cNvPr id="111" name="Session Controls"/>
          <p:cNvSpPr txBox="1">
            <a:spLocks noChangeArrowheads="1"/>
          </p:cNvSpPr>
          <p:nvPr/>
        </p:nvSpPr>
        <p:spPr bwMode="white">
          <a:xfrm>
            <a:off x="9864212" y="3243751"/>
            <a:ext cx="2238346" cy="23786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Session Controls</a:t>
            </a:r>
          </a:p>
        </p:txBody>
      </p:sp>
      <p:pic>
        <p:nvPicPr>
          <p:cNvPr id="72" name="Graphic 71"/>
          <p:cNvPicPr>
            <a:picLocks noChangeAspect="1"/>
          </p:cNvPicPr>
          <p:nvPr/>
        </p:nvPicPr>
        <p:blipFill>
          <a:blip r:embed="rId39">
            <a:lum/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rcRect/>
          <a:stretch>
            <a:fillRect/>
          </a:stretch>
        </p:blipFill>
        <p:spPr bwMode="white">
          <a:xfrm>
            <a:off x="9996846" y="356982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4" name="Graphic 93"/>
          <p:cNvPicPr>
            <a:picLocks noChangeAspect="1"/>
          </p:cNvPicPr>
          <p:nvPr/>
        </p:nvPicPr>
        <p:blipFill>
          <a:blip r:embed="rId41">
            <a:lum/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rcRect/>
          <a:stretch>
            <a:fillRect/>
          </a:stretch>
        </p:blipFill>
        <p:spPr bwMode="white">
          <a:xfrm>
            <a:off x="10009443" y="525644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5" name="TextBox 94"/>
          <p:cNvSpPr txBox="1">
            <a:spLocks noChangeArrowheads="1"/>
          </p:cNvSpPr>
          <p:nvPr/>
        </p:nvSpPr>
        <p:spPr bwMode="white">
          <a:xfrm>
            <a:off x="10207481" y="3578463"/>
            <a:ext cx="150554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App enforced restrictions</a:t>
            </a:r>
          </a:p>
        </p:txBody>
      </p:sp>
      <p:sp>
        <p:nvSpPr>
          <p:cNvPr id="96" name="TextBox 95"/>
          <p:cNvSpPr txBox="1">
            <a:spLocks noChangeArrowheads="1"/>
          </p:cNvSpPr>
          <p:nvPr/>
        </p:nvSpPr>
        <p:spPr bwMode="white">
          <a:xfrm>
            <a:off x="10201167" y="3899846"/>
            <a:ext cx="181011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Conditional Access App Control</a:t>
            </a:r>
          </a:p>
        </p:txBody>
      </p:sp>
      <p:sp>
        <p:nvSpPr>
          <p:cNvPr id="97" name="TextBox 96"/>
          <p:cNvSpPr txBox="1">
            <a:spLocks noChangeArrowheads="1"/>
          </p:cNvSpPr>
          <p:nvPr/>
        </p:nvSpPr>
        <p:spPr bwMode="white">
          <a:xfrm>
            <a:off x="10215627" y="4357505"/>
            <a:ext cx="1090363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Sign-in frequency</a:t>
            </a:r>
          </a:p>
        </p:txBody>
      </p:sp>
      <p:sp>
        <p:nvSpPr>
          <p:cNvPr id="98" name="TextBox 97"/>
          <p:cNvSpPr txBox="1">
            <a:spLocks noChangeArrowheads="1"/>
          </p:cNvSpPr>
          <p:nvPr/>
        </p:nvSpPr>
        <p:spPr bwMode="white">
          <a:xfrm>
            <a:off x="10225446" y="4793305"/>
            <a:ext cx="156966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Persistent browser session</a:t>
            </a:r>
          </a:p>
        </p:txBody>
      </p:sp>
      <p:sp>
        <p:nvSpPr>
          <p:cNvPr id="100" name="TextBox 99"/>
          <p:cNvSpPr txBox="1">
            <a:spLocks noChangeArrowheads="1"/>
          </p:cNvSpPr>
          <p:nvPr/>
        </p:nvSpPr>
        <p:spPr bwMode="white">
          <a:xfrm>
            <a:off x="10229552" y="5232376"/>
            <a:ext cx="1717137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Continuous access evaluation</a:t>
            </a:r>
          </a:p>
        </p:txBody>
      </p:sp>
      <p:sp>
        <p:nvSpPr>
          <p:cNvPr id="101" name="TextBox 100"/>
          <p:cNvSpPr txBox="1">
            <a:spLocks noChangeArrowheads="1"/>
          </p:cNvSpPr>
          <p:nvPr/>
        </p:nvSpPr>
        <p:spPr bwMode="white">
          <a:xfrm>
            <a:off x="10259108" y="5658625"/>
            <a:ext cx="153599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Disable resilience defaults</a:t>
            </a:r>
          </a:p>
        </p:txBody>
      </p:sp>
      <p:pic>
        <p:nvPicPr>
          <p:cNvPr id="103" name="Graphic 102"/>
          <p:cNvPicPr>
            <a:picLocks noChangeAspect="1"/>
          </p:cNvPicPr>
          <p:nvPr/>
        </p:nvPicPr>
        <p:blipFill>
          <a:blip r:embed="rId43">
            <a:lum/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rcRect/>
          <a:stretch>
            <a:fillRect/>
          </a:stretch>
        </p:blipFill>
        <p:spPr bwMode="white">
          <a:xfrm>
            <a:off x="9996846" y="479900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5" name="Graphic 104"/>
          <p:cNvPicPr>
            <a:picLocks noChangeAspect="1"/>
          </p:cNvPicPr>
          <p:nvPr/>
        </p:nvPicPr>
        <p:blipFill>
          <a:blip r:embed="rId45">
            <a:lum/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rcRect/>
          <a:stretch>
            <a:fillRect/>
          </a:stretch>
        </p:blipFill>
        <p:spPr bwMode="white">
          <a:xfrm>
            <a:off x="9996846" y="437457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7" name="Graphic 106"/>
          <p:cNvPicPr>
            <a:picLocks noChangeAspect="1"/>
          </p:cNvPicPr>
          <p:nvPr/>
        </p:nvPicPr>
        <p:blipFill>
          <a:blip r:embed="rId7">
            <a:lum/>
            <a:extLst>
              <a:ext uri="{96DAC541-7B7A-43D3-8B79-37D633B846F1}">
                <asvg:svgBlip xmlns:asvg="http://schemas.microsoft.com/office/drawing/2016/SVG/main" r:embed="rId47"/>
              </a:ext>
            </a:extLst>
          </a:blip>
          <a:srcRect/>
          <a:stretch>
            <a:fillRect/>
          </a:stretch>
        </p:blipFill>
        <p:spPr bwMode="white">
          <a:xfrm>
            <a:off x="9996846" y="391529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15" name="SessionSifInterval"/>
          <p:cNvSpPr txBox="1">
            <a:spLocks noChangeArrowheads="1"/>
          </p:cNvSpPr>
          <p:nvPr/>
        </p:nvSpPr>
        <p:spPr bwMode="white">
          <a:xfrm>
            <a:off x="10296745" y="4516775"/>
            <a:ext cx="1249060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Every time</a:t>
            </a:r>
          </a:p>
        </p:txBody>
      </p:sp>
      <p:sp>
        <p:nvSpPr>
          <p:cNvPr id="114" name="SessionCasType"/>
          <p:cNvSpPr txBox="1">
            <a:spLocks noChangeArrowheads="1"/>
          </p:cNvSpPr>
          <p:nvPr/>
        </p:nvSpPr>
        <p:spPr bwMode="white">
          <a:xfrm>
            <a:off x="10296745" y="4075500"/>
            <a:ext cx="95410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App Control Policy</a:t>
            </a:r>
          </a:p>
        </p:txBody>
      </p:sp>
      <p:sp>
        <p:nvSpPr>
          <p:cNvPr id="116" name="SessionPersistenBrowserMode"/>
          <p:cNvSpPr txBox="1">
            <a:spLocks noChangeArrowheads="1"/>
          </p:cNvSpPr>
          <p:nvPr/>
        </p:nvSpPr>
        <p:spPr bwMode="white">
          <a:xfrm>
            <a:off x="10309761" y="4945281"/>
            <a:ext cx="918841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Always persistent</a:t>
            </a:r>
          </a:p>
        </p:txBody>
      </p:sp>
      <p:sp>
        <p:nvSpPr>
          <p:cNvPr id="118" name="SessionCaeMode"/>
          <p:cNvSpPr txBox="1">
            <a:spLocks noChangeArrowheads="1"/>
          </p:cNvSpPr>
          <p:nvPr/>
        </p:nvSpPr>
        <p:spPr bwMode="white">
          <a:xfrm>
            <a:off x="10301386" y="5393378"/>
            <a:ext cx="15359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US" sz="800" dirty="0"/>
              <a:t>Strictly enforce location policies</a:t>
            </a:r>
          </a:p>
        </p:txBody>
      </p:sp>
      <p:sp>
        <p:nvSpPr>
          <p:cNvPr id="119" name="ShadeSessionAppEnforced"/>
          <p:cNvSpPr>
            <a:spLocks/>
          </p:cNvSpPr>
          <p:nvPr/>
        </p:nvSpPr>
        <p:spPr bwMode="white">
          <a:xfrm>
            <a:off x="9959680" y="3548808"/>
            <a:ext cx="2051597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0" name="ShadeSessionCas"/>
          <p:cNvSpPr>
            <a:spLocks/>
          </p:cNvSpPr>
          <p:nvPr/>
        </p:nvSpPr>
        <p:spPr bwMode="white">
          <a:xfrm>
            <a:off x="9978939" y="3884212"/>
            <a:ext cx="2087576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2" name="ShadeSessionPersistentBrowser"/>
          <p:cNvSpPr>
            <a:spLocks/>
          </p:cNvSpPr>
          <p:nvPr/>
        </p:nvSpPr>
        <p:spPr bwMode="white">
          <a:xfrm>
            <a:off x="9938833" y="4746195"/>
            <a:ext cx="207244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" name="Label Secure Sign In Session"/>
          <p:cNvSpPr txBox="1">
            <a:spLocks noChangeArrowheads="1"/>
          </p:cNvSpPr>
          <p:nvPr/>
        </p:nvSpPr>
        <p:spPr bwMode="white">
          <a:xfrm>
            <a:off x="10260000" y="6084874"/>
            <a:ext cx="166584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Token protection for session</a:t>
            </a:r>
          </a:p>
        </p:txBody>
      </p:sp>
      <p:pic>
        <p:nvPicPr>
          <p:cNvPr id="77" name="IconSessionCaeDisable" descr="Close with solid fill"/>
          <p:cNvPicPr>
            <a:picLocks noChangeAspect="1"/>
          </p:cNvPicPr>
          <p:nvPr/>
        </p:nvPicPr>
        <p:blipFill>
          <a:blip r:embed="rId48">
            <a:lum/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rcRect/>
          <a:stretch>
            <a:fillRect/>
          </a:stretch>
        </p:blipFill>
        <p:spPr bwMode="white">
          <a:xfrm>
            <a:off x="9979885" y="5218651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2" name="IconSessionSecureSignInSession 1"/>
          <p:cNvPicPr>
            <a:picLocks noChangeAspect="1"/>
          </p:cNvPicPr>
          <p:nvPr/>
        </p:nvPicPr>
        <p:blipFill>
          <a:blip r:embed="rId50">
            <a:lum/>
            <a:extLst>
              <a:ext uri="{96DAC541-7B7A-43D3-8B79-37D633B846F1}">
                <asvg:svgBlip xmlns:asvg="http://schemas.microsoft.com/office/drawing/2016/SVG/main" r:embed="rId51"/>
              </a:ext>
            </a:extLst>
          </a:blip>
          <a:srcRect/>
          <a:stretch>
            <a:fillRect/>
          </a:stretch>
        </p:blipFill>
        <p:spPr bwMode="white">
          <a:xfrm>
            <a:off x="9997200" y="6085768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3" name="ShadeSessionCae"/>
          <p:cNvSpPr>
            <a:spLocks/>
          </p:cNvSpPr>
          <p:nvPr/>
        </p:nvSpPr>
        <p:spPr bwMode="white">
          <a:xfrm>
            <a:off x="9987595" y="5219780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76" name="ShadeSessionSecureSignIn"/>
          <p:cNvSpPr>
            <a:spLocks/>
          </p:cNvSpPr>
          <p:nvPr/>
        </p:nvSpPr>
        <p:spPr bwMode="white">
          <a:xfrm>
            <a:off x="9996846" y="5986498"/>
            <a:ext cx="2014431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pic>
        <p:nvPicPr>
          <p:cNvPr id="102" name="Graphic 101"/>
          <p:cNvPicPr>
            <a:picLocks noChangeAspect="1"/>
          </p:cNvPicPr>
          <p:nvPr/>
        </p:nvPicPr>
        <p:blipFill>
          <a:blip r:embed="rId52">
            <a:lum/>
            <a:extLst>
              <a:ext uri="{96DAC541-7B7A-43D3-8B79-37D633B846F1}">
                <asvg:svgBlip xmlns:asvg="http://schemas.microsoft.com/office/drawing/2016/SVG/main" r:embed="rId53"/>
              </a:ext>
            </a:extLst>
          </a:blip>
          <a:srcRect/>
          <a:stretch>
            <a:fillRect/>
          </a:stretch>
        </p:blipFill>
        <p:spPr bwMode="white">
          <a:xfrm>
            <a:off x="9997200" y="5663777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80" name="Graphic 79" descr="Close with solid fill"/>
          <p:cNvPicPr>
            <a:picLocks noChangeAspect="1"/>
          </p:cNvPicPr>
          <p:nvPr/>
        </p:nvPicPr>
        <p:blipFill>
          <a:blip r:embed="rId48">
            <a:lum/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rcRect/>
          <a:stretch>
            <a:fillRect/>
          </a:stretch>
        </p:blipFill>
        <p:spPr bwMode="white">
          <a:xfrm>
            <a:off x="9963899" y="5637424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4" name="ShadeSessionDisableResilience"/>
          <p:cNvSpPr>
            <a:spLocks/>
          </p:cNvSpPr>
          <p:nvPr/>
        </p:nvSpPr>
        <p:spPr bwMode="white">
          <a:xfrm>
            <a:off x="9959681" y="5602709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2" name="PolicyName">
            <a:hlinkClick r:id="" action="ppaction://hlinkfile"/>
          </p:cNvPr>
          <p:cNvSpPr>
            <a:spLocks noGrp="1"/>
          </p:cNvSpPr>
          <p:nvPr>
            <p:ph type="title"/>
          </p:nvPr>
        </p:nvSpPr>
        <p:spPr bwMode="white">
          <a:xfrm>
            <a:off x="838200" y="115511"/>
            <a:ext cx="10003967" cy="609565"/>
          </a:xfrm>
          <a:ln>
            <a:headEnd type="none"/>
            <a:tailEnd type="none"/>
          </a:ln>
        </p:spPr>
        <p:txBody>
          <a:bodyPr wrap="square">
            <a:noAutofit/>
          </a:bodyPr>
          <a:lstStyle/>
          <a:p>
            <a:pPr defTabSz="914400"/>
            <a:r>
              <a:rPr lang="en-US" sz="2000" b="1" dirty="0"/>
              <a:t>Microsoft-managed: Multifactor authentication and reauthentication for risky sign-ins</a:t>
            </a:r>
          </a:p>
        </p:txBody>
      </p:sp>
      <p:sp>
        <p:nvSpPr>
          <p:cNvPr id="16" name="LastModified"/>
          <p:cNvSpPr txBox="1">
            <a:spLocks noChangeArrowheads="1"/>
          </p:cNvSpPr>
          <p:nvPr/>
        </p:nvSpPr>
        <p:spPr bwMode="white">
          <a:xfrm>
            <a:off x="10556111" y="388376"/>
            <a:ext cx="15483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algn="r" defTabSz="457200"/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Last modified: 2025-05-14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UserWorkload"/>
          <p:cNvSpPr>
            <a:spLocks/>
          </p:cNvSpPr>
          <p:nvPr/>
        </p:nvSpPr>
        <p:spPr bwMode="auto">
          <a:xfrm>
            <a:off x="175820" y="2709769"/>
            <a:ext cx="2202823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Users</a:t>
            </a:r>
          </a:p>
        </p:txBody>
      </p:sp>
      <p:sp>
        <p:nvSpPr>
          <p:cNvPr id="7" name="UserWorkloadIncExc"/>
          <p:cNvSpPr txBox="1">
            <a:spLocks noChangeArrowheads="1"/>
          </p:cNvSpPr>
          <p:nvPr/>
        </p:nvSpPr>
        <p:spPr bwMode="white">
          <a:xfrm>
            <a:off x="125485" y="3698952"/>
            <a:ext cx="3062115" cy="313265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 numCol="1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b="1" dirty="0"/>
            </a:pPr>
            <a:r>
              <a:t> Directory roles</a:t>
            </a:r>
          </a:p>
          <a:p>
            <a:pPr defTabSz="457200">
              <a:defRPr sz="1100" dirty="0"/>
            </a:pPr>
            <a:r>
              <a:t> - Application Administrator</a:t>
            </a:r>
          </a:p>
          <a:p>
            <a:pPr defTabSz="457200">
              <a:defRPr sz="1100" dirty="0"/>
            </a:pPr>
            <a:r>
              <a:t> - Attack Simulation Administrator</a:t>
            </a:r>
          </a:p>
          <a:p>
            <a:pPr defTabSz="457200">
              <a:defRPr sz="1100" dirty="0"/>
            </a:pPr>
            <a:r>
              <a:t> - Attribute Assignment Administrator</a:t>
            </a:r>
          </a:p>
          <a:p>
            <a:pPr defTabSz="457200">
              <a:defRPr sz="1100" dirty="0"/>
            </a:pPr>
            <a:r>
              <a:t> - Attribute Definition Administrator</a:t>
            </a:r>
          </a:p>
          <a:p>
            <a:pPr defTabSz="457200">
              <a:defRPr sz="1100" dirty="0"/>
            </a:pPr>
            <a:r>
              <a:t> - Attribute Log Administrator</a:t>
            </a:r>
          </a:p>
          <a:p>
            <a:pPr defTabSz="457200">
              <a:defRPr sz="1100" dirty="0"/>
            </a:pPr>
            <a:r>
              <a:t> - Authentication Administrator</a:t>
            </a:r>
          </a:p>
          <a:p>
            <a:pPr defTabSz="457200">
              <a:defRPr sz="1100" dirty="0"/>
            </a:pPr>
            <a:r>
              <a:t> - Authentication Extensibility Administrator</a:t>
            </a:r>
          </a:p>
          <a:p>
            <a:pPr defTabSz="457200">
              <a:defRPr sz="1100" dirty="0"/>
            </a:pPr>
            <a:r>
              <a:t> - Authentication Policy Administrator</a:t>
            </a:r>
          </a:p>
          <a:p>
            <a:pPr defTabSz="457200">
              <a:defRPr sz="1100" dirty="0"/>
            </a:pPr>
            <a:r>
              <a:t> - Azure DevOps Administrator</a:t>
            </a:r>
          </a:p>
          <a:p>
            <a:pPr defTabSz="457200">
              <a:defRPr sz="1100" dirty="0"/>
            </a:pPr>
            <a:r>
              <a:t> - Azure Information Protection Administrator</a:t>
            </a:r>
          </a:p>
          <a:p>
            <a:pPr defTabSz="457200">
              <a:defRPr sz="1100" dirty="0"/>
            </a:pPr>
            <a:r>
              <a:t> - B2C IEF Keyset Administrator</a:t>
            </a:r>
          </a:p>
          <a:p>
            <a:pPr defTabSz="457200">
              <a:defRPr sz="1100" dirty="0"/>
            </a:pPr>
            <a:r>
              <a:t> - B2C IEF Policy Administrator</a:t>
            </a:r>
          </a:p>
          <a:p>
            <a:pPr defTabSz="457200">
              <a:defRPr sz="1100" dirty="0"/>
            </a:pPr>
            <a:r>
              <a:t> - Billing Administrator</a:t>
            </a:r>
          </a:p>
          <a:p>
            <a:pPr defTabSz="457200">
              <a:defRPr sz="1100" dirty="0"/>
            </a:pPr>
            <a:r>
              <a:t> - Cloud App Security Administrator</a:t>
            </a:r>
          </a:p>
          <a:p>
            <a:pPr defTabSz="457200">
              <a:defRPr sz="1100" dirty="0"/>
            </a:pPr>
            <a:r>
              <a:t> - Cloud Application Administrator</a:t>
            </a:r>
          </a:p>
          <a:p>
            <a:pPr defTabSz="457200">
              <a:defRPr sz="1100" dirty="0"/>
            </a:pPr>
            <a:r>
              <a:t> - Cloud Device Administrator</a:t>
            </a:r>
          </a:p>
          <a:p>
            <a:pPr defTabSz="457200">
              <a:defRPr sz="1100" dirty="0"/>
            </a:pPr>
            <a:r>
              <a:t> - Compliance Administrator</a:t>
            </a:r>
          </a:p>
          <a:p>
            <a:pPr defTabSz="457200">
              <a:defRPr sz="1100" dirty="0"/>
            </a:pPr>
            <a:r>
              <a:t> - Compliance Data Administrator</a:t>
            </a:r>
          </a:p>
          <a:p>
            <a:pPr defTabSz="457200">
              <a:defRPr sz="1100" dirty="0"/>
            </a:pPr>
            <a:r>
              <a:t> - Conditional Access Administrator</a:t>
            </a:r>
          </a:p>
          <a:p>
            <a:pPr defTabSz="457200">
              <a:defRPr sz="1100" dirty="0"/>
            </a:pPr>
            <a:r>
              <a:t> - Customer LockBox Access Approver</a:t>
            </a:r>
          </a:p>
          <a:p>
            <a:pPr defTabSz="457200">
              <a:defRPr sz="1100" dirty="0"/>
            </a:pPr>
            <a:r>
              <a:t> - Desktop Analytics Administrator</a:t>
            </a:r>
          </a:p>
          <a:p>
            <a:pPr defTabSz="457200">
              <a:defRPr sz="1100" dirty="0"/>
            </a:pPr>
            <a:r>
              <a:t> - Domain Name Administrator</a:t>
            </a:r>
          </a:p>
          <a:p>
            <a:pPr defTabSz="457200">
              <a:defRPr sz="1100" dirty="0"/>
            </a:pPr>
            <a:r>
              <a:t> - Dynamics 365 Administrator</a:t>
            </a:r>
          </a:p>
          <a:p>
            <a:pPr defTabSz="457200">
              <a:defRPr sz="1100" dirty="0"/>
            </a:pPr>
            <a:r>
              <a:t> - Dynamics 365 Business Central Administrator</a:t>
            </a:r>
          </a:p>
          <a:p>
            <a:pPr defTabSz="457200">
              <a:defRPr sz="1100" dirty="0"/>
            </a:pPr>
            <a:r>
              <a:t> - Edge Administrator</a:t>
            </a:r>
          </a:p>
          <a:p>
            <a:pPr defTabSz="457200">
              <a:defRPr sz="1100" dirty="0"/>
            </a:pPr>
            <a:r>
              <a:t> - Exchange Administrator</a:t>
            </a:r>
          </a:p>
          <a:p>
            <a:pPr defTabSz="457200">
              <a:defRPr sz="1100" dirty="0"/>
            </a:pPr>
            <a:r>
              <a:t> - Exchange Recipient Administrator</a:t>
            </a:r>
          </a:p>
          <a:p>
            <a:pPr defTabSz="457200">
              <a:defRPr sz="1100" dirty="0"/>
            </a:pPr>
            <a:r>
              <a:t> - Extended Directory User Administrator</a:t>
            </a:r>
          </a:p>
          <a:p>
            <a:pPr defTabSz="457200">
              <a:defRPr sz="1100" dirty="0"/>
            </a:pPr>
            <a:r>
              <a:t> - External ID User Flow Administrator</a:t>
            </a:r>
          </a:p>
          <a:p>
            <a:pPr defTabSz="457200">
              <a:defRPr sz="1100" dirty="0"/>
            </a:pPr>
            <a:r>
              <a:t> - External ID User Flow Attribute Administrator</a:t>
            </a:r>
          </a:p>
          <a:p>
            <a:pPr defTabSz="457200">
              <a:defRPr sz="1100" dirty="0"/>
            </a:pPr>
            <a:r>
              <a:t> - External Identity Provider Administrator</a:t>
            </a:r>
          </a:p>
          <a:p>
            <a:pPr defTabSz="457200">
              <a:defRPr sz="1100" dirty="0"/>
            </a:pPr>
            <a:r>
              <a:t> - Fabric Administrator</a:t>
            </a:r>
          </a:p>
          <a:p>
            <a:pPr defTabSz="457200">
              <a:defRPr sz="1100" dirty="0"/>
            </a:pPr>
            <a:r>
              <a:t> - Global Administrator</a:t>
            </a:r>
          </a:p>
          <a:p>
            <a:pPr defTabSz="457200">
              <a:defRPr sz="1100" dirty="0"/>
            </a:pPr>
            <a:r>
              <a:t> - Global Secure Access Administrator</a:t>
            </a:r>
          </a:p>
          <a:p>
            <a:pPr defTabSz="457200">
              <a:defRPr sz="1100" dirty="0"/>
            </a:pPr>
            <a:r>
              <a:t> - Groups Administrator</a:t>
            </a:r>
          </a:p>
          <a:p>
            <a:pPr defTabSz="457200">
              <a:defRPr sz="1100" dirty="0"/>
            </a:pPr>
            <a:r>
              <a:t> - Helpdesk Administrator</a:t>
            </a:r>
          </a:p>
          <a:p>
            <a:pPr defTabSz="457200">
              <a:defRPr sz="1100" dirty="0"/>
            </a:pPr>
            <a:r>
              <a:t> - Hybrid Identity Administrator</a:t>
            </a:r>
          </a:p>
          <a:p>
            <a:pPr defTabSz="457200">
              <a:defRPr sz="1100" dirty="0"/>
            </a:pPr>
            <a:r>
              <a:t> - Identity Governance Administrator</a:t>
            </a:r>
          </a:p>
          <a:p>
            <a:pPr defTabSz="457200">
              <a:defRPr sz="1100" dirty="0"/>
            </a:pPr>
            <a:r>
              <a:t> - Insights Administrator</a:t>
            </a:r>
          </a:p>
          <a:p>
            <a:pPr defTabSz="457200">
              <a:defRPr sz="1100" dirty="0"/>
            </a:pPr>
            <a:r>
              <a:t> - Intune Administrator</a:t>
            </a:r>
          </a:p>
          <a:p>
            <a:pPr defTabSz="457200">
              <a:defRPr sz="1100" dirty="0"/>
            </a:pPr>
            <a:r>
              <a:t> - Kaizala Administrator</a:t>
            </a:r>
          </a:p>
          <a:p>
            <a:pPr defTabSz="457200">
              <a:defRPr sz="1100" dirty="0"/>
            </a:pPr>
            <a:r>
              <a:t> - Knowledge Administrator</a:t>
            </a:r>
          </a:p>
          <a:p>
            <a:pPr defTabSz="457200">
              <a:defRPr sz="1100" dirty="0"/>
            </a:pPr>
            <a:r>
              <a:t> - License Administrator</a:t>
            </a:r>
          </a:p>
          <a:p>
            <a:pPr defTabSz="457200">
              <a:defRPr sz="1100" dirty="0"/>
            </a:pPr>
            <a:r>
              <a:t> - Lifecycle Workflows Administrator</a:t>
            </a:r>
          </a:p>
          <a:p>
            <a:pPr defTabSz="457200">
              <a:defRPr sz="1100" dirty="0"/>
            </a:pPr>
            <a:r>
              <a:t> - Microsoft 365 Migration Administrator</a:t>
            </a:r>
          </a:p>
          <a:p>
            <a:pPr defTabSz="457200">
              <a:defRPr sz="1100" dirty="0"/>
            </a:pPr>
            <a:r>
              <a:t> - Azure AD Joined Device Local Administrator</a:t>
            </a:r>
          </a:p>
          <a:p>
            <a:pPr defTabSz="457200">
              <a:defRPr sz="1100" dirty="0"/>
            </a:pPr>
            <a:r>
              <a:t> - Microsoft Hardware Warranty Administrator</a:t>
            </a:r>
          </a:p>
          <a:p>
            <a:pPr defTabSz="457200">
              <a:defRPr sz="1100" dirty="0"/>
            </a:pPr>
            <a:r>
              <a:t> - Office Apps Administrator</a:t>
            </a:r>
          </a:p>
          <a:p>
            <a:pPr defTabSz="457200">
              <a:defRPr sz="1100" dirty="0"/>
            </a:pPr>
            <a:r>
              <a:t> - Network Administrator</a:t>
            </a:r>
          </a:p>
          <a:p>
            <a:pPr defTabSz="457200">
              <a:defRPr sz="1100" dirty="0"/>
            </a:pPr>
            <a:r>
              <a:t> - Organizational Branding Administrator</a:t>
            </a:r>
          </a:p>
          <a:p>
            <a:pPr defTabSz="457200">
              <a:defRPr sz="1100" dirty="0"/>
            </a:pPr>
            <a:r>
              <a:t> - Password Administrator</a:t>
            </a:r>
          </a:p>
          <a:p>
            <a:pPr defTabSz="457200">
              <a:defRPr sz="1100" dirty="0"/>
            </a:pPr>
            <a:r>
              <a:t> - Permissions Management Administrator</a:t>
            </a:r>
          </a:p>
          <a:p>
            <a:pPr defTabSz="457200">
              <a:defRPr sz="1100" dirty="0"/>
            </a:pPr>
            <a:r>
              <a:t> - Power Platform Administrator</a:t>
            </a:r>
          </a:p>
          <a:p>
            <a:pPr defTabSz="457200">
              <a:defRPr sz="1100" dirty="0"/>
            </a:pPr>
            <a:r>
              <a:t> - Printer Administrator</a:t>
            </a:r>
          </a:p>
          <a:p>
            <a:pPr defTabSz="457200">
              <a:defRPr sz="1100" dirty="0"/>
            </a:pPr>
            <a:r>
              <a:t> - Privileged Authentication Administrator</a:t>
            </a:r>
          </a:p>
          <a:p>
            <a:pPr defTabSz="457200">
              <a:defRPr sz="1100" dirty="0"/>
            </a:pPr>
            <a:r>
              <a:t> - Privileged Role Administrator</a:t>
            </a:r>
          </a:p>
          <a:p>
            <a:pPr defTabSz="457200">
              <a:defRPr sz="1100" dirty="0"/>
            </a:pPr>
            <a:r>
              <a:t> - Search Administrator</a:t>
            </a:r>
          </a:p>
          <a:p>
            <a:pPr defTabSz="457200">
              <a:defRPr sz="1100" dirty="0"/>
            </a:pPr>
            <a:r>
              <a:t> - Security Administrator</a:t>
            </a:r>
          </a:p>
          <a:p>
            <a:pPr defTabSz="457200">
              <a:defRPr sz="1100" dirty="0"/>
            </a:pPr>
            <a:r>
              <a:t> - Service Support Administrator</a:t>
            </a:r>
          </a:p>
          <a:p>
            <a:pPr defTabSz="457200">
              <a:defRPr sz="1100" dirty="0"/>
            </a:pPr>
            <a:r>
              <a:t> - SharePoint Embedded Administrator</a:t>
            </a:r>
          </a:p>
          <a:p>
            <a:pPr defTabSz="457200">
              <a:defRPr sz="1100" dirty="0"/>
            </a:pPr>
            <a:r>
              <a:t> - Skype for Business Administrator</a:t>
            </a:r>
          </a:p>
          <a:p>
            <a:pPr defTabSz="457200">
              <a:defRPr sz="1100" dirty="0"/>
            </a:pPr>
            <a:r>
              <a:t> - Teams Administrator</a:t>
            </a:r>
          </a:p>
          <a:p>
            <a:pPr defTabSz="457200">
              <a:defRPr sz="1100" dirty="0"/>
            </a:pPr>
            <a:r>
              <a:t> - Teams Communications Administrator</a:t>
            </a:r>
          </a:p>
          <a:p>
            <a:pPr defTabSz="457200">
              <a:defRPr sz="1100" dirty="0"/>
            </a:pPr>
            <a:r>
              <a:t> - Teams Devices Administrator</a:t>
            </a:r>
          </a:p>
          <a:p>
            <a:pPr defTabSz="457200">
              <a:defRPr sz="1100" dirty="0"/>
            </a:pPr>
            <a:r>
              <a:t> - Teams Telephony Administrator</a:t>
            </a:r>
          </a:p>
          <a:p>
            <a:pPr defTabSz="457200">
              <a:defRPr sz="1100" dirty="0"/>
            </a:pPr>
            <a:r>
              <a:t> - User Administrator</a:t>
            </a:r>
          </a:p>
          <a:p>
            <a:pPr defTabSz="457200">
              <a:defRPr sz="1100" dirty="0"/>
            </a:pPr>
            <a:r>
              <a:t> - Virtual Visits Administrator</a:t>
            </a:r>
          </a:p>
          <a:p>
            <a:pPr defTabSz="457200">
              <a:defRPr sz="1100" dirty="0"/>
            </a:pPr>
            <a:r>
              <a:t> - Viva Goals Administrator</a:t>
            </a:r>
          </a:p>
          <a:p>
            <a:pPr defTabSz="457200">
              <a:defRPr sz="1100" dirty="0"/>
            </a:pPr>
            <a:r>
              <a:t> - Viva Pulse Administrator</a:t>
            </a:r>
          </a:p>
          <a:p>
            <a:pPr defTabSz="457200">
              <a:defRPr sz="1100" dirty="0"/>
            </a:pPr>
            <a:r>
              <a:t> - Windows 365 Administrator</a:t>
            </a:r>
          </a:p>
          <a:p>
            <a:pPr defTabSz="457200">
              <a:defRPr sz="1100" dirty="0"/>
            </a:pPr>
            <a:r>
              <a:t> - Windows Update Deployment Administrator</a:t>
            </a:r>
          </a:p>
          <a:p>
            <a:pPr defTabSz="457200">
              <a:defRPr sz="1100" dirty="0"/>
            </a:pPr>
            <a:r>
              <a:t> - Yammer Administrator</a:t>
            </a:r>
          </a:p>
          <a:p>
            <a:pPr defTabSz="457200">
              <a:defRPr sz="1100" dirty="0"/>
            </a:pPr>
            <a:r>
              <a:t> - AI Administrator</a:t>
            </a:r>
          </a:p>
          <a:p>
            <a:pPr defTabSz="457200">
              <a:defRPr sz="1100" dirty="0"/>
            </a:pPr>
            <a:r>
              <a:t> - Attribute Provisioning Administrator</a:t>
            </a:r>
          </a:p>
          <a:p>
            <a:pPr defTabSz="457200">
              <a:defRPr sz="1100" dirty="0"/>
            </a:pPr>
            <a:r>
              <a:t> - People Administrator</a:t>
            </a:r>
          </a:p>
          <a:p>
            <a:pPr defTabSz="457200">
              <a:defRPr sz="1100" dirty="0"/>
            </a:pPr>
            <a:r>
              <a:t> - IoT Device Administrator</a:t>
            </a:r>
          </a:p>
          <a:p>
            <a:pPr defTabSz="457200">
              <a:defRPr sz="1100" b="1" dirty="0"/>
            </a:pPr>
            <a:r>
              <a:t> Groups</a:t>
            </a:r>
          </a:p>
          <a:p>
            <a:pPr defTabSz="457200">
              <a:defRPr sz="1100" dirty="0"/>
            </a:pPr>
            <a:r>
              <a:t> - OCC-Cloud-Admins (186)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19" name="Risks"/>
          <p:cNvSpPr txBox="1">
            <a:spLocks noChangeArrowheads="1"/>
          </p:cNvSpPr>
          <p:nvPr/>
        </p:nvSpPr>
        <p:spPr bwMode="white">
          <a:xfrm>
            <a:off x="524485" y="1021946"/>
            <a:ext cx="1348869" cy="166886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0" name="Platforms"/>
          <p:cNvSpPr txBox="1">
            <a:spLocks noChangeArrowheads="1"/>
          </p:cNvSpPr>
          <p:nvPr/>
        </p:nvSpPr>
        <p:spPr bwMode="white">
          <a:xfrm>
            <a:off x="1826931" y="1021947"/>
            <a:ext cx="2061056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3" name="Locations"/>
          <p:cNvSpPr txBox="1">
            <a:spLocks noChangeArrowheads="1"/>
          </p:cNvSpPr>
          <p:nvPr/>
        </p:nvSpPr>
        <p:spPr bwMode="white">
          <a:xfrm>
            <a:off x="8324941" y="1021947"/>
            <a:ext cx="3513702" cy="159258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4" name="ClientAppTypes"/>
          <p:cNvSpPr txBox="1">
            <a:spLocks noChangeArrowheads="1"/>
          </p:cNvSpPr>
          <p:nvPr/>
        </p:nvSpPr>
        <p:spPr bwMode="white">
          <a:xfrm>
            <a:off x="3810664" y="1021947"/>
            <a:ext cx="1581599" cy="165343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5" name="DeviceFilters"/>
          <p:cNvSpPr txBox="1">
            <a:spLocks noChangeArrowheads="1"/>
          </p:cNvSpPr>
          <p:nvPr/>
        </p:nvSpPr>
        <p:spPr bwMode="white">
          <a:xfrm>
            <a:off x="5818151" y="1022762"/>
            <a:ext cx="2248808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cxnSp>
        <p:nvCxnSpPr>
          <p:cNvPr id="27" name="Straight Arrow Connector 26" descr="Arrow drawn from user/workload  to the action being performed by the user such as accessing cloud apps."/>
          <p:cNvCxnSpPr/>
          <p:nvPr/>
        </p:nvCxnSpPr>
        <p:spPr bwMode="white">
          <a:xfrm>
            <a:off x="2195232" y="3159047"/>
            <a:ext cx="3959471" cy="1"/>
          </a:xfrm>
          <a:prstGeom prst="straightConnector1">
            <a:avLst/>
          </a:prstGeom>
          <a:ln w="76200"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2" name="GrantLabelGrantAccess"/>
          <p:cNvSpPr txBox="1">
            <a:spLocks noChangeArrowheads="1"/>
          </p:cNvSpPr>
          <p:nvPr/>
        </p:nvSpPr>
        <p:spPr bwMode="white">
          <a:xfrm>
            <a:off x="3928464" y="2723089"/>
            <a:ext cx="1381340" cy="369332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algn="ctr" defTabSz="457200"/>
            <a:r>
              <a:rPr lang="en-US" b="1" dirty="0">
                <a:solidFill>
                  <a:srgbClr val="00B050"/>
                </a:solidFill>
              </a:rPr>
              <a:t>Grant access</a:t>
            </a:r>
          </a:p>
        </p:txBody>
      </p:sp>
      <p:pic>
        <p:nvPicPr>
          <p:cNvPr id="35" name="IconGrantAccess" descr="Picture with gren tick sign to indicate access was granted"/>
          <p:cNvPicPr>
            <a:picLocks noChangeAspect="1"/>
          </p:cNvPicPr>
          <p:nvPr/>
        </p:nvPicPr>
        <p:blipFill>
          <a:blip r:embed="rId3">
            <a:lum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 bwMode="white">
          <a:xfrm>
            <a:off x="5309361" y="2730170"/>
            <a:ext cx="356616" cy="35661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3" name="CloudAppActionIncExc"/>
          <p:cNvSpPr txBox="1">
            <a:spLocks noChangeArrowheads="1"/>
          </p:cNvSpPr>
          <p:nvPr/>
        </p:nvSpPr>
        <p:spPr bwMode="white">
          <a:xfrm>
            <a:off x="6039518" y="3662782"/>
            <a:ext cx="3649518" cy="315161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</p:txBody>
      </p:sp>
      <p:pic>
        <p:nvPicPr>
          <p:cNvPr id="26" name="IconGroupIdentity"/>
          <p:cNvPicPr>
            <a:picLocks noChangeAspect="1"/>
          </p:cNvPicPr>
          <p:nvPr/>
        </p:nvPicPr>
        <p:blipFill>
          <a:blip r:embed="rId5">
            <a:lum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 bwMode="white">
          <a:xfrm>
            <a:off x="327701" y="2839007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36" name="Graphic 35"/>
          <p:cNvPicPr>
            <a:picLocks noChangeAspect="1"/>
          </p:cNvPicPr>
          <p:nvPr/>
        </p:nvPicPr>
        <p:blipFill>
          <a:blip r:embed="rId7">
            <a:lum/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p:blipFill>
        <p:spPr bwMode="white">
          <a:xfrm>
            <a:off x="495610" y="197468"/>
            <a:ext cx="381196" cy="38119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" name="CloudAppAction"/>
          <p:cNvSpPr>
            <a:spLocks/>
          </p:cNvSpPr>
          <p:nvPr/>
        </p:nvSpPr>
        <p:spPr bwMode="auto">
          <a:xfrm>
            <a:off x="6206089" y="2718506"/>
            <a:ext cx="3227026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All cloud apps</a:t>
            </a:r>
          </a:p>
        </p:txBody>
      </p:sp>
      <p:pic>
        <p:nvPicPr>
          <p:cNvPr id="75" name="IconAccessAllCloudApps"/>
          <p:cNvPicPr>
            <a:picLocks noChangeAspect="1"/>
          </p:cNvPicPr>
          <p:nvPr/>
        </p:nvPicPr>
        <p:blipFill>
          <a:blip r:embed="rId9">
            <a:lum/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p:blipFill>
        <p:spPr bwMode="white">
          <a:xfrm>
            <a:off x="6439264" y="2836824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8" name="StateReportOnly"/>
          <p:cNvSpPr>
            <a:spLocks/>
          </p:cNvSpPr>
          <p:nvPr/>
        </p:nvSpPr>
        <p:spPr bwMode="white">
          <a:xfrm>
            <a:off x="10842169" y="103586"/>
            <a:ext cx="1260389" cy="264812"/>
          </a:xfrm>
          <a:prstGeom prst="roundRect">
            <a:avLst/>
          </a:prstGeom>
          <a:ln>
            <a:headEnd type="none"/>
            <a:tailEnd type="none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r>
              <a:rPr lang="en-US" sz="800" dirty="0"/>
              <a:t>Policy Report-only</a:t>
            </a:r>
          </a:p>
        </p:txBody>
      </p:sp>
      <p:grpSp>
        <p:nvGrpSpPr>
          <p:cNvPr id="10" name="IconRiskyUsers"/>
          <p:cNvGrpSpPr>
            <a:grpSpLocks/>
          </p:cNvGrpSpPr>
          <p:nvPr/>
        </p:nvGrpSpPr>
        <p:grpSpPr bwMode="white">
          <a:xfrm>
            <a:off x="635426" y="738677"/>
            <a:ext cx="1202553" cy="274320"/>
            <a:chOff x="2013768" y="1033956"/>
            <a:chExt cx="1342320" cy="274320"/>
          </a:xfrm>
        </p:grpSpPr>
        <p:pic>
          <p:nvPicPr>
            <p:cNvPr id="46" name="Graphic 1"/>
            <p:cNvPicPr>
              <a:picLocks noChangeAspect="1"/>
            </p:cNvPicPr>
            <p:nvPr/>
          </p:nvPicPr>
          <p:blipFill>
            <a:blip r:embed="rId11">
              <a:lum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013768" y="1033956"/>
              <a:ext cx="274320" cy="27432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5" name="Label 1"/>
            <p:cNvSpPr txBox="1">
              <a:spLocks noChangeArrowheads="1"/>
            </p:cNvSpPr>
            <p:nvPr/>
          </p:nvSpPr>
          <p:spPr bwMode="white">
            <a:xfrm>
              <a:off x="2240077" y="1040706"/>
              <a:ext cx="1116011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Risk</a:t>
              </a:r>
            </a:p>
          </p:txBody>
        </p:sp>
      </p:grpSp>
      <p:grpSp>
        <p:nvGrpSpPr>
          <p:cNvPr id="14" name="IconPlatforms"/>
          <p:cNvGrpSpPr>
            <a:grpSpLocks/>
          </p:cNvGrpSpPr>
          <p:nvPr/>
        </p:nvGrpSpPr>
        <p:grpSpPr bwMode="white">
          <a:xfrm>
            <a:off x="1927788" y="715249"/>
            <a:ext cx="1719285" cy="365760"/>
            <a:chOff x="3262737" y="994835"/>
            <a:chExt cx="1719285" cy="365760"/>
          </a:xfrm>
        </p:grpSpPr>
        <p:pic>
          <p:nvPicPr>
            <p:cNvPr id="29" name="Graphic 1"/>
            <p:cNvPicPr>
              <a:picLocks noChangeAspect="1"/>
            </p:cNvPicPr>
            <p:nvPr/>
          </p:nvPicPr>
          <p:blipFill>
            <a:blip r:embed="rId13">
              <a:lum/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3262737" y="994835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1" name="Label 1"/>
            <p:cNvSpPr txBox="1">
              <a:spLocks noChangeArrowheads="1"/>
            </p:cNvSpPr>
            <p:nvPr/>
          </p:nvSpPr>
          <p:spPr bwMode="white">
            <a:xfrm>
              <a:off x="3582397" y="1027255"/>
              <a:ext cx="1399625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Device platforms</a:t>
              </a:r>
            </a:p>
          </p:txBody>
        </p:sp>
      </p:grpSp>
      <p:grpSp>
        <p:nvGrpSpPr>
          <p:cNvPr id="17" name="IconClientAppTypes"/>
          <p:cNvGrpSpPr>
            <a:grpSpLocks/>
          </p:cNvGrpSpPr>
          <p:nvPr/>
        </p:nvGrpSpPr>
        <p:grpSpPr bwMode="white">
          <a:xfrm>
            <a:off x="3908159" y="670015"/>
            <a:ext cx="1852971" cy="365760"/>
            <a:chOff x="4858970" y="975927"/>
            <a:chExt cx="1852971" cy="365760"/>
          </a:xfrm>
        </p:grpSpPr>
        <p:pic>
          <p:nvPicPr>
            <p:cNvPr id="58" name="Graphic 1"/>
            <p:cNvPicPr>
              <a:picLocks noChangeAspect="1"/>
            </p:cNvPicPr>
            <p:nvPr/>
          </p:nvPicPr>
          <p:blipFill>
            <a:blip r:embed="rId15">
              <a:lum/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858970" y="975927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5" name="Label 1"/>
            <p:cNvSpPr txBox="1">
              <a:spLocks noChangeArrowheads="1"/>
            </p:cNvSpPr>
            <p:nvPr/>
          </p:nvSpPr>
          <p:spPr bwMode="white">
            <a:xfrm>
              <a:off x="5193983" y="1009899"/>
              <a:ext cx="1517958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Client apps</a:t>
              </a:r>
            </a:p>
          </p:txBody>
        </p:sp>
      </p:grpSp>
      <p:grpSp>
        <p:nvGrpSpPr>
          <p:cNvPr id="37" name="IconLocations"/>
          <p:cNvGrpSpPr>
            <a:grpSpLocks/>
          </p:cNvGrpSpPr>
          <p:nvPr/>
        </p:nvGrpSpPr>
        <p:grpSpPr bwMode="white">
          <a:xfrm>
            <a:off x="8411896" y="646848"/>
            <a:ext cx="1850168" cy="388465"/>
            <a:chOff x="2321433" y="3262888"/>
            <a:chExt cx="1850168" cy="388465"/>
          </a:xfrm>
        </p:grpSpPr>
        <p:pic>
          <p:nvPicPr>
            <p:cNvPr id="33" name="Graphic 1"/>
            <p:cNvPicPr>
              <a:picLocks noChangeAspect="1"/>
            </p:cNvPicPr>
            <p:nvPr/>
          </p:nvPicPr>
          <p:blipFill>
            <a:blip r:embed="rId17">
              <a:lum/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321433" y="3262888"/>
              <a:ext cx="388465" cy="388465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28" name="Label 1"/>
            <p:cNvSpPr txBox="1">
              <a:spLocks noChangeArrowheads="1"/>
            </p:cNvSpPr>
            <p:nvPr/>
          </p:nvSpPr>
          <p:spPr bwMode="white">
            <a:xfrm>
              <a:off x="2713321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Locations</a:t>
              </a:r>
              <a:endParaRPr lang="en-US" sz="1100" b="1" dirty="0"/>
            </a:p>
          </p:txBody>
        </p:sp>
      </p:grpSp>
      <p:grpSp>
        <p:nvGrpSpPr>
          <p:cNvPr id="39" name="IconDeviceFilters"/>
          <p:cNvGrpSpPr>
            <a:grpSpLocks/>
          </p:cNvGrpSpPr>
          <p:nvPr/>
        </p:nvGrpSpPr>
        <p:grpSpPr bwMode="white">
          <a:xfrm>
            <a:off x="5472818" y="661958"/>
            <a:ext cx="1839823" cy="364111"/>
            <a:chOff x="4195414" y="3273669"/>
            <a:chExt cx="1839823" cy="364111"/>
          </a:xfrm>
        </p:grpSpPr>
        <p:pic>
          <p:nvPicPr>
            <p:cNvPr id="60" name="Graphic 1"/>
            <p:cNvPicPr>
              <a:picLocks noChangeAspect="1"/>
            </p:cNvPicPr>
            <p:nvPr/>
          </p:nvPicPr>
          <p:blipFill>
            <a:blip r:embed="rId19">
              <a:lum/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195414" y="3273669"/>
              <a:ext cx="364111" cy="364111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31" name="Label 1"/>
            <p:cNvSpPr txBox="1">
              <a:spLocks noChangeArrowheads="1"/>
            </p:cNvSpPr>
            <p:nvPr/>
          </p:nvSpPr>
          <p:spPr bwMode="white">
            <a:xfrm>
              <a:off x="4576957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Filter for devices</a:t>
              </a:r>
              <a:endParaRPr lang="en-US" sz="1100" b="1" dirty="0"/>
            </a:p>
          </p:txBody>
        </p:sp>
      </p:grpSp>
      <p:pic>
        <p:nvPicPr>
          <p:cNvPr id="62" name="IconGrantMultifactorAuthentication"/>
          <p:cNvPicPr>
            <a:picLocks noChangeAspect="1"/>
          </p:cNvPicPr>
          <p:nvPr/>
        </p:nvPicPr>
        <p:blipFill>
          <a:blip r:embed="rId21">
            <a:lum/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>
            <a:fillRect/>
          </a:stretch>
        </p:blipFill>
        <p:spPr bwMode="white">
          <a:xfrm>
            <a:off x="3410647" y="3566863"/>
            <a:ext cx="17145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5" name="IconGrantMultifactorAuthenticationLabel"/>
          <p:cNvSpPr txBox="1">
            <a:spLocks noChangeArrowheads="1"/>
          </p:cNvSpPr>
          <p:nvPr/>
        </p:nvSpPr>
        <p:spPr bwMode="white">
          <a:xfrm>
            <a:off x="3575836" y="3571997"/>
            <a:ext cx="19007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Multifactor authentication</a:t>
            </a:r>
            <a:endParaRPr lang="en-US" sz="1000" dirty="0"/>
          </a:p>
        </p:txBody>
      </p:sp>
      <p:pic>
        <p:nvPicPr>
          <p:cNvPr id="38" name="IconGrantAuthenticationStrength"/>
          <p:cNvPicPr>
            <a:picLocks noChangeAspect="1"/>
          </p:cNvPicPr>
          <p:nvPr/>
        </p:nvPicPr>
        <p:blipFill>
          <a:blip r:embed="rId23">
            <a:lum/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/>
          <a:stretch>
            <a:fillRect/>
          </a:stretch>
        </p:blipFill>
        <p:spPr bwMode="white">
          <a:xfrm>
            <a:off x="3374515" y="3905034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7" name="IconGrantAuthenticationStrengthLabel"/>
          <p:cNvSpPr txBox="1">
            <a:spLocks noChangeArrowheads="1"/>
          </p:cNvSpPr>
          <p:nvPr/>
        </p:nvSpPr>
        <p:spPr bwMode="white">
          <a:xfrm>
            <a:off x="3575836" y="3907323"/>
            <a:ext cx="2185294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Authentication strength</a:t>
            </a:r>
            <a:endParaRPr lang="en-US" sz="1000" dirty="0"/>
          </a:p>
        </p:txBody>
      </p:sp>
      <p:pic>
        <p:nvPicPr>
          <p:cNvPr id="52" name="IconGrantDeviceCompliance"/>
          <p:cNvPicPr>
            <a:picLocks noChangeAspect="1"/>
          </p:cNvPicPr>
          <p:nvPr/>
        </p:nvPicPr>
        <p:blipFill>
          <a:blip r:embed="rId25">
            <a:lum/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/>
          <a:stretch>
            <a:fillRect/>
          </a:stretch>
        </p:blipFill>
        <p:spPr bwMode="white">
          <a:xfrm>
            <a:off x="3374515" y="4243205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9" name="IconGrantDeviceComplianceLabel"/>
          <p:cNvSpPr txBox="1">
            <a:spLocks noChangeArrowheads="1"/>
          </p:cNvSpPr>
          <p:nvPr/>
        </p:nvSpPr>
        <p:spPr bwMode="white">
          <a:xfrm>
            <a:off x="3575836" y="4242649"/>
            <a:ext cx="17378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Compliant device</a:t>
            </a:r>
            <a:endParaRPr lang="en-US" sz="1000" dirty="0"/>
          </a:p>
        </p:txBody>
      </p:sp>
      <p:pic>
        <p:nvPicPr>
          <p:cNvPr id="43" name="IconGrantHybridJoined"/>
          <p:cNvPicPr>
            <a:picLocks noChangeAspect="1"/>
          </p:cNvPicPr>
          <p:nvPr/>
        </p:nvPicPr>
        <p:blipFill>
          <a:blip r:embed="rId27">
            <a:lum/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/>
          <a:stretch>
            <a:fillRect/>
          </a:stretch>
        </p:blipFill>
        <p:spPr bwMode="white">
          <a:xfrm>
            <a:off x="3374515" y="4581376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3" name="IconGrantHybridJoinedLabel"/>
          <p:cNvSpPr txBox="1">
            <a:spLocks noChangeArrowheads="1"/>
          </p:cNvSpPr>
          <p:nvPr/>
        </p:nvSpPr>
        <p:spPr bwMode="white">
          <a:xfrm>
            <a:off x="3575836" y="4577975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Hybrid Azure AD joined device</a:t>
            </a:r>
            <a:endParaRPr lang="en-US" sz="1000" dirty="0"/>
          </a:p>
        </p:txBody>
      </p:sp>
      <p:pic>
        <p:nvPicPr>
          <p:cNvPr id="48" name="IconGrantApprovedClientApp"/>
          <p:cNvPicPr>
            <a:picLocks noChangeAspect="1"/>
          </p:cNvPicPr>
          <p:nvPr/>
        </p:nvPicPr>
        <p:blipFill>
          <a:blip r:embed="rId29">
            <a:lum/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rcRect/>
          <a:stretch>
            <a:fillRect/>
          </a:stretch>
        </p:blipFill>
        <p:spPr bwMode="white">
          <a:xfrm>
            <a:off x="3374515" y="491954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5" name="IconGrantApprovedClientAppLabel"/>
          <p:cNvSpPr txBox="1">
            <a:spLocks noChangeArrowheads="1"/>
          </p:cNvSpPr>
          <p:nvPr/>
        </p:nvSpPr>
        <p:spPr bwMode="white">
          <a:xfrm>
            <a:off x="3575836" y="4913301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Approved client app</a:t>
            </a:r>
            <a:endParaRPr lang="en-US" sz="1000" dirty="0"/>
          </a:p>
        </p:txBody>
      </p:sp>
      <p:pic>
        <p:nvPicPr>
          <p:cNvPr id="42" name="IconGrantCustomAuth"/>
          <p:cNvPicPr>
            <a:picLocks noChangeAspect="1"/>
          </p:cNvPicPr>
          <p:nvPr/>
        </p:nvPicPr>
        <p:blipFill>
          <a:blip r:embed="rId31">
            <a:lum/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rcRect/>
          <a:stretch>
            <a:fillRect/>
          </a:stretch>
        </p:blipFill>
        <p:spPr bwMode="white">
          <a:xfrm>
            <a:off x="3374515" y="593406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9" name="IconGrantCustomAuthLabel"/>
          <p:cNvSpPr txBox="1">
            <a:spLocks noChangeArrowheads="1"/>
          </p:cNvSpPr>
          <p:nvPr/>
        </p:nvSpPr>
        <p:spPr bwMode="white">
          <a:xfrm>
            <a:off x="3575836" y="5919279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Custom authentication factor</a:t>
            </a:r>
            <a:endParaRPr lang="en-US" sz="1000" dirty="0"/>
          </a:p>
        </p:txBody>
      </p:sp>
      <p:pic>
        <p:nvPicPr>
          <p:cNvPr id="40" name="IconGrantTermsOfUse"/>
          <p:cNvPicPr>
            <a:picLocks noChangeAspect="1"/>
          </p:cNvPicPr>
          <p:nvPr/>
        </p:nvPicPr>
        <p:blipFill>
          <a:blip r:embed="rId33">
            <a:lum/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rcRect/>
          <a:stretch>
            <a:fillRect/>
          </a:stretch>
        </p:blipFill>
        <p:spPr bwMode="white">
          <a:xfrm>
            <a:off x="3374515" y="627222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3" name="IconGrantTermsOfUseLabel"/>
          <p:cNvSpPr txBox="1">
            <a:spLocks noChangeArrowheads="1"/>
          </p:cNvSpPr>
          <p:nvPr/>
        </p:nvSpPr>
        <p:spPr bwMode="white">
          <a:xfrm>
            <a:off x="3575836" y="625460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Terms of use</a:t>
            </a:r>
            <a:endParaRPr lang="en-US" sz="1000" dirty="0"/>
          </a:p>
        </p:txBody>
      </p:sp>
      <p:sp>
        <p:nvSpPr>
          <p:cNvPr id="56" name="IconGrantAppProtectionLabel"/>
          <p:cNvSpPr txBox="1">
            <a:spLocks noChangeArrowheads="1"/>
          </p:cNvSpPr>
          <p:nvPr/>
        </p:nvSpPr>
        <p:spPr bwMode="white">
          <a:xfrm>
            <a:off x="3575836" y="524862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 protection policy</a:t>
            </a:r>
            <a:endParaRPr lang="en-US" sz="1000" dirty="0"/>
          </a:p>
        </p:txBody>
      </p:sp>
      <p:pic>
        <p:nvPicPr>
          <p:cNvPr id="65" name="IconGrantAppProtection"/>
          <p:cNvPicPr>
            <a:picLocks noChangeAspect="1"/>
          </p:cNvPicPr>
          <p:nvPr/>
        </p:nvPicPr>
        <p:blipFill>
          <a:blip r:embed="rId35">
            <a:lum/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rcRect/>
          <a:stretch>
            <a:fillRect/>
          </a:stretch>
        </p:blipFill>
        <p:spPr bwMode="white">
          <a:xfrm>
            <a:off x="3374515" y="525771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7" name="IconGrantChangePasswordLabel"/>
          <p:cNvSpPr txBox="1">
            <a:spLocks noChangeArrowheads="1"/>
          </p:cNvSpPr>
          <p:nvPr/>
        </p:nvSpPr>
        <p:spPr bwMode="white">
          <a:xfrm>
            <a:off x="3575836" y="5583953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Change password</a:t>
            </a:r>
            <a:endParaRPr lang="en-US" sz="1000" dirty="0"/>
          </a:p>
        </p:txBody>
      </p:sp>
      <p:pic>
        <p:nvPicPr>
          <p:cNvPr id="67" name="IconGrantChangePassword"/>
          <p:cNvPicPr>
            <a:picLocks noChangeAspect="1"/>
          </p:cNvPicPr>
          <p:nvPr/>
        </p:nvPicPr>
        <p:blipFill>
          <a:blip r:embed="rId37">
            <a:lum/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rcRect/>
          <a:stretch>
            <a:fillRect/>
          </a:stretch>
        </p:blipFill>
        <p:spPr bwMode="white">
          <a:xfrm>
            <a:off x="3374515" y="5595889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4" name="ShadeRisk"/>
          <p:cNvSpPr>
            <a:spLocks/>
          </p:cNvSpPr>
          <p:nvPr/>
        </p:nvSpPr>
        <p:spPr bwMode="white">
          <a:xfrm>
            <a:off x="507564" y="650246"/>
            <a:ext cx="976864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66" name="ShadeDevicePlatforms"/>
          <p:cNvSpPr>
            <a:spLocks/>
          </p:cNvSpPr>
          <p:nvPr/>
        </p:nvSpPr>
        <p:spPr bwMode="white">
          <a:xfrm>
            <a:off x="1863623" y="663409"/>
            <a:ext cx="1773927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78" name="ShadeClientApps"/>
          <p:cNvSpPr>
            <a:spLocks/>
          </p:cNvSpPr>
          <p:nvPr/>
        </p:nvSpPr>
        <p:spPr bwMode="white">
          <a:xfrm>
            <a:off x="3802273" y="650246"/>
            <a:ext cx="1481482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79" name="ShadeLocations"/>
          <p:cNvSpPr>
            <a:spLocks/>
          </p:cNvSpPr>
          <p:nvPr/>
        </p:nvSpPr>
        <p:spPr bwMode="white">
          <a:xfrm>
            <a:off x="8217572" y="669110"/>
            <a:ext cx="1873684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2" name="ShadeFilterForDevices"/>
          <p:cNvSpPr>
            <a:spLocks/>
          </p:cNvSpPr>
          <p:nvPr/>
        </p:nvSpPr>
        <p:spPr bwMode="white">
          <a:xfrm>
            <a:off x="5438955" y="627922"/>
            <a:ext cx="1873685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3" name="ShadeGrantMultifactorAuth"/>
          <p:cNvSpPr>
            <a:spLocks/>
          </p:cNvSpPr>
          <p:nvPr/>
        </p:nvSpPr>
        <p:spPr bwMode="white">
          <a:xfrm>
            <a:off x="3369399" y="3534220"/>
            <a:ext cx="2069555" cy="28330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4" name="ShadeGrantAuthStrength"/>
          <p:cNvSpPr>
            <a:spLocks/>
          </p:cNvSpPr>
          <p:nvPr/>
        </p:nvSpPr>
        <p:spPr bwMode="white">
          <a:xfrm>
            <a:off x="3350256" y="3869846"/>
            <a:ext cx="2069555" cy="27801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5" name="ShadeGrantCompliantDevice"/>
          <p:cNvSpPr>
            <a:spLocks/>
          </p:cNvSpPr>
          <p:nvPr/>
        </p:nvSpPr>
        <p:spPr bwMode="white">
          <a:xfrm>
            <a:off x="3361852" y="4243205"/>
            <a:ext cx="2077102" cy="26110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6" name="ShadeGrantHybridAzureADJoined"/>
          <p:cNvSpPr>
            <a:spLocks/>
          </p:cNvSpPr>
          <p:nvPr/>
        </p:nvSpPr>
        <p:spPr bwMode="white">
          <a:xfrm>
            <a:off x="3353637" y="4552268"/>
            <a:ext cx="2160906" cy="298395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7" name="ShadeGrantApprovedClientApp"/>
          <p:cNvSpPr>
            <a:spLocks/>
          </p:cNvSpPr>
          <p:nvPr/>
        </p:nvSpPr>
        <p:spPr bwMode="white">
          <a:xfrm>
            <a:off x="3331918" y="4876027"/>
            <a:ext cx="2182625" cy="29839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8" name="ShadeGrantAppProtectionPolicy"/>
          <p:cNvSpPr>
            <a:spLocks/>
          </p:cNvSpPr>
          <p:nvPr/>
        </p:nvSpPr>
        <p:spPr bwMode="white">
          <a:xfrm>
            <a:off x="3350256" y="5207226"/>
            <a:ext cx="2122561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9" name="ShadeGrantChangePassword"/>
          <p:cNvSpPr>
            <a:spLocks/>
          </p:cNvSpPr>
          <p:nvPr/>
        </p:nvSpPr>
        <p:spPr bwMode="white">
          <a:xfrm>
            <a:off x="3350257" y="5557021"/>
            <a:ext cx="2042006" cy="287239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0" name="ShadeGrantCustomAuthFactor"/>
          <p:cNvSpPr>
            <a:spLocks/>
          </p:cNvSpPr>
          <p:nvPr/>
        </p:nvSpPr>
        <p:spPr bwMode="white">
          <a:xfrm>
            <a:off x="3331918" y="5899058"/>
            <a:ext cx="2182625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1" name="ShadeGrantTermsOfUse"/>
          <p:cNvSpPr>
            <a:spLocks/>
          </p:cNvSpPr>
          <p:nvPr/>
        </p:nvSpPr>
        <p:spPr bwMode="white">
          <a:xfrm>
            <a:off x="3313823" y="6192350"/>
            <a:ext cx="101602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99" name="Rectangle 98"/>
          <p:cNvSpPr>
            <a:spLocks/>
          </p:cNvSpPr>
          <p:nvPr/>
        </p:nvSpPr>
        <p:spPr bwMode="white">
          <a:xfrm>
            <a:off x="3268757" y="3253404"/>
            <a:ext cx="2357725" cy="3498546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0" name="Rectangle 109"/>
          <p:cNvSpPr>
            <a:spLocks/>
          </p:cNvSpPr>
          <p:nvPr/>
        </p:nvSpPr>
        <p:spPr bwMode="white">
          <a:xfrm>
            <a:off x="9881750" y="3248255"/>
            <a:ext cx="2220808" cy="3510149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7" name="Rectangle 116"/>
          <p:cNvSpPr>
            <a:spLocks/>
          </p:cNvSpPr>
          <p:nvPr/>
        </p:nvSpPr>
        <p:spPr bwMode="white">
          <a:xfrm>
            <a:off x="26741" y="606825"/>
            <a:ext cx="11985015" cy="2063636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2" name="Conditions Label"/>
          <p:cNvSpPr txBox="1">
            <a:spLocks noChangeArrowheads="1"/>
          </p:cNvSpPr>
          <p:nvPr/>
        </p:nvSpPr>
        <p:spPr bwMode="white">
          <a:xfrm rot="16200000">
            <a:off x="-883507" y="1514324"/>
            <a:ext cx="2081441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Conditions</a:t>
            </a:r>
          </a:p>
        </p:txBody>
      </p:sp>
      <p:sp>
        <p:nvSpPr>
          <p:cNvPr id="109" name="Grant Controls"/>
          <p:cNvSpPr txBox="1">
            <a:spLocks noChangeArrowheads="1"/>
          </p:cNvSpPr>
          <p:nvPr/>
        </p:nvSpPr>
        <p:spPr bwMode="white">
          <a:xfrm>
            <a:off x="3252146" y="3244395"/>
            <a:ext cx="2391873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Grant Controls</a:t>
            </a:r>
          </a:p>
        </p:txBody>
      </p:sp>
      <p:sp>
        <p:nvSpPr>
          <p:cNvPr id="111" name="Session Controls"/>
          <p:cNvSpPr txBox="1">
            <a:spLocks noChangeArrowheads="1"/>
          </p:cNvSpPr>
          <p:nvPr/>
        </p:nvSpPr>
        <p:spPr bwMode="white">
          <a:xfrm>
            <a:off x="9864212" y="3243751"/>
            <a:ext cx="2238346" cy="23786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Session Controls</a:t>
            </a:r>
          </a:p>
        </p:txBody>
      </p:sp>
      <p:pic>
        <p:nvPicPr>
          <p:cNvPr id="72" name="Graphic 71"/>
          <p:cNvPicPr>
            <a:picLocks noChangeAspect="1"/>
          </p:cNvPicPr>
          <p:nvPr/>
        </p:nvPicPr>
        <p:blipFill>
          <a:blip r:embed="rId39">
            <a:lum/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rcRect/>
          <a:stretch>
            <a:fillRect/>
          </a:stretch>
        </p:blipFill>
        <p:spPr bwMode="white">
          <a:xfrm>
            <a:off x="9996846" y="356982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4" name="Graphic 93"/>
          <p:cNvPicPr>
            <a:picLocks noChangeAspect="1"/>
          </p:cNvPicPr>
          <p:nvPr/>
        </p:nvPicPr>
        <p:blipFill>
          <a:blip r:embed="rId41">
            <a:lum/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rcRect/>
          <a:stretch>
            <a:fillRect/>
          </a:stretch>
        </p:blipFill>
        <p:spPr bwMode="white">
          <a:xfrm>
            <a:off x="10009443" y="525644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5" name="TextBox 94"/>
          <p:cNvSpPr txBox="1">
            <a:spLocks noChangeArrowheads="1"/>
          </p:cNvSpPr>
          <p:nvPr/>
        </p:nvSpPr>
        <p:spPr bwMode="white">
          <a:xfrm>
            <a:off x="10207481" y="3578463"/>
            <a:ext cx="150554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App enforced restrictions</a:t>
            </a:r>
          </a:p>
        </p:txBody>
      </p:sp>
      <p:sp>
        <p:nvSpPr>
          <p:cNvPr id="96" name="TextBox 95"/>
          <p:cNvSpPr txBox="1">
            <a:spLocks noChangeArrowheads="1"/>
          </p:cNvSpPr>
          <p:nvPr/>
        </p:nvSpPr>
        <p:spPr bwMode="white">
          <a:xfrm>
            <a:off x="10201167" y="3899846"/>
            <a:ext cx="181011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Conditional Access App Control</a:t>
            </a:r>
          </a:p>
        </p:txBody>
      </p:sp>
      <p:sp>
        <p:nvSpPr>
          <p:cNvPr id="97" name="TextBox 96"/>
          <p:cNvSpPr txBox="1">
            <a:spLocks noChangeArrowheads="1"/>
          </p:cNvSpPr>
          <p:nvPr/>
        </p:nvSpPr>
        <p:spPr bwMode="white">
          <a:xfrm>
            <a:off x="10215627" y="4357505"/>
            <a:ext cx="1090363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Sign-in frequency</a:t>
            </a:r>
          </a:p>
        </p:txBody>
      </p:sp>
      <p:sp>
        <p:nvSpPr>
          <p:cNvPr id="98" name="TextBox 97"/>
          <p:cNvSpPr txBox="1">
            <a:spLocks noChangeArrowheads="1"/>
          </p:cNvSpPr>
          <p:nvPr/>
        </p:nvSpPr>
        <p:spPr bwMode="white">
          <a:xfrm>
            <a:off x="10225446" y="4793305"/>
            <a:ext cx="156966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Persistent browser session</a:t>
            </a:r>
          </a:p>
        </p:txBody>
      </p:sp>
      <p:sp>
        <p:nvSpPr>
          <p:cNvPr id="100" name="TextBox 99"/>
          <p:cNvSpPr txBox="1">
            <a:spLocks noChangeArrowheads="1"/>
          </p:cNvSpPr>
          <p:nvPr/>
        </p:nvSpPr>
        <p:spPr bwMode="white">
          <a:xfrm>
            <a:off x="10229552" y="5232376"/>
            <a:ext cx="1717137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Continuous access evaluation</a:t>
            </a:r>
          </a:p>
        </p:txBody>
      </p:sp>
      <p:sp>
        <p:nvSpPr>
          <p:cNvPr id="101" name="TextBox 100"/>
          <p:cNvSpPr txBox="1">
            <a:spLocks noChangeArrowheads="1"/>
          </p:cNvSpPr>
          <p:nvPr/>
        </p:nvSpPr>
        <p:spPr bwMode="white">
          <a:xfrm>
            <a:off x="10259108" y="5658625"/>
            <a:ext cx="153599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Disable resilience defaults</a:t>
            </a:r>
          </a:p>
        </p:txBody>
      </p:sp>
      <p:pic>
        <p:nvPicPr>
          <p:cNvPr id="103" name="Graphic 102"/>
          <p:cNvPicPr>
            <a:picLocks noChangeAspect="1"/>
          </p:cNvPicPr>
          <p:nvPr/>
        </p:nvPicPr>
        <p:blipFill>
          <a:blip r:embed="rId43">
            <a:lum/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rcRect/>
          <a:stretch>
            <a:fillRect/>
          </a:stretch>
        </p:blipFill>
        <p:spPr bwMode="white">
          <a:xfrm>
            <a:off x="9996846" y="479900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5" name="Graphic 104"/>
          <p:cNvPicPr>
            <a:picLocks noChangeAspect="1"/>
          </p:cNvPicPr>
          <p:nvPr/>
        </p:nvPicPr>
        <p:blipFill>
          <a:blip r:embed="rId45">
            <a:lum/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rcRect/>
          <a:stretch>
            <a:fillRect/>
          </a:stretch>
        </p:blipFill>
        <p:spPr bwMode="white">
          <a:xfrm>
            <a:off x="9996846" y="437457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7" name="Graphic 106"/>
          <p:cNvPicPr>
            <a:picLocks noChangeAspect="1"/>
          </p:cNvPicPr>
          <p:nvPr/>
        </p:nvPicPr>
        <p:blipFill>
          <a:blip r:embed="rId7">
            <a:lum/>
            <a:extLst>
              <a:ext uri="{96DAC541-7B7A-43D3-8B79-37D633B846F1}">
                <asvg:svgBlip xmlns:asvg="http://schemas.microsoft.com/office/drawing/2016/SVG/main" r:embed="rId47"/>
              </a:ext>
            </a:extLst>
          </a:blip>
          <a:srcRect/>
          <a:stretch>
            <a:fillRect/>
          </a:stretch>
        </p:blipFill>
        <p:spPr bwMode="white">
          <a:xfrm>
            <a:off x="9996846" y="391529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15" name="SessionSifInterval"/>
          <p:cNvSpPr txBox="1">
            <a:spLocks noChangeArrowheads="1"/>
          </p:cNvSpPr>
          <p:nvPr/>
        </p:nvSpPr>
        <p:spPr bwMode="white">
          <a:xfrm>
            <a:off x="10296745" y="4516775"/>
            <a:ext cx="1249060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8 hours</a:t>
            </a:r>
          </a:p>
        </p:txBody>
      </p:sp>
      <p:sp>
        <p:nvSpPr>
          <p:cNvPr id="114" name="SessionCasType"/>
          <p:cNvSpPr txBox="1">
            <a:spLocks noChangeArrowheads="1"/>
          </p:cNvSpPr>
          <p:nvPr/>
        </p:nvSpPr>
        <p:spPr bwMode="white">
          <a:xfrm>
            <a:off x="10296745" y="4075500"/>
            <a:ext cx="95410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App Control Policy</a:t>
            </a:r>
          </a:p>
        </p:txBody>
      </p:sp>
      <p:sp>
        <p:nvSpPr>
          <p:cNvPr id="116" name="SessionPersistenBrowserMode"/>
          <p:cNvSpPr txBox="1">
            <a:spLocks noChangeArrowheads="1"/>
          </p:cNvSpPr>
          <p:nvPr/>
        </p:nvSpPr>
        <p:spPr bwMode="white">
          <a:xfrm>
            <a:off x="10309761" y="4945281"/>
            <a:ext cx="918841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Always persistent</a:t>
            </a:r>
          </a:p>
        </p:txBody>
      </p:sp>
      <p:sp>
        <p:nvSpPr>
          <p:cNvPr id="118" name="SessionCaeMode"/>
          <p:cNvSpPr txBox="1">
            <a:spLocks noChangeArrowheads="1"/>
          </p:cNvSpPr>
          <p:nvPr/>
        </p:nvSpPr>
        <p:spPr bwMode="white">
          <a:xfrm>
            <a:off x="10301386" y="5393378"/>
            <a:ext cx="15359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US" sz="800" dirty="0"/>
              <a:t>Strictly enforce location policies</a:t>
            </a:r>
          </a:p>
        </p:txBody>
      </p:sp>
      <p:sp>
        <p:nvSpPr>
          <p:cNvPr id="119" name="ShadeSessionAppEnforced"/>
          <p:cNvSpPr>
            <a:spLocks/>
          </p:cNvSpPr>
          <p:nvPr/>
        </p:nvSpPr>
        <p:spPr bwMode="white">
          <a:xfrm>
            <a:off x="9959680" y="3548808"/>
            <a:ext cx="2051597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0" name="ShadeSessionCas"/>
          <p:cNvSpPr>
            <a:spLocks/>
          </p:cNvSpPr>
          <p:nvPr/>
        </p:nvSpPr>
        <p:spPr bwMode="white">
          <a:xfrm>
            <a:off x="9978939" y="3884212"/>
            <a:ext cx="2087576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2" name="ShadeSessionPersistentBrowser"/>
          <p:cNvSpPr>
            <a:spLocks/>
          </p:cNvSpPr>
          <p:nvPr/>
        </p:nvSpPr>
        <p:spPr bwMode="white">
          <a:xfrm>
            <a:off x="9938833" y="4746195"/>
            <a:ext cx="207244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pic>
        <p:nvPicPr>
          <p:cNvPr id="70" name="IconAssignedToRole"/>
          <p:cNvPicPr>
            <a:picLocks noChangeAspect="1"/>
          </p:cNvPicPr>
          <p:nvPr/>
        </p:nvPicPr>
        <p:blipFill>
          <a:blip r:embed="rId48">
            <a:lum/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rcRect/>
          <a:stretch>
            <a:fillRect/>
          </a:stretch>
        </p:blipFill>
        <p:spPr bwMode="white">
          <a:xfrm>
            <a:off x="2391841" y="3225674"/>
            <a:ext cx="365760" cy="36576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" name="Label Secure Sign In Session"/>
          <p:cNvSpPr txBox="1">
            <a:spLocks noChangeArrowheads="1"/>
          </p:cNvSpPr>
          <p:nvPr/>
        </p:nvSpPr>
        <p:spPr bwMode="white">
          <a:xfrm>
            <a:off x="10260000" y="6084874"/>
            <a:ext cx="166584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Token protection for session</a:t>
            </a:r>
          </a:p>
        </p:txBody>
      </p:sp>
      <p:pic>
        <p:nvPicPr>
          <p:cNvPr id="77" name="IconSessionCaeDisable" descr="Close with solid fill"/>
          <p:cNvPicPr>
            <a:picLocks noChangeAspect="1"/>
          </p:cNvPicPr>
          <p:nvPr/>
        </p:nvPicPr>
        <p:blipFill>
          <a:blip r:embed="rId50">
            <a:lum/>
            <a:extLst>
              <a:ext uri="{96DAC541-7B7A-43D3-8B79-37D633B846F1}">
                <asvg:svgBlip xmlns:asvg="http://schemas.microsoft.com/office/drawing/2016/SVG/main" r:embed="rId51"/>
              </a:ext>
            </a:extLst>
          </a:blip>
          <a:srcRect/>
          <a:stretch>
            <a:fillRect/>
          </a:stretch>
        </p:blipFill>
        <p:spPr bwMode="white">
          <a:xfrm>
            <a:off x="9979885" y="5218651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2" name="IconSessionSecureSignInSession 1"/>
          <p:cNvPicPr>
            <a:picLocks noChangeAspect="1"/>
          </p:cNvPicPr>
          <p:nvPr/>
        </p:nvPicPr>
        <p:blipFill>
          <a:blip r:embed="rId52">
            <a:lum/>
            <a:extLst>
              <a:ext uri="{96DAC541-7B7A-43D3-8B79-37D633B846F1}">
                <asvg:svgBlip xmlns:asvg="http://schemas.microsoft.com/office/drawing/2016/SVG/main" r:embed="rId53"/>
              </a:ext>
            </a:extLst>
          </a:blip>
          <a:srcRect/>
          <a:stretch>
            <a:fillRect/>
          </a:stretch>
        </p:blipFill>
        <p:spPr bwMode="white">
          <a:xfrm>
            <a:off x="9997200" y="6085768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3" name="ShadeSessionCae"/>
          <p:cNvSpPr>
            <a:spLocks/>
          </p:cNvSpPr>
          <p:nvPr/>
        </p:nvSpPr>
        <p:spPr bwMode="white">
          <a:xfrm>
            <a:off x="9987595" y="5219780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76" name="ShadeSessionSecureSignIn"/>
          <p:cNvSpPr>
            <a:spLocks/>
          </p:cNvSpPr>
          <p:nvPr/>
        </p:nvSpPr>
        <p:spPr bwMode="white">
          <a:xfrm>
            <a:off x="9996846" y="5986498"/>
            <a:ext cx="2014431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pic>
        <p:nvPicPr>
          <p:cNvPr id="102" name="Graphic 101"/>
          <p:cNvPicPr>
            <a:picLocks noChangeAspect="1"/>
          </p:cNvPicPr>
          <p:nvPr/>
        </p:nvPicPr>
        <p:blipFill>
          <a:blip r:embed="rId54">
            <a:lum/>
            <a:extLst>
              <a:ext uri="{96DAC541-7B7A-43D3-8B79-37D633B846F1}">
                <asvg:svgBlip xmlns:asvg="http://schemas.microsoft.com/office/drawing/2016/SVG/main" r:embed="rId55"/>
              </a:ext>
            </a:extLst>
          </a:blip>
          <a:srcRect/>
          <a:stretch>
            <a:fillRect/>
          </a:stretch>
        </p:blipFill>
        <p:spPr bwMode="white">
          <a:xfrm>
            <a:off x="9997200" y="5663777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80" name="Graphic 79" descr="Close with solid fill"/>
          <p:cNvPicPr>
            <a:picLocks noChangeAspect="1"/>
          </p:cNvPicPr>
          <p:nvPr/>
        </p:nvPicPr>
        <p:blipFill>
          <a:blip r:embed="rId50">
            <a:lum/>
            <a:extLst>
              <a:ext uri="{96DAC541-7B7A-43D3-8B79-37D633B846F1}">
                <asvg:svgBlip xmlns:asvg="http://schemas.microsoft.com/office/drawing/2016/SVG/main" r:embed="rId51"/>
              </a:ext>
            </a:extLst>
          </a:blip>
          <a:srcRect/>
          <a:stretch>
            <a:fillRect/>
          </a:stretch>
        </p:blipFill>
        <p:spPr bwMode="white">
          <a:xfrm>
            <a:off x="9963899" y="5637424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4" name="ShadeSessionDisableResilience"/>
          <p:cNvSpPr>
            <a:spLocks/>
          </p:cNvSpPr>
          <p:nvPr/>
        </p:nvSpPr>
        <p:spPr bwMode="white">
          <a:xfrm>
            <a:off x="9959681" y="5602709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2" name="PolicyName">
            <a:hlinkClick r:id="" action="ppaction://hlinkfile"/>
          </p:cNvPr>
          <p:cNvSpPr>
            <a:spLocks noGrp="1"/>
          </p:cNvSpPr>
          <p:nvPr>
            <p:ph type="title"/>
          </p:nvPr>
        </p:nvSpPr>
        <p:spPr bwMode="white">
          <a:xfrm>
            <a:off x="838200" y="115511"/>
            <a:ext cx="10003967" cy="609565"/>
          </a:xfrm>
          <a:ln>
            <a:headEnd type="none"/>
            <a:tailEnd type="none"/>
          </a:ln>
        </p:spPr>
        <p:txBody>
          <a:bodyPr wrap="square">
            <a:noAutofit/>
          </a:bodyPr>
          <a:lstStyle/>
          <a:p>
            <a:pPr defTabSz="914400"/>
            <a:r>
              <a:rPr lang="en-US" sz="2000" b="1" dirty="0"/>
              <a:t>[All Apps] [All Admins] Admin Accounts Sign In Frequency=8 hours</a:t>
            </a:r>
          </a:p>
        </p:txBody>
      </p:sp>
      <p:sp>
        <p:nvSpPr>
          <p:cNvPr id="16" name="LastModified"/>
          <p:cNvSpPr txBox="1">
            <a:spLocks noChangeArrowheads="1"/>
          </p:cNvSpPr>
          <p:nvPr/>
        </p:nvSpPr>
        <p:spPr bwMode="white">
          <a:xfrm>
            <a:off x="10556111" y="388376"/>
            <a:ext cx="15483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algn="r" defTabSz="457200"/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Last modified: 2025-06-05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UserWorkload"/>
          <p:cNvSpPr>
            <a:spLocks/>
          </p:cNvSpPr>
          <p:nvPr/>
        </p:nvSpPr>
        <p:spPr bwMode="auto">
          <a:xfrm>
            <a:off x="175820" y="2709769"/>
            <a:ext cx="2202823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Users</a:t>
            </a:r>
          </a:p>
        </p:txBody>
      </p:sp>
      <p:sp>
        <p:nvSpPr>
          <p:cNvPr id="7" name="UserWorkloadIncExc"/>
          <p:cNvSpPr txBox="1">
            <a:spLocks noChangeArrowheads="1"/>
          </p:cNvSpPr>
          <p:nvPr/>
        </p:nvSpPr>
        <p:spPr bwMode="white">
          <a:xfrm>
            <a:off x="125485" y="3698952"/>
            <a:ext cx="3062115" cy="313265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 numCol="1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b="1" dirty="0"/>
            </a:pPr>
            <a:r>
              <a:t> Users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r>
              <a:t>🚫 Exclude:</a:t>
            </a:r>
          </a:p>
          <a:p>
            <a:pPr defTabSz="457200">
              <a:defRPr sz="1100" b="1" dirty="0"/>
            </a:pPr>
            <a:r>
              <a:t> Users</a:t>
            </a:r>
          </a:p>
          <a:p>
            <a:pPr defTabSz="457200">
              <a:defRPr sz="1100" dirty="0"/>
            </a:pPr>
            <a:r>
              <a:t> - BGA OCC01</a:t>
            </a:r>
          </a:p>
          <a:p>
            <a:pPr defTabSz="457200">
              <a:defRPr sz="1100" dirty="0"/>
            </a:pPr>
            <a:r>
              <a:t> - BGA OCC02</a:t>
            </a:r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19" name="Risks"/>
          <p:cNvSpPr txBox="1">
            <a:spLocks noChangeArrowheads="1"/>
          </p:cNvSpPr>
          <p:nvPr/>
        </p:nvSpPr>
        <p:spPr bwMode="white">
          <a:xfrm>
            <a:off x="524485" y="1021946"/>
            <a:ext cx="1348869" cy="166886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0" name="Platforms"/>
          <p:cNvSpPr txBox="1">
            <a:spLocks noChangeArrowheads="1"/>
          </p:cNvSpPr>
          <p:nvPr/>
        </p:nvSpPr>
        <p:spPr bwMode="white">
          <a:xfrm>
            <a:off x="1826931" y="1021947"/>
            <a:ext cx="2061056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b="1" dirty="0"/>
            </a:pPr>
            <a:r>
              <a:t>✅ Include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23" name="Locations"/>
          <p:cNvSpPr txBox="1">
            <a:spLocks noChangeArrowheads="1"/>
          </p:cNvSpPr>
          <p:nvPr/>
        </p:nvSpPr>
        <p:spPr bwMode="white">
          <a:xfrm>
            <a:off x="8324941" y="1021947"/>
            <a:ext cx="3513702" cy="159258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4" name="ClientAppTypes"/>
          <p:cNvSpPr txBox="1">
            <a:spLocks noChangeArrowheads="1"/>
          </p:cNvSpPr>
          <p:nvPr/>
        </p:nvSpPr>
        <p:spPr bwMode="white">
          <a:xfrm>
            <a:off x="3810664" y="1021947"/>
            <a:ext cx="1581599" cy="165343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5" name="DeviceFilters"/>
          <p:cNvSpPr txBox="1">
            <a:spLocks noChangeArrowheads="1"/>
          </p:cNvSpPr>
          <p:nvPr/>
        </p:nvSpPr>
        <p:spPr bwMode="white">
          <a:xfrm>
            <a:off x="5818151" y="1022762"/>
            <a:ext cx="2248808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cxnSp>
        <p:nvCxnSpPr>
          <p:cNvPr id="27" name="Straight Arrow Connector 26" descr="Arrow drawn from user/workload  to the action being performed by the user such as accessing cloud apps."/>
          <p:cNvCxnSpPr/>
          <p:nvPr/>
        </p:nvCxnSpPr>
        <p:spPr bwMode="white">
          <a:xfrm>
            <a:off x="2195232" y="3159047"/>
            <a:ext cx="3959471" cy="1"/>
          </a:xfrm>
          <a:prstGeom prst="straightConnector1">
            <a:avLst/>
          </a:prstGeom>
          <a:ln w="76200"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30" name="IconBlockAccess" descr="Picture with red color stop sign to indicate blocked access"/>
          <p:cNvPicPr>
            <a:picLocks noChangeAspect="1"/>
          </p:cNvPicPr>
          <p:nvPr/>
        </p:nvPicPr>
        <p:blipFill>
          <a:blip r:embed="rId3">
            <a:lum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 bwMode="white">
          <a:xfrm>
            <a:off x="5306633" y="2735805"/>
            <a:ext cx="356616" cy="35661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34" name="GrantLabelBlockAccess"/>
          <p:cNvSpPr txBox="1">
            <a:spLocks noChangeArrowheads="1"/>
          </p:cNvSpPr>
          <p:nvPr/>
        </p:nvSpPr>
        <p:spPr bwMode="white">
          <a:xfrm>
            <a:off x="3936931" y="2734375"/>
            <a:ext cx="1358065" cy="369332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algn="ctr" defTabSz="457200"/>
            <a:r>
              <a:rPr lang="en-US" b="1" dirty="0">
                <a:solidFill>
                  <a:srgbClr val="FF0000"/>
                </a:solidFill>
              </a:rPr>
              <a:t>Block access</a:t>
            </a:r>
          </a:p>
        </p:txBody>
      </p:sp>
      <p:sp>
        <p:nvSpPr>
          <p:cNvPr id="3" name="CloudAppActionIncExc"/>
          <p:cNvSpPr txBox="1">
            <a:spLocks noChangeArrowheads="1"/>
          </p:cNvSpPr>
          <p:nvPr/>
        </p:nvSpPr>
        <p:spPr bwMode="white">
          <a:xfrm>
            <a:off x="6039518" y="3662782"/>
            <a:ext cx="3649518" cy="315161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r>
              <a:t>🚫 Exclude:</a:t>
            </a:r>
          </a:p>
          <a:p>
            <a:pPr defTabSz="457200">
              <a:defRPr sz="1100" dirty="0"/>
            </a:pPr>
            <a:r>
              <a:t> - Microsoft Intune</a:t>
            </a:r>
          </a:p>
          <a:p>
            <a:pPr defTabSz="457200">
              <a:defRPr sz="1100" dirty="0"/>
            </a:pPr>
            <a:r>
              <a:t> - Microsoft Intune Enrollment</a:t>
            </a:r>
          </a:p>
          <a:p>
            <a:pPr defTabSz="457200">
              <a:defRPr sz="1100" b="1" dirty="0"/>
            </a:pPr>
            <a:endParaRPr/>
          </a:p>
        </p:txBody>
      </p:sp>
      <p:pic>
        <p:nvPicPr>
          <p:cNvPr id="26" name="IconGroupIdentity"/>
          <p:cNvPicPr>
            <a:picLocks noChangeAspect="1"/>
          </p:cNvPicPr>
          <p:nvPr/>
        </p:nvPicPr>
        <p:blipFill>
          <a:blip r:embed="rId5">
            <a:lum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 bwMode="white">
          <a:xfrm>
            <a:off x="327701" y="2839007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36" name="Graphic 35"/>
          <p:cNvPicPr>
            <a:picLocks noChangeAspect="1"/>
          </p:cNvPicPr>
          <p:nvPr/>
        </p:nvPicPr>
        <p:blipFill>
          <a:blip r:embed="rId7">
            <a:lum/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p:blipFill>
        <p:spPr bwMode="white">
          <a:xfrm>
            <a:off x="495610" y="197468"/>
            <a:ext cx="381196" cy="38119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" name="CloudAppAction"/>
          <p:cNvSpPr>
            <a:spLocks/>
          </p:cNvSpPr>
          <p:nvPr/>
        </p:nvSpPr>
        <p:spPr bwMode="auto">
          <a:xfrm>
            <a:off x="6206089" y="2718506"/>
            <a:ext cx="3227026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All cloud apps</a:t>
            </a:r>
          </a:p>
        </p:txBody>
      </p:sp>
      <p:pic>
        <p:nvPicPr>
          <p:cNvPr id="75" name="IconAccessAllCloudApps"/>
          <p:cNvPicPr>
            <a:picLocks noChangeAspect="1"/>
          </p:cNvPicPr>
          <p:nvPr/>
        </p:nvPicPr>
        <p:blipFill>
          <a:blip r:embed="rId9">
            <a:lum/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p:blipFill>
        <p:spPr bwMode="white">
          <a:xfrm>
            <a:off x="6439264" y="2836824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8" name="StateReportOnly"/>
          <p:cNvSpPr>
            <a:spLocks/>
          </p:cNvSpPr>
          <p:nvPr/>
        </p:nvSpPr>
        <p:spPr bwMode="white">
          <a:xfrm>
            <a:off x="10842169" y="103586"/>
            <a:ext cx="1260389" cy="264812"/>
          </a:xfrm>
          <a:prstGeom prst="roundRect">
            <a:avLst/>
          </a:prstGeom>
          <a:ln>
            <a:headEnd type="none"/>
            <a:tailEnd type="none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r>
              <a:rPr lang="en-US" sz="800" dirty="0"/>
              <a:t>Policy Report-only</a:t>
            </a:r>
          </a:p>
        </p:txBody>
      </p:sp>
      <p:grpSp>
        <p:nvGrpSpPr>
          <p:cNvPr id="10" name="IconRiskyUsers"/>
          <p:cNvGrpSpPr>
            <a:grpSpLocks/>
          </p:cNvGrpSpPr>
          <p:nvPr/>
        </p:nvGrpSpPr>
        <p:grpSpPr bwMode="white">
          <a:xfrm>
            <a:off x="635426" y="738677"/>
            <a:ext cx="1202553" cy="274320"/>
            <a:chOff x="2013768" y="1033956"/>
            <a:chExt cx="1342320" cy="274320"/>
          </a:xfrm>
        </p:grpSpPr>
        <p:pic>
          <p:nvPicPr>
            <p:cNvPr id="46" name="Graphic 1"/>
            <p:cNvPicPr>
              <a:picLocks noChangeAspect="1"/>
            </p:cNvPicPr>
            <p:nvPr/>
          </p:nvPicPr>
          <p:blipFill>
            <a:blip r:embed="rId11">
              <a:lum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013768" y="1033956"/>
              <a:ext cx="274320" cy="27432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5" name="Label 1"/>
            <p:cNvSpPr txBox="1">
              <a:spLocks noChangeArrowheads="1"/>
            </p:cNvSpPr>
            <p:nvPr/>
          </p:nvSpPr>
          <p:spPr bwMode="white">
            <a:xfrm>
              <a:off x="2240077" y="1040706"/>
              <a:ext cx="1116011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Risk</a:t>
              </a:r>
            </a:p>
          </p:txBody>
        </p:sp>
      </p:grpSp>
      <p:grpSp>
        <p:nvGrpSpPr>
          <p:cNvPr id="14" name="IconPlatforms"/>
          <p:cNvGrpSpPr>
            <a:grpSpLocks/>
          </p:cNvGrpSpPr>
          <p:nvPr/>
        </p:nvGrpSpPr>
        <p:grpSpPr bwMode="white">
          <a:xfrm>
            <a:off x="1927788" y="715249"/>
            <a:ext cx="1719285" cy="365760"/>
            <a:chOff x="3262737" y="994835"/>
            <a:chExt cx="1719285" cy="365760"/>
          </a:xfrm>
        </p:grpSpPr>
        <p:pic>
          <p:nvPicPr>
            <p:cNvPr id="29" name="Graphic 1"/>
            <p:cNvPicPr>
              <a:picLocks noChangeAspect="1"/>
            </p:cNvPicPr>
            <p:nvPr/>
          </p:nvPicPr>
          <p:blipFill>
            <a:blip r:embed="rId13">
              <a:lum/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3262737" y="994835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1" name="Label 1"/>
            <p:cNvSpPr txBox="1">
              <a:spLocks noChangeArrowheads="1"/>
            </p:cNvSpPr>
            <p:nvPr/>
          </p:nvSpPr>
          <p:spPr bwMode="white">
            <a:xfrm>
              <a:off x="3582397" y="1027255"/>
              <a:ext cx="1399625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Device platforms</a:t>
              </a:r>
            </a:p>
          </p:txBody>
        </p:sp>
      </p:grpSp>
      <p:grpSp>
        <p:nvGrpSpPr>
          <p:cNvPr id="17" name="IconClientAppTypes"/>
          <p:cNvGrpSpPr>
            <a:grpSpLocks/>
          </p:cNvGrpSpPr>
          <p:nvPr/>
        </p:nvGrpSpPr>
        <p:grpSpPr bwMode="white">
          <a:xfrm>
            <a:off x="3908159" y="670015"/>
            <a:ext cx="1852971" cy="365760"/>
            <a:chOff x="4858970" y="975927"/>
            <a:chExt cx="1852971" cy="365760"/>
          </a:xfrm>
        </p:grpSpPr>
        <p:pic>
          <p:nvPicPr>
            <p:cNvPr id="58" name="Graphic 1"/>
            <p:cNvPicPr>
              <a:picLocks noChangeAspect="1"/>
            </p:cNvPicPr>
            <p:nvPr/>
          </p:nvPicPr>
          <p:blipFill>
            <a:blip r:embed="rId15">
              <a:lum/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858970" y="975927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5" name="Label 1"/>
            <p:cNvSpPr txBox="1">
              <a:spLocks noChangeArrowheads="1"/>
            </p:cNvSpPr>
            <p:nvPr/>
          </p:nvSpPr>
          <p:spPr bwMode="white">
            <a:xfrm>
              <a:off x="5193983" y="1009899"/>
              <a:ext cx="1517958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Client apps</a:t>
              </a:r>
            </a:p>
          </p:txBody>
        </p:sp>
      </p:grpSp>
      <p:grpSp>
        <p:nvGrpSpPr>
          <p:cNvPr id="37" name="IconLocations"/>
          <p:cNvGrpSpPr>
            <a:grpSpLocks/>
          </p:cNvGrpSpPr>
          <p:nvPr/>
        </p:nvGrpSpPr>
        <p:grpSpPr bwMode="white">
          <a:xfrm>
            <a:off x="8411896" y="646848"/>
            <a:ext cx="1850168" cy="388465"/>
            <a:chOff x="2321433" y="3262888"/>
            <a:chExt cx="1850168" cy="388465"/>
          </a:xfrm>
        </p:grpSpPr>
        <p:pic>
          <p:nvPicPr>
            <p:cNvPr id="33" name="Graphic 1"/>
            <p:cNvPicPr>
              <a:picLocks noChangeAspect="1"/>
            </p:cNvPicPr>
            <p:nvPr/>
          </p:nvPicPr>
          <p:blipFill>
            <a:blip r:embed="rId17">
              <a:lum/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321433" y="3262888"/>
              <a:ext cx="388465" cy="388465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28" name="Label 1"/>
            <p:cNvSpPr txBox="1">
              <a:spLocks noChangeArrowheads="1"/>
            </p:cNvSpPr>
            <p:nvPr/>
          </p:nvSpPr>
          <p:spPr bwMode="white">
            <a:xfrm>
              <a:off x="2713321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Locations</a:t>
              </a:r>
              <a:endParaRPr lang="en-US" sz="1100" b="1" dirty="0"/>
            </a:p>
          </p:txBody>
        </p:sp>
      </p:grpSp>
      <p:grpSp>
        <p:nvGrpSpPr>
          <p:cNvPr id="39" name="IconDeviceFilters"/>
          <p:cNvGrpSpPr>
            <a:grpSpLocks/>
          </p:cNvGrpSpPr>
          <p:nvPr/>
        </p:nvGrpSpPr>
        <p:grpSpPr bwMode="white">
          <a:xfrm>
            <a:off x="5472818" y="661958"/>
            <a:ext cx="1839823" cy="364111"/>
            <a:chOff x="4195414" y="3273669"/>
            <a:chExt cx="1839823" cy="364111"/>
          </a:xfrm>
        </p:grpSpPr>
        <p:pic>
          <p:nvPicPr>
            <p:cNvPr id="60" name="Graphic 1"/>
            <p:cNvPicPr>
              <a:picLocks noChangeAspect="1"/>
            </p:cNvPicPr>
            <p:nvPr/>
          </p:nvPicPr>
          <p:blipFill>
            <a:blip r:embed="rId19">
              <a:lum/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195414" y="3273669"/>
              <a:ext cx="364111" cy="364111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31" name="Label 1"/>
            <p:cNvSpPr txBox="1">
              <a:spLocks noChangeArrowheads="1"/>
            </p:cNvSpPr>
            <p:nvPr/>
          </p:nvSpPr>
          <p:spPr bwMode="white">
            <a:xfrm>
              <a:off x="4576957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Filter for devices</a:t>
              </a:r>
              <a:endParaRPr lang="en-US" sz="1100" b="1" dirty="0"/>
            </a:p>
          </p:txBody>
        </p:sp>
      </p:grpSp>
      <p:pic>
        <p:nvPicPr>
          <p:cNvPr id="62" name="IconGrantMultifactorAuthentication"/>
          <p:cNvPicPr>
            <a:picLocks noChangeAspect="1"/>
          </p:cNvPicPr>
          <p:nvPr/>
        </p:nvPicPr>
        <p:blipFill>
          <a:blip r:embed="rId21">
            <a:lum/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>
            <a:fillRect/>
          </a:stretch>
        </p:blipFill>
        <p:spPr bwMode="white">
          <a:xfrm>
            <a:off x="3410647" y="3566863"/>
            <a:ext cx="17145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5" name="IconGrantMultifactorAuthenticationLabel"/>
          <p:cNvSpPr txBox="1">
            <a:spLocks noChangeArrowheads="1"/>
          </p:cNvSpPr>
          <p:nvPr/>
        </p:nvSpPr>
        <p:spPr bwMode="white">
          <a:xfrm>
            <a:off x="3575836" y="3571997"/>
            <a:ext cx="19007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Multifactor authentication</a:t>
            </a:r>
            <a:endParaRPr lang="en-US" sz="1000" dirty="0"/>
          </a:p>
        </p:txBody>
      </p:sp>
      <p:pic>
        <p:nvPicPr>
          <p:cNvPr id="38" name="IconGrantAuthenticationStrength"/>
          <p:cNvPicPr>
            <a:picLocks noChangeAspect="1"/>
          </p:cNvPicPr>
          <p:nvPr/>
        </p:nvPicPr>
        <p:blipFill>
          <a:blip r:embed="rId23">
            <a:lum/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/>
          <a:stretch>
            <a:fillRect/>
          </a:stretch>
        </p:blipFill>
        <p:spPr bwMode="white">
          <a:xfrm>
            <a:off x="3374515" y="3905034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7" name="IconGrantAuthenticationStrengthLabel"/>
          <p:cNvSpPr txBox="1">
            <a:spLocks noChangeArrowheads="1"/>
          </p:cNvSpPr>
          <p:nvPr/>
        </p:nvSpPr>
        <p:spPr bwMode="white">
          <a:xfrm>
            <a:off x="3575836" y="3907323"/>
            <a:ext cx="2185294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Authentication strength</a:t>
            </a:r>
            <a:endParaRPr lang="en-US" sz="1000" dirty="0"/>
          </a:p>
        </p:txBody>
      </p:sp>
      <p:pic>
        <p:nvPicPr>
          <p:cNvPr id="52" name="IconGrantDeviceCompliance"/>
          <p:cNvPicPr>
            <a:picLocks noChangeAspect="1"/>
          </p:cNvPicPr>
          <p:nvPr/>
        </p:nvPicPr>
        <p:blipFill>
          <a:blip r:embed="rId25">
            <a:lum/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/>
          <a:stretch>
            <a:fillRect/>
          </a:stretch>
        </p:blipFill>
        <p:spPr bwMode="white">
          <a:xfrm>
            <a:off x="3374515" y="4243205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9" name="IconGrantDeviceComplianceLabel"/>
          <p:cNvSpPr txBox="1">
            <a:spLocks noChangeArrowheads="1"/>
          </p:cNvSpPr>
          <p:nvPr/>
        </p:nvSpPr>
        <p:spPr bwMode="white">
          <a:xfrm>
            <a:off x="3575836" y="4242649"/>
            <a:ext cx="17378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Compliant device</a:t>
            </a:r>
            <a:endParaRPr lang="en-US" sz="1000" dirty="0"/>
          </a:p>
        </p:txBody>
      </p:sp>
      <p:pic>
        <p:nvPicPr>
          <p:cNvPr id="43" name="IconGrantHybridJoined"/>
          <p:cNvPicPr>
            <a:picLocks noChangeAspect="1"/>
          </p:cNvPicPr>
          <p:nvPr/>
        </p:nvPicPr>
        <p:blipFill>
          <a:blip r:embed="rId27">
            <a:lum/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/>
          <a:stretch>
            <a:fillRect/>
          </a:stretch>
        </p:blipFill>
        <p:spPr bwMode="white">
          <a:xfrm>
            <a:off x="3374515" y="4581376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3" name="IconGrantHybridJoinedLabel"/>
          <p:cNvSpPr txBox="1">
            <a:spLocks noChangeArrowheads="1"/>
          </p:cNvSpPr>
          <p:nvPr/>
        </p:nvSpPr>
        <p:spPr bwMode="white">
          <a:xfrm>
            <a:off x="3575836" y="4577975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Hybrid Azure AD joined device</a:t>
            </a:r>
            <a:endParaRPr lang="en-US" sz="1000" dirty="0"/>
          </a:p>
        </p:txBody>
      </p:sp>
      <p:pic>
        <p:nvPicPr>
          <p:cNvPr id="48" name="IconGrantApprovedClientApp"/>
          <p:cNvPicPr>
            <a:picLocks noChangeAspect="1"/>
          </p:cNvPicPr>
          <p:nvPr/>
        </p:nvPicPr>
        <p:blipFill>
          <a:blip r:embed="rId29">
            <a:lum/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rcRect/>
          <a:stretch>
            <a:fillRect/>
          </a:stretch>
        </p:blipFill>
        <p:spPr bwMode="white">
          <a:xfrm>
            <a:off x="3374515" y="491954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5" name="IconGrantApprovedClientAppLabel"/>
          <p:cNvSpPr txBox="1">
            <a:spLocks noChangeArrowheads="1"/>
          </p:cNvSpPr>
          <p:nvPr/>
        </p:nvSpPr>
        <p:spPr bwMode="white">
          <a:xfrm>
            <a:off x="3575836" y="4913301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Approved client app</a:t>
            </a:r>
            <a:endParaRPr lang="en-US" sz="1000" dirty="0"/>
          </a:p>
        </p:txBody>
      </p:sp>
      <p:pic>
        <p:nvPicPr>
          <p:cNvPr id="42" name="IconGrantCustomAuth"/>
          <p:cNvPicPr>
            <a:picLocks noChangeAspect="1"/>
          </p:cNvPicPr>
          <p:nvPr/>
        </p:nvPicPr>
        <p:blipFill>
          <a:blip r:embed="rId31">
            <a:lum/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rcRect/>
          <a:stretch>
            <a:fillRect/>
          </a:stretch>
        </p:blipFill>
        <p:spPr bwMode="white">
          <a:xfrm>
            <a:off x="3374515" y="593406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9" name="IconGrantCustomAuthLabel"/>
          <p:cNvSpPr txBox="1">
            <a:spLocks noChangeArrowheads="1"/>
          </p:cNvSpPr>
          <p:nvPr/>
        </p:nvSpPr>
        <p:spPr bwMode="white">
          <a:xfrm>
            <a:off x="3575836" y="5919279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Custom authentication factor</a:t>
            </a:r>
            <a:endParaRPr lang="en-US" sz="1000" dirty="0"/>
          </a:p>
        </p:txBody>
      </p:sp>
      <p:pic>
        <p:nvPicPr>
          <p:cNvPr id="40" name="IconGrantTermsOfUse"/>
          <p:cNvPicPr>
            <a:picLocks noChangeAspect="1"/>
          </p:cNvPicPr>
          <p:nvPr/>
        </p:nvPicPr>
        <p:blipFill>
          <a:blip r:embed="rId33">
            <a:lum/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rcRect/>
          <a:stretch>
            <a:fillRect/>
          </a:stretch>
        </p:blipFill>
        <p:spPr bwMode="white">
          <a:xfrm>
            <a:off x="3374515" y="627222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3" name="IconGrantTermsOfUseLabel"/>
          <p:cNvSpPr txBox="1">
            <a:spLocks noChangeArrowheads="1"/>
          </p:cNvSpPr>
          <p:nvPr/>
        </p:nvSpPr>
        <p:spPr bwMode="white">
          <a:xfrm>
            <a:off x="3575836" y="625460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Terms of use</a:t>
            </a:r>
            <a:endParaRPr lang="en-US" sz="1000" dirty="0"/>
          </a:p>
        </p:txBody>
      </p:sp>
      <p:sp>
        <p:nvSpPr>
          <p:cNvPr id="56" name="IconGrantAppProtectionLabel"/>
          <p:cNvSpPr txBox="1">
            <a:spLocks noChangeArrowheads="1"/>
          </p:cNvSpPr>
          <p:nvPr/>
        </p:nvSpPr>
        <p:spPr bwMode="white">
          <a:xfrm>
            <a:off x="3575836" y="524862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 protection policy</a:t>
            </a:r>
            <a:endParaRPr lang="en-US" sz="1000" dirty="0"/>
          </a:p>
        </p:txBody>
      </p:sp>
      <p:pic>
        <p:nvPicPr>
          <p:cNvPr id="65" name="IconGrantAppProtection"/>
          <p:cNvPicPr>
            <a:picLocks noChangeAspect="1"/>
          </p:cNvPicPr>
          <p:nvPr/>
        </p:nvPicPr>
        <p:blipFill>
          <a:blip r:embed="rId35">
            <a:lum/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rcRect/>
          <a:stretch>
            <a:fillRect/>
          </a:stretch>
        </p:blipFill>
        <p:spPr bwMode="white">
          <a:xfrm>
            <a:off x="3374515" y="525771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7" name="IconGrantChangePasswordLabel"/>
          <p:cNvSpPr txBox="1">
            <a:spLocks noChangeArrowheads="1"/>
          </p:cNvSpPr>
          <p:nvPr/>
        </p:nvSpPr>
        <p:spPr bwMode="white">
          <a:xfrm>
            <a:off x="3575836" y="5583953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Change password</a:t>
            </a:r>
            <a:endParaRPr lang="en-US" sz="1000" dirty="0"/>
          </a:p>
        </p:txBody>
      </p:sp>
      <p:pic>
        <p:nvPicPr>
          <p:cNvPr id="67" name="IconGrantChangePassword"/>
          <p:cNvPicPr>
            <a:picLocks noChangeAspect="1"/>
          </p:cNvPicPr>
          <p:nvPr/>
        </p:nvPicPr>
        <p:blipFill>
          <a:blip r:embed="rId37">
            <a:lum/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rcRect/>
          <a:stretch>
            <a:fillRect/>
          </a:stretch>
        </p:blipFill>
        <p:spPr bwMode="white">
          <a:xfrm>
            <a:off x="3374515" y="5595889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4" name="ShadeRisk"/>
          <p:cNvSpPr>
            <a:spLocks/>
          </p:cNvSpPr>
          <p:nvPr/>
        </p:nvSpPr>
        <p:spPr bwMode="white">
          <a:xfrm>
            <a:off x="507564" y="650246"/>
            <a:ext cx="976864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78" name="ShadeClientApps"/>
          <p:cNvSpPr>
            <a:spLocks/>
          </p:cNvSpPr>
          <p:nvPr/>
        </p:nvSpPr>
        <p:spPr bwMode="white">
          <a:xfrm>
            <a:off x="3802273" y="650246"/>
            <a:ext cx="1481482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79" name="ShadeLocations"/>
          <p:cNvSpPr>
            <a:spLocks/>
          </p:cNvSpPr>
          <p:nvPr/>
        </p:nvSpPr>
        <p:spPr bwMode="white">
          <a:xfrm>
            <a:off x="8217572" y="669110"/>
            <a:ext cx="1873684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2" name="ShadeFilterForDevices"/>
          <p:cNvSpPr>
            <a:spLocks/>
          </p:cNvSpPr>
          <p:nvPr/>
        </p:nvSpPr>
        <p:spPr bwMode="white">
          <a:xfrm>
            <a:off x="5438955" y="627922"/>
            <a:ext cx="1873685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3" name="ShadeGrantMultifactorAuth"/>
          <p:cNvSpPr>
            <a:spLocks/>
          </p:cNvSpPr>
          <p:nvPr/>
        </p:nvSpPr>
        <p:spPr bwMode="white">
          <a:xfrm>
            <a:off x="3369399" y="3534220"/>
            <a:ext cx="2069555" cy="28330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4" name="ShadeGrantAuthStrength"/>
          <p:cNvSpPr>
            <a:spLocks/>
          </p:cNvSpPr>
          <p:nvPr/>
        </p:nvSpPr>
        <p:spPr bwMode="white">
          <a:xfrm>
            <a:off x="3350256" y="3869846"/>
            <a:ext cx="2069555" cy="27801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5" name="ShadeGrantCompliantDevice"/>
          <p:cNvSpPr>
            <a:spLocks/>
          </p:cNvSpPr>
          <p:nvPr/>
        </p:nvSpPr>
        <p:spPr bwMode="white">
          <a:xfrm>
            <a:off x="3361852" y="4243205"/>
            <a:ext cx="2077102" cy="26110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6" name="ShadeGrantHybridAzureADJoined"/>
          <p:cNvSpPr>
            <a:spLocks/>
          </p:cNvSpPr>
          <p:nvPr/>
        </p:nvSpPr>
        <p:spPr bwMode="white">
          <a:xfrm>
            <a:off x="3353637" y="4552268"/>
            <a:ext cx="2160906" cy="298395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7" name="ShadeGrantApprovedClientApp"/>
          <p:cNvSpPr>
            <a:spLocks/>
          </p:cNvSpPr>
          <p:nvPr/>
        </p:nvSpPr>
        <p:spPr bwMode="white">
          <a:xfrm>
            <a:off x="3331918" y="4876027"/>
            <a:ext cx="2182625" cy="29839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8" name="ShadeGrantAppProtectionPolicy"/>
          <p:cNvSpPr>
            <a:spLocks/>
          </p:cNvSpPr>
          <p:nvPr/>
        </p:nvSpPr>
        <p:spPr bwMode="white">
          <a:xfrm>
            <a:off x="3350256" y="5207226"/>
            <a:ext cx="2122561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9" name="ShadeGrantChangePassword"/>
          <p:cNvSpPr>
            <a:spLocks/>
          </p:cNvSpPr>
          <p:nvPr/>
        </p:nvSpPr>
        <p:spPr bwMode="white">
          <a:xfrm>
            <a:off x="3350257" y="5557021"/>
            <a:ext cx="2042006" cy="287239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0" name="ShadeGrantCustomAuthFactor"/>
          <p:cNvSpPr>
            <a:spLocks/>
          </p:cNvSpPr>
          <p:nvPr/>
        </p:nvSpPr>
        <p:spPr bwMode="white">
          <a:xfrm>
            <a:off x="3331918" y="5899058"/>
            <a:ext cx="2182625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1" name="ShadeGrantTermsOfUse"/>
          <p:cNvSpPr>
            <a:spLocks/>
          </p:cNvSpPr>
          <p:nvPr/>
        </p:nvSpPr>
        <p:spPr bwMode="white">
          <a:xfrm>
            <a:off x="3313823" y="6192350"/>
            <a:ext cx="101602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99" name="Rectangle 98"/>
          <p:cNvSpPr>
            <a:spLocks/>
          </p:cNvSpPr>
          <p:nvPr/>
        </p:nvSpPr>
        <p:spPr bwMode="white">
          <a:xfrm>
            <a:off x="3268757" y="3253404"/>
            <a:ext cx="2357725" cy="3498546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0" name="Rectangle 109"/>
          <p:cNvSpPr>
            <a:spLocks/>
          </p:cNvSpPr>
          <p:nvPr/>
        </p:nvSpPr>
        <p:spPr bwMode="white">
          <a:xfrm>
            <a:off x="9881750" y="3248255"/>
            <a:ext cx="2220808" cy="3510149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7" name="Rectangle 116"/>
          <p:cNvSpPr>
            <a:spLocks/>
          </p:cNvSpPr>
          <p:nvPr/>
        </p:nvSpPr>
        <p:spPr bwMode="white">
          <a:xfrm>
            <a:off x="26741" y="606825"/>
            <a:ext cx="11985015" cy="2063636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2" name="Conditions Label"/>
          <p:cNvSpPr txBox="1">
            <a:spLocks noChangeArrowheads="1"/>
          </p:cNvSpPr>
          <p:nvPr/>
        </p:nvSpPr>
        <p:spPr bwMode="white">
          <a:xfrm rot="16200000">
            <a:off x="-883507" y="1514324"/>
            <a:ext cx="2081441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Conditions</a:t>
            </a:r>
          </a:p>
        </p:txBody>
      </p:sp>
      <p:sp>
        <p:nvSpPr>
          <p:cNvPr id="109" name="Grant Controls"/>
          <p:cNvSpPr txBox="1">
            <a:spLocks noChangeArrowheads="1"/>
          </p:cNvSpPr>
          <p:nvPr/>
        </p:nvSpPr>
        <p:spPr bwMode="white">
          <a:xfrm>
            <a:off x="3252146" y="3244395"/>
            <a:ext cx="2391873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Grant Controls</a:t>
            </a:r>
          </a:p>
        </p:txBody>
      </p:sp>
      <p:sp>
        <p:nvSpPr>
          <p:cNvPr id="111" name="Session Controls"/>
          <p:cNvSpPr txBox="1">
            <a:spLocks noChangeArrowheads="1"/>
          </p:cNvSpPr>
          <p:nvPr/>
        </p:nvSpPr>
        <p:spPr bwMode="white">
          <a:xfrm>
            <a:off x="9864212" y="3243751"/>
            <a:ext cx="2238346" cy="23786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Session Controls</a:t>
            </a:r>
          </a:p>
        </p:txBody>
      </p:sp>
      <p:pic>
        <p:nvPicPr>
          <p:cNvPr id="72" name="Graphic 71"/>
          <p:cNvPicPr>
            <a:picLocks noChangeAspect="1"/>
          </p:cNvPicPr>
          <p:nvPr/>
        </p:nvPicPr>
        <p:blipFill>
          <a:blip r:embed="rId39">
            <a:lum/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rcRect/>
          <a:stretch>
            <a:fillRect/>
          </a:stretch>
        </p:blipFill>
        <p:spPr bwMode="white">
          <a:xfrm>
            <a:off x="9996846" y="356982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4" name="Graphic 93"/>
          <p:cNvPicPr>
            <a:picLocks noChangeAspect="1"/>
          </p:cNvPicPr>
          <p:nvPr/>
        </p:nvPicPr>
        <p:blipFill>
          <a:blip r:embed="rId41">
            <a:lum/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rcRect/>
          <a:stretch>
            <a:fillRect/>
          </a:stretch>
        </p:blipFill>
        <p:spPr bwMode="white">
          <a:xfrm>
            <a:off x="10009443" y="525644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5" name="TextBox 94"/>
          <p:cNvSpPr txBox="1">
            <a:spLocks noChangeArrowheads="1"/>
          </p:cNvSpPr>
          <p:nvPr/>
        </p:nvSpPr>
        <p:spPr bwMode="white">
          <a:xfrm>
            <a:off x="10207481" y="3578463"/>
            <a:ext cx="150554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App enforced restrictions</a:t>
            </a:r>
          </a:p>
        </p:txBody>
      </p:sp>
      <p:sp>
        <p:nvSpPr>
          <p:cNvPr id="96" name="TextBox 95"/>
          <p:cNvSpPr txBox="1">
            <a:spLocks noChangeArrowheads="1"/>
          </p:cNvSpPr>
          <p:nvPr/>
        </p:nvSpPr>
        <p:spPr bwMode="white">
          <a:xfrm>
            <a:off x="10201167" y="3899846"/>
            <a:ext cx="181011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Conditional Access App Control</a:t>
            </a:r>
          </a:p>
        </p:txBody>
      </p:sp>
      <p:sp>
        <p:nvSpPr>
          <p:cNvPr id="97" name="TextBox 96"/>
          <p:cNvSpPr txBox="1">
            <a:spLocks noChangeArrowheads="1"/>
          </p:cNvSpPr>
          <p:nvPr/>
        </p:nvSpPr>
        <p:spPr bwMode="white">
          <a:xfrm>
            <a:off x="10215627" y="4357505"/>
            <a:ext cx="1090363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Sign-in frequency</a:t>
            </a:r>
          </a:p>
        </p:txBody>
      </p:sp>
      <p:sp>
        <p:nvSpPr>
          <p:cNvPr id="98" name="TextBox 97"/>
          <p:cNvSpPr txBox="1">
            <a:spLocks noChangeArrowheads="1"/>
          </p:cNvSpPr>
          <p:nvPr/>
        </p:nvSpPr>
        <p:spPr bwMode="white">
          <a:xfrm>
            <a:off x="10225446" y="4793305"/>
            <a:ext cx="156966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Persistent browser session</a:t>
            </a:r>
          </a:p>
        </p:txBody>
      </p:sp>
      <p:sp>
        <p:nvSpPr>
          <p:cNvPr id="100" name="TextBox 99"/>
          <p:cNvSpPr txBox="1">
            <a:spLocks noChangeArrowheads="1"/>
          </p:cNvSpPr>
          <p:nvPr/>
        </p:nvSpPr>
        <p:spPr bwMode="white">
          <a:xfrm>
            <a:off x="10229552" y="5232376"/>
            <a:ext cx="1717137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Continuous access evaluation</a:t>
            </a:r>
          </a:p>
        </p:txBody>
      </p:sp>
      <p:sp>
        <p:nvSpPr>
          <p:cNvPr id="101" name="TextBox 100"/>
          <p:cNvSpPr txBox="1">
            <a:spLocks noChangeArrowheads="1"/>
          </p:cNvSpPr>
          <p:nvPr/>
        </p:nvSpPr>
        <p:spPr bwMode="white">
          <a:xfrm>
            <a:off x="10259108" y="5658625"/>
            <a:ext cx="153599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Disable resilience defaults</a:t>
            </a:r>
          </a:p>
        </p:txBody>
      </p:sp>
      <p:pic>
        <p:nvPicPr>
          <p:cNvPr id="103" name="Graphic 102"/>
          <p:cNvPicPr>
            <a:picLocks noChangeAspect="1"/>
          </p:cNvPicPr>
          <p:nvPr/>
        </p:nvPicPr>
        <p:blipFill>
          <a:blip r:embed="rId43">
            <a:lum/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rcRect/>
          <a:stretch>
            <a:fillRect/>
          </a:stretch>
        </p:blipFill>
        <p:spPr bwMode="white">
          <a:xfrm>
            <a:off x="9996846" y="479900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5" name="Graphic 104"/>
          <p:cNvPicPr>
            <a:picLocks noChangeAspect="1"/>
          </p:cNvPicPr>
          <p:nvPr/>
        </p:nvPicPr>
        <p:blipFill>
          <a:blip r:embed="rId45">
            <a:lum/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rcRect/>
          <a:stretch>
            <a:fillRect/>
          </a:stretch>
        </p:blipFill>
        <p:spPr bwMode="white">
          <a:xfrm>
            <a:off x="9996846" y="437457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7" name="Graphic 106"/>
          <p:cNvPicPr>
            <a:picLocks noChangeAspect="1"/>
          </p:cNvPicPr>
          <p:nvPr/>
        </p:nvPicPr>
        <p:blipFill>
          <a:blip r:embed="rId7">
            <a:lum/>
            <a:extLst>
              <a:ext uri="{96DAC541-7B7A-43D3-8B79-37D633B846F1}">
                <asvg:svgBlip xmlns:asvg="http://schemas.microsoft.com/office/drawing/2016/SVG/main" r:embed="rId47"/>
              </a:ext>
            </a:extLst>
          </a:blip>
          <a:srcRect/>
          <a:stretch>
            <a:fillRect/>
          </a:stretch>
        </p:blipFill>
        <p:spPr bwMode="white">
          <a:xfrm>
            <a:off x="9996846" y="391529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15" name="SessionSifInterval"/>
          <p:cNvSpPr txBox="1">
            <a:spLocks noChangeArrowheads="1"/>
          </p:cNvSpPr>
          <p:nvPr/>
        </p:nvSpPr>
        <p:spPr bwMode="white">
          <a:xfrm>
            <a:off x="10296745" y="4516775"/>
            <a:ext cx="1249060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Periodic reauthentication</a:t>
            </a:r>
          </a:p>
        </p:txBody>
      </p:sp>
      <p:sp>
        <p:nvSpPr>
          <p:cNvPr id="114" name="SessionCasType"/>
          <p:cNvSpPr txBox="1">
            <a:spLocks noChangeArrowheads="1"/>
          </p:cNvSpPr>
          <p:nvPr/>
        </p:nvSpPr>
        <p:spPr bwMode="white">
          <a:xfrm>
            <a:off x="10296745" y="4075500"/>
            <a:ext cx="95410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App Control Policy</a:t>
            </a:r>
          </a:p>
        </p:txBody>
      </p:sp>
      <p:sp>
        <p:nvSpPr>
          <p:cNvPr id="116" name="SessionPersistenBrowserMode"/>
          <p:cNvSpPr txBox="1">
            <a:spLocks noChangeArrowheads="1"/>
          </p:cNvSpPr>
          <p:nvPr/>
        </p:nvSpPr>
        <p:spPr bwMode="white">
          <a:xfrm>
            <a:off x="10309761" y="4945281"/>
            <a:ext cx="918841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Always persistent</a:t>
            </a:r>
          </a:p>
        </p:txBody>
      </p:sp>
      <p:sp>
        <p:nvSpPr>
          <p:cNvPr id="118" name="SessionCaeMode"/>
          <p:cNvSpPr txBox="1">
            <a:spLocks noChangeArrowheads="1"/>
          </p:cNvSpPr>
          <p:nvPr/>
        </p:nvSpPr>
        <p:spPr bwMode="white">
          <a:xfrm>
            <a:off x="10301386" y="5393378"/>
            <a:ext cx="15359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US" sz="800" dirty="0"/>
              <a:t>Strictly enforce location policies</a:t>
            </a:r>
          </a:p>
        </p:txBody>
      </p:sp>
      <p:sp>
        <p:nvSpPr>
          <p:cNvPr id="119" name="ShadeSessionAppEnforced"/>
          <p:cNvSpPr>
            <a:spLocks/>
          </p:cNvSpPr>
          <p:nvPr/>
        </p:nvSpPr>
        <p:spPr bwMode="white">
          <a:xfrm>
            <a:off x="9959680" y="3548808"/>
            <a:ext cx="2051597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0" name="ShadeSessionCas"/>
          <p:cNvSpPr>
            <a:spLocks/>
          </p:cNvSpPr>
          <p:nvPr/>
        </p:nvSpPr>
        <p:spPr bwMode="white">
          <a:xfrm>
            <a:off x="9978939" y="3884212"/>
            <a:ext cx="2087576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1" name="ShadeSessionSif"/>
          <p:cNvSpPr>
            <a:spLocks/>
          </p:cNvSpPr>
          <p:nvPr/>
        </p:nvSpPr>
        <p:spPr bwMode="white">
          <a:xfrm>
            <a:off x="9940787" y="4320077"/>
            <a:ext cx="2125728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2" name="ShadeSessionPersistentBrowser"/>
          <p:cNvSpPr>
            <a:spLocks/>
          </p:cNvSpPr>
          <p:nvPr/>
        </p:nvSpPr>
        <p:spPr bwMode="white">
          <a:xfrm>
            <a:off x="9938833" y="4746195"/>
            <a:ext cx="207244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" name="Label Secure Sign In Session"/>
          <p:cNvSpPr txBox="1">
            <a:spLocks noChangeArrowheads="1"/>
          </p:cNvSpPr>
          <p:nvPr/>
        </p:nvSpPr>
        <p:spPr bwMode="white">
          <a:xfrm>
            <a:off x="10260000" y="6084874"/>
            <a:ext cx="166584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Token protection for session</a:t>
            </a:r>
          </a:p>
        </p:txBody>
      </p:sp>
      <p:pic>
        <p:nvPicPr>
          <p:cNvPr id="77" name="IconSessionCaeDisable" descr="Close with solid fill"/>
          <p:cNvPicPr>
            <a:picLocks noChangeAspect="1"/>
          </p:cNvPicPr>
          <p:nvPr/>
        </p:nvPicPr>
        <p:blipFill>
          <a:blip r:embed="rId48">
            <a:lum/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rcRect/>
          <a:stretch>
            <a:fillRect/>
          </a:stretch>
        </p:blipFill>
        <p:spPr bwMode="white">
          <a:xfrm>
            <a:off x="9979885" y="5218651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2" name="IconSessionSecureSignInSession 1"/>
          <p:cNvPicPr>
            <a:picLocks noChangeAspect="1"/>
          </p:cNvPicPr>
          <p:nvPr/>
        </p:nvPicPr>
        <p:blipFill>
          <a:blip r:embed="rId50">
            <a:lum/>
            <a:extLst>
              <a:ext uri="{96DAC541-7B7A-43D3-8B79-37D633B846F1}">
                <asvg:svgBlip xmlns:asvg="http://schemas.microsoft.com/office/drawing/2016/SVG/main" r:embed="rId51"/>
              </a:ext>
            </a:extLst>
          </a:blip>
          <a:srcRect/>
          <a:stretch>
            <a:fillRect/>
          </a:stretch>
        </p:blipFill>
        <p:spPr bwMode="white">
          <a:xfrm>
            <a:off x="9997200" y="6085768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3" name="ShadeSessionCae"/>
          <p:cNvSpPr>
            <a:spLocks/>
          </p:cNvSpPr>
          <p:nvPr/>
        </p:nvSpPr>
        <p:spPr bwMode="white">
          <a:xfrm>
            <a:off x="9987595" y="5219780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76" name="ShadeSessionSecureSignIn"/>
          <p:cNvSpPr>
            <a:spLocks/>
          </p:cNvSpPr>
          <p:nvPr/>
        </p:nvSpPr>
        <p:spPr bwMode="white">
          <a:xfrm>
            <a:off x="9996846" y="5986498"/>
            <a:ext cx="2014431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pic>
        <p:nvPicPr>
          <p:cNvPr id="102" name="Graphic 101"/>
          <p:cNvPicPr>
            <a:picLocks noChangeAspect="1"/>
          </p:cNvPicPr>
          <p:nvPr/>
        </p:nvPicPr>
        <p:blipFill>
          <a:blip r:embed="rId52">
            <a:lum/>
            <a:extLst>
              <a:ext uri="{96DAC541-7B7A-43D3-8B79-37D633B846F1}">
                <asvg:svgBlip xmlns:asvg="http://schemas.microsoft.com/office/drawing/2016/SVG/main" r:embed="rId53"/>
              </a:ext>
            </a:extLst>
          </a:blip>
          <a:srcRect/>
          <a:stretch>
            <a:fillRect/>
          </a:stretch>
        </p:blipFill>
        <p:spPr bwMode="white">
          <a:xfrm>
            <a:off x="9997200" y="5663777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80" name="Graphic 79" descr="Close with solid fill"/>
          <p:cNvPicPr>
            <a:picLocks noChangeAspect="1"/>
          </p:cNvPicPr>
          <p:nvPr/>
        </p:nvPicPr>
        <p:blipFill>
          <a:blip r:embed="rId48">
            <a:lum/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rcRect/>
          <a:stretch>
            <a:fillRect/>
          </a:stretch>
        </p:blipFill>
        <p:spPr bwMode="white">
          <a:xfrm>
            <a:off x="9963899" y="5637424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4" name="ShadeSessionDisableResilience"/>
          <p:cNvSpPr>
            <a:spLocks/>
          </p:cNvSpPr>
          <p:nvPr/>
        </p:nvSpPr>
        <p:spPr bwMode="white">
          <a:xfrm>
            <a:off x="9959681" y="5602709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2" name="PolicyName">
            <a:hlinkClick r:id="" action="ppaction://hlinkfile"/>
          </p:cNvPr>
          <p:cNvSpPr>
            <a:spLocks noGrp="1"/>
          </p:cNvSpPr>
          <p:nvPr>
            <p:ph type="title"/>
          </p:nvPr>
        </p:nvSpPr>
        <p:spPr bwMode="white">
          <a:xfrm>
            <a:off x="838200" y="115511"/>
            <a:ext cx="10003967" cy="609565"/>
          </a:xfrm>
          <a:ln>
            <a:headEnd type="none"/>
            <a:tailEnd type="none"/>
          </a:ln>
        </p:spPr>
        <p:txBody>
          <a:bodyPr wrap="square">
            <a:noAutofit/>
          </a:bodyPr>
          <a:lstStyle/>
          <a:p>
            <a:pPr defTabSz="914400"/>
            <a:r>
              <a:rPr lang="en-US" sz="2000" b="1" dirty="0"/>
              <a:t>[All Apps] [All Users] (Block) Device Code Flow - MICROSOFT TO REPLACE</a:t>
            </a:r>
          </a:p>
        </p:txBody>
      </p:sp>
      <p:sp>
        <p:nvSpPr>
          <p:cNvPr id="16" name="LastModified"/>
          <p:cNvSpPr txBox="1">
            <a:spLocks noChangeArrowheads="1"/>
          </p:cNvSpPr>
          <p:nvPr/>
        </p:nvSpPr>
        <p:spPr bwMode="white">
          <a:xfrm>
            <a:off x="10556111" y="388376"/>
            <a:ext cx="15483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algn="r" defTabSz="457200"/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Last modified: 2025-05-14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UserWorkload"/>
          <p:cNvSpPr>
            <a:spLocks/>
          </p:cNvSpPr>
          <p:nvPr/>
        </p:nvSpPr>
        <p:spPr bwMode="auto">
          <a:xfrm>
            <a:off x="175820" y="2709769"/>
            <a:ext cx="2202823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Users</a:t>
            </a:r>
          </a:p>
        </p:txBody>
      </p:sp>
      <p:sp>
        <p:nvSpPr>
          <p:cNvPr id="7" name="UserWorkloadIncExc"/>
          <p:cNvSpPr txBox="1">
            <a:spLocks noChangeArrowheads="1"/>
          </p:cNvSpPr>
          <p:nvPr/>
        </p:nvSpPr>
        <p:spPr bwMode="white">
          <a:xfrm>
            <a:off x="125485" y="3698952"/>
            <a:ext cx="3062115" cy="313265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 numCol="1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b="1" dirty="0"/>
            </a:pPr>
            <a:r>
              <a:t> Users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r>
              <a:t>🚫 Exclude:</a:t>
            </a:r>
          </a:p>
          <a:p>
            <a:pPr defTabSz="457200">
              <a:defRPr sz="1100" b="1" dirty="0"/>
            </a:pPr>
            <a:r>
              <a:t> Users</a:t>
            </a:r>
          </a:p>
          <a:p>
            <a:pPr defTabSz="457200">
              <a:defRPr sz="1100" dirty="0"/>
            </a:pPr>
            <a:r>
              <a:t> - BGA OCC01</a:t>
            </a:r>
          </a:p>
          <a:p>
            <a:pPr defTabSz="457200">
              <a:defRPr sz="1100" dirty="0"/>
            </a:pPr>
            <a:r>
              <a:t> - BGA OCC02</a:t>
            </a:r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19" name="Risks"/>
          <p:cNvSpPr txBox="1">
            <a:spLocks noChangeArrowheads="1"/>
          </p:cNvSpPr>
          <p:nvPr/>
        </p:nvSpPr>
        <p:spPr bwMode="white">
          <a:xfrm>
            <a:off x="524485" y="1021946"/>
            <a:ext cx="1348869" cy="166886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0" name="Platforms"/>
          <p:cNvSpPr txBox="1">
            <a:spLocks noChangeArrowheads="1"/>
          </p:cNvSpPr>
          <p:nvPr/>
        </p:nvSpPr>
        <p:spPr bwMode="white">
          <a:xfrm>
            <a:off x="1826931" y="1021947"/>
            <a:ext cx="2061056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3" name="Locations"/>
          <p:cNvSpPr txBox="1">
            <a:spLocks noChangeArrowheads="1"/>
          </p:cNvSpPr>
          <p:nvPr/>
        </p:nvSpPr>
        <p:spPr bwMode="white">
          <a:xfrm>
            <a:off x="8324941" y="1021947"/>
            <a:ext cx="3513702" cy="159258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4" name="ClientAppTypes"/>
          <p:cNvSpPr txBox="1">
            <a:spLocks noChangeArrowheads="1"/>
          </p:cNvSpPr>
          <p:nvPr/>
        </p:nvSpPr>
        <p:spPr bwMode="white">
          <a:xfrm>
            <a:off x="3810664" y="1021947"/>
            <a:ext cx="1581599" cy="165343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5" name="DeviceFilters"/>
          <p:cNvSpPr txBox="1">
            <a:spLocks noChangeArrowheads="1"/>
          </p:cNvSpPr>
          <p:nvPr/>
        </p:nvSpPr>
        <p:spPr bwMode="white">
          <a:xfrm>
            <a:off x="5818151" y="1022762"/>
            <a:ext cx="2248808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cxnSp>
        <p:nvCxnSpPr>
          <p:cNvPr id="27" name="Straight Arrow Connector 26" descr="Arrow drawn from user/workload  to the action being performed by the user such as accessing cloud apps."/>
          <p:cNvCxnSpPr/>
          <p:nvPr/>
        </p:nvCxnSpPr>
        <p:spPr bwMode="white">
          <a:xfrm>
            <a:off x="2195232" y="3159047"/>
            <a:ext cx="3959471" cy="1"/>
          </a:xfrm>
          <a:prstGeom prst="straightConnector1">
            <a:avLst/>
          </a:prstGeom>
          <a:ln w="76200"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2" name="GrantLabelGrantAccess"/>
          <p:cNvSpPr txBox="1">
            <a:spLocks noChangeArrowheads="1"/>
          </p:cNvSpPr>
          <p:nvPr/>
        </p:nvSpPr>
        <p:spPr bwMode="white">
          <a:xfrm>
            <a:off x="3928464" y="2723089"/>
            <a:ext cx="1381340" cy="369332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algn="ctr" defTabSz="457200"/>
            <a:r>
              <a:rPr lang="en-US" b="1" dirty="0">
                <a:solidFill>
                  <a:srgbClr val="00B050"/>
                </a:solidFill>
              </a:rPr>
              <a:t>Grant access</a:t>
            </a:r>
          </a:p>
        </p:txBody>
      </p:sp>
      <p:pic>
        <p:nvPicPr>
          <p:cNvPr id="35" name="IconGrantAccess" descr="Picture with gren tick sign to indicate access was granted"/>
          <p:cNvPicPr>
            <a:picLocks noChangeAspect="1"/>
          </p:cNvPicPr>
          <p:nvPr/>
        </p:nvPicPr>
        <p:blipFill>
          <a:blip r:embed="rId3">
            <a:lum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 bwMode="white">
          <a:xfrm>
            <a:off x="5309361" y="2730170"/>
            <a:ext cx="356616" cy="35661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3" name="CloudAppActionIncExc"/>
          <p:cNvSpPr txBox="1">
            <a:spLocks noChangeArrowheads="1"/>
          </p:cNvSpPr>
          <p:nvPr/>
        </p:nvSpPr>
        <p:spPr bwMode="white">
          <a:xfrm>
            <a:off x="6039518" y="3662782"/>
            <a:ext cx="3649518" cy="315161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</p:txBody>
      </p:sp>
      <p:pic>
        <p:nvPicPr>
          <p:cNvPr id="26" name="IconGroupIdentity"/>
          <p:cNvPicPr>
            <a:picLocks noChangeAspect="1"/>
          </p:cNvPicPr>
          <p:nvPr/>
        </p:nvPicPr>
        <p:blipFill>
          <a:blip r:embed="rId5">
            <a:lum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 bwMode="white">
          <a:xfrm>
            <a:off x="327701" y="2839007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36" name="Graphic 35"/>
          <p:cNvPicPr>
            <a:picLocks noChangeAspect="1"/>
          </p:cNvPicPr>
          <p:nvPr/>
        </p:nvPicPr>
        <p:blipFill>
          <a:blip r:embed="rId7">
            <a:lum/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p:blipFill>
        <p:spPr bwMode="white">
          <a:xfrm>
            <a:off x="495610" y="197468"/>
            <a:ext cx="381196" cy="38119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" name="CloudAppAction"/>
          <p:cNvSpPr>
            <a:spLocks/>
          </p:cNvSpPr>
          <p:nvPr/>
        </p:nvSpPr>
        <p:spPr bwMode="auto">
          <a:xfrm>
            <a:off x="6206089" y="2718506"/>
            <a:ext cx="3227026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All cloud apps</a:t>
            </a:r>
          </a:p>
        </p:txBody>
      </p:sp>
      <p:pic>
        <p:nvPicPr>
          <p:cNvPr id="75" name="IconAccessAllCloudApps"/>
          <p:cNvPicPr>
            <a:picLocks noChangeAspect="1"/>
          </p:cNvPicPr>
          <p:nvPr/>
        </p:nvPicPr>
        <p:blipFill>
          <a:blip r:embed="rId9">
            <a:lum/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p:blipFill>
        <p:spPr bwMode="white">
          <a:xfrm>
            <a:off x="6439264" y="2836824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8" name="StateReportOnly"/>
          <p:cNvSpPr>
            <a:spLocks/>
          </p:cNvSpPr>
          <p:nvPr/>
        </p:nvSpPr>
        <p:spPr bwMode="white">
          <a:xfrm>
            <a:off x="10842169" y="103586"/>
            <a:ext cx="1260389" cy="264812"/>
          </a:xfrm>
          <a:prstGeom prst="roundRect">
            <a:avLst/>
          </a:prstGeom>
          <a:ln>
            <a:headEnd type="none"/>
            <a:tailEnd type="none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r>
              <a:rPr lang="en-US" sz="800" dirty="0"/>
              <a:t>Policy Report-only</a:t>
            </a:r>
          </a:p>
        </p:txBody>
      </p:sp>
      <p:grpSp>
        <p:nvGrpSpPr>
          <p:cNvPr id="10" name="IconRiskyUsers"/>
          <p:cNvGrpSpPr>
            <a:grpSpLocks/>
          </p:cNvGrpSpPr>
          <p:nvPr/>
        </p:nvGrpSpPr>
        <p:grpSpPr bwMode="white">
          <a:xfrm>
            <a:off x="635426" y="738677"/>
            <a:ext cx="1202553" cy="274320"/>
            <a:chOff x="2013768" y="1033956"/>
            <a:chExt cx="1342320" cy="274320"/>
          </a:xfrm>
        </p:grpSpPr>
        <p:pic>
          <p:nvPicPr>
            <p:cNvPr id="46" name="Graphic 1"/>
            <p:cNvPicPr>
              <a:picLocks noChangeAspect="1"/>
            </p:cNvPicPr>
            <p:nvPr/>
          </p:nvPicPr>
          <p:blipFill>
            <a:blip r:embed="rId11">
              <a:lum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013768" y="1033956"/>
              <a:ext cx="274320" cy="27432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5" name="Label 1"/>
            <p:cNvSpPr txBox="1">
              <a:spLocks noChangeArrowheads="1"/>
            </p:cNvSpPr>
            <p:nvPr/>
          </p:nvSpPr>
          <p:spPr bwMode="white">
            <a:xfrm>
              <a:off x="2240077" y="1040706"/>
              <a:ext cx="1116011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Risk</a:t>
              </a:r>
            </a:p>
          </p:txBody>
        </p:sp>
      </p:grpSp>
      <p:grpSp>
        <p:nvGrpSpPr>
          <p:cNvPr id="14" name="IconPlatforms"/>
          <p:cNvGrpSpPr>
            <a:grpSpLocks/>
          </p:cNvGrpSpPr>
          <p:nvPr/>
        </p:nvGrpSpPr>
        <p:grpSpPr bwMode="white">
          <a:xfrm>
            <a:off x="1927788" y="715249"/>
            <a:ext cx="1719285" cy="365760"/>
            <a:chOff x="3262737" y="994835"/>
            <a:chExt cx="1719285" cy="365760"/>
          </a:xfrm>
        </p:grpSpPr>
        <p:pic>
          <p:nvPicPr>
            <p:cNvPr id="29" name="Graphic 1"/>
            <p:cNvPicPr>
              <a:picLocks noChangeAspect="1"/>
            </p:cNvPicPr>
            <p:nvPr/>
          </p:nvPicPr>
          <p:blipFill>
            <a:blip r:embed="rId13">
              <a:lum/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3262737" y="994835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1" name="Label 1"/>
            <p:cNvSpPr txBox="1">
              <a:spLocks noChangeArrowheads="1"/>
            </p:cNvSpPr>
            <p:nvPr/>
          </p:nvSpPr>
          <p:spPr bwMode="white">
            <a:xfrm>
              <a:off x="3582397" y="1027255"/>
              <a:ext cx="1399625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Device platforms</a:t>
              </a:r>
            </a:p>
          </p:txBody>
        </p:sp>
      </p:grpSp>
      <p:grpSp>
        <p:nvGrpSpPr>
          <p:cNvPr id="17" name="IconClientAppTypes"/>
          <p:cNvGrpSpPr>
            <a:grpSpLocks/>
          </p:cNvGrpSpPr>
          <p:nvPr/>
        </p:nvGrpSpPr>
        <p:grpSpPr bwMode="white">
          <a:xfrm>
            <a:off x="3908159" y="670015"/>
            <a:ext cx="1852971" cy="365760"/>
            <a:chOff x="4858970" y="975927"/>
            <a:chExt cx="1852971" cy="365760"/>
          </a:xfrm>
        </p:grpSpPr>
        <p:pic>
          <p:nvPicPr>
            <p:cNvPr id="58" name="Graphic 1"/>
            <p:cNvPicPr>
              <a:picLocks noChangeAspect="1"/>
            </p:cNvPicPr>
            <p:nvPr/>
          </p:nvPicPr>
          <p:blipFill>
            <a:blip r:embed="rId15">
              <a:lum/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858970" y="975927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5" name="Label 1"/>
            <p:cNvSpPr txBox="1">
              <a:spLocks noChangeArrowheads="1"/>
            </p:cNvSpPr>
            <p:nvPr/>
          </p:nvSpPr>
          <p:spPr bwMode="white">
            <a:xfrm>
              <a:off x="5193983" y="1009899"/>
              <a:ext cx="1517958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Client apps</a:t>
              </a:r>
            </a:p>
          </p:txBody>
        </p:sp>
      </p:grpSp>
      <p:grpSp>
        <p:nvGrpSpPr>
          <p:cNvPr id="37" name="IconLocations"/>
          <p:cNvGrpSpPr>
            <a:grpSpLocks/>
          </p:cNvGrpSpPr>
          <p:nvPr/>
        </p:nvGrpSpPr>
        <p:grpSpPr bwMode="white">
          <a:xfrm>
            <a:off x="8411896" y="646848"/>
            <a:ext cx="1850168" cy="388465"/>
            <a:chOff x="2321433" y="3262888"/>
            <a:chExt cx="1850168" cy="388465"/>
          </a:xfrm>
        </p:grpSpPr>
        <p:pic>
          <p:nvPicPr>
            <p:cNvPr id="33" name="Graphic 1"/>
            <p:cNvPicPr>
              <a:picLocks noChangeAspect="1"/>
            </p:cNvPicPr>
            <p:nvPr/>
          </p:nvPicPr>
          <p:blipFill>
            <a:blip r:embed="rId17">
              <a:lum/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321433" y="3262888"/>
              <a:ext cx="388465" cy="388465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28" name="Label 1"/>
            <p:cNvSpPr txBox="1">
              <a:spLocks noChangeArrowheads="1"/>
            </p:cNvSpPr>
            <p:nvPr/>
          </p:nvSpPr>
          <p:spPr bwMode="white">
            <a:xfrm>
              <a:off x="2713321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Locations</a:t>
              </a:r>
              <a:endParaRPr lang="en-US" sz="1100" b="1" dirty="0"/>
            </a:p>
          </p:txBody>
        </p:sp>
      </p:grpSp>
      <p:grpSp>
        <p:nvGrpSpPr>
          <p:cNvPr id="39" name="IconDeviceFilters"/>
          <p:cNvGrpSpPr>
            <a:grpSpLocks/>
          </p:cNvGrpSpPr>
          <p:nvPr/>
        </p:nvGrpSpPr>
        <p:grpSpPr bwMode="white">
          <a:xfrm>
            <a:off x="5472818" y="661958"/>
            <a:ext cx="1839823" cy="364111"/>
            <a:chOff x="4195414" y="3273669"/>
            <a:chExt cx="1839823" cy="364111"/>
          </a:xfrm>
        </p:grpSpPr>
        <p:pic>
          <p:nvPicPr>
            <p:cNvPr id="60" name="Graphic 1"/>
            <p:cNvPicPr>
              <a:picLocks noChangeAspect="1"/>
            </p:cNvPicPr>
            <p:nvPr/>
          </p:nvPicPr>
          <p:blipFill>
            <a:blip r:embed="rId19">
              <a:lum/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195414" y="3273669"/>
              <a:ext cx="364111" cy="364111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31" name="Label 1"/>
            <p:cNvSpPr txBox="1">
              <a:spLocks noChangeArrowheads="1"/>
            </p:cNvSpPr>
            <p:nvPr/>
          </p:nvSpPr>
          <p:spPr bwMode="white">
            <a:xfrm>
              <a:off x="4576957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Filter for devices</a:t>
              </a:r>
              <a:endParaRPr lang="en-US" sz="1100" b="1" dirty="0"/>
            </a:p>
          </p:txBody>
        </p:sp>
      </p:grpSp>
      <p:pic>
        <p:nvPicPr>
          <p:cNvPr id="62" name="IconGrantMultifactorAuthentication"/>
          <p:cNvPicPr>
            <a:picLocks noChangeAspect="1"/>
          </p:cNvPicPr>
          <p:nvPr/>
        </p:nvPicPr>
        <p:blipFill>
          <a:blip r:embed="rId21">
            <a:lum/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>
            <a:fillRect/>
          </a:stretch>
        </p:blipFill>
        <p:spPr bwMode="white">
          <a:xfrm>
            <a:off x="3410647" y="3566863"/>
            <a:ext cx="17145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5" name="IconGrantMultifactorAuthenticationLabel"/>
          <p:cNvSpPr txBox="1">
            <a:spLocks noChangeArrowheads="1"/>
          </p:cNvSpPr>
          <p:nvPr/>
        </p:nvSpPr>
        <p:spPr bwMode="white">
          <a:xfrm>
            <a:off x="3575836" y="3571997"/>
            <a:ext cx="19007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Multifactor authentication</a:t>
            </a:r>
            <a:endParaRPr lang="en-US" sz="1000" dirty="0"/>
          </a:p>
        </p:txBody>
      </p:sp>
      <p:pic>
        <p:nvPicPr>
          <p:cNvPr id="38" name="IconGrantAuthenticationStrength"/>
          <p:cNvPicPr>
            <a:picLocks noChangeAspect="1"/>
          </p:cNvPicPr>
          <p:nvPr/>
        </p:nvPicPr>
        <p:blipFill>
          <a:blip r:embed="rId23">
            <a:lum/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/>
          <a:stretch>
            <a:fillRect/>
          </a:stretch>
        </p:blipFill>
        <p:spPr bwMode="white">
          <a:xfrm>
            <a:off x="3374515" y="3905034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7" name="IconGrantAuthenticationStrengthLabel"/>
          <p:cNvSpPr txBox="1">
            <a:spLocks noChangeArrowheads="1"/>
          </p:cNvSpPr>
          <p:nvPr/>
        </p:nvSpPr>
        <p:spPr bwMode="white">
          <a:xfrm>
            <a:off x="3575836" y="3907323"/>
            <a:ext cx="2185294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Authentication strength</a:t>
            </a:r>
            <a:endParaRPr lang="en-US" sz="1000" dirty="0"/>
          </a:p>
        </p:txBody>
      </p:sp>
      <p:pic>
        <p:nvPicPr>
          <p:cNvPr id="52" name="IconGrantDeviceCompliance"/>
          <p:cNvPicPr>
            <a:picLocks noChangeAspect="1"/>
          </p:cNvPicPr>
          <p:nvPr/>
        </p:nvPicPr>
        <p:blipFill>
          <a:blip r:embed="rId25">
            <a:lum/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/>
          <a:stretch>
            <a:fillRect/>
          </a:stretch>
        </p:blipFill>
        <p:spPr bwMode="white">
          <a:xfrm>
            <a:off x="3374515" y="4243205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9" name="IconGrantDeviceComplianceLabel"/>
          <p:cNvSpPr txBox="1">
            <a:spLocks noChangeArrowheads="1"/>
          </p:cNvSpPr>
          <p:nvPr/>
        </p:nvSpPr>
        <p:spPr bwMode="white">
          <a:xfrm>
            <a:off x="3575836" y="4242649"/>
            <a:ext cx="17378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Compliant device</a:t>
            </a:r>
            <a:endParaRPr lang="en-US" sz="1000" dirty="0"/>
          </a:p>
        </p:txBody>
      </p:sp>
      <p:pic>
        <p:nvPicPr>
          <p:cNvPr id="43" name="IconGrantHybridJoined"/>
          <p:cNvPicPr>
            <a:picLocks noChangeAspect="1"/>
          </p:cNvPicPr>
          <p:nvPr/>
        </p:nvPicPr>
        <p:blipFill>
          <a:blip r:embed="rId27">
            <a:lum/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/>
          <a:stretch>
            <a:fillRect/>
          </a:stretch>
        </p:blipFill>
        <p:spPr bwMode="white">
          <a:xfrm>
            <a:off x="3374515" y="4581376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3" name="IconGrantHybridJoinedLabel"/>
          <p:cNvSpPr txBox="1">
            <a:spLocks noChangeArrowheads="1"/>
          </p:cNvSpPr>
          <p:nvPr/>
        </p:nvSpPr>
        <p:spPr bwMode="white">
          <a:xfrm>
            <a:off x="3575836" y="4577975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Hybrid Azure AD joined device</a:t>
            </a:r>
            <a:endParaRPr lang="en-US" sz="1000" dirty="0"/>
          </a:p>
        </p:txBody>
      </p:sp>
      <p:pic>
        <p:nvPicPr>
          <p:cNvPr id="48" name="IconGrantApprovedClientApp"/>
          <p:cNvPicPr>
            <a:picLocks noChangeAspect="1"/>
          </p:cNvPicPr>
          <p:nvPr/>
        </p:nvPicPr>
        <p:blipFill>
          <a:blip r:embed="rId29">
            <a:lum/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rcRect/>
          <a:stretch>
            <a:fillRect/>
          </a:stretch>
        </p:blipFill>
        <p:spPr bwMode="white">
          <a:xfrm>
            <a:off x="3374515" y="491954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5" name="IconGrantApprovedClientAppLabel"/>
          <p:cNvSpPr txBox="1">
            <a:spLocks noChangeArrowheads="1"/>
          </p:cNvSpPr>
          <p:nvPr/>
        </p:nvSpPr>
        <p:spPr bwMode="white">
          <a:xfrm>
            <a:off x="3575836" y="4913301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Approved client app</a:t>
            </a:r>
            <a:endParaRPr lang="en-US" sz="1000" dirty="0"/>
          </a:p>
        </p:txBody>
      </p:sp>
      <p:pic>
        <p:nvPicPr>
          <p:cNvPr id="42" name="IconGrantCustomAuth"/>
          <p:cNvPicPr>
            <a:picLocks noChangeAspect="1"/>
          </p:cNvPicPr>
          <p:nvPr/>
        </p:nvPicPr>
        <p:blipFill>
          <a:blip r:embed="rId31">
            <a:lum/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rcRect/>
          <a:stretch>
            <a:fillRect/>
          </a:stretch>
        </p:blipFill>
        <p:spPr bwMode="white">
          <a:xfrm>
            <a:off x="3374515" y="593406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9" name="IconGrantCustomAuthLabel"/>
          <p:cNvSpPr txBox="1">
            <a:spLocks noChangeArrowheads="1"/>
          </p:cNvSpPr>
          <p:nvPr/>
        </p:nvSpPr>
        <p:spPr bwMode="white">
          <a:xfrm>
            <a:off x="3575836" y="5919279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Custom authentication factor</a:t>
            </a:r>
            <a:endParaRPr lang="en-US" sz="1000" dirty="0"/>
          </a:p>
        </p:txBody>
      </p:sp>
      <p:pic>
        <p:nvPicPr>
          <p:cNvPr id="40" name="IconGrantTermsOfUse"/>
          <p:cNvPicPr>
            <a:picLocks noChangeAspect="1"/>
          </p:cNvPicPr>
          <p:nvPr/>
        </p:nvPicPr>
        <p:blipFill>
          <a:blip r:embed="rId33">
            <a:lum/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rcRect/>
          <a:stretch>
            <a:fillRect/>
          </a:stretch>
        </p:blipFill>
        <p:spPr bwMode="white">
          <a:xfrm>
            <a:off x="3374515" y="627222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3" name="IconGrantTermsOfUseLabel"/>
          <p:cNvSpPr txBox="1">
            <a:spLocks noChangeArrowheads="1"/>
          </p:cNvSpPr>
          <p:nvPr/>
        </p:nvSpPr>
        <p:spPr bwMode="white">
          <a:xfrm>
            <a:off x="3575836" y="625460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Terms of use</a:t>
            </a:r>
            <a:endParaRPr lang="en-US" sz="1000" dirty="0"/>
          </a:p>
        </p:txBody>
      </p:sp>
      <p:sp>
        <p:nvSpPr>
          <p:cNvPr id="56" name="IconGrantAppProtectionLabel"/>
          <p:cNvSpPr txBox="1">
            <a:spLocks noChangeArrowheads="1"/>
          </p:cNvSpPr>
          <p:nvPr/>
        </p:nvSpPr>
        <p:spPr bwMode="white">
          <a:xfrm>
            <a:off x="3575836" y="524862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 protection policy</a:t>
            </a:r>
            <a:endParaRPr lang="en-US" sz="1000" dirty="0"/>
          </a:p>
        </p:txBody>
      </p:sp>
      <p:pic>
        <p:nvPicPr>
          <p:cNvPr id="65" name="IconGrantAppProtection"/>
          <p:cNvPicPr>
            <a:picLocks noChangeAspect="1"/>
          </p:cNvPicPr>
          <p:nvPr/>
        </p:nvPicPr>
        <p:blipFill>
          <a:blip r:embed="rId35">
            <a:lum/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rcRect/>
          <a:stretch>
            <a:fillRect/>
          </a:stretch>
        </p:blipFill>
        <p:spPr bwMode="white">
          <a:xfrm>
            <a:off x="3374515" y="525771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7" name="IconGrantChangePasswordLabel"/>
          <p:cNvSpPr txBox="1">
            <a:spLocks noChangeArrowheads="1"/>
          </p:cNvSpPr>
          <p:nvPr/>
        </p:nvSpPr>
        <p:spPr bwMode="white">
          <a:xfrm>
            <a:off x="3575836" y="5583953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Change password</a:t>
            </a:r>
            <a:endParaRPr lang="en-US" sz="1000" dirty="0"/>
          </a:p>
        </p:txBody>
      </p:sp>
      <p:pic>
        <p:nvPicPr>
          <p:cNvPr id="67" name="IconGrantChangePassword"/>
          <p:cNvPicPr>
            <a:picLocks noChangeAspect="1"/>
          </p:cNvPicPr>
          <p:nvPr/>
        </p:nvPicPr>
        <p:blipFill>
          <a:blip r:embed="rId37">
            <a:lum/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rcRect/>
          <a:stretch>
            <a:fillRect/>
          </a:stretch>
        </p:blipFill>
        <p:spPr bwMode="white">
          <a:xfrm>
            <a:off x="3374515" y="5595889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4" name="ShadeRisk"/>
          <p:cNvSpPr>
            <a:spLocks/>
          </p:cNvSpPr>
          <p:nvPr/>
        </p:nvSpPr>
        <p:spPr bwMode="white">
          <a:xfrm>
            <a:off x="507564" y="650246"/>
            <a:ext cx="976864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66" name="ShadeDevicePlatforms"/>
          <p:cNvSpPr>
            <a:spLocks/>
          </p:cNvSpPr>
          <p:nvPr/>
        </p:nvSpPr>
        <p:spPr bwMode="white">
          <a:xfrm>
            <a:off x="1863623" y="663409"/>
            <a:ext cx="1773927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78" name="ShadeClientApps"/>
          <p:cNvSpPr>
            <a:spLocks/>
          </p:cNvSpPr>
          <p:nvPr/>
        </p:nvSpPr>
        <p:spPr bwMode="white">
          <a:xfrm>
            <a:off x="3802273" y="650246"/>
            <a:ext cx="1481482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79" name="ShadeLocations"/>
          <p:cNvSpPr>
            <a:spLocks/>
          </p:cNvSpPr>
          <p:nvPr/>
        </p:nvSpPr>
        <p:spPr bwMode="white">
          <a:xfrm>
            <a:off x="8217572" y="669110"/>
            <a:ext cx="1873684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2" name="ShadeFilterForDevices"/>
          <p:cNvSpPr>
            <a:spLocks/>
          </p:cNvSpPr>
          <p:nvPr/>
        </p:nvSpPr>
        <p:spPr bwMode="white">
          <a:xfrm>
            <a:off x="5438955" y="627922"/>
            <a:ext cx="1873685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3" name="ShadeGrantMultifactorAuth"/>
          <p:cNvSpPr>
            <a:spLocks/>
          </p:cNvSpPr>
          <p:nvPr/>
        </p:nvSpPr>
        <p:spPr bwMode="white">
          <a:xfrm>
            <a:off x="3369399" y="3534220"/>
            <a:ext cx="2069555" cy="28330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4" name="ShadeGrantAuthStrength"/>
          <p:cNvSpPr>
            <a:spLocks/>
          </p:cNvSpPr>
          <p:nvPr/>
        </p:nvSpPr>
        <p:spPr bwMode="white">
          <a:xfrm>
            <a:off x="3350256" y="3869846"/>
            <a:ext cx="2069555" cy="27801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7" name="ShadeGrantApprovedClientApp"/>
          <p:cNvSpPr>
            <a:spLocks/>
          </p:cNvSpPr>
          <p:nvPr/>
        </p:nvSpPr>
        <p:spPr bwMode="white">
          <a:xfrm>
            <a:off x="3331918" y="4876027"/>
            <a:ext cx="2182625" cy="29839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8" name="ShadeGrantAppProtectionPolicy"/>
          <p:cNvSpPr>
            <a:spLocks/>
          </p:cNvSpPr>
          <p:nvPr/>
        </p:nvSpPr>
        <p:spPr bwMode="white">
          <a:xfrm>
            <a:off x="3350256" y="5207226"/>
            <a:ext cx="2122561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9" name="ShadeGrantChangePassword"/>
          <p:cNvSpPr>
            <a:spLocks/>
          </p:cNvSpPr>
          <p:nvPr/>
        </p:nvSpPr>
        <p:spPr bwMode="white">
          <a:xfrm>
            <a:off x="3350257" y="5557021"/>
            <a:ext cx="2042006" cy="287239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0" name="ShadeGrantCustomAuthFactor"/>
          <p:cNvSpPr>
            <a:spLocks/>
          </p:cNvSpPr>
          <p:nvPr/>
        </p:nvSpPr>
        <p:spPr bwMode="white">
          <a:xfrm>
            <a:off x="3331918" y="5899058"/>
            <a:ext cx="2182625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1" name="ShadeGrantTermsOfUse"/>
          <p:cNvSpPr>
            <a:spLocks/>
          </p:cNvSpPr>
          <p:nvPr/>
        </p:nvSpPr>
        <p:spPr bwMode="white">
          <a:xfrm>
            <a:off x="3313823" y="6192350"/>
            <a:ext cx="101602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99" name="Rectangle 98"/>
          <p:cNvSpPr>
            <a:spLocks/>
          </p:cNvSpPr>
          <p:nvPr/>
        </p:nvSpPr>
        <p:spPr bwMode="white">
          <a:xfrm>
            <a:off x="3268757" y="3253404"/>
            <a:ext cx="2357725" cy="3498546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0" name="Rectangle 109"/>
          <p:cNvSpPr>
            <a:spLocks/>
          </p:cNvSpPr>
          <p:nvPr/>
        </p:nvSpPr>
        <p:spPr bwMode="white">
          <a:xfrm>
            <a:off x="9881750" y="3248255"/>
            <a:ext cx="2220808" cy="3510149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7" name="Rectangle 116"/>
          <p:cNvSpPr>
            <a:spLocks/>
          </p:cNvSpPr>
          <p:nvPr/>
        </p:nvSpPr>
        <p:spPr bwMode="white">
          <a:xfrm>
            <a:off x="26741" y="606825"/>
            <a:ext cx="11985015" cy="2063636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2" name="Conditions Label"/>
          <p:cNvSpPr txBox="1">
            <a:spLocks noChangeArrowheads="1"/>
          </p:cNvSpPr>
          <p:nvPr/>
        </p:nvSpPr>
        <p:spPr bwMode="white">
          <a:xfrm rot="16200000">
            <a:off x="-883507" y="1514324"/>
            <a:ext cx="2081441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Conditions</a:t>
            </a:r>
          </a:p>
        </p:txBody>
      </p:sp>
      <p:sp>
        <p:nvSpPr>
          <p:cNvPr id="109" name="Grant Controls"/>
          <p:cNvSpPr txBox="1">
            <a:spLocks noChangeArrowheads="1"/>
          </p:cNvSpPr>
          <p:nvPr/>
        </p:nvSpPr>
        <p:spPr bwMode="white">
          <a:xfrm>
            <a:off x="3252146" y="3244395"/>
            <a:ext cx="2391873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Grant Controls</a:t>
            </a:r>
          </a:p>
        </p:txBody>
      </p:sp>
      <p:sp>
        <p:nvSpPr>
          <p:cNvPr id="111" name="Session Controls"/>
          <p:cNvSpPr txBox="1">
            <a:spLocks noChangeArrowheads="1"/>
          </p:cNvSpPr>
          <p:nvPr/>
        </p:nvSpPr>
        <p:spPr bwMode="white">
          <a:xfrm>
            <a:off x="9864212" y="3243751"/>
            <a:ext cx="2238346" cy="23786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Session Controls</a:t>
            </a:r>
          </a:p>
        </p:txBody>
      </p:sp>
      <p:sp>
        <p:nvSpPr>
          <p:cNvPr id="68" name="GrantRequireLabel"/>
          <p:cNvSpPr txBox="1">
            <a:spLocks noChangeArrowheads="1"/>
          </p:cNvSpPr>
          <p:nvPr/>
        </p:nvSpPr>
        <p:spPr bwMode="white">
          <a:xfrm>
            <a:off x="4775511" y="3240533"/>
            <a:ext cx="885943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algn="r" defTabSz="457200"/>
            <a:r>
              <a:rPr lang="en-US" sz="800" cap="small" dirty="0">
                <a:solidFill>
                  <a:schemeClr val="bg2"/>
                </a:solidFill>
              </a:rPr>
              <a:t>Require ONE</a:t>
            </a:r>
          </a:p>
        </p:txBody>
      </p:sp>
      <p:pic>
        <p:nvPicPr>
          <p:cNvPr id="72" name="Graphic 71"/>
          <p:cNvPicPr>
            <a:picLocks noChangeAspect="1"/>
          </p:cNvPicPr>
          <p:nvPr/>
        </p:nvPicPr>
        <p:blipFill>
          <a:blip r:embed="rId39">
            <a:lum/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rcRect/>
          <a:stretch>
            <a:fillRect/>
          </a:stretch>
        </p:blipFill>
        <p:spPr bwMode="white">
          <a:xfrm>
            <a:off x="9996846" y="356982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4" name="Graphic 93"/>
          <p:cNvPicPr>
            <a:picLocks noChangeAspect="1"/>
          </p:cNvPicPr>
          <p:nvPr/>
        </p:nvPicPr>
        <p:blipFill>
          <a:blip r:embed="rId41">
            <a:lum/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rcRect/>
          <a:stretch>
            <a:fillRect/>
          </a:stretch>
        </p:blipFill>
        <p:spPr bwMode="white">
          <a:xfrm>
            <a:off x="10009443" y="525644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5" name="TextBox 94"/>
          <p:cNvSpPr txBox="1">
            <a:spLocks noChangeArrowheads="1"/>
          </p:cNvSpPr>
          <p:nvPr/>
        </p:nvSpPr>
        <p:spPr bwMode="white">
          <a:xfrm>
            <a:off x="10207481" y="3578463"/>
            <a:ext cx="150554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App enforced restrictions</a:t>
            </a:r>
          </a:p>
        </p:txBody>
      </p:sp>
      <p:sp>
        <p:nvSpPr>
          <p:cNvPr id="96" name="TextBox 95"/>
          <p:cNvSpPr txBox="1">
            <a:spLocks noChangeArrowheads="1"/>
          </p:cNvSpPr>
          <p:nvPr/>
        </p:nvSpPr>
        <p:spPr bwMode="white">
          <a:xfrm>
            <a:off x="10201167" y="3899846"/>
            <a:ext cx="181011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Conditional Access App Control</a:t>
            </a:r>
          </a:p>
        </p:txBody>
      </p:sp>
      <p:sp>
        <p:nvSpPr>
          <p:cNvPr id="97" name="TextBox 96"/>
          <p:cNvSpPr txBox="1">
            <a:spLocks noChangeArrowheads="1"/>
          </p:cNvSpPr>
          <p:nvPr/>
        </p:nvSpPr>
        <p:spPr bwMode="white">
          <a:xfrm>
            <a:off x="10215627" y="4357505"/>
            <a:ext cx="1090363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Sign-in frequency</a:t>
            </a:r>
          </a:p>
        </p:txBody>
      </p:sp>
      <p:sp>
        <p:nvSpPr>
          <p:cNvPr id="98" name="TextBox 97"/>
          <p:cNvSpPr txBox="1">
            <a:spLocks noChangeArrowheads="1"/>
          </p:cNvSpPr>
          <p:nvPr/>
        </p:nvSpPr>
        <p:spPr bwMode="white">
          <a:xfrm>
            <a:off x="10225446" y="4793305"/>
            <a:ext cx="156966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Persistent browser session</a:t>
            </a:r>
          </a:p>
        </p:txBody>
      </p:sp>
      <p:sp>
        <p:nvSpPr>
          <p:cNvPr id="100" name="TextBox 99"/>
          <p:cNvSpPr txBox="1">
            <a:spLocks noChangeArrowheads="1"/>
          </p:cNvSpPr>
          <p:nvPr/>
        </p:nvSpPr>
        <p:spPr bwMode="white">
          <a:xfrm>
            <a:off x="10229552" y="5232376"/>
            <a:ext cx="1717137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Continuous access evaluation</a:t>
            </a:r>
          </a:p>
        </p:txBody>
      </p:sp>
      <p:sp>
        <p:nvSpPr>
          <p:cNvPr id="101" name="TextBox 100"/>
          <p:cNvSpPr txBox="1">
            <a:spLocks noChangeArrowheads="1"/>
          </p:cNvSpPr>
          <p:nvPr/>
        </p:nvSpPr>
        <p:spPr bwMode="white">
          <a:xfrm>
            <a:off x="10259108" y="5658625"/>
            <a:ext cx="153599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Disable resilience defaults</a:t>
            </a:r>
          </a:p>
        </p:txBody>
      </p:sp>
      <p:pic>
        <p:nvPicPr>
          <p:cNvPr id="103" name="Graphic 102"/>
          <p:cNvPicPr>
            <a:picLocks noChangeAspect="1"/>
          </p:cNvPicPr>
          <p:nvPr/>
        </p:nvPicPr>
        <p:blipFill>
          <a:blip r:embed="rId43">
            <a:lum/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rcRect/>
          <a:stretch>
            <a:fillRect/>
          </a:stretch>
        </p:blipFill>
        <p:spPr bwMode="white">
          <a:xfrm>
            <a:off x="9996846" y="479900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5" name="Graphic 104"/>
          <p:cNvPicPr>
            <a:picLocks noChangeAspect="1"/>
          </p:cNvPicPr>
          <p:nvPr/>
        </p:nvPicPr>
        <p:blipFill>
          <a:blip r:embed="rId45">
            <a:lum/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rcRect/>
          <a:stretch>
            <a:fillRect/>
          </a:stretch>
        </p:blipFill>
        <p:spPr bwMode="white">
          <a:xfrm>
            <a:off x="9996846" y="437457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7" name="Graphic 106"/>
          <p:cNvPicPr>
            <a:picLocks noChangeAspect="1"/>
          </p:cNvPicPr>
          <p:nvPr/>
        </p:nvPicPr>
        <p:blipFill>
          <a:blip r:embed="rId7">
            <a:lum/>
            <a:extLst>
              <a:ext uri="{96DAC541-7B7A-43D3-8B79-37D633B846F1}">
                <asvg:svgBlip xmlns:asvg="http://schemas.microsoft.com/office/drawing/2016/SVG/main" r:embed="rId47"/>
              </a:ext>
            </a:extLst>
          </a:blip>
          <a:srcRect/>
          <a:stretch>
            <a:fillRect/>
          </a:stretch>
        </p:blipFill>
        <p:spPr bwMode="white">
          <a:xfrm>
            <a:off x="9996846" y="391529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15" name="SessionSifInterval"/>
          <p:cNvSpPr txBox="1">
            <a:spLocks noChangeArrowheads="1"/>
          </p:cNvSpPr>
          <p:nvPr/>
        </p:nvSpPr>
        <p:spPr bwMode="white">
          <a:xfrm>
            <a:off x="10296745" y="4516775"/>
            <a:ext cx="1249060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Periodic reauthentication</a:t>
            </a:r>
          </a:p>
        </p:txBody>
      </p:sp>
      <p:sp>
        <p:nvSpPr>
          <p:cNvPr id="114" name="SessionCasType"/>
          <p:cNvSpPr txBox="1">
            <a:spLocks noChangeArrowheads="1"/>
          </p:cNvSpPr>
          <p:nvPr/>
        </p:nvSpPr>
        <p:spPr bwMode="white">
          <a:xfrm>
            <a:off x="10296745" y="4075500"/>
            <a:ext cx="95410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App Control Policy</a:t>
            </a:r>
          </a:p>
        </p:txBody>
      </p:sp>
      <p:sp>
        <p:nvSpPr>
          <p:cNvPr id="116" name="SessionPersistenBrowserMode"/>
          <p:cNvSpPr txBox="1">
            <a:spLocks noChangeArrowheads="1"/>
          </p:cNvSpPr>
          <p:nvPr/>
        </p:nvSpPr>
        <p:spPr bwMode="white">
          <a:xfrm>
            <a:off x="10309761" y="4945281"/>
            <a:ext cx="918841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Always persistent</a:t>
            </a:r>
          </a:p>
        </p:txBody>
      </p:sp>
      <p:sp>
        <p:nvSpPr>
          <p:cNvPr id="118" name="SessionCaeMode"/>
          <p:cNvSpPr txBox="1">
            <a:spLocks noChangeArrowheads="1"/>
          </p:cNvSpPr>
          <p:nvPr/>
        </p:nvSpPr>
        <p:spPr bwMode="white">
          <a:xfrm>
            <a:off x="10301386" y="5393378"/>
            <a:ext cx="15359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US" sz="800" dirty="0"/>
              <a:t>Strictly enforce location policies</a:t>
            </a:r>
          </a:p>
        </p:txBody>
      </p:sp>
      <p:sp>
        <p:nvSpPr>
          <p:cNvPr id="119" name="ShadeSessionAppEnforced"/>
          <p:cNvSpPr>
            <a:spLocks/>
          </p:cNvSpPr>
          <p:nvPr/>
        </p:nvSpPr>
        <p:spPr bwMode="white">
          <a:xfrm>
            <a:off x="9959680" y="3548808"/>
            <a:ext cx="2051597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0" name="ShadeSessionCas"/>
          <p:cNvSpPr>
            <a:spLocks/>
          </p:cNvSpPr>
          <p:nvPr/>
        </p:nvSpPr>
        <p:spPr bwMode="white">
          <a:xfrm>
            <a:off x="9978939" y="3884212"/>
            <a:ext cx="2087576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1" name="ShadeSessionSif"/>
          <p:cNvSpPr>
            <a:spLocks/>
          </p:cNvSpPr>
          <p:nvPr/>
        </p:nvSpPr>
        <p:spPr bwMode="white">
          <a:xfrm>
            <a:off x="9940787" y="4320077"/>
            <a:ext cx="2125728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2" name="ShadeSessionPersistentBrowser"/>
          <p:cNvSpPr>
            <a:spLocks/>
          </p:cNvSpPr>
          <p:nvPr/>
        </p:nvSpPr>
        <p:spPr bwMode="white">
          <a:xfrm>
            <a:off x="9938833" y="4746195"/>
            <a:ext cx="207244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" name="Label Secure Sign In Session"/>
          <p:cNvSpPr txBox="1">
            <a:spLocks noChangeArrowheads="1"/>
          </p:cNvSpPr>
          <p:nvPr/>
        </p:nvSpPr>
        <p:spPr bwMode="white">
          <a:xfrm>
            <a:off x="10260000" y="6084874"/>
            <a:ext cx="166584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Token protection for session</a:t>
            </a:r>
          </a:p>
        </p:txBody>
      </p:sp>
      <p:pic>
        <p:nvPicPr>
          <p:cNvPr id="77" name="IconSessionCaeDisable" descr="Close with solid fill"/>
          <p:cNvPicPr>
            <a:picLocks noChangeAspect="1"/>
          </p:cNvPicPr>
          <p:nvPr/>
        </p:nvPicPr>
        <p:blipFill>
          <a:blip r:embed="rId48">
            <a:lum/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rcRect/>
          <a:stretch>
            <a:fillRect/>
          </a:stretch>
        </p:blipFill>
        <p:spPr bwMode="white">
          <a:xfrm>
            <a:off x="9979885" y="5218651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2" name="IconSessionSecureSignInSession 1"/>
          <p:cNvPicPr>
            <a:picLocks noChangeAspect="1"/>
          </p:cNvPicPr>
          <p:nvPr/>
        </p:nvPicPr>
        <p:blipFill>
          <a:blip r:embed="rId50">
            <a:lum/>
            <a:extLst>
              <a:ext uri="{96DAC541-7B7A-43D3-8B79-37D633B846F1}">
                <asvg:svgBlip xmlns:asvg="http://schemas.microsoft.com/office/drawing/2016/SVG/main" r:embed="rId51"/>
              </a:ext>
            </a:extLst>
          </a:blip>
          <a:srcRect/>
          <a:stretch>
            <a:fillRect/>
          </a:stretch>
        </p:blipFill>
        <p:spPr bwMode="white">
          <a:xfrm>
            <a:off x="9997200" y="6085768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3" name="ShadeSessionCae"/>
          <p:cNvSpPr>
            <a:spLocks/>
          </p:cNvSpPr>
          <p:nvPr/>
        </p:nvSpPr>
        <p:spPr bwMode="white">
          <a:xfrm>
            <a:off x="9987595" y="5219780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76" name="ShadeSessionSecureSignIn"/>
          <p:cNvSpPr>
            <a:spLocks/>
          </p:cNvSpPr>
          <p:nvPr/>
        </p:nvSpPr>
        <p:spPr bwMode="white">
          <a:xfrm>
            <a:off x="9996846" y="5986498"/>
            <a:ext cx="2014431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pic>
        <p:nvPicPr>
          <p:cNvPr id="102" name="Graphic 101"/>
          <p:cNvPicPr>
            <a:picLocks noChangeAspect="1"/>
          </p:cNvPicPr>
          <p:nvPr/>
        </p:nvPicPr>
        <p:blipFill>
          <a:blip r:embed="rId52">
            <a:lum/>
            <a:extLst>
              <a:ext uri="{96DAC541-7B7A-43D3-8B79-37D633B846F1}">
                <asvg:svgBlip xmlns:asvg="http://schemas.microsoft.com/office/drawing/2016/SVG/main" r:embed="rId53"/>
              </a:ext>
            </a:extLst>
          </a:blip>
          <a:srcRect/>
          <a:stretch>
            <a:fillRect/>
          </a:stretch>
        </p:blipFill>
        <p:spPr bwMode="white">
          <a:xfrm>
            <a:off x="9997200" y="5663777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80" name="Graphic 79" descr="Close with solid fill"/>
          <p:cNvPicPr>
            <a:picLocks noChangeAspect="1"/>
          </p:cNvPicPr>
          <p:nvPr/>
        </p:nvPicPr>
        <p:blipFill>
          <a:blip r:embed="rId48">
            <a:lum/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rcRect/>
          <a:stretch>
            <a:fillRect/>
          </a:stretch>
        </p:blipFill>
        <p:spPr bwMode="white">
          <a:xfrm>
            <a:off x="9963899" y="5637424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4" name="ShadeSessionDisableResilience"/>
          <p:cNvSpPr>
            <a:spLocks/>
          </p:cNvSpPr>
          <p:nvPr/>
        </p:nvSpPr>
        <p:spPr bwMode="white">
          <a:xfrm>
            <a:off x="9959681" y="5602709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2" name="PolicyName">
            <a:hlinkClick r:id="" action="ppaction://hlinkfile"/>
          </p:cNvPr>
          <p:cNvSpPr>
            <a:spLocks noGrp="1"/>
          </p:cNvSpPr>
          <p:nvPr>
            <p:ph type="title"/>
          </p:nvPr>
        </p:nvSpPr>
        <p:spPr bwMode="white">
          <a:xfrm>
            <a:off x="838200" y="115511"/>
            <a:ext cx="10003967" cy="609565"/>
          </a:xfrm>
          <a:ln>
            <a:headEnd type="none"/>
            <a:tailEnd type="none"/>
          </a:ln>
        </p:spPr>
        <p:txBody>
          <a:bodyPr wrap="square">
            <a:noAutofit/>
          </a:bodyPr>
          <a:lstStyle/>
          <a:p>
            <a:pPr defTabSz="914400"/>
            <a:r>
              <a:rPr lang="en-US" sz="2000" b="1" dirty="0"/>
              <a:t>[All Apps] [All Users] {Trusted Device} Device Signal - Test</a:t>
            </a:r>
          </a:p>
        </p:txBody>
      </p:sp>
      <p:sp>
        <p:nvSpPr>
          <p:cNvPr id="16" name="LastModified"/>
          <p:cNvSpPr txBox="1">
            <a:spLocks noChangeArrowheads="1"/>
          </p:cNvSpPr>
          <p:nvPr/>
        </p:nvSpPr>
        <p:spPr bwMode="white">
          <a:xfrm>
            <a:off x="10556111" y="388376"/>
            <a:ext cx="15483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algn="r" defTabSz="457200"/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Last modified: 2025-05-23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UserWorkload"/>
          <p:cNvSpPr>
            <a:spLocks/>
          </p:cNvSpPr>
          <p:nvPr/>
        </p:nvSpPr>
        <p:spPr bwMode="auto">
          <a:xfrm>
            <a:off x="175820" y="2709769"/>
            <a:ext cx="2202823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Users</a:t>
            </a:r>
          </a:p>
        </p:txBody>
      </p:sp>
      <p:sp>
        <p:nvSpPr>
          <p:cNvPr id="7" name="UserWorkloadIncExc"/>
          <p:cNvSpPr txBox="1">
            <a:spLocks noChangeArrowheads="1"/>
          </p:cNvSpPr>
          <p:nvPr/>
        </p:nvSpPr>
        <p:spPr bwMode="white">
          <a:xfrm>
            <a:off x="125485" y="3698952"/>
            <a:ext cx="3062115" cy="313265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 numCol="1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b="1" dirty="0"/>
            </a:pPr>
            <a:r>
              <a:t> Users</a:t>
            </a:r>
          </a:p>
          <a:p>
            <a:pPr defTabSz="457200">
              <a:defRPr sz="1100" dirty="0"/>
            </a:pPr>
            <a:r>
              <a:t> - svO365.BT_Host</a:t>
            </a:r>
          </a:p>
          <a:p>
            <a:pPr defTabSz="457200">
              <a:defRPr sz="1100" dirty="0"/>
            </a:pPr>
            <a:r>
              <a:t> - svO365.BT_Host_STG</a:t>
            </a:r>
          </a:p>
          <a:p>
            <a:pPr defTabSz="457200">
              <a:defRPr sz="1100" dirty="0"/>
            </a:pPr>
            <a:r>
              <a:t> - svO365.BT_Host_TST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19" name="Risks"/>
          <p:cNvSpPr txBox="1">
            <a:spLocks noChangeArrowheads="1"/>
          </p:cNvSpPr>
          <p:nvPr/>
        </p:nvSpPr>
        <p:spPr bwMode="white">
          <a:xfrm>
            <a:off x="524485" y="1021946"/>
            <a:ext cx="1348869" cy="166886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0" name="Platforms"/>
          <p:cNvSpPr txBox="1">
            <a:spLocks noChangeArrowheads="1"/>
          </p:cNvSpPr>
          <p:nvPr/>
        </p:nvSpPr>
        <p:spPr bwMode="white">
          <a:xfrm>
            <a:off x="1826931" y="1021947"/>
            <a:ext cx="2061056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3" name="Locations"/>
          <p:cNvSpPr txBox="1">
            <a:spLocks noChangeArrowheads="1"/>
          </p:cNvSpPr>
          <p:nvPr/>
        </p:nvSpPr>
        <p:spPr bwMode="white">
          <a:xfrm>
            <a:off x="8324941" y="1021947"/>
            <a:ext cx="3513702" cy="159258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4" name="ClientAppTypes"/>
          <p:cNvSpPr txBox="1">
            <a:spLocks noChangeArrowheads="1"/>
          </p:cNvSpPr>
          <p:nvPr/>
        </p:nvSpPr>
        <p:spPr bwMode="white">
          <a:xfrm>
            <a:off x="3810664" y="1021947"/>
            <a:ext cx="1581599" cy="165343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5" name="DeviceFilters"/>
          <p:cNvSpPr txBox="1">
            <a:spLocks noChangeArrowheads="1"/>
          </p:cNvSpPr>
          <p:nvPr/>
        </p:nvSpPr>
        <p:spPr bwMode="white">
          <a:xfrm>
            <a:off x="5818151" y="1022762"/>
            <a:ext cx="2248808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cxnSp>
        <p:nvCxnSpPr>
          <p:cNvPr id="27" name="Straight Arrow Connector 26" descr="Arrow drawn from user/workload  to the action being performed by the user such as accessing cloud apps."/>
          <p:cNvCxnSpPr/>
          <p:nvPr/>
        </p:nvCxnSpPr>
        <p:spPr bwMode="white">
          <a:xfrm>
            <a:off x="2195232" y="3159047"/>
            <a:ext cx="3959471" cy="1"/>
          </a:xfrm>
          <a:prstGeom prst="straightConnector1">
            <a:avLst/>
          </a:prstGeom>
          <a:ln w="76200"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30" name="IconBlockAccess" descr="Picture with red color stop sign to indicate blocked access"/>
          <p:cNvPicPr>
            <a:picLocks noChangeAspect="1"/>
          </p:cNvPicPr>
          <p:nvPr/>
        </p:nvPicPr>
        <p:blipFill>
          <a:blip r:embed="rId3">
            <a:lum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 bwMode="white">
          <a:xfrm>
            <a:off x="5306633" y="2735805"/>
            <a:ext cx="356616" cy="35661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34" name="GrantLabelBlockAccess"/>
          <p:cNvSpPr txBox="1">
            <a:spLocks noChangeArrowheads="1"/>
          </p:cNvSpPr>
          <p:nvPr/>
        </p:nvSpPr>
        <p:spPr bwMode="white">
          <a:xfrm>
            <a:off x="3936931" y="2734375"/>
            <a:ext cx="1358065" cy="369332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algn="ctr" defTabSz="457200"/>
            <a:r>
              <a:rPr lang="en-US" b="1" dirty="0">
                <a:solidFill>
                  <a:srgbClr val="FF0000"/>
                </a:solidFill>
              </a:rPr>
              <a:t>Block access</a:t>
            </a:r>
          </a:p>
        </p:txBody>
      </p:sp>
      <p:sp>
        <p:nvSpPr>
          <p:cNvPr id="3" name="CloudAppActionIncExc"/>
          <p:cNvSpPr txBox="1">
            <a:spLocks noChangeArrowheads="1"/>
          </p:cNvSpPr>
          <p:nvPr/>
        </p:nvSpPr>
        <p:spPr bwMode="white">
          <a:xfrm>
            <a:off x="6039518" y="3662782"/>
            <a:ext cx="3649518" cy="315161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r>
              <a:t>🚫 Exclude:</a:t>
            </a:r>
          </a:p>
          <a:p>
            <a:pPr defTabSz="457200">
              <a:defRPr sz="1100" dirty="0"/>
            </a:pPr>
            <a:r>
              <a:t> - Office 365 Exchange Online</a:t>
            </a:r>
          </a:p>
          <a:p>
            <a:pPr defTabSz="457200">
              <a:defRPr sz="1100" b="1" dirty="0"/>
            </a:pPr>
            <a:endParaRPr/>
          </a:p>
        </p:txBody>
      </p:sp>
      <p:pic>
        <p:nvPicPr>
          <p:cNvPr id="26" name="IconGroupIdentity"/>
          <p:cNvPicPr>
            <a:picLocks noChangeAspect="1"/>
          </p:cNvPicPr>
          <p:nvPr/>
        </p:nvPicPr>
        <p:blipFill>
          <a:blip r:embed="rId5">
            <a:lum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 bwMode="white">
          <a:xfrm>
            <a:off x="327701" y="2839007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36" name="Graphic 35"/>
          <p:cNvPicPr>
            <a:picLocks noChangeAspect="1"/>
          </p:cNvPicPr>
          <p:nvPr/>
        </p:nvPicPr>
        <p:blipFill>
          <a:blip r:embed="rId7">
            <a:lum/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p:blipFill>
        <p:spPr bwMode="white">
          <a:xfrm>
            <a:off x="495610" y="197468"/>
            <a:ext cx="381196" cy="38119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" name="CloudAppAction"/>
          <p:cNvSpPr>
            <a:spLocks/>
          </p:cNvSpPr>
          <p:nvPr/>
        </p:nvSpPr>
        <p:spPr bwMode="auto">
          <a:xfrm>
            <a:off x="6206089" y="2718506"/>
            <a:ext cx="3227026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All cloud apps</a:t>
            </a:r>
          </a:p>
        </p:txBody>
      </p:sp>
      <p:pic>
        <p:nvPicPr>
          <p:cNvPr id="75" name="IconAccessAllCloudApps"/>
          <p:cNvPicPr>
            <a:picLocks noChangeAspect="1"/>
          </p:cNvPicPr>
          <p:nvPr/>
        </p:nvPicPr>
        <p:blipFill>
          <a:blip r:embed="rId9">
            <a:lum/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p:blipFill>
        <p:spPr bwMode="white">
          <a:xfrm>
            <a:off x="6439264" y="2836824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8" name="StateReportOnly"/>
          <p:cNvSpPr>
            <a:spLocks/>
          </p:cNvSpPr>
          <p:nvPr/>
        </p:nvSpPr>
        <p:spPr bwMode="white">
          <a:xfrm>
            <a:off x="10842169" y="103586"/>
            <a:ext cx="1260389" cy="264812"/>
          </a:xfrm>
          <a:prstGeom prst="roundRect">
            <a:avLst/>
          </a:prstGeom>
          <a:ln>
            <a:headEnd type="none"/>
            <a:tailEnd type="none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r>
              <a:rPr lang="en-US" sz="800" dirty="0"/>
              <a:t>Policy Report-only</a:t>
            </a:r>
          </a:p>
        </p:txBody>
      </p:sp>
      <p:grpSp>
        <p:nvGrpSpPr>
          <p:cNvPr id="10" name="IconRiskyUsers"/>
          <p:cNvGrpSpPr>
            <a:grpSpLocks/>
          </p:cNvGrpSpPr>
          <p:nvPr/>
        </p:nvGrpSpPr>
        <p:grpSpPr bwMode="white">
          <a:xfrm>
            <a:off x="635426" y="738677"/>
            <a:ext cx="1202553" cy="274320"/>
            <a:chOff x="2013768" y="1033956"/>
            <a:chExt cx="1342320" cy="274320"/>
          </a:xfrm>
        </p:grpSpPr>
        <p:pic>
          <p:nvPicPr>
            <p:cNvPr id="46" name="Graphic 1"/>
            <p:cNvPicPr>
              <a:picLocks noChangeAspect="1"/>
            </p:cNvPicPr>
            <p:nvPr/>
          </p:nvPicPr>
          <p:blipFill>
            <a:blip r:embed="rId11">
              <a:lum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013768" y="1033956"/>
              <a:ext cx="274320" cy="27432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5" name="Label 1"/>
            <p:cNvSpPr txBox="1">
              <a:spLocks noChangeArrowheads="1"/>
            </p:cNvSpPr>
            <p:nvPr/>
          </p:nvSpPr>
          <p:spPr bwMode="white">
            <a:xfrm>
              <a:off x="2240077" y="1040706"/>
              <a:ext cx="1116011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Risk</a:t>
              </a:r>
            </a:p>
          </p:txBody>
        </p:sp>
      </p:grpSp>
      <p:grpSp>
        <p:nvGrpSpPr>
          <p:cNvPr id="14" name="IconPlatforms"/>
          <p:cNvGrpSpPr>
            <a:grpSpLocks/>
          </p:cNvGrpSpPr>
          <p:nvPr/>
        </p:nvGrpSpPr>
        <p:grpSpPr bwMode="white">
          <a:xfrm>
            <a:off x="1927788" y="715249"/>
            <a:ext cx="1719285" cy="365760"/>
            <a:chOff x="3262737" y="994835"/>
            <a:chExt cx="1719285" cy="365760"/>
          </a:xfrm>
        </p:grpSpPr>
        <p:pic>
          <p:nvPicPr>
            <p:cNvPr id="29" name="Graphic 1"/>
            <p:cNvPicPr>
              <a:picLocks noChangeAspect="1"/>
            </p:cNvPicPr>
            <p:nvPr/>
          </p:nvPicPr>
          <p:blipFill>
            <a:blip r:embed="rId13">
              <a:lum/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3262737" y="994835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1" name="Label 1"/>
            <p:cNvSpPr txBox="1">
              <a:spLocks noChangeArrowheads="1"/>
            </p:cNvSpPr>
            <p:nvPr/>
          </p:nvSpPr>
          <p:spPr bwMode="white">
            <a:xfrm>
              <a:off x="3582397" y="1027255"/>
              <a:ext cx="1399625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Device platforms</a:t>
              </a:r>
            </a:p>
          </p:txBody>
        </p:sp>
      </p:grpSp>
      <p:grpSp>
        <p:nvGrpSpPr>
          <p:cNvPr id="17" name="IconClientAppTypes"/>
          <p:cNvGrpSpPr>
            <a:grpSpLocks/>
          </p:cNvGrpSpPr>
          <p:nvPr/>
        </p:nvGrpSpPr>
        <p:grpSpPr bwMode="white">
          <a:xfrm>
            <a:off x="3908159" y="670015"/>
            <a:ext cx="1852971" cy="365760"/>
            <a:chOff x="4858970" y="975927"/>
            <a:chExt cx="1852971" cy="365760"/>
          </a:xfrm>
        </p:grpSpPr>
        <p:pic>
          <p:nvPicPr>
            <p:cNvPr id="58" name="Graphic 1"/>
            <p:cNvPicPr>
              <a:picLocks noChangeAspect="1"/>
            </p:cNvPicPr>
            <p:nvPr/>
          </p:nvPicPr>
          <p:blipFill>
            <a:blip r:embed="rId15">
              <a:lum/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858970" y="975927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5" name="Label 1"/>
            <p:cNvSpPr txBox="1">
              <a:spLocks noChangeArrowheads="1"/>
            </p:cNvSpPr>
            <p:nvPr/>
          </p:nvSpPr>
          <p:spPr bwMode="white">
            <a:xfrm>
              <a:off x="5193983" y="1009899"/>
              <a:ext cx="1517958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Client apps</a:t>
              </a:r>
            </a:p>
          </p:txBody>
        </p:sp>
      </p:grpSp>
      <p:grpSp>
        <p:nvGrpSpPr>
          <p:cNvPr id="37" name="IconLocations"/>
          <p:cNvGrpSpPr>
            <a:grpSpLocks/>
          </p:cNvGrpSpPr>
          <p:nvPr/>
        </p:nvGrpSpPr>
        <p:grpSpPr bwMode="white">
          <a:xfrm>
            <a:off x="8411896" y="646848"/>
            <a:ext cx="1850168" cy="388465"/>
            <a:chOff x="2321433" y="3262888"/>
            <a:chExt cx="1850168" cy="388465"/>
          </a:xfrm>
        </p:grpSpPr>
        <p:pic>
          <p:nvPicPr>
            <p:cNvPr id="33" name="Graphic 1"/>
            <p:cNvPicPr>
              <a:picLocks noChangeAspect="1"/>
            </p:cNvPicPr>
            <p:nvPr/>
          </p:nvPicPr>
          <p:blipFill>
            <a:blip r:embed="rId17">
              <a:lum/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321433" y="3262888"/>
              <a:ext cx="388465" cy="388465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28" name="Label 1"/>
            <p:cNvSpPr txBox="1">
              <a:spLocks noChangeArrowheads="1"/>
            </p:cNvSpPr>
            <p:nvPr/>
          </p:nvSpPr>
          <p:spPr bwMode="white">
            <a:xfrm>
              <a:off x="2713321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Locations</a:t>
              </a:r>
              <a:endParaRPr lang="en-US" sz="1100" b="1" dirty="0"/>
            </a:p>
          </p:txBody>
        </p:sp>
      </p:grpSp>
      <p:grpSp>
        <p:nvGrpSpPr>
          <p:cNvPr id="39" name="IconDeviceFilters"/>
          <p:cNvGrpSpPr>
            <a:grpSpLocks/>
          </p:cNvGrpSpPr>
          <p:nvPr/>
        </p:nvGrpSpPr>
        <p:grpSpPr bwMode="white">
          <a:xfrm>
            <a:off x="5472818" y="661958"/>
            <a:ext cx="1839823" cy="364111"/>
            <a:chOff x="4195414" y="3273669"/>
            <a:chExt cx="1839823" cy="364111"/>
          </a:xfrm>
        </p:grpSpPr>
        <p:pic>
          <p:nvPicPr>
            <p:cNvPr id="60" name="Graphic 1"/>
            <p:cNvPicPr>
              <a:picLocks noChangeAspect="1"/>
            </p:cNvPicPr>
            <p:nvPr/>
          </p:nvPicPr>
          <p:blipFill>
            <a:blip r:embed="rId19">
              <a:lum/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195414" y="3273669"/>
              <a:ext cx="364111" cy="364111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31" name="Label 1"/>
            <p:cNvSpPr txBox="1">
              <a:spLocks noChangeArrowheads="1"/>
            </p:cNvSpPr>
            <p:nvPr/>
          </p:nvSpPr>
          <p:spPr bwMode="white">
            <a:xfrm>
              <a:off x="4576957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Filter for devices</a:t>
              </a:r>
              <a:endParaRPr lang="en-US" sz="1100" b="1" dirty="0"/>
            </a:p>
          </p:txBody>
        </p:sp>
      </p:grpSp>
      <p:pic>
        <p:nvPicPr>
          <p:cNvPr id="62" name="IconGrantMultifactorAuthentication"/>
          <p:cNvPicPr>
            <a:picLocks noChangeAspect="1"/>
          </p:cNvPicPr>
          <p:nvPr/>
        </p:nvPicPr>
        <p:blipFill>
          <a:blip r:embed="rId21">
            <a:lum/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>
            <a:fillRect/>
          </a:stretch>
        </p:blipFill>
        <p:spPr bwMode="white">
          <a:xfrm>
            <a:off x="3410647" y="3566863"/>
            <a:ext cx="17145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5" name="IconGrantMultifactorAuthenticationLabel"/>
          <p:cNvSpPr txBox="1">
            <a:spLocks noChangeArrowheads="1"/>
          </p:cNvSpPr>
          <p:nvPr/>
        </p:nvSpPr>
        <p:spPr bwMode="white">
          <a:xfrm>
            <a:off x="3575836" y="3571997"/>
            <a:ext cx="19007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Multifactor authentication</a:t>
            </a:r>
            <a:endParaRPr lang="en-US" sz="1000" dirty="0"/>
          </a:p>
        </p:txBody>
      </p:sp>
      <p:pic>
        <p:nvPicPr>
          <p:cNvPr id="38" name="IconGrantAuthenticationStrength"/>
          <p:cNvPicPr>
            <a:picLocks noChangeAspect="1"/>
          </p:cNvPicPr>
          <p:nvPr/>
        </p:nvPicPr>
        <p:blipFill>
          <a:blip r:embed="rId23">
            <a:lum/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/>
          <a:stretch>
            <a:fillRect/>
          </a:stretch>
        </p:blipFill>
        <p:spPr bwMode="white">
          <a:xfrm>
            <a:off x="3374515" y="3905034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7" name="IconGrantAuthenticationStrengthLabel"/>
          <p:cNvSpPr txBox="1">
            <a:spLocks noChangeArrowheads="1"/>
          </p:cNvSpPr>
          <p:nvPr/>
        </p:nvSpPr>
        <p:spPr bwMode="white">
          <a:xfrm>
            <a:off x="3575836" y="3907323"/>
            <a:ext cx="2185294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Authentication strength</a:t>
            </a:r>
            <a:endParaRPr lang="en-US" sz="1000" dirty="0"/>
          </a:p>
        </p:txBody>
      </p:sp>
      <p:pic>
        <p:nvPicPr>
          <p:cNvPr id="52" name="IconGrantDeviceCompliance"/>
          <p:cNvPicPr>
            <a:picLocks noChangeAspect="1"/>
          </p:cNvPicPr>
          <p:nvPr/>
        </p:nvPicPr>
        <p:blipFill>
          <a:blip r:embed="rId25">
            <a:lum/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/>
          <a:stretch>
            <a:fillRect/>
          </a:stretch>
        </p:blipFill>
        <p:spPr bwMode="white">
          <a:xfrm>
            <a:off x="3374515" y="4243205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9" name="IconGrantDeviceComplianceLabel"/>
          <p:cNvSpPr txBox="1">
            <a:spLocks noChangeArrowheads="1"/>
          </p:cNvSpPr>
          <p:nvPr/>
        </p:nvSpPr>
        <p:spPr bwMode="white">
          <a:xfrm>
            <a:off x="3575836" y="4242649"/>
            <a:ext cx="17378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Compliant device</a:t>
            </a:r>
            <a:endParaRPr lang="en-US" sz="1000" dirty="0"/>
          </a:p>
        </p:txBody>
      </p:sp>
      <p:pic>
        <p:nvPicPr>
          <p:cNvPr id="43" name="IconGrantHybridJoined"/>
          <p:cNvPicPr>
            <a:picLocks noChangeAspect="1"/>
          </p:cNvPicPr>
          <p:nvPr/>
        </p:nvPicPr>
        <p:blipFill>
          <a:blip r:embed="rId27">
            <a:lum/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/>
          <a:stretch>
            <a:fillRect/>
          </a:stretch>
        </p:blipFill>
        <p:spPr bwMode="white">
          <a:xfrm>
            <a:off x="3374515" y="4581376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3" name="IconGrantHybridJoinedLabel"/>
          <p:cNvSpPr txBox="1">
            <a:spLocks noChangeArrowheads="1"/>
          </p:cNvSpPr>
          <p:nvPr/>
        </p:nvSpPr>
        <p:spPr bwMode="white">
          <a:xfrm>
            <a:off x="3575836" y="4577975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Hybrid Azure AD joined device</a:t>
            </a:r>
            <a:endParaRPr lang="en-US" sz="1000" dirty="0"/>
          </a:p>
        </p:txBody>
      </p:sp>
      <p:pic>
        <p:nvPicPr>
          <p:cNvPr id="48" name="IconGrantApprovedClientApp"/>
          <p:cNvPicPr>
            <a:picLocks noChangeAspect="1"/>
          </p:cNvPicPr>
          <p:nvPr/>
        </p:nvPicPr>
        <p:blipFill>
          <a:blip r:embed="rId29">
            <a:lum/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rcRect/>
          <a:stretch>
            <a:fillRect/>
          </a:stretch>
        </p:blipFill>
        <p:spPr bwMode="white">
          <a:xfrm>
            <a:off x="3374515" y="491954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5" name="IconGrantApprovedClientAppLabel"/>
          <p:cNvSpPr txBox="1">
            <a:spLocks noChangeArrowheads="1"/>
          </p:cNvSpPr>
          <p:nvPr/>
        </p:nvSpPr>
        <p:spPr bwMode="white">
          <a:xfrm>
            <a:off x="3575836" y="4913301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Approved client app</a:t>
            </a:r>
            <a:endParaRPr lang="en-US" sz="1000" dirty="0"/>
          </a:p>
        </p:txBody>
      </p:sp>
      <p:pic>
        <p:nvPicPr>
          <p:cNvPr id="42" name="IconGrantCustomAuth"/>
          <p:cNvPicPr>
            <a:picLocks noChangeAspect="1"/>
          </p:cNvPicPr>
          <p:nvPr/>
        </p:nvPicPr>
        <p:blipFill>
          <a:blip r:embed="rId31">
            <a:lum/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rcRect/>
          <a:stretch>
            <a:fillRect/>
          </a:stretch>
        </p:blipFill>
        <p:spPr bwMode="white">
          <a:xfrm>
            <a:off x="3374515" y="593406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9" name="IconGrantCustomAuthLabel"/>
          <p:cNvSpPr txBox="1">
            <a:spLocks noChangeArrowheads="1"/>
          </p:cNvSpPr>
          <p:nvPr/>
        </p:nvSpPr>
        <p:spPr bwMode="white">
          <a:xfrm>
            <a:off x="3575836" y="5919279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Custom authentication factor</a:t>
            </a:r>
            <a:endParaRPr lang="en-US" sz="1000" dirty="0"/>
          </a:p>
        </p:txBody>
      </p:sp>
      <p:pic>
        <p:nvPicPr>
          <p:cNvPr id="40" name="IconGrantTermsOfUse"/>
          <p:cNvPicPr>
            <a:picLocks noChangeAspect="1"/>
          </p:cNvPicPr>
          <p:nvPr/>
        </p:nvPicPr>
        <p:blipFill>
          <a:blip r:embed="rId33">
            <a:lum/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rcRect/>
          <a:stretch>
            <a:fillRect/>
          </a:stretch>
        </p:blipFill>
        <p:spPr bwMode="white">
          <a:xfrm>
            <a:off x="3374515" y="627222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3" name="IconGrantTermsOfUseLabel"/>
          <p:cNvSpPr txBox="1">
            <a:spLocks noChangeArrowheads="1"/>
          </p:cNvSpPr>
          <p:nvPr/>
        </p:nvSpPr>
        <p:spPr bwMode="white">
          <a:xfrm>
            <a:off x="3575836" y="625460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Terms of use</a:t>
            </a:r>
            <a:endParaRPr lang="en-US" sz="1000" dirty="0"/>
          </a:p>
        </p:txBody>
      </p:sp>
      <p:sp>
        <p:nvSpPr>
          <p:cNvPr id="56" name="IconGrantAppProtectionLabel"/>
          <p:cNvSpPr txBox="1">
            <a:spLocks noChangeArrowheads="1"/>
          </p:cNvSpPr>
          <p:nvPr/>
        </p:nvSpPr>
        <p:spPr bwMode="white">
          <a:xfrm>
            <a:off x="3575836" y="524862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 protection policy</a:t>
            </a:r>
            <a:endParaRPr lang="en-US" sz="1000" dirty="0"/>
          </a:p>
        </p:txBody>
      </p:sp>
      <p:pic>
        <p:nvPicPr>
          <p:cNvPr id="65" name="IconGrantAppProtection"/>
          <p:cNvPicPr>
            <a:picLocks noChangeAspect="1"/>
          </p:cNvPicPr>
          <p:nvPr/>
        </p:nvPicPr>
        <p:blipFill>
          <a:blip r:embed="rId35">
            <a:lum/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rcRect/>
          <a:stretch>
            <a:fillRect/>
          </a:stretch>
        </p:blipFill>
        <p:spPr bwMode="white">
          <a:xfrm>
            <a:off x="3374515" y="525771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7" name="IconGrantChangePasswordLabel"/>
          <p:cNvSpPr txBox="1">
            <a:spLocks noChangeArrowheads="1"/>
          </p:cNvSpPr>
          <p:nvPr/>
        </p:nvSpPr>
        <p:spPr bwMode="white">
          <a:xfrm>
            <a:off x="3575836" y="5583953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Change password</a:t>
            </a:r>
            <a:endParaRPr lang="en-US" sz="1000" dirty="0"/>
          </a:p>
        </p:txBody>
      </p:sp>
      <p:pic>
        <p:nvPicPr>
          <p:cNvPr id="67" name="IconGrantChangePassword"/>
          <p:cNvPicPr>
            <a:picLocks noChangeAspect="1"/>
          </p:cNvPicPr>
          <p:nvPr/>
        </p:nvPicPr>
        <p:blipFill>
          <a:blip r:embed="rId37">
            <a:lum/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rcRect/>
          <a:stretch>
            <a:fillRect/>
          </a:stretch>
        </p:blipFill>
        <p:spPr bwMode="white">
          <a:xfrm>
            <a:off x="3374515" y="5595889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4" name="ShadeRisk"/>
          <p:cNvSpPr>
            <a:spLocks/>
          </p:cNvSpPr>
          <p:nvPr/>
        </p:nvSpPr>
        <p:spPr bwMode="white">
          <a:xfrm>
            <a:off x="507564" y="650246"/>
            <a:ext cx="976864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66" name="ShadeDevicePlatforms"/>
          <p:cNvSpPr>
            <a:spLocks/>
          </p:cNvSpPr>
          <p:nvPr/>
        </p:nvSpPr>
        <p:spPr bwMode="white">
          <a:xfrm>
            <a:off x="1863623" y="663409"/>
            <a:ext cx="1773927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78" name="ShadeClientApps"/>
          <p:cNvSpPr>
            <a:spLocks/>
          </p:cNvSpPr>
          <p:nvPr/>
        </p:nvSpPr>
        <p:spPr bwMode="white">
          <a:xfrm>
            <a:off x="3802273" y="650246"/>
            <a:ext cx="1481482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79" name="ShadeLocations"/>
          <p:cNvSpPr>
            <a:spLocks/>
          </p:cNvSpPr>
          <p:nvPr/>
        </p:nvSpPr>
        <p:spPr bwMode="white">
          <a:xfrm>
            <a:off x="8217572" y="669110"/>
            <a:ext cx="1873684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2" name="ShadeFilterForDevices"/>
          <p:cNvSpPr>
            <a:spLocks/>
          </p:cNvSpPr>
          <p:nvPr/>
        </p:nvSpPr>
        <p:spPr bwMode="white">
          <a:xfrm>
            <a:off x="5438955" y="627922"/>
            <a:ext cx="1873685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3" name="ShadeGrantMultifactorAuth"/>
          <p:cNvSpPr>
            <a:spLocks/>
          </p:cNvSpPr>
          <p:nvPr/>
        </p:nvSpPr>
        <p:spPr bwMode="white">
          <a:xfrm>
            <a:off x="3369399" y="3534220"/>
            <a:ext cx="2069555" cy="28330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4" name="ShadeGrantAuthStrength"/>
          <p:cNvSpPr>
            <a:spLocks/>
          </p:cNvSpPr>
          <p:nvPr/>
        </p:nvSpPr>
        <p:spPr bwMode="white">
          <a:xfrm>
            <a:off x="3350256" y="3869846"/>
            <a:ext cx="2069555" cy="27801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5" name="ShadeGrantCompliantDevice"/>
          <p:cNvSpPr>
            <a:spLocks/>
          </p:cNvSpPr>
          <p:nvPr/>
        </p:nvSpPr>
        <p:spPr bwMode="white">
          <a:xfrm>
            <a:off x="3361852" y="4243205"/>
            <a:ext cx="2077102" cy="26110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6" name="ShadeGrantHybridAzureADJoined"/>
          <p:cNvSpPr>
            <a:spLocks/>
          </p:cNvSpPr>
          <p:nvPr/>
        </p:nvSpPr>
        <p:spPr bwMode="white">
          <a:xfrm>
            <a:off x="3353637" y="4552268"/>
            <a:ext cx="2160906" cy="298395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7" name="ShadeGrantApprovedClientApp"/>
          <p:cNvSpPr>
            <a:spLocks/>
          </p:cNvSpPr>
          <p:nvPr/>
        </p:nvSpPr>
        <p:spPr bwMode="white">
          <a:xfrm>
            <a:off x="3331918" y="4876027"/>
            <a:ext cx="2182625" cy="29839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8" name="ShadeGrantAppProtectionPolicy"/>
          <p:cNvSpPr>
            <a:spLocks/>
          </p:cNvSpPr>
          <p:nvPr/>
        </p:nvSpPr>
        <p:spPr bwMode="white">
          <a:xfrm>
            <a:off x="3350256" y="5207226"/>
            <a:ext cx="2122561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9" name="ShadeGrantChangePassword"/>
          <p:cNvSpPr>
            <a:spLocks/>
          </p:cNvSpPr>
          <p:nvPr/>
        </p:nvSpPr>
        <p:spPr bwMode="white">
          <a:xfrm>
            <a:off x="3350257" y="5557021"/>
            <a:ext cx="2042006" cy="287239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0" name="ShadeGrantCustomAuthFactor"/>
          <p:cNvSpPr>
            <a:spLocks/>
          </p:cNvSpPr>
          <p:nvPr/>
        </p:nvSpPr>
        <p:spPr bwMode="white">
          <a:xfrm>
            <a:off x="3331918" y="5899058"/>
            <a:ext cx="2182625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1" name="ShadeGrantTermsOfUse"/>
          <p:cNvSpPr>
            <a:spLocks/>
          </p:cNvSpPr>
          <p:nvPr/>
        </p:nvSpPr>
        <p:spPr bwMode="white">
          <a:xfrm>
            <a:off x="3313823" y="6192350"/>
            <a:ext cx="101602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99" name="Rectangle 98"/>
          <p:cNvSpPr>
            <a:spLocks/>
          </p:cNvSpPr>
          <p:nvPr/>
        </p:nvSpPr>
        <p:spPr bwMode="white">
          <a:xfrm>
            <a:off x="3268757" y="3253404"/>
            <a:ext cx="2357725" cy="3498546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0" name="Rectangle 109"/>
          <p:cNvSpPr>
            <a:spLocks/>
          </p:cNvSpPr>
          <p:nvPr/>
        </p:nvSpPr>
        <p:spPr bwMode="white">
          <a:xfrm>
            <a:off x="9881750" y="3248255"/>
            <a:ext cx="2220808" cy="3510149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7" name="Rectangle 116"/>
          <p:cNvSpPr>
            <a:spLocks/>
          </p:cNvSpPr>
          <p:nvPr/>
        </p:nvSpPr>
        <p:spPr bwMode="white">
          <a:xfrm>
            <a:off x="26741" y="606825"/>
            <a:ext cx="11985015" cy="2063636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2" name="Conditions Label"/>
          <p:cNvSpPr txBox="1">
            <a:spLocks noChangeArrowheads="1"/>
          </p:cNvSpPr>
          <p:nvPr/>
        </p:nvSpPr>
        <p:spPr bwMode="white">
          <a:xfrm rot="16200000">
            <a:off x="-883507" y="1514324"/>
            <a:ext cx="2081441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Conditions</a:t>
            </a:r>
          </a:p>
        </p:txBody>
      </p:sp>
      <p:sp>
        <p:nvSpPr>
          <p:cNvPr id="109" name="Grant Controls"/>
          <p:cNvSpPr txBox="1">
            <a:spLocks noChangeArrowheads="1"/>
          </p:cNvSpPr>
          <p:nvPr/>
        </p:nvSpPr>
        <p:spPr bwMode="white">
          <a:xfrm>
            <a:off x="3252146" y="3244395"/>
            <a:ext cx="2391873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Grant Controls</a:t>
            </a:r>
          </a:p>
        </p:txBody>
      </p:sp>
      <p:sp>
        <p:nvSpPr>
          <p:cNvPr id="111" name="Session Controls"/>
          <p:cNvSpPr txBox="1">
            <a:spLocks noChangeArrowheads="1"/>
          </p:cNvSpPr>
          <p:nvPr/>
        </p:nvSpPr>
        <p:spPr bwMode="white">
          <a:xfrm>
            <a:off x="9864212" y="3243751"/>
            <a:ext cx="2238346" cy="23786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Session Controls</a:t>
            </a:r>
          </a:p>
        </p:txBody>
      </p:sp>
      <p:pic>
        <p:nvPicPr>
          <p:cNvPr id="72" name="Graphic 71"/>
          <p:cNvPicPr>
            <a:picLocks noChangeAspect="1"/>
          </p:cNvPicPr>
          <p:nvPr/>
        </p:nvPicPr>
        <p:blipFill>
          <a:blip r:embed="rId39">
            <a:lum/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rcRect/>
          <a:stretch>
            <a:fillRect/>
          </a:stretch>
        </p:blipFill>
        <p:spPr bwMode="white">
          <a:xfrm>
            <a:off x="9996846" y="356982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4" name="Graphic 93"/>
          <p:cNvPicPr>
            <a:picLocks noChangeAspect="1"/>
          </p:cNvPicPr>
          <p:nvPr/>
        </p:nvPicPr>
        <p:blipFill>
          <a:blip r:embed="rId41">
            <a:lum/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rcRect/>
          <a:stretch>
            <a:fillRect/>
          </a:stretch>
        </p:blipFill>
        <p:spPr bwMode="white">
          <a:xfrm>
            <a:off x="10009443" y="525644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5" name="TextBox 94"/>
          <p:cNvSpPr txBox="1">
            <a:spLocks noChangeArrowheads="1"/>
          </p:cNvSpPr>
          <p:nvPr/>
        </p:nvSpPr>
        <p:spPr bwMode="white">
          <a:xfrm>
            <a:off x="10207481" y="3578463"/>
            <a:ext cx="150554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App enforced restrictions</a:t>
            </a:r>
          </a:p>
        </p:txBody>
      </p:sp>
      <p:sp>
        <p:nvSpPr>
          <p:cNvPr id="96" name="TextBox 95"/>
          <p:cNvSpPr txBox="1">
            <a:spLocks noChangeArrowheads="1"/>
          </p:cNvSpPr>
          <p:nvPr/>
        </p:nvSpPr>
        <p:spPr bwMode="white">
          <a:xfrm>
            <a:off x="10201167" y="3899846"/>
            <a:ext cx="181011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Conditional Access App Control</a:t>
            </a:r>
          </a:p>
        </p:txBody>
      </p:sp>
      <p:sp>
        <p:nvSpPr>
          <p:cNvPr id="97" name="TextBox 96"/>
          <p:cNvSpPr txBox="1">
            <a:spLocks noChangeArrowheads="1"/>
          </p:cNvSpPr>
          <p:nvPr/>
        </p:nvSpPr>
        <p:spPr bwMode="white">
          <a:xfrm>
            <a:off x="10215627" y="4357505"/>
            <a:ext cx="1090363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Sign-in frequency</a:t>
            </a:r>
          </a:p>
        </p:txBody>
      </p:sp>
      <p:sp>
        <p:nvSpPr>
          <p:cNvPr id="98" name="TextBox 97"/>
          <p:cNvSpPr txBox="1">
            <a:spLocks noChangeArrowheads="1"/>
          </p:cNvSpPr>
          <p:nvPr/>
        </p:nvSpPr>
        <p:spPr bwMode="white">
          <a:xfrm>
            <a:off x="10225446" y="4793305"/>
            <a:ext cx="156966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Persistent browser session</a:t>
            </a:r>
          </a:p>
        </p:txBody>
      </p:sp>
      <p:sp>
        <p:nvSpPr>
          <p:cNvPr id="100" name="TextBox 99"/>
          <p:cNvSpPr txBox="1">
            <a:spLocks noChangeArrowheads="1"/>
          </p:cNvSpPr>
          <p:nvPr/>
        </p:nvSpPr>
        <p:spPr bwMode="white">
          <a:xfrm>
            <a:off x="10229552" y="5232376"/>
            <a:ext cx="1717137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Continuous access evaluation</a:t>
            </a:r>
          </a:p>
        </p:txBody>
      </p:sp>
      <p:sp>
        <p:nvSpPr>
          <p:cNvPr id="101" name="TextBox 100"/>
          <p:cNvSpPr txBox="1">
            <a:spLocks noChangeArrowheads="1"/>
          </p:cNvSpPr>
          <p:nvPr/>
        </p:nvSpPr>
        <p:spPr bwMode="white">
          <a:xfrm>
            <a:off x="10259108" y="5658625"/>
            <a:ext cx="153599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Disable resilience defaults</a:t>
            </a:r>
          </a:p>
        </p:txBody>
      </p:sp>
      <p:pic>
        <p:nvPicPr>
          <p:cNvPr id="103" name="Graphic 102"/>
          <p:cNvPicPr>
            <a:picLocks noChangeAspect="1"/>
          </p:cNvPicPr>
          <p:nvPr/>
        </p:nvPicPr>
        <p:blipFill>
          <a:blip r:embed="rId43">
            <a:lum/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rcRect/>
          <a:stretch>
            <a:fillRect/>
          </a:stretch>
        </p:blipFill>
        <p:spPr bwMode="white">
          <a:xfrm>
            <a:off x="9996846" y="479900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5" name="Graphic 104"/>
          <p:cNvPicPr>
            <a:picLocks noChangeAspect="1"/>
          </p:cNvPicPr>
          <p:nvPr/>
        </p:nvPicPr>
        <p:blipFill>
          <a:blip r:embed="rId45">
            <a:lum/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rcRect/>
          <a:stretch>
            <a:fillRect/>
          </a:stretch>
        </p:blipFill>
        <p:spPr bwMode="white">
          <a:xfrm>
            <a:off x="9996846" y="437457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7" name="Graphic 106"/>
          <p:cNvPicPr>
            <a:picLocks noChangeAspect="1"/>
          </p:cNvPicPr>
          <p:nvPr/>
        </p:nvPicPr>
        <p:blipFill>
          <a:blip r:embed="rId7">
            <a:lum/>
            <a:extLst>
              <a:ext uri="{96DAC541-7B7A-43D3-8B79-37D633B846F1}">
                <asvg:svgBlip xmlns:asvg="http://schemas.microsoft.com/office/drawing/2016/SVG/main" r:embed="rId47"/>
              </a:ext>
            </a:extLst>
          </a:blip>
          <a:srcRect/>
          <a:stretch>
            <a:fillRect/>
          </a:stretch>
        </p:blipFill>
        <p:spPr bwMode="white">
          <a:xfrm>
            <a:off x="9996846" y="391529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15" name="SessionSifInterval"/>
          <p:cNvSpPr txBox="1">
            <a:spLocks noChangeArrowheads="1"/>
          </p:cNvSpPr>
          <p:nvPr/>
        </p:nvSpPr>
        <p:spPr bwMode="white">
          <a:xfrm>
            <a:off x="10296745" y="4516775"/>
            <a:ext cx="1249060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Periodic reauthentication</a:t>
            </a:r>
          </a:p>
        </p:txBody>
      </p:sp>
      <p:sp>
        <p:nvSpPr>
          <p:cNvPr id="114" name="SessionCasType"/>
          <p:cNvSpPr txBox="1">
            <a:spLocks noChangeArrowheads="1"/>
          </p:cNvSpPr>
          <p:nvPr/>
        </p:nvSpPr>
        <p:spPr bwMode="white">
          <a:xfrm>
            <a:off x="10296745" y="4075500"/>
            <a:ext cx="95410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App Control Policy</a:t>
            </a:r>
          </a:p>
        </p:txBody>
      </p:sp>
      <p:sp>
        <p:nvSpPr>
          <p:cNvPr id="116" name="SessionPersistenBrowserMode"/>
          <p:cNvSpPr txBox="1">
            <a:spLocks noChangeArrowheads="1"/>
          </p:cNvSpPr>
          <p:nvPr/>
        </p:nvSpPr>
        <p:spPr bwMode="white">
          <a:xfrm>
            <a:off x="10309761" y="4945281"/>
            <a:ext cx="918841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Always persistent</a:t>
            </a:r>
          </a:p>
        </p:txBody>
      </p:sp>
      <p:sp>
        <p:nvSpPr>
          <p:cNvPr id="118" name="SessionCaeMode"/>
          <p:cNvSpPr txBox="1">
            <a:spLocks noChangeArrowheads="1"/>
          </p:cNvSpPr>
          <p:nvPr/>
        </p:nvSpPr>
        <p:spPr bwMode="white">
          <a:xfrm>
            <a:off x="10301386" y="5393378"/>
            <a:ext cx="15359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US" sz="800" dirty="0"/>
              <a:t>Strictly enforce location policies</a:t>
            </a:r>
          </a:p>
        </p:txBody>
      </p:sp>
      <p:sp>
        <p:nvSpPr>
          <p:cNvPr id="119" name="ShadeSessionAppEnforced"/>
          <p:cNvSpPr>
            <a:spLocks/>
          </p:cNvSpPr>
          <p:nvPr/>
        </p:nvSpPr>
        <p:spPr bwMode="white">
          <a:xfrm>
            <a:off x="9959680" y="3548808"/>
            <a:ext cx="2051597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0" name="ShadeSessionCas"/>
          <p:cNvSpPr>
            <a:spLocks/>
          </p:cNvSpPr>
          <p:nvPr/>
        </p:nvSpPr>
        <p:spPr bwMode="white">
          <a:xfrm>
            <a:off x="9978939" y="3884212"/>
            <a:ext cx="2087576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1" name="ShadeSessionSif"/>
          <p:cNvSpPr>
            <a:spLocks/>
          </p:cNvSpPr>
          <p:nvPr/>
        </p:nvSpPr>
        <p:spPr bwMode="white">
          <a:xfrm>
            <a:off x="9940787" y="4320077"/>
            <a:ext cx="2125728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2" name="ShadeSessionPersistentBrowser"/>
          <p:cNvSpPr>
            <a:spLocks/>
          </p:cNvSpPr>
          <p:nvPr/>
        </p:nvSpPr>
        <p:spPr bwMode="white">
          <a:xfrm>
            <a:off x="9938833" y="4746195"/>
            <a:ext cx="207244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" name="Label Secure Sign In Session"/>
          <p:cNvSpPr txBox="1">
            <a:spLocks noChangeArrowheads="1"/>
          </p:cNvSpPr>
          <p:nvPr/>
        </p:nvSpPr>
        <p:spPr bwMode="white">
          <a:xfrm>
            <a:off x="10260000" y="6084874"/>
            <a:ext cx="166584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Token protection for session</a:t>
            </a:r>
          </a:p>
        </p:txBody>
      </p:sp>
      <p:pic>
        <p:nvPicPr>
          <p:cNvPr id="77" name="IconSessionCaeDisable" descr="Close with solid fill"/>
          <p:cNvPicPr>
            <a:picLocks noChangeAspect="1"/>
          </p:cNvPicPr>
          <p:nvPr/>
        </p:nvPicPr>
        <p:blipFill>
          <a:blip r:embed="rId48">
            <a:lum/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rcRect/>
          <a:stretch>
            <a:fillRect/>
          </a:stretch>
        </p:blipFill>
        <p:spPr bwMode="white">
          <a:xfrm>
            <a:off x="9979885" y="5218651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2" name="IconSessionSecureSignInSession 1"/>
          <p:cNvPicPr>
            <a:picLocks noChangeAspect="1"/>
          </p:cNvPicPr>
          <p:nvPr/>
        </p:nvPicPr>
        <p:blipFill>
          <a:blip r:embed="rId50">
            <a:lum/>
            <a:extLst>
              <a:ext uri="{96DAC541-7B7A-43D3-8B79-37D633B846F1}">
                <asvg:svgBlip xmlns:asvg="http://schemas.microsoft.com/office/drawing/2016/SVG/main" r:embed="rId51"/>
              </a:ext>
            </a:extLst>
          </a:blip>
          <a:srcRect/>
          <a:stretch>
            <a:fillRect/>
          </a:stretch>
        </p:blipFill>
        <p:spPr bwMode="white">
          <a:xfrm>
            <a:off x="9997200" y="6085768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3" name="ShadeSessionCae"/>
          <p:cNvSpPr>
            <a:spLocks/>
          </p:cNvSpPr>
          <p:nvPr/>
        </p:nvSpPr>
        <p:spPr bwMode="white">
          <a:xfrm>
            <a:off x="9987595" y="5219780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76" name="ShadeSessionSecureSignIn"/>
          <p:cNvSpPr>
            <a:spLocks/>
          </p:cNvSpPr>
          <p:nvPr/>
        </p:nvSpPr>
        <p:spPr bwMode="white">
          <a:xfrm>
            <a:off x="9996846" y="5986498"/>
            <a:ext cx="2014431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pic>
        <p:nvPicPr>
          <p:cNvPr id="102" name="Graphic 101"/>
          <p:cNvPicPr>
            <a:picLocks noChangeAspect="1"/>
          </p:cNvPicPr>
          <p:nvPr/>
        </p:nvPicPr>
        <p:blipFill>
          <a:blip r:embed="rId52">
            <a:lum/>
            <a:extLst>
              <a:ext uri="{96DAC541-7B7A-43D3-8B79-37D633B846F1}">
                <asvg:svgBlip xmlns:asvg="http://schemas.microsoft.com/office/drawing/2016/SVG/main" r:embed="rId53"/>
              </a:ext>
            </a:extLst>
          </a:blip>
          <a:srcRect/>
          <a:stretch>
            <a:fillRect/>
          </a:stretch>
        </p:blipFill>
        <p:spPr bwMode="white">
          <a:xfrm>
            <a:off x="9997200" y="5663777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80" name="Graphic 79" descr="Close with solid fill"/>
          <p:cNvPicPr>
            <a:picLocks noChangeAspect="1"/>
          </p:cNvPicPr>
          <p:nvPr/>
        </p:nvPicPr>
        <p:blipFill>
          <a:blip r:embed="rId48">
            <a:lum/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rcRect/>
          <a:stretch>
            <a:fillRect/>
          </a:stretch>
        </p:blipFill>
        <p:spPr bwMode="white">
          <a:xfrm>
            <a:off x="9963899" y="5637424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4" name="ShadeSessionDisableResilience"/>
          <p:cNvSpPr>
            <a:spLocks/>
          </p:cNvSpPr>
          <p:nvPr/>
        </p:nvSpPr>
        <p:spPr bwMode="white">
          <a:xfrm>
            <a:off x="9959681" y="5602709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2" name="PolicyName">
            <a:hlinkClick r:id="" action="ppaction://hlinkfile"/>
          </p:cNvPr>
          <p:cNvSpPr>
            <a:spLocks noGrp="1"/>
          </p:cNvSpPr>
          <p:nvPr>
            <p:ph type="title"/>
          </p:nvPr>
        </p:nvSpPr>
        <p:spPr bwMode="white">
          <a:xfrm>
            <a:off x="838200" y="115511"/>
            <a:ext cx="10003967" cy="609565"/>
          </a:xfrm>
          <a:ln>
            <a:headEnd type="none"/>
            <a:tailEnd type="none"/>
          </a:ln>
        </p:spPr>
        <p:txBody>
          <a:bodyPr wrap="square">
            <a:noAutofit/>
          </a:bodyPr>
          <a:lstStyle/>
          <a:p>
            <a:pPr defTabSz="914400"/>
            <a:r>
              <a:rPr lang="en-US" sz="2000" b="1" dirty="0"/>
              <a:t>[BizTalk][SVo365 BizTalk] Service Account Access To Exchange Online Only</a:t>
            </a:r>
          </a:p>
        </p:txBody>
      </p:sp>
      <p:sp>
        <p:nvSpPr>
          <p:cNvPr id="16" name="LastModified"/>
          <p:cNvSpPr txBox="1">
            <a:spLocks noChangeArrowheads="1"/>
          </p:cNvSpPr>
          <p:nvPr/>
        </p:nvSpPr>
        <p:spPr bwMode="white">
          <a:xfrm>
            <a:off x="10556111" y="388376"/>
            <a:ext cx="15483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algn="r" defTabSz="457200"/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Last modified: 2025-09-29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UserWorkload"/>
          <p:cNvSpPr>
            <a:spLocks/>
          </p:cNvSpPr>
          <p:nvPr/>
        </p:nvSpPr>
        <p:spPr bwMode="auto">
          <a:xfrm>
            <a:off x="175820" y="2709769"/>
            <a:ext cx="2202823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Users</a:t>
            </a:r>
          </a:p>
        </p:txBody>
      </p:sp>
      <p:sp>
        <p:nvSpPr>
          <p:cNvPr id="7" name="UserWorkloadIncExc"/>
          <p:cNvSpPr txBox="1">
            <a:spLocks noChangeArrowheads="1"/>
          </p:cNvSpPr>
          <p:nvPr/>
        </p:nvSpPr>
        <p:spPr bwMode="white">
          <a:xfrm>
            <a:off x="125485" y="3698952"/>
            <a:ext cx="3062115" cy="313265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 numCol="1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b="1" dirty="0"/>
            </a:pPr>
            <a:r>
              <a:t> Users</a:t>
            </a:r>
          </a:p>
          <a:p>
            <a:pPr defTabSz="457200">
              <a:defRPr sz="1100" dirty="0"/>
            </a:pPr>
            <a:r>
              <a:t> - SVO365.PowerRPA-ACES</a:t>
            </a:r>
          </a:p>
          <a:p>
            <a:pPr defTabSz="457200">
              <a:defRPr sz="1100" dirty="0"/>
            </a:pPr>
            <a:r>
              <a:t> - SVO365 PowerRPA-ACES-Dev</a:t>
            </a:r>
          </a:p>
          <a:p>
            <a:pPr defTabSz="457200">
              <a:defRPr sz="1100" dirty="0"/>
            </a:pPr>
            <a:r>
              <a:t> - SVO365 PowerRPA-ACES-Test</a:t>
            </a:r>
          </a:p>
          <a:p>
            <a:pPr defTabSz="457200">
              <a:defRPr sz="1100" dirty="0"/>
            </a:pPr>
            <a:r>
              <a:t> - SVO365.PowerRPA-Graph-Read</a:t>
            </a:r>
          </a:p>
          <a:p>
            <a:pPr defTabSz="457200">
              <a:defRPr sz="1100" dirty="0"/>
            </a:pPr>
            <a:r>
              <a:t> - SVO365.PowerRPA-ACES-PMR-Test</a:t>
            </a:r>
          </a:p>
          <a:p>
            <a:pPr defTabSz="457200">
              <a:defRPr sz="1100" dirty="0"/>
            </a:pPr>
            <a:r>
              <a:t> - SVO365.PowerRPA-ACES-PMR-Prod</a:t>
            </a:r>
          </a:p>
          <a:p>
            <a:pPr defTabSz="457200">
              <a:defRPr sz="1100" dirty="0"/>
            </a:pPr>
            <a:r>
              <a:t> - SVO365.PowerRPA-ACES-FinCEN-prod</a:t>
            </a:r>
          </a:p>
          <a:p>
            <a:pPr defTabSz="457200">
              <a:defRPr sz="1100" dirty="0"/>
            </a:pPr>
            <a:r>
              <a:t> - SVO365.PowerApps-ACES</a:t>
            </a:r>
          </a:p>
          <a:p>
            <a:pPr defTabSz="457200">
              <a:defRPr sz="1100" dirty="0"/>
            </a:pPr>
            <a:r>
              <a:t> - SVO365.PowerDG-Prod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19" name="Risks"/>
          <p:cNvSpPr txBox="1">
            <a:spLocks noChangeArrowheads="1"/>
          </p:cNvSpPr>
          <p:nvPr/>
        </p:nvSpPr>
        <p:spPr bwMode="white">
          <a:xfrm>
            <a:off x="524485" y="1021946"/>
            <a:ext cx="1348869" cy="166886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0" name="Platforms"/>
          <p:cNvSpPr txBox="1">
            <a:spLocks noChangeArrowheads="1"/>
          </p:cNvSpPr>
          <p:nvPr/>
        </p:nvSpPr>
        <p:spPr bwMode="white">
          <a:xfrm>
            <a:off x="1826931" y="1021947"/>
            <a:ext cx="2061056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3" name="Locations"/>
          <p:cNvSpPr txBox="1">
            <a:spLocks noChangeArrowheads="1"/>
          </p:cNvSpPr>
          <p:nvPr/>
        </p:nvSpPr>
        <p:spPr bwMode="white">
          <a:xfrm>
            <a:off x="8324941" y="1021947"/>
            <a:ext cx="3513702" cy="159258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4" name="ClientAppTypes"/>
          <p:cNvSpPr txBox="1">
            <a:spLocks noChangeArrowheads="1"/>
          </p:cNvSpPr>
          <p:nvPr/>
        </p:nvSpPr>
        <p:spPr bwMode="white">
          <a:xfrm>
            <a:off x="3810664" y="1021947"/>
            <a:ext cx="1581599" cy="165343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5" name="DeviceFilters"/>
          <p:cNvSpPr txBox="1">
            <a:spLocks noChangeArrowheads="1"/>
          </p:cNvSpPr>
          <p:nvPr/>
        </p:nvSpPr>
        <p:spPr bwMode="white">
          <a:xfrm>
            <a:off x="5818151" y="1022762"/>
            <a:ext cx="2248808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cxnSp>
        <p:nvCxnSpPr>
          <p:cNvPr id="27" name="Straight Arrow Connector 26" descr="Arrow drawn from user/workload  to the action being performed by the user such as accessing cloud apps."/>
          <p:cNvCxnSpPr/>
          <p:nvPr/>
        </p:nvCxnSpPr>
        <p:spPr bwMode="white">
          <a:xfrm>
            <a:off x="2195232" y="3159047"/>
            <a:ext cx="3959471" cy="1"/>
          </a:xfrm>
          <a:prstGeom prst="straightConnector1">
            <a:avLst/>
          </a:prstGeom>
          <a:ln w="76200"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30" name="IconBlockAccess" descr="Picture with red color stop sign to indicate blocked access"/>
          <p:cNvPicPr>
            <a:picLocks noChangeAspect="1"/>
          </p:cNvPicPr>
          <p:nvPr/>
        </p:nvPicPr>
        <p:blipFill>
          <a:blip r:embed="rId3">
            <a:lum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 bwMode="white">
          <a:xfrm>
            <a:off x="5306633" y="2735805"/>
            <a:ext cx="356616" cy="35661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34" name="GrantLabelBlockAccess"/>
          <p:cNvSpPr txBox="1">
            <a:spLocks noChangeArrowheads="1"/>
          </p:cNvSpPr>
          <p:nvPr/>
        </p:nvSpPr>
        <p:spPr bwMode="white">
          <a:xfrm>
            <a:off x="3936931" y="2734375"/>
            <a:ext cx="1358065" cy="369332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algn="ctr" defTabSz="457200"/>
            <a:r>
              <a:rPr lang="en-US" b="1" dirty="0">
                <a:solidFill>
                  <a:srgbClr val="FF0000"/>
                </a:solidFill>
              </a:rPr>
              <a:t>Block access</a:t>
            </a:r>
          </a:p>
        </p:txBody>
      </p:sp>
      <p:sp>
        <p:nvSpPr>
          <p:cNvPr id="3" name="CloudAppActionIncExc"/>
          <p:cNvSpPr txBox="1">
            <a:spLocks noChangeArrowheads="1"/>
          </p:cNvSpPr>
          <p:nvPr/>
        </p:nvSpPr>
        <p:spPr bwMode="white">
          <a:xfrm>
            <a:off x="6039518" y="3662782"/>
            <a:ext cx="3649518" cy="315161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r>
              <a:t>🚫 Exclude:</a:t>
            </a:r>
          </a:p>
          <a:p>
            <a:pPr defTabSz="457200">
              <a:defRPr sz="1100" dirty="0"/>
            </a:pPr>
            <a:r>
              <a:t> - Microsoft Graph Command Line Tools</a:t>
            </a:r>
          </a:p>
          <a:p>
            <a:pPr defTabSz="457200">
              <a:defRPr sz="1100" dirty="0"/>
            </a:pPr>
            <a:r>
              <a:t> - Power Platform Service Principal</a:t>
            </a:r>
          </a:p>
          <a:p>
            <a:pPr defTabSz="457200">
              <a:defRPr sz="1100" dirty="0"/>
            </a:pPr>
            <a:r>
              <a:t> - Microsoft Flow Service</a:t>
            </a:r>
          </a:p>
          <a:p>
            <a:pPr defTabSz="457200">
              <a:defRPr sz="1100" dirty="0"/>
            </a:pPr>
            <a:r>
              <a:t> - Microsoft Power BI Government Community Cloud</a:t>
            </a:r>
          </a:p>
          <a:p>
            <a:pPr defTabSz="457200">
              <a:defRPr sz="1100" dirty="0"/>
            </a:pPr>
            <a:r>
              <a:t> - PowerApps Service</a:t>
            </a:r>
          </a:p>
          <a:p>
            <a:pPr defTabSz="457200">
              <a:defRPr sz="1100" dirty="0"/>
            </a:pPr>
            <a:r>
              <a:t> - PowerApps Service - GCC</a:t>
            </a:r>
          </a:p>
          <a:p>
            <a:pPr defTabSz="457200">
              <a:defRPr sz="1100" dirty="0"/>
            </a:pPr>
            <a:r>
              <a:t> - Office 365 SharePoint Online</a:t>
            </a:r>
          </a:p>
          <a:p>
            <a:pPr defTabSz="457200">
              <a:defRPr sz="1100" dirty="0"/>
            </a:pPr>
            <a:r>
              <a:t> - Office365</a:t>
            </a:r>
          </a:p>
          <a:p>
            <a:pPr defTabSz="457200">
              <a:defRPr sz="1100" b="1" dirty="0"/>
            </a:pPr>
            <a:endParaRPr/>
          </a:p>
        </p:txBody>
      </p:sp>
      <p:pic>
        <p:nvPicPr>
          <p:cNvPr id="26" name="IconGroupIdentity"/>
          <p:cNvPicPr>
            <a:picLocks noChangeAspect="1"/>
          </p:cNvPicPr>
          <p:nvPr/>
        </p:nvPicPr>
        <p:blipFill>
          <a:blip r:embed="rId5">
            <a:lum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 bwMode="white">
          <a:xfrm>
            <a:off x="327701" y="2839007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36" name="Graphic 35"/>
          <p:cNvPicPr>
            <a:picLocks noChangeAspect="1"/>
          </p:cNvPicPr>
          <p:nvPr/>
        </p:nvPicPr>
        <p:blipFill>
          <a:blip r:embed="rId7">
            <a:lum/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p:blipFill>
        <p:spPr bwMode="white">
          <a:xfrm>
            <a:off x="495610" y="197468"/>
            <a:ext cx="381196" cy="38119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" name="CloudAppAction"/>
          <p:cNvSpPr>
            <a:spLocks/>
          </p:cNvSpPr>
          <p:nvPr/>
        </p:nvSpPr>
        <p:spPr bwMode="auto">
          <a:xfrm>
            <a:off x="6206089" y="2718506"/>
            <a:ext cx="3227026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All cloud apps</a:t>
            </a:r>
          </a:p>
        </p:txBody>
      </p:sp>
      <p:pic>
        <p:nvPicPr>
          <p:cNvPr id="75" name="IconAccessAllCloudApps"/>
          <p:cNvPicPr>
            <a:picLocks noChangeAspect="1"/>
          </p:cNvPicPr>
          <p:nvPr/>
        </p:nvPicPr>
        <p:blipFill>
          <a:blip r:embed="rId9">
            <a:lum/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p:blipFill>
        <p:spPr bwMode="white">
          <a:xfrm>
            <a:off x="6439264" y="2836824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8" name="StateReportOnly"/>
          <p:cNvSpPr>
            <a:spLocks/>
          </p:cNvSpPr>
          <p:nvPr/>
        </p:nvSpPr>
        <p:spPr bwMode="white">
          <a:xfrm>
            <a:off x="10842169" y="103586"/>
            <a:ext cx="1260389" cy="264812"/>
          </a:xfrm>
          <a:prstGeom prst="roundRect">
            <a:avLst/>
          </a:prstGeom>
          <a:ln>
            <a:headEnd type="none"/>
            <a:tailEnd type="none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r>
              <a:rPr lang="en-US" sz="800" dirty="0"/>
              <a:t>Policy Report-only</a:t>
            </a:r>
          </a:p>
        </p:txBody>
      </p:sp>
      <p:grpSp>
        <p:nvGrpSpPr>
          <p:cNvPr id="10" name="IconRiskyUsers"/>
          <p:cNvGrpSpPr>
            <a:grpSpLocks/>
          </p:cNvGrpSpPr>
          <p:nvPr/>
        </p:nvGrpSpPr>
        <p:grpSpPr bwMode="white">
          <a:xfrm>
            <a:off x="635426" y="738677"/>
            <a:ext cx="1202553" cy="274320"/>
            <a:chOff x="2013768" y="1033956"/>
            <a:chExt cx="1342320" cy="274320"/>
          </a:xfrm>
        </p:grpSpPr>
        <p:pic>
          <p:nvPicPr>
            <p:cNvPr id="46" name="Graphic 1"/>
            <p:cNvPicPr>
              <a:picLocks noChangeAspect="1"/>
            </p:cNvPicPr>
            <p:nvPr/>
          </p:nvPicPr>
          <p:blipFill>
            <a:blip r:embed="rId11">
              <a:lum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013768" y="1033956"/>
              <a:ext cx="274320" cy="27432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5" name="Label 1"/>
            <p:cNvSpPr txBox="1">
              <a:spLocks noChangeArrowheads="1"/>
            </p:cNvSpPr>
            <p:nvPr/>
          </p:nvSpPr>
          <p:spPr bwMode="white">
            <a:xfrm>
              <a:off x="2240077" y="1040706"/>
              <a:ext cx="1116011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Risk</a:t>
              </a:r>
            </a:p>
          </p:txBody>
        </p:sp>
      </p:grpSp>
      <p:grpSp>
        <p:nvGrpSpPr>
          <p:cNvPr id="14" name="IconPlatforms"/>
          <p:cNvGrpSpPr>
            <a:grpSpLocks/>
          </p:cNvGrpSpPr>
          <p:nvPr/>
        </p:nvGrpSpPr>
        <p:grpSpPr bwMode="white">
          <a:xfrm>
            <a:off x="1927788" y="715249"/>
            <a:ext cx="1719285" cy="365760"/>
            <a:chOff x="3262737" y="994835"/>
            <a:chExt cx="1719285" cy="365760"/>
          </a:xfrm>
        </p:grpSpPr>
        <p:pic>
          <p:nvPicPr>
            <p:cNvPr id="29" name="Graphic 1"/>
            <p:cNvPicPr>
              <a:picLocks noChangeAspect="1"/>
            </p:cNvPicPr>
            <p:nvPr/>
          </p:nvPicPr>
          <p:blipFill>
            <a:blip r:embed="rId13">
              <a:lum/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3262737" y="994835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1" name="Label 1"/>
            <p:cNvSpPr txBox="1">
              <a:spLocks noChangeArrowheads="1"/>
            </p:cNvSpPr>
            <p:nvPr/>
          </p:nvSpPr>
          <p:spPr bwMode="white">
            <a:xfrm>
              <a:off x="3582397" y="1027255"/>
              <a:ext cx="1399625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Device platforms</a:t>
              </a:r>
            </a:p>
          </p:txBody>
        </p:sp>
      </p:grpSp>
      <p:grpSp>
        <p:nvGrpSpPr>
          <p:cNvPr id="17" name="IconClientAppTypes"/>
          <p:cNvGrpSpPr>
            <a:grpSpLocks/>
          </p:cNvGrpSpPr>
          <p:nvPr/>
        </p:nvGrpSpPr>
        <p:grpSpPr bwMode="white">
          <a:xfrm>
            <a:off x="3908159" y="670015"/>
            <a:ext cx="1852971" cy="365760"/>
            <a:chOff x="4858970" y="975927"/>
            <a:chExt cx="1852971" cy="365760"/>
          </a:xfrm>
        </p:grpSpPr>
        <p:pic>
          <p:nvPicPr>
            <p:cNvPr id="58" name="Graphic 1"/>
            <p:cNvPicPr>
              <a:picLocks noChangeAspect="1"/>
            </p:cNvPicPr>
            <p:nvPr/>
          </p:nvPicPr>
          <p:blipFill>
            <a:blip r:embed="rId15">
              <a:lum/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858970" y="975927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5" name="Label 1"/>
            <p:cNvSpPr txBox="1">
              <a:spLocks noChangeArrowheads="1"/>
            </p:cNvSpPr>
            <p:nvPr/>
          </p:nvSpPr>
          <p:spPr bwMode="white">
            <a:xfrm>
              <a:off x="5193983" y="1009899"/>
              <a:ext cx="1517958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Client apps</a:t>
              </a:r>
            </a:p>
          </p:txBody>
        </p:sp>
      </p:grpSp>
      <p:grpSp>
        <p:nvGrpSpPr>
          <p:cNvPr id="37" name="IconLocations"/>
          <p:cNvGrpSpPr>
            <a:grpSpLocks/>
          </p:cNvGrpSpPr>
          <p:nvPr/>
        </p:nvGrpSpPr>
        <p:grpSpPr bwMode="white">
          <a:xfrm>
            <a:off x="8411896" y="646848"/>
            <a:ext cx="1850168" cy="388465"/>
            <a:chOff x="2321433" y="3262888"/>
            <a:chExt cx="1850168" cy="388465"/>
          </a:xfrm>
        </p:grpSpPr>
        <p:pic>
          <p:nvPicPr>
            <p:cNvPr id="33" name="Graphic 1"/>
            <p:cNvPicPr>
              <a:picLocks noChangeAspect="1"/>
            </p:cNvPicPr>
            <p:nvPr/>
          </p:nvPicPr>
          <p:blipFill>
            <a:blip r:embed="rId17">
              <a:lum/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321433" y="3262888"/>
              <a:ext cx="388465" cy="388465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28" name="Label 1"/>
            <p:cNvSpPr txBox="1">
              <a:spLocks noChangeArrowheads="1"/>
            </p:cNvSpPr>
            <p:nvPr/>
          </p:nvSpPr>
          <p:spPr bwMode="white">
            <a:xfrm>
              <a:off x="2713321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Locations</a:t>
              </a:r>
              <a:endParaRPr lang="en-US" sz="1100" b="1" dirty="0"/>
            </a:p>
          </p:txBody>
        </p:sp>
      </p:grpSp>
      <p:grpSp>
        <p:nvGrpSpPr>
          <p:cNvPr id="39" name="IconDeviceFilters"/>
          <p:cNvGrpSpPr>
            <a:grpSpLocks/>
          </p:cNvGrpSpPr>
          <p:nvPr/>
        </p:nvGrpSpPr>
        <p:grpSpPr bwMode="white">
          <a:xfrm>
            <a:off x="5472818" y="661958"/>
            <a:ext cx="1839823" cy="364111"/>
            <a:chOff x="4195414" y="3273669"/>
            <a:chExt cx="1839823" cy="364111"/>
          </a:xfrm>
        </p:grpSpPr>
        <p:pic>
          <p:nvPicPr>
            <p:cNvPr id="60" name="Graphic 1"/>
            <p:cNvPicPr>
              <a:picLocks noChangeAspect="1"/>
            </p:cNvPicPr>
            <p:nvPr/>
          </p:nvPicPr>
          <p:blipFill>
            <a:blip r:embed="rId19">
              <a:lum/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195414" y="3273669"/>
              <a:ext cx="364111" cy="364111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31" name="Label 1"/>
            <p:cNvSpPr txBox="1">
              <a:spLocks noChangeArrowheads="1"/>
            </p:cNvSpPr>
            <p:nvPr/>
          </p:nvSpPr>
          <p:spPr bwMode="white">
            <a:xfrm>
              <a:off x="4576957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Filter for devices</a:t>
              </a:r>
              <a:endParaRPr lang="en-US" sz="1100" b="1" dirty="0"/>
            </a:p>
          </p:txBody>
        </p:sp>
      </p:grpSp>
      <p:pic>
        <p:nvPicPr>
          <p:cNvPr id="62" name="IconGrantMultifactorAuthentication"/>
          <p:cNvPicPr>
            <a:picLocks noChangeAspect="1"/>
          </p:cNvPicPr>
          <p:nvPr/>
        </p:nvPicPr>
        <p:blipFill>
          <a:blip r:embed="rId21">
            <a:lum/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>
            <a:fillRect/>
          </a:stretch>
        </p:blipFill>
        <p:spPr bwMode="white">
          <a:xfrm>
            <a:off x="3410647" y="3566863"/>
            <a:ext cx="17145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5" name="IconGrantMultifactorAuthenticationLabel"/>
          <p:cNvSpPr txBox="1">
            <a:spLocks noChangeArrowheads="1"/>
          </p:cNvSpPr>
          <p:nvPr/>
        </p:nvSpPr>
        <p:spPr bwMode="white">
          <a:xfrm>
            <a:off x="3575836" y="3571997"/>
            <a:ext cx="19007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Multifactor authentication</a:t>
            </a:r>
            <a:endParaRPr lang="en-US" sz="1000" dirty="0"/>
          </a:p>
        </p:txBody>
      </p:sp>
      <p:pic>
        <p:nvPicPr>
          <p:cNvPr id="38" name="IconGrantAuthenticationStrength"/>
          <p:cNvPicPr>
            <a:picLocks noChangeAspect="1"/>
          </p:cNvPicPr>
          <p:nvPr/>
        </p:nvPicPr>
        <p:blipFill>
          <a:blip r:embed="rId23">
            <a:lum/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/>
          <a:stretch>
            <a:fillRect/>
          </a:stretch>
        </p:blipFill>
        <p:spPr bwMode="white">
          <a:xfrm>
            <a:off x="3374515" y="3905034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7" name="IconGrantAuthenticationStrengthLabel"/>
          <p:cNvSpPr txBox="1">
            <a:spLocks noChangeArrowheads="1"/>
          </p:cNvSpPr>
          <p:nvPr/>
        </p:nvSpPr>
        <p:spPr bwMode="white">
          <a:xfrm>
            <a:off x="3575836" y="3907323"/>
            <a:ext cx="2185294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Authentication strength</a:t>
            </a:r>
            <a:endParaRPr lang="en-US" sz="1000" dirty="0"/>
          </a:p>
        </p:txBody>
      </p:sp>
      <p:pic>
        <p:nvPicPr>
          <p:cNvPr id="52" name="IconGrantDeviceCompliance"/>
          <p:cNvPicPr>
            <a:picLocks noChangeAspect="1"/>
          </p:cNvPicPr>
          <p:nvPr/>
        </p:nvPicPr>
        <p:blipFill>
          <a:blip r:embed="rId25">
            <a:lum/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/>
          <a:stretch>
            <a:fillRect/>
          </a:stretch>
        </p:blipFill>
        <p:spPr bwMode="white">
          <a:xfrm>
            <a:off x="3374515" y="4243205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9" name="IconGrantDeviceComplianceLabel"/>
          <p:cNvSpPr txBox="1">
            <a:spLocks noChangeArrowheads="1"/>
          </p:cNvSpPr>
          <p:nvPr/>
        </p:nvSpPr>
        <p:spPr bwMode="white">
          <a:xfrm>
            <a:off x="3575836" y="4242649"/>
            <a:ext cx="17378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Compliant device</a:t>
            </a:r>
            <a:endParaRPr lang="en-US" sz="1000" dirty="0"/>
          </a:p>
        </p:txBody>
      </p:sp>
      <p:pic>
        <p:nvPicPr>
          <p:cNvPr id="43" name="IconGrantHybridJoined"/>
          <p:cNvPicPr>
            <a:picLocks noChangeAspect="1"/>
          </p:cNvPicPr>
          <p:nvPr/>
        </p:nvPicPr>
        <p:blipFill>
          <a:blip r:embed="rId27">
            <a:lum/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/>
          <a:stretch>
            <a:fillRect/>
          </a:stretch>
        </p:blipFill>
        <p:spPr bwMode="white">
          <a:xfrm>
            <a:off x="3374515" y="4581376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3" name="IconGrantHybridJoinedLabel"/>
          <p:cNvSpPr txBox="1">
            <a:spLocks noChangeArrowheads="1"/>
          </p:cNvSpPr>
          <p:nvPr/>
        </p:nvSpPr>
        <p:spPr bwMode="white">
          <a:xfrm>
            <a:off x="3575836" y="4577975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Hybrid Azure AD joined device</a:t>
            </a:r>
            <a:endParaRPr lang="en-US" sz="1000" dirty="0"/>
          </a:p>
        </p:txBody>
      </p:sp>
      <p:pic>
        <p:nvPicPr>
          <p:cNvPr id="48" name="IconGrantApprovedClientApp"/>
          <p:cNvPicPr>
            <a:picLocks noChangeAspect="1"/>
          </p:cNvPicPr>
          <p:nvPr/>
        </p:nvPicPr>
        <p:blipFill>
          <a:blip r:embed="rId29">
            <a:lum/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rcRect/>
          <a:stretch>
            <a:fillRect/>
          </a:stretch>
        </p:blipFill>
        <p:spPr bwMode="white">
          <a:xfrm>
            <a:off x="3374515" y="491954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5" name="IconGrantApprovedClientAppLabel"/>
          <p:cNvSpPr txBox="1">
            <a:spLocks noChangeArrowheads="1"/>
          </p:cNvSpPr>
          <p:nvPr/>
        </p:nvSpPr>
        <p:spPr bwMode="white">
          <a:xfrm>
            <a:off x="3575836" y="4913301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Approved client app</a:t>
            </a:r>
            <a:endParaRPr lang="en-US" sz="1000" dirty="0"/>
          </a:p>
        </p:txBody>
      </p:sp>
      <p:pic>
        <p:nvPicPr>
          <p:cNvPr id="42" name="IconGrantCustomAuth"/>
          <p:cNvPicPr>
            <a:picLocks noChangeAspect="1"/>
          </p:cNvPicPr>
          <p:nvPr/>
        </p:nvPicPr>
        <p:blipFill>
          <a:blip r:embed="rId31">
            <a:lum/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rcRect/>
          <a:stretch>
            <a:fillRect/>
          </a:stretch>
        </p:blipFill>
        <p:spPr bwMode="white">
          <a:xfrm>
            <a:off x="3374515" y="593406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9" name="IconGrantCustomAuthLabel"/>
          <p:cNvSpPr txBox="1">
            <a:spLocks noChangeArrowheads="1"/>
          </p:cNvSpPr>
          <p:nvPr/>
        </p:nvSpPr>
        <p:spPr bwMode="white">
          <a:xfrm>
            <a:off x="3575836" y="5919279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Custom authentication factor</a:t>
            </a:r>
            <a:endParaRPr lang="en-US" sz="1000" dirty="0"/>
          </a:p>
        </p:txBody>
      </p:sp>
      <p:pic>
        <p:nvPicPr>
          <p:cNvPr id="40" name="IconGrantTermsOfUse"/>
          <p:cNvPicPr>
            <a:picLocks noChangeAspect="1"/>
          </p:cNvPicPr>
          <p:nvPr/>
        </p:nvPicPr>
        <p:blipFill>
          <a:blip r:embed="rId33">
            <a:lum/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rcRect/>
          <a:stretch>
            <a:fillRect/>
          </a:stretch>
        </p:blipFill>
        <p:spPr bwMode="white">
          <a:xfrm>
            <a:off x="3374515" y="627222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3" name="IconGrantTermsOfUseLabel"/>
          <p:cNvSpPr txBox="1">
            <a:spLocks noChangeArrowheads="1"/>
          </p:cNvSpPr>
          <p:nvPr/>
        </p:nvSpPr>
        <p:spPr bwMode="white">
          <a:xfrm>
            <a:off x="3575836" y="625460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Terms of use</a:t>
            </a:r>
            <a:endParaRPr lang="en-US" sz="1000" dirty="0"/>
          </a:p>
        </p:txBody>
      </p:sp>
      <p:sp>
        <p:nvSpPr>
          <p:cNvPr id="56" name="IconGrantAppProtectionLabel"/>
          <p:cNvSpPr txBox="1">
            <a:spLocks noChangeArrowheads="1"/>
          </p:cNvSpPr>
          <p:nvPr/>
        </p:nvSpPr>
        <p:spPr bwMode="white">
          <a:xfrm>
            <a:off x="3575836" y="524862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 protection policy</a:t>
            </a:r>
            <a:endParaRPr lang="en-US" sz="1000" dirty="0"/>
          </a:p>
        </p:txBody>
      </p:sp>
      <p:pic>
        <p:nvPicPr>
          <p:cNvPr id="65" name="IconGrantAppProtection"/>
          <p:cNvPicPr>
            <a:picLocks noChangeAspect="1"/>
          </p:cNvPicPr>
          <p:nvPr/>
        </p:nvPicPr>
        <p:blipFill>
          <a:blip r:embed="rId35">
            <a:lum/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rcRect/>
          <a:stretch>
            <a:fillRect/>
          </a:stretch>
        </p:blipFill>
        <p:spPr bwMode="white">
          <a:xfrm>
            <a:off x="3374515" y="525771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7" name="IconGrantChangePasswordLabel"/>
          <p:cNvSpPr txBox="1">
            <a:spLocks noChangeArrowheads="1"/>
          </p:cNvSpPr>
          <p:nvPr/>
        </p:nvSpPr>
        <p:spPr bwMode="white">
          <a:xfrm>
            <a:off x="3575836" y="5583953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Change password</a:t>
            </a:r>
            <a:endParaRPr lang="en-US" sz="1000" dirty="0"/>
          </a:p>
        </p:txBody>
      </p:sp>
      <p:pic>
        <p:nvPicPr>
          <p:cNvPr id="67" name="IconGrantChangePassword"/>
          <p:cNvPicPr>
            <a:picLocks noChangeAspect="1"/>
          </p:cNvPicPr>
          <p:nvPr/>
        </p:nvPicPr>
        <p:blipFill>
          <a:blip r:embed="rId37">
            <a:lum/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rcRect/>
          <a:stretch>
            <a:fillRect/>
          </a:stretch>
        </p:blipFill>
        <p:spPr bwMode="white">
          <a:xfrm>
            <a:off x="3374515" y="5595889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4" name="ShadeRisk"/>
          <p:cNvSpPr>
            <a:spLocks/>
          </p:cNvSpPr>
          <p:nvPr/>
        </p:nvSpPr>
        <p:spPr bwMode="white">
          <a:xfrm>
            <a:off x="507564" y="650246"/>
            <a:ext cx="976864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66" name="ShadeDevicePlatforms"/>
          <p:cNvSpPr>
            <a:spLocks/>
          </p:cNvSpPr>
          <p:nvPr/>
        </p:nvSpPr>
        <p:spPr bwMode="white">
          <a:xfrm>
            <a:off x="1863623" y="663409"/>
            <a:ext cx="1773927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78" name="ShadeClientApps"/>
          <p:cNvSpPr>
            <a:spLocks/>
          </p:cNvSpPr>
          <p:nvPr/>
        </p:nvSpPr>
        <p:spPr bwMode="white">
          <a:xfrm>
            <a:off x="3802273" y="650246"/>
            <a:ext cx="1481482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79" name="ShadeLocations"/>
          <p:cNvSpPr>
            <a:spLocks/>
          </p:cNvSpPr>
          <p:nvPr/>
        </p:nvSpPr>
        <p:spPr bwMode="white">
          <a:xfrm>
            <a:off x="8217572" y="669110"/>
            <a:ext cx="1873684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2" name="ShadeFilterForDevices"/>
          <p:cNvSpPr>
            <a:spLocks/>
          </p:cNvSpPr>
          <p:nvPr/>
        </p:nvSpPr>
        <p:spPr bwMode="white">
          <a:xfrm>
            <a:off x="5438955" y="627922"/>
            <a:ext cx="1873685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3" name="ShadeGrantMultifactorAuth"/>
          <p:cNvSpPr>
            <a:spLocks/>
          </p:cNvSpPr>
          <p:nvPr/>
        </p:nvSpPr>
        <p:spPr bwMode="white">
          <a:xfrm>
            <a:off x="3369399" y="3534220"/>
            <a:ext cx="2069555" cy="28330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4" name="ShadeGrantAuthStrength"/>
          <p:cNvSpPr>
            <a:spLocks/>
          </p:cNvSpPr>
          <p:nvPr/>
        </p:nvSpPr>
        <p:spPr bwMode="white">
          <a:xfrm>
            <a:off x="3350256" y="3869846"/>
            <a:ext cx="2069555" cy="27801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5" name="ShadeGrantCompliantDevice"/>
          <p:cNvSpPr>
            <a:spLocks/>
          </p:cNvSpPr>
          <p:nvPr/>
        </p:nvSpPr>
        <p:spPr bwMode="white">
          <a:xfrm>
            <a:off x="3361852" y="4243205"/>
            <a:ext cx="2077102" cy="26110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6" name="ShadeGrantHybridAzureADJoined"/>
          <p:cNvSpPr>
            <a:spLocks/>
          </p:cNvSpPr>
          <p:nvPr/>
        </p:nvSpPr>
        <p:spPr bwMode="white">
          <a:xfrm>
            <a:off x="3353637" y="4552268"/>
            <a:ext cx="2160906" cy="298395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7" name="ShadeGrantApprovedClientApp"/>
          <p:cNvSpPr>
            <a:spLocks/>
          </p:cNvSpPr>
          <p:nvPr/>
        </p:nvSpPr>
        <p:spPr bwMode="white">
          <a:xfrm>
            <a:off x="3331918" y="4876027"/>
            <a:ext cx="2182625" cy="29839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8" name="ShadeGrantAppProtectionPolicy"/>
          <p:cNvSpPr>
            <a:spLocks/>
          </p:cNvSpPr>
          <p:nvPr/>
        </p:nvSpPr>
        <p:spPr bwMode="white">
          <a:xfrm>
            <a:off x="3350256" y="5207226"/>
            <a:ext cx="2122561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9" name="ShadeGrantChangePassword"/>
          <p:cNvSpPr>
            <a:spLocks/>
          </p:cNvSpPr>
          <p:nvPr/>
        </p:nvSpPr>
        <p:spPr bwMode="white">
          <a:xfrm>
            <a:off x="3350257" y="5557021"/>
            <a:ext cx="2042006" cy="287239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0" name="ShadeGrantCustomAuthFactor"/>
          <p:cNvSpPr>
            <a:spLocks/>
          </p:cNvSpPr>
          <p:nvPr/>
        </p:nvSpPr>
        <p:spPr bwMode="white">
          <a:xfrm>
            <a:off x="3331918" y="5899058"/>
            <a:ext cx="2182625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1" name="ShadeGrantTermsOfUse"/>
          <p:cNvSpPr>
            <a:spLocks/>
          </p:cNvSpPr>
          <p:nvPr/>
        </p:nvSpPr>
        <p:spPr bwMode="white">
          <a:xfrm>
            <a:off x="3313823" y="6192350"/>
            <a:ext cx="101602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99" name="Rectangle 98"/>
          <p:cNvSpPr>
            <a:spLocks/>
          </p:cNvSpPr>
          <p:nvPr/>
        </p:nvSpPr>
        <p:spPr bwMode="white">
          <a:xfrm>
            <a:off x="3268757" y="3253404"/>
            <a:ext cx="2357725" cy="3498546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0" name="Rectangle 109"/>
          <p:cNvSpPr>
            <a:spLocks/>
          </p:cNvSpPr>
          <p:nvPr/>
        </p:nvSpPr>
        <p:spPr bwMode="white">
          <a:xfrm>
            <a:off x="9881750" y="3248255"/>
            <a:ext cx="2220808" cy="3510149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7" name="Rectangle 116"/>
          <p:cNvSpPr>
            <a:spLocks/>
          </p:cNvSpPr>
          <p:nvPr/>
        </p:nvSpPr>
        <p:spPr bwMode="white">
          <a:xfrm>
            <a:off x="26741" y="606825"/>
            <a:ext cx="11985015" cy="2063636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2" name="Conditions Label"/>
          <p:cNvSpPr txBox="1">
            <a:spLocks noChangeArrowheads="1"/>
          </p:cNvSpPr>
          <p:nvPr/>
        </p:nvSpPr>
        <p:spPr bwMode="white">
          <a:xfrm rot="16200000">
            <a:off x="-883507" y="1514324"/>
            <a:ext cx="2081441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Conditions</a:t>
            </a:r>
          </a:p>
        </p:txBody>
      </p:sp>
      <p:sp>
        <p:nvSpPr>
          <p:cNvPr id="109" name="Grant Controls"/>
          <p:cNvSpPr txBox="1">
            <a:spLocks noChangeArrowheads="1"/>
          </p:cNvSpPr>
          <p:nvPr/>
        </p:nvSpPr>
        <p:spPr bwMode="white">
          <a:xfrm>
            <a:off x="3252146" y="3244395"/>
            <a:ext cx="2391873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Grant Controls</a:t>
            </a:r>
          </a:p>
        </p:txBody>
      </p:sp>
      <p:sp>
        <p:nvSpPr>
          <p:cNvPr id="111" name="Session Controls"/>
          <p:cNvSpPr txBox="1">
            <a:spLocks noChangeArrowheads="1"/>
          </p:cNvSpPr>
          <p:nvPr/>
        </p:nvSpPr>
        <p:spPr bwMode="white">
          <a:xfrm>
            <a:off x="9864212" y="3243751"/>
            <a:ext cx="2238346" cy="23786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Session Controls</a:t>
            </a:r>
          </a:p>
        </p:txBody>
      </p:sp>
      <p:pic>
        <p:nvPicPr>
          <p:cNvPr id="72" name="Graphic 71"/>
          <p:cNvPicPr>
            <a:picLocks noChangeAspect="1"/>
          </p:cNvPicPr>
          <p:nvPr/>
        </p:nvPicPr>
        <p:blipFill>
          <a:blip r:embed="rId39">
            <a:lum/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rcRect/>
          <a:stretch>
            <a:fillRect/>
          </a:stretch>
        </p:blipFill>
        <p:spPr bwMode="white">
          <a:xfrm>
            <a:off x="9996846" y="356982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4" name="Graphic 93"/>
          <p:cNvPicPr>
            <a:picLocks noChangeAspect="1"/>
          </p:cNvPicPr>
          <p:nvPr/>
        </p:nvPicPr>
        <p:blipFill>
          <a:blip r:embed="rId41">
            <a:lum/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rcRect/>
          <a:stretch>
            <a:fillRect/>
          </a:stretch>
        </p:blipFill>
        <p:spPr bwMode="white">
          <a:xfrm>
            <a:off x="10009443" y="525644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5" name="TextBox 94"/>
          <p:cNvSpPr txBox="1">
            <a:spLocks noChangeArrowheads="1"/>
          </p:cNvSpPr>
          <p:nvPr/>
        </p:nvSpPr>
        <p:spPr bwMode="white">
          <a:xfrm>
            <a:off x="10207481" y="3578463"/>
            <a:ext cx="150554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App enforced restrictions</a:t>
            </a:r>
          </a:p>
        </p:txBody>
      </p:sp>
      <p:sp>
        <p:nvSpPr>
          <p:cNvPr id="96" name="TextBox 95"/>
          <p:cNvSpPr txBox="1">
            <a:spLocks noChangeArrowheads="1"/>
          </p:cNvSpPr>
          <p:nvPr/>
        </p:nvSpPr>
        <p:spPr bwMode="white">
          <a:xfrm>
            <a:off x="10201167" y="3899846"/>
            <a:ext cx="181011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Conditional Access App Control</a:t>
            </a:r>
          </a:p>
        </p:txBody>
      </p:sp>
      <p:sp>
        <p:nvSpPr>
          <p:cNvPr id="97" name="TextBox 96"/>
          <p:cNvSpPr txBox="1">
            <a:spLocks noChangeArrowheads="1"/>
          </p:cNvSpPr>
          <p:nvPr/>
        </p:nvSpPr>
        <p:spPr bwMode="white">
          <a:xfrm>
            <a:off x="10215627" y="4357505"/>
            <a:ext cx="1090363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Sign-in frequency</a:t>
            </a:r>
          </a:p>
        </p:txBody>
      </p:sp>
      <p:sp>
        <p:nvSpPr>
          <p:cNvPr id="98" name="TextBox 97"/>
          <p:cNvSpPr txBox="1">
            <a:spLocks noChangeArrowheads="1"/>
          </p:cNvSpPr>
          <p:nvPr/>
        </p:nvSpPr>
        <p:spPr bwMode="white">
          <a:xfrm>
            <a:off x="10225446" y="4793305"/>
            <a:ext cx="156966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Persistent browser session</a:t>
            </a:r>
          </a:p>
        </p:txBody>
      </p:sp>
      <p:sp>
        <p:nvSpPr>
          <p:cNvPr id="100" name="TextBox 99"/>
          <p:cNvSpPr txBox="1">
            <a:spLocks noChangeArrowheads="1"/>
          </p:cNvSpPr>
          <p:nvPr/>
        </p:nvSpPr>
        <p:spPr bwMode="white">
          <a:xfrm>
            <a:off x="10229552" y="5232376"/>
            <a:ext cx="1717137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Continuous access evaluation</a:t>
            </a:r>
          </a:p>
        </p:txBody>
      </p:sp>
      <p:sp>
        <p:nvSpPr>
          <p:cNvPr id="101" name="TextBox 100"/>
          <p:cNvSpPr txBox="1">
            <a:spLocks noChangeArrowheads="1"/>
          </p:cNvSpPr>
          <p:nvPr/>
        </p:nvSpPr>
        <p:spPr bwMode="white">
          <a:xfrm>
            <a:off x="10259108" y="5658625"/>
            <a:ext cx="153599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Disable resilience defaults</a:t>
            </a:r>
          </a:p>
        </p:txBody>
      </p:sp>
      <p:pic>
        <p:nvPicPr>
          <p:cNvPr id="103" name="Graphic 102"/>
          <p:cNvPicPr>
            <a:picLocks noChangeAspect="1"/>
          </p:cNvPicPr>
          <p:nvPr/>
        </p:nvPicPr>
        <p:blipFill>
          <a:blip r:embed="rId43">
            <a:lum/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rcRect/>
          <a:stretch>
            <a:fillRect/>
          </a:stretch>
        </p:blipFill>
        <p:spPr bwMode="white">
          <a:xfrm>
            <a:off x="9996846" y="479900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5" name="Graphic 104"/>
          <p:cNvPicPr>
            <a:picLocks noChangeAspect="1"/>
          </p:cNvPicPr>
          <p:nvPr/>
        </p:nvPicPr>
        <p:blipFill>
          <a:blip r:embed="rId45">
            <a:lum/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rcRect/>
          <a:stretch>
            <a:fillRect/>
          </a:stretch>
        </p:blipFill>
        <p:spPr bwMode="white">
          <a:xfrm>
            <a:off x="9996846" y="437457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7" name="Graphic 106"/>
          <p:cNvPicPr>
            <a:picLocks noChangeAspect="1"/>
          </p:cNvPicPr>
          <p:nvPr/>
        </p:nvPicPr>
        <p:blipFill>
          <a:blip r:embed="rId7">
            <a:lum/>
            <a:extLst>
              <a:ext uri="{96DAC541-7B7A-43D3-8B79-37D633B846F1}">
                <asvg:svgBlip xmlns:asvg="http://schemas.microsoft.com/office/drawing/2016/SVG/main" r:embed="rId47"/>
              </a:ext>
            </a:extLst>
          </a:blip>
          <a:srcRect/>
          <a:stretch>
            <a:fillRect/>
          </a:stretch>
        </p:blipFill>
        <p:spPr bwMode="white">
          <a:xfrm>
            <a:off x="9996846" y="391529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15" name="SessionSifInterval"/>
          <p:cNvSpPr txBox="1">
            <a:spLocks noChangeArrowheads="1"/>
          </p:cNvSpPr>
          <p:nvPr/>
        </p:nvSpPr>
        <p:spPr bwMode="white">
          <a:xfrm>
            <a:off x="10296745" y="4516775"/>
            <a:ext cx="1249060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Periodic reauthentication</a:t>
            </a:r>
          </a:p>
        </p:txBody>
      </p:sp>
      <p:sp>
        <p:nvSpPr>
          <p:cNvPr id="114" name="SessionCasType"/>
          <p:cNvSpPr txBox="1">
            <a:spLocks noChangeArrowheads="1"/>
          </p:cNvSpPr>
          <p:nvPr/>
        </p:nvSpPr>
        <p:spPr bwMode="white">
          <a:xfrm>
            <a:off x="10296745" y="4075500"/>
            <a:ext cx="95410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App Control Policy</a:t>
            </a:r>
          </a:p>
        </p:txBody>
      </p:sp>
      <p:sp>
        <p:nvSpPr>
          <p:cNvPr id="116" name="SessionPersistenBrowserMode"/>
          <p:cNvSpPr txBox="1">
            <a:spLocks noChangeArrowheads="1"/>
          </p:cNvSpPr>
          <p:nvPr/>
        </p:nvSpPr>
        <p:spPr bwMode="white">
          <a:xfrm>
            <a:off x="10309761" y="4945281"/>
            <a:ext cx="918841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Always persistent</a:t>
            </a:r>
          </a:p>
        </p:txBody>
      </p:sp>
      <p:sp>
        <p:nvSpPr>
          <p:cNvPr id="118" name="SessionCaeMode"/>
          <p:cNvSpPr txBox="1">
            <a:spLocks noChangeArrowheads="1"/>
          </p:cNvSpPr>
          <p:nvPr/>
        </p:nvSpPr>
        <p:spPr bwMode="white">
          <a:xfrm>
            <a:off x="10301386" y="5393378"/>
            <a:ext cx="15359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US" sz="800" dirty="0"/>
              <a:t>Strictly enforce location policies</a:t>
            </a:r>
          </a:p>
        </p:txBody>
      </p:sp>
      <p:sp>
        <p:nvSpPr>
          <p:cNvPr id="119" name="ShadeSessionAppEnforced"/>
          <p:cNvSpPr>
            <a:spLocks/>
          </p:cNvSpPr>
          <p:nvPr/>
        </p:nvSpPr>
        <p:spPr bwMode="white">
          <a:xfrm>
            <a:off x="9959680" y="3548808"/>
            <a:ext cx="2051597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0" name="ShadeSessionCas"/>
          <p:cNvSpPr>
            <a:spLocks/>
          </p:cNvSpPr>
          <p:nvPr/>
        </p:nvSpPr>
        <p:spPr bwMode="white">
          <a:xfrm>
            <a:off x="9978939" y="3884212"/>
            <a:ext cx="2087576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1" name="ShadeSessionSif"/>
          <p:cNvSpPr>
            <a:spLocks/>
          </p:cNvSpPr>
          <p:nvPr/>
        </p:nvSpPr>
        <p:spPr bwMode="white">
          <a:xfrm>
            <a:off x="9940787" y="4320077"/>
            <a:ext cx="2125728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2" name="ShadeSessionPersistentBrowser"/>
          <p:cNvSpPr>
            <a:spLocks/>
          </p:cNvSpPr>
          <p:nvPr/>
        </p:nvSpPr>
        <p:spPr bwMode="white">
          <a:xfrm>
            <a:off x="9938833" y="4746195"/>
            <a:ext cx="207244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" name="Label Secure Sign In Session"/>
          <p:cNvSpPr txBox="1">
            <a:spLocks noChangeArrowheads="1"/>
          </p:cNvSpPr>
          <p:nvPr/>
        </p:nvSpPr>
        <p:spPr bwMode="white">
          <a:xfrm>
            <a:off x="10260000" y="6084874"/>
            <a:ext cx="166584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Token protection for session</a:t>
            </a:r>
          </a:p>
        </p:txBody>
      </p:sp>
      <p:pic>
        <p:nvPicPr>
          <p:cNvPr id="77" name="IconSessionCaeDisable" descr="Close with solid fill"/>
          <p:cNvPicPr>
            <a:picLocks noChangeAspect="1"/>
          </p:cNvPicPr>
          <p:nvPr/>
        </p:nvPicPr>
        <p:blipFill>
          <a:blip r:embed="rId48">
            <a:lum/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rcRect/>
          <a:stretch>
            <a:fillRect/>
          </a:stretch>
        </p:blipFill>
        <p:spPr bwMode="white">
          <a:xfrm>
            <a:off x="9979885" y="5218651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2" name="IconSessionSecureSignInSession 1"/>
          <p:cNvPicPr>
            <a:picLocks noChangeAspect="1"/>
          </p:cNvPicPr>
          <p:nvPr/>
        </p:nvPicPr>
        <p:blipFill>
          <a:blip r:embed="rId50">
            <a:lum/>
            <a:extLst>
              <a:ext uri="{96DAC541-7B7A-43D3-8B79-37D633B846F1}">
                <asvg:svgBlip xmlns:asvg="http://schemas.microsoft.com/office/drawing/2016/SVG/main" r:embed="rId51"/>
              </a:ext>
            </a:extLst>
          </a:blip>
          <a:srcRect/>
          <a:stretch>
            <a:fillRect/>
          </a:stretch>
        </p:blipFill>
        <p:spPr bwMode="white">
          <a:xfrm>
            <a:off x="9997200" y="6085768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3" name="ShadeSessionCae"/>
          <p:cNvSpPr>
            <a:spLocks/>
          </p:cNvSpPr>
          <p:nvPr/>
        </p:nvSpPr>
        <p:spPr bwMode="white">
          <a:xfrm>
            <a:off x="9987595" y="5219780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76" name="ShadeSessionSecureSignIn"/>
          <p:cNvSpPr>
            <a:spLocks/>
          </p:cNvSpPr>
          <p:nvPr/>
        </p:nvSpPr>
        <p:spPr bwMode="white">
          <a:xfrm>
            <a:off x="9996846" y="5986498"/>
            <a:ext cx="2014431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pic>
        <p:nvPicPr>
          <p:cNvPr id="102" name="Graphic 101"/>
          <p:cNvPicPr>
            <a:picLocks noChangeAspect="1"/>
          </p:cNvPicPr>
          <p:nvPr/>
        </p:nvPicPr>
        <p:blipFill>
          <a:blip r:embed="rId52">
            <a:lum/>
            <a:extLst>
              <a:ext uri="{96DAC541-7B7A-43D3-8B79-37D633B846F1}">
                <asvg:svgBlip xmlns:asvg="http://schemas.microsoft.com/office/drawing/2016/SVG/main" r:embed="rId53"/>
              </a:ext>
            </a:extLst>
          </a:blip>
          <a:srcRect/>
          <a:stretch>
            <a:fillRect/>
          </a:stretch>
        </p:blipFill>
        <p:spPr bwMode="white">
          <a:xfrm>
            <a:off x="9997200" y="5663777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80" name="Graphic 79" descr="Close with solid fill"/>
          <p:cNvPicPr>
            <a:picLocks noChangeAspect="1"/>
          </p:cNvPicPr>
          <p:nvPr/>
        </p:nvPicPr>
        <p:blipFill>
          <a:blip r:embed="rId48">
            <a:lum/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rcRect/>
          <a:stretch>
            <a:fillRect/>
          </a:stretch>
        </p:blipFill>
        <p:spPr bwMode="white">
          <a:xfrm>
            <a:off x="9963899" y="5637424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4" name="ShadeSessionDisableResilience"/>
          <p:cNvSpPr>
            <a:spLocks/>
          </p:cNvSpPr>
          <p:nvPr/>
        </p:nvSpPr>
        <p:spPr bwMode="white">
          <a:xfrm>
            <a:off x="9959681" y="5602709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2" name="PolicyName">
            <a:hlinkClick r:id="" action="ppaction://hlinkfile"/>
          </p:cNvPr>
          <p:cNvSpPr>
            <a:spLocks noGrp="1"/>
          </p:cNvSpPr>
          <p:nvPr>
            <p:ph type="title"/>
          </p:nvPr>
        </p:nvSpPr>
        <p:spPr bwMode="white">
          <a:xfrm>
            <a:off x="838200" y="115511"/>
            <a:ext cx="10003967" cy="609565"/>
          </a:xfrm>
          <a:ln>
            <a:headEnd type="none"/>
            <a:tailEnd type="none"/>
          </a:ln>
        </p:spPr>
        <p:txBody>
          <a:bodyPr wrap="square">
            <a:noAutofit/>
          </a:bodyPr>
          <a:lstStyle/>
          <a:p>
            <a:pPr defTabSz="914400"/>
            <a:r>
              <a:rPr lang="en-US" sz="2000" b="1" dirty="0"/>
              <a:t>[TEST][BLOCK] PowerRPA Service Accounts Only Have Limited Access To Resources </a:t>
            </a:r>
          </a:p>
        </p:txBody>
      </p:sp>
      <p:sp>
        <p:nvSpPr>
          <p:cNvPr id="16" name="LastModified"/>
          <p:cNvSpPr txBox="1">
            <a:spLocks noChangeArrowheads="1"/>
          </p:cNvSpPr>
          <p:nvPr/>
        </p:nvSpPr>
        <p:spPr bwMode="white">
          <a:xfrm>
            <a:off x="10556111" y="388376"/>
            <a:ext cx="15483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algn="r" defTabSz="457200"/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Last modified: 2025-06-05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UserWorkload"/>
          <p:cNvSpPr>
            <a:spLocks/>
          </p:cNvSpPr>
          <p:nvPr/>
        </p:nvSpPr>
        <p:spPr bwMode="auto">
          <a:xfrm>
            <a:off x="175820" y="2709769"/>
            <a:ext cx="2202823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Users</a:t>
            </a:r>
          </a:p>
        </p:txBody>
      </p:sp>
      <p:sp>
        <p:nvSpPr>
          <p:cNvPr id="7" name="UserWorkloadIncExc"/>
          <p:cNvSpPr txBox="1">
            <a:spLocks noChangeArrowheads="1"/>
          </p:cNvSpPr>
          <p:nvPr/>
        </p:nvSpPr>
        <p:spPr bwMode="white">
          <a:xfrm>
            <a:off x="125485" y="3698952"/>
            <a:ext cx="3062115" cy="313265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 numCol="1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b="1" dirty="0"/>
            </a:pPr>
            <a:r>
              <a:t> Users</a:t>
            </a:r>
          </a:p>
          <a:p>
            <a:pPr defTabSz="457200">
              <a:defRPr sz="1100" dirty="0"/>
            </a:pPr>
            <a:r>
              <a:t> - SVO365 ContentMatrix</a:t>
            </a:r>
          </a:p>
          <a:p>
            <a:pPr defTabSz="457200">
              <a:defRPr sz="1100" dirty="0"/>
            </a:pPr>
            <a:r>
              <a:t> - SVO365 SPFlowCreate</a:t>
            </a:r>
          </a:p>
          <a:p>
            <a:pPr defTabSz="457200">
              <a:defRPr sz="1100" dirty="0"/>
            </a:pPr>
            <a:r>
              <a:t> - SVO365 SPFlowDeploy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19" name="Risks"/>
          <p:cNvSpPr txBox="1">
            <a:spLocks noChangeArrowheads="1"/>
          </p:cNvSpPr>
          <p:nvPr/>
        </p:nvSpPr>
        <p:spPr bwMode="white">
          <a:xfrm>
            <a:off x="524485" y="1021946"/>
            <a:ext cx="1348869" cy="166886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0" name="Platforms"/>
          <p:cNvSpPr txBox="1">
            <a:spLocks noChangeArrowheads="1"/>
          </p:cNvSpPr>
          <p:nvPr/>
        </p:nvSpPr>
        <p:spPr bwMode="white">
          <a:xfrm>
            <a:off x="1826931" y="1021947"/>
            <a:ext cx="2061056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3" name="Locations"/>
          <p:cNvSpPr txBox="1">
            <a:spLocks noChangeArrowheads="1"/>
          </p:cNvSpPr>
          <p:nvPr/>
        </p:nvSpPr>
        <p:spPr bwMode="white">
          <a:xfrm>
            <a:off x="8324941" y="1021947"/>
            <a:ext cx="3513702" cy="159258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4" name="ClientAppTypes"/>
          <p:cNvSpPr txBox="1">
            <a:spLocks noChangeArrowheads="1"/>
          </p:cNvSpPr>
          <p:nvPr/>
        </p:nvSpPr>
        <p:spPr bwMode="white">
          <a:xfrm>
            <a:off x="3810664" y="1021947"/>
            <a:ext cx="1581599" cy="165343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5" name="DeviceFilters"/>
          <p:cNvSpPr txBox="1">
            <a:spLocks noChangeArrowheads="1"/>
          </p:cNvSpPr>
          <p:nvPr/>
        </p:nvSpPr>
        <p:spPr bwMode="white">
          <a:xfrm>
            <a:off x="5818151" y="1022762"/>
            <a:ext cx="2248808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cxnSp>
        <p:nvCxnSpPr>
          <p:cNvPr id="27" name="Straight Arrow Connector 26" descr="Arrow drawn from user/workload  to the action being performed by the user such as accessing cloud apps."/>
          <p:cNvCxnSpPr/>
          <p:nvPr/>
        </p:nvCxnSpPr>
        <p:spPr bwMode="white">
          <a:xfrm>
            <a:off x="2195232" y="3159047"/>
            <a:ext cx="3959471" cy="1"/>
          </a:xfrm>
          <a:prstGeom prst="straightConnector1">
            <a:avLst/>
          </a:prstGeom>
          <a:ln w="76200"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30" name="IconBlockAccess" descr="Picture with red color stop sign to indicate blocked access"/>
          <p:cNvPicPr>
            <a:picLocks noChangeAspect="1"/>
          </p:cNvPicPr>
          <p:nvPr/>
        </p:nvPicPr>
        <p:blipFill>
          <a:blip r:embed="rId3">
            <a:lum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 bwMode="white">
          <a:xfrm>
            <a:off x="5306633" y="2735805"/>
            <a:ext cx="356616" cy="35661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34" name="GrantLabelBlockAccess"/>
          <p:cNvSpPr txBox="1">
            <a:spLocks noChangeArrowheads="1"/>
          </p:cNvSpPr>
          <p:nvPr/>
        </p:nvSpPr>
        <p:spPr bwMode="white">
          <a:xfrm>
            <a:off x="3936931" y="2734375"/>
            <a:ext cx="1358065" cy="369332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algn="ctr" defTabSz="457200"/>
            <a:r>
              <a:rPr lang="en-US" b="1" dirty="0">
                <a:solidFill>
                  <a:srgbClr val="FF0000"/>
                </a:solidFill>
              </a:rPr>
              <a:t>Block access</a:t>
            </a:r>
          </a:p>
        </p:txBody>
      </p:sp>
      <p:sp>
        <p:nvSpPr>
          <p:cNvPr id="3" name="CloudAppActionIncExc"/>
          <p:cNvSpPr txBox="1">
            <a:spLocks noChangeArrowheads="1"/>
          </p:cNvSpPr>
          <p:nvPr/>
        </p:nvSpPr>
        <p:spPr bwMode="white">
          <a:xfrm>
            <a:off x="6039518" y="3662782"/>
            <a:ext cx="3649518" cy="315161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r>
              <a:t>🚫 Exclude:</a:t>
            </a:r>
          </a:p>
          <a:p>
            <a:pPr defTabSz="457200">
              <a:defRPr sz="1100" dirty="0"/>
            </a:pPr>
            <a:r>
              <a:t> - Microsoft Flow Service</a:t>
            </a:r>
          </a:p>
          <a:p>
            <a:pPr defTabSz="457200">
              <a:defRPr sz="1100" dirty="0"/>
            </a:pPr>
            <a:r>
              <a:t> - Power Platform Service Principal</a:t>
            </a:r>
          </a:p>
          <a:p>
            <a:pPr defTabSz="457200">
              <a:defRPr sz="1100" dirty="0"/>
            </a:pPr>
            <a:r>
              <a:t> - PowerApps Service</a:t>
            </a:r>
          </a:p>
          <a:p>
            <a:pPr defTabSz="457200">
              <a:defRPr sz="1100" dirty="0"/>
            </a:pPr>
            <a:r>
              <a:t> - PowerApps Service - GCC</a:t>
            </a:r>
          </a:p>
          <a:p>
            <a:pPr defTabSz="457200">
              <a:defRPr sz="1100" dirty="0"/>
            </a:pPr>
            <a:r>
              <a:t> - Office 365 SharePoint Online</a:t>
            </a:r>
          </a:p>
          <a:p>
            <a:pPr defTabSz="457200">
              <a:defRPr sz="1100" dirty="0"/>
            </a:pPr>
            <a:r>
              <a:t> - Office365</a:t>
            </a:r>
          </a:p>
          <a:p>
            <a:pPr defTabSz="457200">
              <a:defRPr sz="1100" b="1" dirty="0"/>
            </a:pPr>
            <a:endParaRPr/>
          </a:p>
        </p:txBody>
      </p:sp>
      <p:pic>
        <p:nvPicPr>
          <p:cNvPr id="26" name="IconGroupIdentity"/>
          <p:cNvPicPr>
            <a:picLocks noChangeAspect="1"/>
          </p:cNvPicPr>
          <p:nvPr/>
        </p:nvPicPr>
        <p:blipFill>
          <a:blip r:embed="rId5">
            <a:lum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 bwMode="white">
          <a:xfrm>
            <a:off x="327701" y="2839007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36" name="Graphic 35"/>
          <p:cNvPicPr>
            <a:picLocks noChangeAspect="1"/>
          </p:cNvPicPr>
          <p:nvPr/>
        </p:nvPicPr>
        <p:blipFill>
          <a:blip r:embed="rId7">
            <a:lum/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p:blipFill>
        <p:spPr bwMode="white">
          <a:xfrm>
            <a:off x="495610" y="197468"/>
            <a:ext cx="381196" cy="38119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" name="CloudAppAction"/>
          <p:cNvSpPr>
            <a:spLocks/>
          </p:cNvSpPr>
          <p:nvPr/>
        </p:nvSpPr>
        <p:spPr bwMode="auto">
          <a:xfrm>
            <a:off x="6206089" y="2718506"/>
            <a:ext cx="3227026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All cloud apps</a:t>
            </a:r>
          </a:p>
        </p:txBody>
      </p:sp>
      <p:pic>
        <p:nvPicPr>
          <p:cNvPr id="75" name="IconAccessAllCloudApps"/>
          <p:cNvPicPr>
            <a:picLocks noChangeAspect="1"/>
          </p:cNvPicPr>
          <p:nvPr/>
        </p:nvPicPr>
        <p:blipFill>
          <a:blip r:embed="rId9">
            <a:lum/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p:blipFill>
        <p:spPr bwMode="white">
          <a:xfrm>
            <a:off x="6439264" y="2836824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8" name="StateReportOnly"/>
          <p:cNvSpPr>
            <a:spLocks/>
          </p:cNvSpPr>
          <p:nvPr/>
        </p:nvSpPr>
        <p:spPr bwMode="white">
          <a:xfrm>
            <a:off x="10842169" y="103586"/>
            <a:ext cx="1260389" cy="264812"/>
          </a:xfrm>
          <a:prstGeom prst="roundRect">
            <a:avLst/>
          </a:prstGeom>
          <a:ln>
            <a:headEnd type="none"/>
            <a:tailEnd type="none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r>
              <a:rPr lang="en-US" sz="800" dirty="0"/>
              <a:t>Policy Report-only</a:t>
            </a:r>
          </a:p>
        </p:txBody>
      </p:sp>
      <p:grpSp>
        <p:nvGrpSpPr>
          <p:cNvPr id="10" name="IconRiskyUsers"/>
          <p:cNvGrpSpPr>
            <a:grpSpLocks/>
          </p:cNvGrpSpPr>
          <p:nvPr/>
        </p:nvGrpSpPr>
        <p:grpSpPr bwMode="white">
          <a:xfrm>
            <a:off x="635426" y="738677"/>
            <a:ext cx="1202553" cy="274320"/>
            <a:chOff x="2013768" y="1033956"/>
            <a:chExt cx="1342320" cy="274320"/>
          </a:xfrm>
        </p:grpSpPr>
        <p:pic>
          <p:nvPicPr>
            <p:cNvPr id="46" name="Graphic 1"/>
            <p:cNvPicPr>
              <a:picLocks noChangeAspect="1"/>
            </p:cNvPicPr>
            <p:nvPr/>
          </p:nvPicPr>
          <p:blipFill>
            <a:blip r:embed="rId11">
              <a:lum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013768" y="1033956"/>
              <a:ext cx="274320" cy="27432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5" name="Label 1"/>
            <p:cNvSpPr txBox="1">
              <a:spLocks noChangeArrowheads="1"/>
            </p:cNvSpPr>
            <p:nvPr/>
          </p:nvSpPr>
          <p:spPr bwMode="white">
            <a:xfrm>
              <a:off x="2240077" y="1040706"/>
              <a:ext cx="1116011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Risk</a:t>
              </a:r>
            </a:p>
          </p:txBody>
        </p:sp>
      </p:grpSp>
      <p:grpSp>
        <p:nvGrpSpPr>
          <p:cNvPr id="14" name="IconPlatforms"/>
          <p:cNvGrpSpPr>
            <a:grpSpLocks/>
          </p:cNvGrpSpPr>
          <p:nvPr/>
        </p:nvGrpSpPr>
        <p:grpSpPr bwMode="white">
          <a:xfrm>
            <a:off x="1927788" y="715249"/>
            <a:ext cx="1719285" cy="365760"/>
            <a:chOff x="3262737" y="994835"/>
            <a:chExt cx="1719285" cy="365760"/>
          </a:xfrm>
        </p:grpSpPr>
        <p:pic>
          <p:nvPicPr>
            <p:cNvPr id="29" name="Graphic 1"/>
            <p:cNvPicPr>
              <a:picLocks noChangeAspect="1"/>
            </p:cNvPicPr>
            <p:nvPr/>
          </p:nvPicPr>
          <p:blipFill>
            <a:blip r:embed="rId13">
              <a:lum/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3262737" y="994835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1" name="Label 1"/>
            <p:cNvSpPr txBox="1">
              <a:spLocks noChangeArrowheads="1"/>
            </p:cNvSpPr>
            <p:nvPr/>
          </p:nvSpPr>
          <p:spPr bwMode="white">
            <a:xfrm>
              <a:off x="3582397" y="1027255"/>
              <a:ext cx="1399625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Device platforms</a:t>
              </a:r>
            </a:p>
          </p:txBody>
        </p:sp>
      </p:grpSp>
      <p:grpSp>
        <p:nvGrpSpPr>
          <p:cNvPr id="17" name="IconClientAppTypes"/>
          <p:cNvGrpSpPr>
            <a:grpSpLocks/>
          </p:cNvGrpSpPr>
          <p:nvPr/>
        </p:nvGrpSpPr>
        <p:grpSpPr bwMode="white">
          <a:xfrm>
            <a:off x="3908159" y="670015"/>
            <a:ext cx="1852971" cy="365760"/>
            <a:chOff x="4858970" y="975927"/>
            <a:chExt cx="1852971" cy="365760"/>
          </a:xfrm>
        </p:grpSpPr>
        <p:pic>
          <p:nvPicPr>
            <p:cNvPr id="58" name="Graphic 1"/>
            <p:cNvPicPr>
              <a:picLocks noChangeAspect="1"/>
            </p:cNvPicPr>
            <p:nvPr/>
          </p:nvPicPr>
          <p:blipFill>
            <a:blip r:embed="rId15">
              <a:lum/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858970" y="975927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5" name="Label 1"/>
            <p:cNvSpPr txBox="1">
              <a:spLocks noChangeArrowheads="1"/>
            </p:cNvSpPr>
            <p:nvPr/>
          </p:nvSpPr>
          <p:spPr bwMode="white">
            <a:xfrm>
              <a:off x="5193983" y="1009899"/>
              <a:ext cx="1517958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Client apps</a:t>
              </a:r>
            </a:p>
          </p:txBody>
        </p:sp>
      </p:grpSp>
      <p:grpSp>
        <p:nvGrpSpPr>
          <p:cNvPr id="37" name="IconLocations"/>
          <p:cNvGrpSpPr>
            <a:grpSpLocks/>
          </p:cNvGrpSpPr>
          <p:nvPr/>
        </p:nvGrpSpPr>
        <p:grpSpPr bwMode="white">
          <a:xfrm>
            <a:off x="8411896" y="646848"/>
            <a:ext cx="1850168" cy="388465"/>
            <a:chOff x="2321433" y="3262888"/>
            <a:chExt cx="1850168" cy="388465"/>
          </a:xfrm>
        </p:grpSpPr>
        <p:pic>
          <p:nvPicPr>
            <p:cNvPr id="33" name="Graphic 1"/>
            <p:cNvPicPr>
              <a:picLocks noChangeAspect="1"/>
            </p:cNvPicPr>
            <p:nvPr/>
          </p:nvPicPr>
          <p:blipFill>
            <a:blip r:embed="rId17">
              <a:lum/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321433" y="3262888"/>
              <a:ext cx="388465" cy="388465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28" name="Label 1"/>
            <p:cNvSpPr txBox="1">
              <a:spLocks noChangeArrowheads="1"/>
            </p:cNvSpPr>
            <p:nvPr/>
          </p:nvSpPr>
          <p:spPr bwMode="white">
            <a:xfrm>
              <a:off x="2713321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Locations</a:t>
              </a:r>
              <a:endParaRPr lang="en-US" sz="1100" b="1" dirty="0"/>
            </a:p>
          </p:txBody>
        </p:sp>
      </p:grpSp>
      <p:grpSp>
        <p:nvGrpSpPr>
          <p:cNvPr id="39" name="IconDeviceFilters"/>
          <p:cNvGrpSpPr>
            <a:grpSpLocks/>
          </p:cNvGrpSpPr>
          <p:nvPr/>
        </p:nvGrpSpPr>
        <p:grpSpPr bwMode="white">
          <a:xfrm>
            <a:off x="5472818" y="661958"/>
            <a:ext cx="1839823" cy="364111"/>
            <a:chOff x="4195414" y="3273669"/>
            <a:chExt cx="1839823" cy="364111"/>
          </a:xfrm>
        </p:grpSpPr>
        <p:pic>
          <p:nvPicPr>
            <p:cNvPr id="60" name="Graphic 1"/>
            <p:cNvPicPr>
              <a:picLocks noChangeAspect="1"/>
            </p:cNvPicPr>
            <p:nvPr/>
          </p:nvPicPr>
          <p:blipFill>
            <a:blip r:embed="rId19">
              <a:lum/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195414" y="3273669"/>
              <a:ext cx="364111" cy="364111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31" name="Label 1"/>
            <p:cNvSpPr txBox="1">
              <a:spLocks noChangeArrowheads="1"/>
            </p:cNvSpPr>
            <p:nvPr/>
          </p:nvSpPr>
          <p:spPr bwMode="white">
            <a:xfrm>
              <a:off x="4576957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Filter for devices</a:t>
              </a:r>
              <a:endParaRPr lang="en-US" sz="1100" b="1" dirty="0"/>
            </a:p>
          </p:txBody>
        </p:sp>
      </p:grpSp>
      <p:pic>
        <p:nvPicPr>
          <p:cNvPr id="62" name="IconGrantMultifactorAuthentication"/>
          <p:cNvPicPr>
            <a:picLocks noChangeAspect="1"/>
          </p:cNvPicPr>
          <p:nvPr/>
        </p:nvPicPr>
        <p:blipFill>
          <a:blip r:embed="rId21">
            <a:lum/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>
            <a:fillRect/>
          </a:stretch>
        </p:blipFill>
        <p:spPr bwMode="white">
          <a:xfrm>
            <a:off x="3410647" y="3566863"/>
            <a:ext cx="17145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5" name="IconGrantMultifactorAuthenticationLabel"/>
          <p:cNvSpPr txBox="1">
            <a:spLocks noChangeArrowheads="1"/>
          </p:cNvSpPr>
          <p:nvPr/>
        </p:nvSpPr>
        <p:spPr bwMode="white">
          <a:xfrm>
            <a:off x="3575836" y="3571997"/>
            <a:ext cx="19007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Multifactor authentication</a:t>
            </a:r>
            <a:endParaRPr lang="en-US" sz="1000" dirty="0"/>
          </a:p>
        </p:txBody>
      </p:sp>
      <p:pic>
        <p:nvPicPr>
          <p:cNvPr id="38" name="IconGrantAuthenticationStrength"/>
          <p:cNvPicPr>
            <a:picLocks noChangeAspect="1"/>
          </p:cNvPicPr>
          <p:nvPr/>
        </p:nvPicPr>
        <p:blipFill>
          <a:blip r:embed="rId23">
            <a:lum/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/>
          <a:stretch>
            <a:fillRect/>
          </a:stretch>
        </p:blipFill>
        <p:spPr bwMode="white">
          <a:xfrm>
            <a:off x="3374515" y="3905034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7" name="IconGrantAuthenticationStrengthLabel"/>
          <p:cNvSpPr txBox="1">
            <a:spLocks noChangeArrowheads="1"/>
          </p:cNvSpPr>
          <p:nvPr/>
        </p:nvSpPr>
        <p:spPr bwMode="white">
          <a:xfrm>
            <a:off x="3575836" y="3907323"/>
            <a:ext cx="2185294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Authentication strength</a:t>
            </a:r>
            <a:endParaRPr lang="en-US" sz="1000" dirty="0"/>
          </a:p>
        </p:txBody>
      </p:sp>
      <p:pic>
        <p:nvPicPr>
          <p:cNvPr id="52" name="IconGrantDeviceCompliance"/>
          <p:cNvPicPr>
            <a:picLocks noChangeAspect="1"/>
          </p:cNvPicPr>
          <p:nvPr/>
        </p:nvPicPr>
        <p:blipFill>
          <a:blip r:embed="rId25">
            <a:lum/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/>
          <a:stretch>
            <a:fillRect/>
          </a:stretch>
        </p:blipFill>
        <p:spPr bwMode="white">
          <a:xfrm>
            <a:off x="3374515" y="4243205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9" name="IconGrantDeviceComplianceLabel"/>
          <p:cNvSpPr txBox="1">
            <a:spLocks noChangeArrowheads="1"/>
          </p:cNvSpPr>
          <p:nvPr/>
        </p:nvSpPr>
        <p:spPr bwMode="white">
          <a:xfrm>
            <a:off x="3575836" y="4242649"/>
            <a:ext cx="17378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Compliant device</a:t>
            </a:r>
            <a:endParaRPr lang="en-US" sz="1000" dirty="0"/>
          </a:p>
        </p:txBody>
      </p:sp>
      <p:pic>
        <p:nvPicPr>
          <p:cNvPr id="43" name="IconGrantHybridJoined"/>
          <p:cNvPicPr>
            <a:picLocks noChangeAspect="1"/>
          </p:cNvPicPr>
          <p:nvPr/>
        </p:nvPicPr>
        <p:blipFill>
          <a:blip r:embed="rId27">
            <a:lum/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/>
          <a:stretch>
            <a:fillRect/>
          </a:stretch>
        </p:blipFill>
        <p:spPr bwMode="white">
          <a:xfrm>
            <a:off x="3374515" y="4581376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3" name="IconGrantHybridJoinedLabel"/>
          <p:cNvSpPr txBox="1">
            <a:spLocks noChangeArrowheads="1"/>
          </p:cNvSpPr>
          <p:nvPr/>
        </p:nvSpPr>
        <p:spPr bwMode="white">
          <a:xfrm>
            <a:off x="3575836" y="4577975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Hybrid Azure AD joined device</a:t>
            </a:r>
            <a:endParaRPr lang="en-US" sz="1000" dirty="0"/>
          </a:p>
        </p:txBody>
      </p:sp>
      <p:pic>
        <p:nvPicPr>
          <p:cNvPr id="48" name="IconGrantApprovedClientApp"/>
          <p:cNvPicPr>
            <a:picLocks noChangeAspect="1"/>
          </p:cNvPicPr>
          <p:nvPr/>
        </p:nvPicPr>
        <p:blipFill>
          <a:blip r:embed="rId29">
            <a:lum/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rcRect/>
          <a:stretch>
            <a:fillRect/>
          </a:stretch>
        </p:blipFill>
        <p:spPr bwMode="white">
          <a:xfrm>
            <a:off x="3374515" y="491954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5" name="IconGrantApprovedClientAppLabel"/>
          <p:cNvSpPr txBox="1">
            <a:spLocks noChangeArrowheads="1"/>
          </p:cNvSpPr>
          <p:nvPr/>
        </p:nvSpPr>
        <p:spPr bwMode="white">
          <a:xfrm>
            <a:off x="3575836" y="4913301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Approved client app</a:t>
            </a:r>
            <a:endParaRPr lang="en-US" sz="1000" dirty="0"/>
          </a:p>
        </p:txBody>
      </p:sp>
      <p:pic>
        <p:nvPicPr>
          <p:cNvPr id="42" name="IconGrantCustomAuth"/>
          <p:cNvPicPr>
            <a:picLocks noChangeAspect="1"/>
          </p:cNvPicPr>
          <p:nvPr/>
        </p:nvPicPr>
        <p:blipFill>
          <a:blip r:embed="rId31">
            <a:lum/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rcRect/>
          <a:stretch>
            <a:fillRect/>
          </a:stretch>
        </p:blipFill>
        <p:spPr bwMode="white">
          <a:xfrm>
            <a:off x="3374515" y="593406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9" name="IconGrantCustomAuthLabel"/>
          <p:cNvSpPr txBox="1">
            <a:spLocks noChangeArrowheads="1"/>
          </p:cNvSpPr>
          <p:nvPr/>
        </p:nvSpPr>
        <p:spPr bwMode="white">
          <a:xfrm>
            <a:off x="3575836" y="5919279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Custom authentication factor</a:t>
            </a:r>
            <a:endParaRPr lang="en-US" sz="1000" dirty="0"/>
          </a:p>
        </p:txBody>
      </p:sp>
      <p:pic>
        <p:nvPicPr>
          <p:cNvPr id="40" name="IconGrantTermsOfUse"/>
          <p:cNvPicPr>
            <a:picLocks noChangeAspect="1"/>
          </p:cNvPicPr>
          <p:nvPr/>
        </p:nvPicPr>
        <p:blipFill>
          <a:blip r:embed="rId33">
            <a:lum/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rcRect/>
          <a:stretch>
            <a:fillRect/>
          </a:stretch>
        </p:blipFill>
        <p:spPr bwMode="white">
          <a:xfrm>
            <a:off x="3374515" y="627222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3" name="IconGrantTermsOfUseLabel"/>
          <p:cNvSpPr txBox="1">
            <a:spLocks noChangeArrowheads="1"/>
          </p:cNvSpPr>
          <p:nvPr/>
        </p:nvSpPr>
        <p:spPr bwMode="white">
          <a:xfrm>
            <a:off x="3575836" y="625460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Terms of use</a:t>
            </a:r>
            <a:endParaRPr lang="en-US" sz="1000" dirty="0"/>
          </a:p>
        </p:txBody>
      </p:sp>
      <p:sp>
        <p:nvSpPr>
          <p:cNvPr id="56" name="IconGrantAppProtectionLabel"/>
          <p:cNvSpPr txBox="1">
            <a:spLocks noChangeArrowheads="1"/>
          </p:cNvSpPr>
          <p:nvPr/>
        </p:nvSpPr>
        <p:spPr bwMode="white">
          <a:xfrm>
            <a:off x="3575836" y="524862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 protection policy</a:t>
            </a:r>
            <a:endParaRPr lang="en-US" sz="1000" dirty="0"/>
          </a:p>
        </p:txBody>
      </p:sp>
      <p:pic>
        <p:nvPicPr>
          <p:cNvPr id="65" name="IconGrantAppProtection"/>
          <p:cNvPicPr>
            <a:picLocks noChangeAspect="1"/>
          </p:cNvPicPr>
          <p:nvPr/>
        </p:nvPicPr>
        <p:blipFill>
          <a:blip r:embed="rId35">
            <a:lum/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rcRect/>
          <a:stretch>
            <a:fillRect/>
          </a:stretch>
        </p:blipFill>
        <p:spPr bwMode="white">
          <a:xfrm>
            <a:off x="3374515" y="525771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7" name="IconGrantChangePasswordLabel"/>
          <p:cNvSpPr txBox="1">
            <a:spLocks noChangeArrowheads="1"/>
          </p:cNvSpPr>
          <p:nvPr/>
        </p:nvSpPr>
        <p:spPr bwMode="white">
          <a:xfrm>
            <a:off x="3575836" y="5583953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Change password</a:t>
            </a:r>
            <a:endParaRPr lang="en-US" sz="1000" dirty="0"/>
          </a:p>
        </p:txBody>
      </p:sp>
      <p:pic>
        <p:nvPicPr>
          <p:cNvPr id="67" name="IconGrantChangePassword"/>
          <p:cNvPicPr>
            <a:picLocks noChangeAspect="1"/>
          </p:cNvPicPr>
          <p:nvPr/>
        </p:nvPicPr>
        <p:blipFill>
          <a:blip r:embed="rId37">
            <a:lum/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rcRect/>
          <a:stretch>
            <a:fillRect/>
          </a:stretch>
        </p:blipFill>
        <p:spPr bwMode="white">
          <a:xfrm>
            <a:off x="3374515" y="5595889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4" name="ShadeRisk"/>
          <p:cNvSpPr>
            <a:spLocks/>
          </p:cNvSpPr>
          <p:nvPr/>
        </p:nvSpPr>
        <p:spPr bwMode="white">
          <a:xfrm>
            <a:off x="507564" y="650246"/>
            <a:ext cx="976864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66" name="ShadeDevicePlatforms"/>
          <p:cNvSpPr>
            <a:spLocks/>
          </p:cNvSpPr>
          <p:nvPr/>
        </p:nvSpPr>
        <p:spPr bwMode="white">
          <a:xfrm>
            <a:off x="1863623" y="663409"/>
            <a:ext cx="1773927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78" name="ShadeClientApps"/>
          <p:cNvSpPr>
            <a:spLocks/>
          </p:cNvSpPr>
          <p:nvPr/>
        </p:nvSpPr>
        <p:spPr bwMode="white">
          <a:xfrm>
            <a:off x="3802273" y="650246"/>
            <a:ext cx="1481482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79" name="ShadeLocations"/>
          <p:cNvSpPr>
            <a:spLocks/>
          </p:cNvSpPr>
          <p:nvPr/>
        </p:nvSpPr>
        <p:spPr bwMode="white">
          <a:xfrm>
            <a:off x="8217572" y="669110"/>
            <a:ext cx="1873684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2" name="ShadeFilterForDevices"/>
          <p:cNvSpPr>
            <a:spLocks/>
          </p:cNvSpPr>
          <p:nvPr/>
        </p:nvSpPr>
        <p:spPr bwMode="white">
          <a:xfrm>
            <a:off x="5438955" y="627922"/>
            <a:ext cx="1873685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3" name="ShadeGrantMultifactorAuth"/>
          <p:cNvSpPr>
            <a:spLocks/>
          </p:cNvSpPr>
          <p:nvPr/>
        </p:nvSpPr>
        <p:spPr bwMode="white">
          <a:xfrm>
            <a:off x="3369399" y="3534220"/>
            <a:ext cx="2069555" cy="28330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4" name="ShadeGrantAuthStrength"/>
          <p:cNvSpPr>
            <a:spLocks/>
          </p:cNvSpPr>
          <p:nvPr/>
        </p:nvSpPr>
        <p:spPr bwMode="white">
          <a:xfrm>
            <a:off x="3350256" y="3869846"/>
            <a:ext cx="2069555" cy="27801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5" name="ShadeGrantCompliantDevice"/>
          <p:cNvSpPr>
            <a:spLocks/>
          </p:cNvSpPr>
          <p:nvPr/>
        </p:nvSpPr>
        <p:spPr bwMode="white">
          <a:xfrm>
            <a:off x="3361852" y="4243205"/>
            <a:ext cx="2077102" cy="26110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6" name="ShadeGrantHybridAzureADJoined"/>
          <p:cNvSpPr>
            <a:spLocks/>
          </p:cNvSpPr>
          <p:nvPr/>
        </p:nvSpPr>
        <p:spPr bwMode="white">
          <a:xfrm>
            <a:off x="3353637" y="4552268"/>
            <a:ext cx="2160906" cy="298395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7" name="ShadeGrantApprovedClientApp"/>
          <p:cNvSpPr>
            <a:spLocks/>
          </p:cNvSpPr>
          <p:nvPr/>
        </p:nvSpPr>
        <p:spPr bwMode="white">
          <a:xfrm>
            <a:off x="3331918" y="4876027"/>
            <a:ext cx="2182625" cy="29839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8" name="ShadeGrantAppProtectionPolicy"/>
          <p:cNvSpPr>
            <a:spLocks/>
          </p:cNvSpPr>
          <p:nvPr/>
        </p:nvSpPr>
        <p:spPr bwMode="white">
          <a:xfrm>
            <a:off x="3350256" y="5207226"/>
            <a:ext cx="2122561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9" name="ShadeGrantChangePassword"/>
          <p:cNvSpPr>
            <a:spLocks/>
          </p:cNvSpPr>
          <p:nvPr/>
        </p:nvSpPr>
        <p:spPr bwMode="white">
          <a:xfrm>
            <a:off x="3350257" y="5557021"/>
            <a:ext cx="2042006" cy="287239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0" name="ShadeGrantCustomAuthFactor"/>
          <p:cNvSpPr>
            <a:spLocks/>
          </p:cNvSpPr>
          <p:nvPr/>
        </p:nvSpPr>
        <p:spPr bwMode="white">
          <a:xfrm>
            <a:off x="3331918" y="5899058"/>
            <a:ext cx="2182625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1" name="ShadeGrantTermsOfUse"/>
          <p:cNvSpPr>
            <a:spLocks/>
          </p:cNvSpPr>
          <p:nvPr/>
        </p:nvSpPr>
        <p:spPr bwMode="white">
          <a:xfrm>
            <a:off x="3313823" y="6192350"/>
            <a:ext cx="101602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99" name="Rectangle 98"/>
          <p:cNvSpPr>
            <a:spLocks/>
          </p:cNvSpPr>
          <p:nvPr/>
        </p:nvSpPr>
        <p:spPr bwMode="white">
          <a:xfrm>
            <a:off x="3268757" y="3253404"/>
            <a:ext cx="2357725" cy="3498546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0" name="Rectangle 109"/>
          <p:cNvSpPr>
            <a:spLocks/>
          </p:cNvSpPr>
          <p:nvPr/>
        </p:nvSpPr>
        <p:spPr bwMode="white">
          <a:xfrm>
            <a:off x="9881750" y="3248255"/>
            <a:ext cx="2220808" cy="3510149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7" name="Rectangle 116"/>
          <p:cNvSpPr>
            <a:spLocks/>
          </p:cNvSpPr>
          <p:nvPr/>
        </p:nvSpPr>
        <p:spPr bwMode="white">
          <a:xfrm>
            <a:off x="26741" y="606825"/>
            <a:ext cx="11985015" cy="2063636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2" name="Conditions Label"/>
          <p:cNvSpPr txBox="1">
            <a:spLocks noChangeArrowheads="1"/>
          </p:cNvSpPr>
          <p:nvPr/>
        </p:nvSpPr>
        <p:spPr bwMode="white">
          <a:xfrm rot="16200000">
            <a:off x="-883507" y="1514324"/>
            <a:ext cx="2081441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Conditions</a:t>
            </a:r>
          </a:p>
        </p:txBody>
      </p:sp>
      <p:sp>
        <p:nvSpPr>
          <p:cNvPr id="109" name="Grant Controls"/>
          <p:cNvSpPr txBox="1">
            <a:spLocks noChangeArrowheads="1"/>
          </p:cNvSpPr>
          <p:nvPr/>
        </p:nvSpPr>
        <p:spPr bwMode="white">
          <a:xfrm>
            <a:off x="3252146" y="3244395"/>
            <a:ext cx="2391873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Grant Controls</a:t>
            </a:r>
          </a:p>
        </p:txBody>
      </p:sp>
      <p:sp>
        <p:nvSpPr>
          <p:cNvPr id="111" name="Session Controls"/>
          <p:cNvSpPr txBox="1">
            <a:spLocks noChangeArrowheads="1"/>
          </p:cNvSpPr>
          <p:nvPr/>
        </p:nvSpPr>
        <p:spPr bwMode="white">
          <a:xfrm>
            <a:off x="9864212" y="3243751"/>
            <a:ext cx="2238346" cy="23786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Session Controls</a:t>
            </a:r>
          </a:p>
        </p:txBody>
      </p:sp>
      <p:pic>
        <p:nvPicPr>
          <p:cNvPr id="72" name="Graphic 71"/>
          <p:cNvPicPr>
            <a:picLocks noChangeAspect="1"/>
          </p:cNvPicPr>
          <p:nvPr/>
        </p:nvPicPr>
        <p:blipFill>
          <a:blip r:embed="rId39">
            <a:lum/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rcRect/>
          <a:stretch>
            <a:fillRect/>
          </a:stretch>
        </p:blipFill>
        <p:spPr bwMode="white">
          <a:xfrm>
            <a:off x="9996846" y="356982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4" name="Graphic 93"/>
          <p:cNvPicPr>
            <a:picLocks noChangeAspect="1"/>
          </p:cNvPicPr>
          <p:nvPr/>
        </p:nvPicPr>
        <p:blipFill>
          <a:blip r:embed="rId41">
            <a:lum/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rcRect/>
          <a:stretch>
            <a:fillRect/>
          </a:stretch>
        </p:blipFill>
        <p:spPr bwMode="white">
          <a:xfrm>
            <a:off x="10009443" y="525644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5" name="TextBox 94"/>
          <p:cNvSpPr txBox="1">
            <a:spLocks noChangeArrowheads="1"/>
          </p:cNvSpPr>
          <p:nvPr/>
        </p:nvSpPr>
        <p:spPr bwMode="white">
          <a:xfrm>
            <a:off x="10207481" y="3578463"/>
            <a:ext cx="150554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App enforced restrictions</a:t>
            </a:r>
          </a:p>
        </p:txBody>
      </p:sp>
      <p:sp>
        <p:nvSpPr>
          <p:cNvPr id="96" name="TextBox 95"/>
          <p:cNvSpPr txBox="1">
            <a:spLocks noChangeArrowheads="1"/>
          </p:cNvSpPr>
          <p:nvPr/>
        </p:nvSpPr>
        <p:spPr bwMode="white">
          <a:xfrm>
            <a:off x="10201167" y="3899846"/>
            <a:ext cx="181011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Conditional Access App Control</a:t>
            </a:r>
          </a:p>
        </p:txBody>
      </p:sp>
      <p:sp>
        <p:nvSpPr>
          <p:cNvPr id="97" name="TextBox 96"/>
          <p:cNvSpPr txBox="1">
            <a:spLocks noChangeArrowheads="1"/>
          </p:cNvSpPr>
          <p:nvPr/>
        </p:nvSpPr>
        <p:spPr bwMode="white">
          <a:xfrm>
            <a:off x="10215627" y="4357505"/>
            <a:ext cx="1090363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Sign-in frequency</a:t>
            </a:r>
          </a:p>
        </p:txBody>
      </p:sp>
      <p:sp>
        <p:nvSpPr>
          <p:cNvPr id="98" name="TextBox 97"/>
          <p:cNvSpPr txBox="1">
            <a:spLocks noChangeArrowheads="1"/>
          </p:cNvSpPr>
          <p:nvPr/>
        </p:nvSpPr>
        <p:spPr bwMode="white">
          <a:xfrm>
            <a:off x="10225446" y="4793305"/>
            <a:ext cx="156966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Persistent browser session</a:t>
            </a:r>
          </a:p>
        </p:txBody>
      </p:sp>
      <p:sp>
        <p:nvSpPr>
          <p:cNvPr id="100" name="TextBox 99"/>
          <p:cNvSpPr txBox="1">
            <a:spLocks noChangeArrowheads="1"/>
          </p:cNvSpPr>
          <p:nvPr/>
        </p:nvSpPr>
        <p:spPr bwMode="white">
          <a:xfrm>
            <a:off x="10229552" y="5232376"/>
            <a:ext cx="1717137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Continuous access evaluation</a:t>
            </a:r>
          </a:p>
        </p:txBody>
      </p:sp>
      <p:sp>
        <p:nvSpPr>
          <p:cNvPr id="101" name="TextBox 100"/>
          <p:cNvSpPr txBox="1">
            <a:spLocks noChangeArrowheads="1"/>
          </p:cNvSpPr>
          <p:nvPr/>
        </p:nvSpPr>
        <p:spPr bwMode="white">
          <a:xfrm>
            <a:off x="10259108" y="5658625"/>
            <a:ext cx="153599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Disable resilience defaults</a:t>
            </a:r>
          </a:p>
        </p:txBody>
      </p:sp>
      <p:pic>
        <p:nvPicPr>
          <p:cNvPr id="103" name="Graphic 102"/>
          <p:cNvPicPr>
            <a:picLocks noChangeAspect="1"/>
          </p:cNvPicPr>
          <p:nvPr/>
        </p:nvPicPr>
        <p:blipFill>
          <a:blip r:embed="rId43">
            <a:lum/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rcRect/>
          <a:stretch>
            <a:fillRect/>
          </a:stretch>
        </p:blipFill>
        <p:spPr bwMode="white">
          <a:xfrm>
            <a:off x="9996846" y="479900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5" name="Graphic 104"/>
          <p:cNvPicPr>
            <a:picLocks noChangeAspect="1"/>
          </p:cNvPicPr>
          <p:nvPr/>
        </p:nvPicPr>
        <p:blipFill>
          <a:blip r:embed="rId45">
            <a:lum/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rcRect/>
          <a:stretch>
            <a:fillRect/>
          </a:stretch>
        </p:blipFill>
        <p:spPr bwMode="white">
          <a:xfrm>
            <a:off x="9996846" y="437457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7" name="Graphic 106"/>
          <p:cNvPicPr>
            <a:picLocks noChangeAspect="1"/>
          </p:cNvPicPr>
          <p:nvPr/>
        </p:nvPicPr>
        <p:blipFill>
          <a:blip r:embed="rId7">
            <a:lum/>
            <a:extLst>
              <a:ext uri="{96DAC541-7B7A-43D3-8B79-37D633B846F1}">
                <asvg:svgBlip xmlns:asvg="http://schemas.microsoft.com/office/drawing/2016/SVG/main" r:embed="rId47"/>
              </a:ext>
            </a:extLst>
          </a:blip>
          <a:srcRect/>
          <a:stretch>
            <a:fillRect/>
          </a:stretch>
        </p:blipFill>
        <p:spPr bwMode="white">
          <a:xfrm>
            <a:off x="9996846" y="391529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15" name="SessionSifInterval"/>
          <p:cNvSpPr txBox="1">
            <a:spLocks noChangeArrowheads="1"/>
          </p:cNvSpPr>
          <p:nvPr/>
        </p:nvSpPr>
        <p:spPr bwMode="white">
          <a:xfrm>
            <a:off x="10296745" y="4516775"/>
            <a:ext cx="1249060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Periodic reauthentication</a:t>
            </a:r>
          </a:p>
        </p:txBody>
      </p:sp>
      <p:sp>
        <p:nvSpPr>
          <p:cNvPr id="114" name="SessionCasType"/>
          <p:cNvSpPr txBox="1">
            <a:spLocks noChangeArrowheads="1"/>
          </p:cNvSpPr>
          <p:nvPr/>
        </p:nvSpPr>
        <p:spPr bwMode="white">
          <a:xfrm>
            <a:off x="10296745" y="4075500"/>
            <a:ext cx="95410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App Control Policy</a:t>
            </a:r>
          </a:p>
        </p:txBody>
      </p:sp>
      <p:sp>
        <p:nvSpPr>
          <p:cNvPr id="116" name="SessionPersistenBrowserMode"/>
          <p:cNvSpPr txBox="1">
            <a:spLocks noChangeArrowheads="1"/>
          </p:cNvSpPr>
          <p:nvPr/>
        </p:nvSpPr>
        <p:spPr bwMode="white">
          <a:xfrm>
            <a:off x="10309761" y="4945281"/>
            <a:ext cx="918841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Always persistent</a:t>
            </a:r>
          </a:p>
        </p:txBody>
      </p:sp>
      <p:sp>
        <p:nvSpPr>
          <p:cNvPr id="118" name="SessionCaeMode"/>
          <p:cNvSpPr txBox="1">
            <a:spLocks noChangeArrowheads="1"/>
          </p:cNvSpPr>
          <p:nvPr/>
        </p:nvSpPr>
        <p:spPr bwMode="white">
          <a:xfrm>
            <a:off x="10301386" y="5393378"/>
            <a:ext cx="15359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US" sz="800" dirty="0"/>
              <a:t>Strictly enforce location policies</a:t>
            </a:r>
          </a:p>
        </p:txBody>
      </p:sp>
      <p:sp>
        <p:nvSpPr>
          <p:cNvPr id="119" name="ShadeSessionAppEnforced"/>
          <p:cNvSpPr>
            <a:spLocks/>
          </p:cNvSpPr>
          <p:nvPr/>
        </p:nvSpPr>
        <p:spPr bwMode="white">
          <a:xfrm>
            <a:off x="9959680" y="3548808"/>
            <a:ext cx="2051597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0" name="ShadeSessionCas"/>
          <p:cNvSpPr>
            <a:spLocks/>
          </p:cNvSpPr>
          <p:nvPr/>
        </p:nvSpPr>
        <p:spPr bwMode="white">
          <a:xfrm>
            <a:off x="9978939" y="3884212"/>
            <a:ext cx="2087576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1" name="ShadeSessionSif"/>
          <p:cNvSpPr>
            <a:spLocks/>
          </p:cNvSpPr>
          <p:nvPr/>
        </p:nvSpPr>
        <p:spPr bwMode="white">
          <a:xfrm>
            <a:off x="9940787" y="4320077"/>
            <a:ext cx="2125728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2" name="ShadeSessionPersistentBrowser"/>
          <p:cNvSpPr>
            <a:spLocks/>
          </p:cNvSpPr>
          <p:nvPr/>
        </p:nvSpPr>
        <p:spPr bwMode="white">
          <a:xfrm>
            <a:off x="9938833" y="4746195"/>
            <a:ext cx="207244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" name="Label Secure Sign In Session"/>
          <p:cNvSpPr txBox="1">
            <a:spLocks noChangeArrowheads="1"/>
          </p:cNvSpPr>
          <p:nvPr/>
        </p:nvSpPr>
        <p:spPr bwMode="white">
          <a:xfrm>
            <a:off x="10260000" y="6084874"/>
            <a:ext cx="166584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Token protection for session</a:t>
            </a:r>
          </a:p>
        </p:txBody>
      </p:sp>
      <p:pic>
        <p:nvPicPr>
          <p:cNvPr id="77" name="IconSessionCaeDisable" descr="Close with solid fill"/>
          <p:cNvPicPr>
            <a:picLocks noChangeAspect="1"/>
          </p:cNvPicPr>
          <p:nvPr/>
        </p:nvPicPr>
        <p:blipFill>
          <a:blip r:embed="rId48">
            <a:lum/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rcRect/>
          <a:stretch>
            <a:fillRect/>
          </a:stretch>
        </p:blipFill>
        <p:spPr bwMode="white">
          <a:xfrm>
            <a:off x="9979885" y="5218651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2" name="IconSessionSecureSignInSession 1"/>
          <p:cNvPicPr>
            <a:picLocks noChangeAspect="1"/>
          </p:cNvPicPr>
          <p:nvPr/>
        </p:nvPicPr>
        <p:blipFill>
          <a:blip r:embed="rId50">
            <a:lum/>
            <a:extLst>
              <a:ext uri="{96DAC541-7B7A-43D3-8B79-37D633B846F1}">
                <asvg:svgBlip xmlns:asvg="http://schemas.microsoft.com/office/drawing/2016/SVG/main" r:embed="rId51"/>
              </a:ext>
            </a:extLst>
          </a:blip>
          <a:srcRect/>
          <a:stretch>
            <a:fillRect/>
          </a:stretch>
        </p:blipFill>
        <p:spPr bwMode="white">
          <a:xfrm>
            <a:off x="9997200" y="6085768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3" name="ShadeSessionCae"/>
          <p:cNvSpPr>
            <a:spLocks/>
          </p:cNvSpPr>
          <p:nvPr/>
        </p:nvSpPr>
        <p:spPr bwMode="white">
          <a:xfrm>
            <a:off x="9987595" y="5219780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76" name="ShadeSessionSecureSignIn"/>
          <p:cNvSpPr>
            <a:spLocks/>
          </p:cNvSpPr>
          <p:nvPr/>
        </p:nvSpPr>
        <p:spPr bwMode="white">
          <a:xfrm>
            <a:off x="9996846" y="5986498"/>
            <a:ext cx="2014431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pic>
        <p:nvPicPr>
          <p:cNvPr id="102" name="Graphic 101"/>
          <p:cNvPicPr>
            <a:picLocks noChangeAspect="1"/>
          </p:cNvPicPr>
          <p:nvPr/>
        </p:nvPicPr>
        <p:blipFill>
          <a:blip r:embed="rId52">
            <a:lum/>
            <a:extLst>
              <a:ext uri="{96DAC541-7B7A-43D3-8B79-37D633B846F1}">
                <asvg:svgBlip xmlns:asvg="http://schemas.microsoft.com/office/drawing/2016/SVG/main" r:embed="rId53"/>
              </a:ext>
            </a:extLst>
          </a:blip>
          <a:srcRect/>
          <a:stretch>
            <a:fillRect/>
          </a:stretch>
        </p:blipFill>
        <p:spPr bwMode="white">
          <a:xfrm>
            <a:off x="9997200" y="5663777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80" name="Graphic 79" descr="Close with solid fill"/>
          <p:cNvPicPr>
            <a:picLocks noChangeAspect="1"/>
          </p:cNvPicPr>
          <p:nvPr/>
        </p:nvPicPr>
        <p:blipFill>
          <a:blip r:embed="rId48">
            <a:lum/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rcRect/>
          <a:stretch>
            <a:fillRect/>
          </a:stretch>
        </p:blipFill>
        <p:spPr bwMode="white">
          <a:xfrm>
            <a:off x="9963899" y="5637424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4" name="ShadeSessionDisableResilience"/>
          <p:cNvSpPr>
            <a:spLocks/>
          </p:cNvSpPr>
          <p:nvPr/>
        </p:nvSpPr>
        <p:spPr bwMode="white">
          <a:xfrm>
            <a:off x="9959681" y="5602709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2" name="PolicyName">
            <a:hlinkClick r:id="" action="ppaction://hlinkfile"/>
          </p:cNvPr>
          <p:cNvSpPr>
            <a:spLocks noGrp="1"/>
          </p:cNvSpPr>
          <p:nvPr>
            <p:ph type="title"/>
          </p:nvPr>
        </p:nvSpPr>
        <p:spPr bwMode="white">
          <a:xfrm>
            <a:off x="838200" y="115511"/>
            <a:ext cx="10003967" cy="609565"/>
          </a:xfrm>
          <a:ln>
            <a:headEnd type="none"/>
            <a:tailEnd type="none"/>
          </a:ln>
        </p:spPr>
        <p:txBody>
          <a:bodyPr wrap="square">
            <a:noAutofit/>
          </a:bodyPr>
          <a:lstStyle/>
          <a:p>
            <a:pPr defTabSz="914400"/>
            <a:r>
              <a:rPr lang="en-US" sz="2000" b="1" dirty="0"/>
              <a:t>[TEST][BLOCK] SharePoint Service Accounts Only Have Limited Access To Resources</a:t>
            </a:r>
          </a:p>
        </p:txBody>
      </p:sp>
      <p:sp>
        <p:nvSpPr>
          <p:cNvPr id="16" name="LastModified"/>
          <p:cNvSpPr txBox="1">
            <a:spLocks noChangeArrowheads="1"/>
          </p:cNvSpPr>
          <p:nvPr/>
        </p:nvSpPr>
        <p:spPr bwMode="white">
          <a:xfrm>
            <a:off x="10556111" y="388376"/>
            <a:ext cx="15483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algn="r" defTabSz="457200"/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Last modified: 2025-06-05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UserWorkload"/>
          <p:cNvSpPr>
            <a:spLocks/>
          </p:cNvSpPr>
          <p:nvPr/>
        </p:nvSpPr>
        <p:spPr bwMode="auto">
          <a:xfrm>
            <a:off x="175820" y="2709769"/>
            <a:ext cx="2202823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Users</a:t>
            </a:r>
          </a:p>
        </p:txBody>
      </p:sp>
      <p:sp>
        <p:nvSpPr>
          <p:cNvPr id="7" name="UserWorkloadIncExc"/>
          <p:cNvSpPr txBox="1">
            <a:spLocks noChangeArrowheads="1"/>
          </p:cNvSpPr>
          <p:nvPr/>
        </p:nvSpPr>
        <p:spPr bwMode="white">
          <a:xfrm>
            <a:off x="125485" y="3698952"/>
            <a:ext cx="3062115" cy="313265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 numCol="1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b="1" dirty="0"/>
            </a:pPr>
            <a:r>
              <a:t> Users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r>
              <a:t>🚫 Exclude:</a:t>
            </a:r>
          </a:p>
          <a:p>
            <a:pPr defTabSz="457200">
              <a:defRPr sz="1100" b="1" dirty="0"/>
            </a:pPr>
            <a:r>
              <a:t> Groups</a:t>
            </a:r>
          </a:p>
          <a:p>
            <a:pPr defTabSz="457200">
              <a:defRPr sz="1100" dirty="0"/>
            </a:pPr>
            <a:r>
              <a:t> - CO_SVO365ServiceAccounts (25)</a:t>
            </a:r>
          </a:p>
          <a:p>
            <a:pPr defTabSz="457200">
              <a:defRPr sz="1100" dirty="0"/>
            </a:pPr>
            <a:r>
              <a:t> - EntraConnectSyncAccounts (2)</a:t>
            </a:r>
          </a:p>
          <a:p>
            <a:pPr defTabSz="457200">
              <a:defRPr sz="1100" b="1" dirty="0"/>
            </a:pPr>
            <a:r>
              <a:t> Users</a:t>
            </a:r>
          </a:p>
          <a:p>
            <a:pPr defTabSz="457200">
              <a:defRPr sz="1100" dirty="0"/>
            </a:pPr>
            <a:r>
              <a:t> - BGA OCC01</a:t>
            </a:r>
          </a:p>
          <a:p>
            <a:pPr defTabSz="457200">
              <a:defRPr sz="1100" dirty="0"/>
            </a:pPr>
            <a:r>
              <a:t> - BGA OCC02</a:t>
            </a:r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19" name="Risks"/>
          <p:cNvSpPr txBox="1">
            <a:spLocks noChangeArrowheads="1"/>
          </p:cNvSpPr>
          <p:nvPr/>
        </p:nvSpPr>
        <p:spPr bwMode="white">
          <a:xfrm>
            <a:off x="524485" y="1021946"/>
            <a:ext cx="1348869" cy="166886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0" name="Platforms"/>
          <p:cNvSpPr txBox="1">
            <a:spLocks noChangeArrowheads="1"/>
          </p:cNvSpPr>
          <p:nvPr/>
        </p:nvSpPr>
        <p:spPr bwMode="white">
          <a:xfrm>
            <a:off x="1826931" y="1021947"/>
            <a:ext cx="2061056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b="1" dirty="0"/>
            </a:pPr>
            <a:r>
              <a:t>✅ Include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23" name="Locations"/>
          <p:cNvSpPr txBox="1">
            <a:spLocks noChangeArrowheads="1"/>
          </p:cNvSpPr>
          <p:nvPr/>
        </p:nvSpPr>
        <p:spPr bwMode="white">
          <a:xfrm>
            <a:off x="8324941" y="1021947"/>
            <a:ext cx="3513702" cy="159258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4" name="ClientAppTypes"/>
          <p:cNvSpPr txBox="1">
            <a:spLocks noChangeArrowheads="1"/>
          </p:cNvSpPr>
          <p:nvPr/>
        </p:nvSpPr>
        <p:spPr bwMode="white">
          <a:xfrm>
            <a:off x="3810664" y="1021947"/>
            <a:ext cx="1581599" cy="165343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5" name="DeviceFilters"/>
          <p:cNvSpPr txBox="1">
            <a:spLocks noChangeArrowheads="1"/>
          </p:cNvSpPr>
          <p:nvPr/>
        </p:nvSpPr>
        <p:spPr bwMode="white">
          <a:xfrm>
            <a:off x="5818151" y="1022762"/>
            <a:ext cx="2248808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cxnSp>
        <p:nvCxnSpPr>
          <p:cNvPr id="27" name="Straight Arrow Connector 26" descr="Arrow drawn from user/workload  to the action being performed by the user such as accessing cloud apps."/>
          <p:cNvCxnSpPr/>
          <p:nvPr/>
        </p:nvCxnSpPr>
        <p:spPr bwMode="white">
          <a:xfrm>
            <a:off x="2195232" y="3159047"/>
            <a:ext cx="3959471" cy="1"/>
          </a:xfrm>
          <a:prstGeom prst="straightConnector1">
            <a:avLst/>
          </a:prstGeom>
          <a:ln w="76200"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2" name="GrantLabelGrantAccess"/>
          <p:cNvSpPr txBox="1">
            <a:spLocks noChangeArrowheads="1"/>
          </p:cNvSpPr>
          <p:nvPr/>
        </p:nvSpPr>
        <p:spPr bwMode="white">
          <a:xfrm>
            <a:off x="3928464" y="2723089"/>
            <a:ext cx="1381340" cy="369332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algn="ctr" defTabSz="457200"/>
            <a:r>
              <a:rPr lang="en-US" b="1" dirty="0">
                <a:solidFill>
                  <a:srgbClr val="00B050"/>
                </a:solidFill>
              </a:rPr>
              <a:t>Grant access</a:t>
            </a:r>
          </a:p>
        </p:txBody>
      </p:sp>
      <p:pic>
        <p:nvPicPr>
          <p:cNvPr id="35" name="IconGrantAccess" descr="Picture with gren tick sign to indicate access was granted"/>
          <p:cNvPicPr>
            <a:picLocks noChangeAspect="1"/>
          </p:cNvPicPr>
          <p:nvPr/>
        </p:nvPicPr>
        <p:blipFill>
          <a:blip r:embed="rId3">
            <a:lum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 bwMode="white">
          <a:xfrm>
            <a:off x="5309361" y="2730170"/>
            <a:ext cx="356616" cy="35661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3" name="CloudAppActionIncExc"/>
          <p:cNvSpPr txBox="1">
            <a:spLocks noChangeArrowheads="1"/>
          </p:cNvSpPr>
          <p:nvPr/>
        </p:nvSpPr>
        <p:spPr bwMode="white">
          <a:xfrm>
            <a:off x="6039518" y="3662782"/>
            <a:ext cx="3649518" cy="315161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r>
              <a:t>🚫 Exclude:</a:t>
            </a:r>
          </a:p>
          <a:p>
            <a:pPr defTabSz="457200">
              <a:defRPr sz="1100" dirty="0"/>
            </a:pPr>
            <a:r>
              <a:t> - Device Registration Service</a:t>
            </a:r>
          </a:p>
          <a:p>
            <a:pPr defTabSz="457200">
              <a:defRPr sz="1100" dirty="0"/>
            </a:pPr>
            <a:r>
              <a:t> - Microsoft Intune</a:t>
            </a:r>
          </a:p>
          <a:p>
            <a:pPr defTabSz="457200">
              <a:defRPr sz="1100" dirty="0"/>
            </a:pPr>
            <a:r>
              <a:t> - Citrix Gateway</a:t>
            </a:r>
          </a:p>
          <a:p>
            <a:pPr defTabSz="457200">
              <a:defRPr sz="1100" dirty="0"/>
            </a:pPr>
            <a:r>
              <a:t> - Azure Virtual Desktop</a:t>
            </a:r>
          </a:p>
          <a:p>
            <a:pPr defTabSz="457200">
              <a:defRPr sz="1100" dirty="0"/>
            </a:pPr>
            <a:r>
              <a:t> - Microsoft Intune Enrollment</a:t>
            </a:r>
          </a:p>
          <a:p>
            <a:pPr defTabSz="457200">
              <a:defRPr sz="1100" b="1" dirty="0"/>
            </a:pPr>
            <a:endParaRPr/>
          </a:p>
        </p:txBody>
      </p:sp>
      <p:pic>
        <p:nvPicPr>
          <p:cNvPr id="26" name="IconGroupIdentity"/>
          <p:cNvPicPr>
            <a:picLocks noChangeAspect="1"/>
          </p:cNvPicPr>
          <p:nvPr/>
        </p:nvPicPr>
        <p:blipFill>
          <a:blip r:embed="rId5">
            <a:lum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 bwMode="white">
          <a:xfrm>
            <a:off x="327701" y="2839007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36" name="Graphic 35"/>
          <p:cNvPicPr>
            <a:picLocks noChangeAspect="1"/>
          </p:cNvPicPr>
          <p:nvPr/>
        </p:nvPicPr>
        <p:blipFill>
          <a:blip r:embed="rId7">
            <a:lum/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p:blipFill>
        <p:spPr bwMode="white">
          <a:xfrm>
            <a:off x="495610" y="197468"/>
            <a:ext cx="381196" cy="38119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" name="CloudAppAction"/>
          <p:cNvSpPr>
            <a:spLocks/>
          </p:cNvSpPr>
          <p:nvPr/>
        </p:nvSpPr>
        <p:spPr bwMode="auto">
          <a:xfrm>
            <a:off x="6206089" y="2718506"/>
            <a:ext cx="3227026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All cloud apps</a:t>
            </a:r>
          </a:p>
        </p:txBody>
      </p:sp>
      <p:pic>
        <p:nvPicPr>
          <p:cNvPr id="75" name="IconAccessAllCloudApps"/>
          <p:cNvPicPr>
            <a:picLocks noChangeAspect="1"/>
          </p:cNvPicPr>
          <p:nvPr/>
        </p:nvPicPr>
        <p:blipFill>
          <a:blip r:embed="rId9">
            <a:lum/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p:blipFill>
        <p:spPr bwMode="white">
          <a:xfrm>
            <a:off x="6439264" y="2836824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8" name="StateReportOnly"/>
          <p:cNvSpPr>
            <a:spLocks/>
          </p:cNvSpPr>
          <p:nvPr/>
        </p:nvSpPr>
        <p:spPr bwMode="white">
          <a:xfrm>
            <a:off x="10842169" y="103586"/>
            <a:ext cx="1260389" cy="264812"/>
          </a:xfrm>
          <a:prstGeom prst="roundRect">
            <a:avLst/>
          </a:prstGeom>
          <a:ln>
            <a:headEnd type="none"/>
            <a:tailEnd type="none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r>
              <a:rPr lang="en-US" sz="800" dirty="0"/>
              <a:t>Policy Report-only</a:t>
            </a:r>
          </a:p>
        </p:txBody>
      </p:sp>
      <p:grpSp>
        <p:nvGrpSpPr>
          <p:cNvPr id="10" name="IconRiskyUsers"/>
          <p:cNvGrpSpPr>
            <a:grpSpLocks/>
          </p:cNvGrpSpPr>
          <p:nvPr/>
        </p:nvGrpSpPr>
        <p:grpSpPr bwMode="white">
          <a:xfrm>
            <a:off x="635426" y="738677"/>
            <a:ext cx="1202553" cy="274320"/>
            <a:chOff x="2013768" y="1033956"/>
            <a:chExt cx="1342320" cy="274320"/>
          </a:xfrm>
        </p:grpSpPr>
        <p:pic>
          <p:nvPicPr>
            <p:cNvPr id="46" name="Graphic 1"/>
            <p:cNvPicPr>
              <a:picLocks noChangeAspect="1"/>
            </p:cNvPicPr>
            <p:nvPr/>
          </p:nvPicPr>
          <p:blipFill>
            <a:blip r:embed="rId11">
              <a:lum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013768" y="1033956"/>
              <a:ext cx="274320" cy="27432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5" name="Label 1"/>
            <p:cNvSpPr txBox="1">
              <a:spLocks noChangeArrowheads="1"/>
            </p:cNvSpPr>
            <p:nvPr/>
          </p:nvSpPr>
          <p:spPr bwMode="white">
            <a:xfrm>
              <a:off x="2240077" y="1040706"/>
              <a:ext cx="1116011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Risk</a:t>
              </a:r>
            </a:p>
          </p:txBody>
        </p:sp>
      </p:grpSp>
      <p:grpSp>
        <p:nvGrpSpPr>
          <p:cNvPr id="14" name="IconPlatforms"/>
          <p:cNvGrpSpPr>
            <a:grpSpLocks/>
          </p:cNvGrpSpPr>
          <p:nvPr/>
        </p:nvGrpSpPr>
        <p:grpSpPr bwMode="white">
          <a:xfrm>
            <a:off x="1927788" y="715249"/>
            <a:ext cx="1719285" cy="365760"/>
            <a:chOff x="3262737" y="994835"/>
            <a:chExt cx="1719285" cy="365760"/>
          </a:xfrm>
        </p:grpSpPr>
        <p:pic>
          <p:nvPicPr>
            <p:cNvPr id="29" name="Graphic 1"/>
            <p:cNvPicPr>
              <a:picLocks noChangeAspect="1"/>
            </p:cNvPicPr>
            <p:nvPr/>
          </p:nvPicPr>
          <p:blipFill>
            <a:blip r:embed="rId13">
              <a:lum/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3262737" y="994835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1" name="Label 1"/>
            <p:cNvSpPr txBox="1">
              <a:spLocks noChangeArrowheads="1"/>
            </p:cNvSpPr>
            <p:nvPr/>
          </p:nvSpPr>
          <p:spPr bwMode="white">
            <a:xfrm>
              <a:off x="3582397" y="1027255"/>
              <a:ext cx="1399625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Device platforms</a:t>
              </a:r>
            </a:p>
          </p:txBody>
        </p:sp>
      </p:grpSp>
      <p:grpSp>
        <p:nvGrpSpPr>
          <p:cNvPr id="17" name="IconClientAppTypes"/>
          <p:cNvGrpSpPr>
            <a:grpSpLocks/>
          </p:cNvGrpSpPr>
          <p:nvPr/>
        </p:nvGrpSpPr>
        <p:grpSpPr bwMode="white">
          <a:xfrm>
            <a:off x="3908159" y="670015"/>
            <a:ext cx="1852971" cy="365760"/>
            <a:chOff x="4858970" y="975927"/>
            <a:chExt cx="1852971" cy="365760"/>
          </a:xfrm>
        </p:grpSpPr>
        <p:pic>
          <p:nvPicPr>
            <p:cNvPr id="58" name="Graphic 1"/>
            <p:cNvPicPr>
              <a:picLocks noChangeAspect="1"/>
            </p:cNvPicPr>
            <p:nvPr/>
          </p:nvPicPr>
          <p:blipFill>
            <a:blip r:embed="rId15">
              <a:lum/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858970" y="975927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5" name="Label 1"/>
            <p:cNvSpPr txBox="1">
              <a:spLocks noChangeArrowheads="1"/>
            </p:cNvSpPr>
            <p:nvPr/>
          </p:nvSpPr>
          <p:spPr bwMode="white">
            <a:xfrm>
              <a:off x="5193983" y="1009899"/>
              <a:ext cx="1517958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Client apps</a:t>
              </a:r>
            </a:p>
          </p:txBody>
        </p:sp>
      </p:grpSp>
      <p:grpSp>
        <p:nvGrpSpPr>
          <p:cNvPr id="37" name="IconLocations"/>
          <p:cNvGrpSpPr>
            <a:grpSpLocks/>
          </p:cNvGrpSpPr>
          <p:nvPr/>
        </p:nvGrpSpPr>
        <p:grpSpPr bwMode="white">
          <a:xfrm>
            <a:off x="8411896" y="646848"/>
            <a:ext cx="1850168" cy="388465"/>
            <a:chOff x="2321433" y="3262888"/>
            <a:chExt cx="1850168" cy="388465"/>
          </a:xfrm>
        </p:grpSpPr>
        <p:pic>
          <p:nvPicPr>
            <p:cNvPr id="33" name="Graphic 1"/>
            <p:cNvPicPr>
              <a:picLocks noChangeAspect="1"/>
            </p:cNvPicPr>
            <p:nvPr/>
          </p:nvPicPr>
          <p:blipFill>
            <a:blip r:embed="rId17">
              <a:lum/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321433" y="3262888"/>
              <a:ext cx="388465" cy="388465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28" name="Label 1"/>
            <p:cNvSpPr txBox="1">
              <a:spLocks noChangeArrowheads="1"/>
            </p:cNvSpPr>
            <p:nvPr/>
          </p:nvSpPr>
          <p:spPr bwMode="white">
            <a:xfrm>
              <a:off x="2713321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Locations</a:t>
              </a:r>
              <a:endParaRPr lang="en-US" sz="1100" b="1" dirty="0"/>
            </a:p>
          </p:txBody>
        </p:sp>
      </p:grpSp>
      <p:grpSp>
        <p:nvGrpSpPr>
          <p:cNvPr id="39" name="IconDeviceFilters"/>
          <p:cNvGrpSpPr>
            <a:grpSpLocks/>
          </p:cNvGrpSpPr>
          <p:nvPr/>
        </p:nvGrpSpPr>
        <p:grpSpPr bwMode="white">
          <a:xfrm>
            <a:off x="5472818" y="661958"/>
            <a:ext cx="1839823" cy="364111"/>
            <a:chOff x="4195414" y="3273669"/>
            <a:chExt cx="1839823" cy="364111"/>
          </a:xfrm>
        </p:grpSpPr>
        <p:pic>
          <p:nvPicPr>
            <p:cNvPr id="60" name="Graphic 1"/>
            <p:cNvPicPr>
              <a:picLocks noChangeAspect="1"/>
            </p:cNvPicPr>
            <p:nvPr/>
          </p:nvPicPr>
          <p:blipFill>
            <a:blip r:embed="rId19">
              <a:lum/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195414" y="3273669"/>
              <a:ext cx="364111" cy="364111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31" name="Label 1"/>
            <p:cNvSpPr txBox="1">
              <a:spLocks noChangeArrowheads="1"/>
            </p:cNvSpPr>
            <p:nvPr/>
          </p:nvSpPr>
          <p:spPr bwMode="white">
            <a:xfrm>
              <a:off x="4576957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Filter for devices</a:t>
              </a:r>
              <a:endParaRPr lang="en-US" sz="1100" b="1" dirty="0"/>
            </a:p>
          </p:txBody>
        </p:sp>
      </p:grpSp>
      <p:pic>
        <p:nvPicPr>
          <p:cNvPr id="62" name="IconGrantMultifactorAuthentication"/>
          <p:cNvPicPr>
            <a:picLocks noChangeAspect="1"/>
          </p:cNvPicPr>
          <p:nvPr/>
        </p:nvPicPr>
        <p:blipFill>
          <a:blip r:embed="rId21">
            <a:lum/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>
            <a:fillRect/>
          </a:stretch>
        </p:blipFill>
        <p:spPr bwMode="white">
          <a:xfrm>
            <a:off x="3410647" y="3566863"/>
            <a:ext cx="17145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5" name="IconGrantMultifactorAuthenticationLabel"/>
          <p:cNvSpPr txBox="1">
            <a:spLocks noChangeArrowheads="1"/>
          </p:cNvSpPr>
          <p:nvPr/>
        </p:nvSpPr>
        <p:spPr bwMode="white">
          <a:xfrm>
            <a:off x="3575836" y="3571997"/>
            <a:ext cx="19007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Multifactor authentication</a:t>
            </a:r>
            <a:endParaRPr lang="en-US" sz="1000" dirty="0"/>
          </a:p>
        </p:txBody>
      </p:sp>
      <p:pic>
        <p:nvPicPr>
          <p:cNvPr id="38" name="IconGrantAuthenticationStrength"/>
          <p:cNvPicPr>
            <a:picLocks noChangeAspect="1"/>
          </p:cNvPicPr>
          <p:nvPr/>
        </p:nvPicPr>
        <p:blipFill>
          <a:blip r:embed="rId23">
            <a:lum/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/>
          <a:stretch>
            <a:fillRect/>
          </a:stretch>
        </p:blipFill>
        <p:spPr bwMode="white">
          <a:xfrm>
            <a:off x="3374515" y="3905034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7" name="IconGrantAuthenticationStrengthLabel"/>
          <p:cNvSpPr txBox="1">
            <a:spLocks noChangeArrowheads="1"/>
          </p:cNvSpPr>
          <p:nvPr/>
        </p:nvSpPr>
        <p:spPr bwMode="white">
          <a:xfrm>
            <a:off x="3575836" y="3907323"/>
            <a:ext cx="2185294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Authentication strength</a:t>
            </a:r>
            <a:endParaRPr lang="en-US" sz="1000" dirty="0"/>
          </a:p>
        </p:txBody>
      </p:sp>
      <p:pic>
        <p:nvPicPr>
          <p:cNvPr id="52" name="IconGrantDeviceCompliance"/>
          <p:cNvPicPr>
            <a:picLocks noChangeAspect="1"/>
          </p:cNvPicPr>
          <p:nvPr/>
        </p:nvPicPr>
        <p:blipFill>
          <a:blip r:embed="rId25">
            <a:lum/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/>
          <a:stretch>
            <a:fillRect/>
          </a:stretch>
        </p:blipFill>
        <p:spPr bwMode="white">
          <a:xfrm>
            <a:off x="3374515" y="4243205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9" name="IconGrantDeviceComplianceLabel"/>
          <p:cNvSpPr txBox="1">
            <a:spLocks noChangeArrowheads="1"/>
          </p:cNvSpPr>
          <p:nvPr/>
        </p:nvSpPr>
        <p:spPr bwMode="white">
          <a:xfrm>
            <a:off x="3575836" y="4242649"/>
            <a:ext cx="17378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Compliant device</a:t>
            </a:r>
            <a:endParaRPr lang="en-US" sz="1000" dirty="0"/>
          </a:p>
        </p:txBody>
      </p:sp>
      <p:pic>
        <p:nvPicPr>
          <p:cNvPr id="43" name="IconGrantHybridJoined"/>
          <p:cNvPicPr>
            <a:picLocks noChangeAspect="1"/>
          </p:cNvPicPr>
          <p:nvPr/>
        </p:nvPicPr>
        <p:blipFill>
          <a:blip r:embed="rId27">
            <a:lum/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/>
          <a:stretch>
            <a:fillRect/>
          </a:stretch>
        </p:blipFill>
        <p:spPr bwMode="white">
          <a:xfrm>
            <a:off x="3374515" y="4581376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3" name="IconGrantHybridJoinedLabel"/>
          <p:cNvSpPr txBox="1">
            <a:spLocks noChangeArrowheads="1"/>
          </p:cNvSpPr>
          <p:nvPr/>
        </p:nvSpPr>
        <p:spPr bwMode="white">
          <a:xfrm>
            <a:off x="3575836" y="4577975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Hybrid Azure AD joined device</a:t>
            </a:r>
            <a:endParaRPr lang="en-US" sz="1000" dirty="0"/>
          </a:p>
        </p:txBody>
      </p:sp>
      <p:pic>
        <p:nvPicPr>
          <p:cNvPr id="48" name="IconGrantApprovedClientApp"/>
          <p:cNvPicPr>
            <a:picLocks noChangeAspect="1"/>
          </p:cNvPicPr>
          <p:nvPr/>
        </p:nvPicPr>
        <p:blipFill>
          <a:blip r:embed="rId29">
            <a:lum/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rcRect/>
          <a:stretch>
            <a:fillRect/>
          </a:stretch>
        </p:blipFill>
        <p:spPr bwMode="white">
          <a:xfrm>
            <a:off x="3374515" y="491954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5" name="IconGrantApprovedClientAppLabel"/>
          <p:cNvSpPr txBox="1">
            <a:spLocks noChangeArrowheads="1"/>
          </p:cNvSpPr>
          <p:nvPr/>
        </p:nvSpPr>
        <p:spPr bwMode="white">
          <a:xfrm>
            <a:off x="3575836" y="4913301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Approved client app</a:t>
            </a:r>
            <a:endParaRPr lang="en-US" sz="1000" dirty="0"/>
          </a:p>
        </p:txBody>
      </p:sp>
      <p:pic>
        <p:nvPicPr>
          <p:cNvPr id="42" name="IconGrantCustomAuth"/>
          <p:cNvPicPr>
            <a:picLocks noChangeAspect="1"/>
          </p:cNvPicPr>
          <p:nvPr/>
        </p:nvPicPr>
        <p:blipFill>
          <a:blip r:embed="rId31">
            <a:lum/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rcRect/>
          <a:stretch>
            <a:fillRect/>
          </a:stretch>
        </p:blipFill>
        <p:spPr bwMode="white">
          <a:xfrm>
            <a:off x="3374515" y="593406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9" name="IconGrantCustomAuthLabel"/>
          <p:cNvSpPr txBox="1">
            <a:spLocks noChangeArrowheads="1"/>
          </p:cNvSpPr>
          <p:nvPr/>
        </p:nvSpPr>
        <p:spPr bwMode="white">
          <a:xfrm>
            <a:off x="3575836" y="5919279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Custom authentication factor</a:t>
            </a:r>
            <a:endParaRPr lang="en-US" sz="1000" dirty="0"/>
          </a:p>
        </p:txBody>
      </p:sp>
      <p:pic>
        <p:nvPicPr>
          <p:cNvPr id="40" name="IconGrantTermsOfUse"/>
          <p:cNvPicPr>
            <a:picLocks noChangeAspect="1"/>
          </p:cNvPicPr>
          <p:nvPr/>
        </p:nvPicPr>
        <p:blipFill>
          <a:blip r:embed="rId33">
            <a:lum/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rcRect/>
          <a:stretch>
            <a:fillRect/>
          </a:stretch>
        </p:blipFill>
        <p:spPr bwMode="white">
          <a:xfrm>
            <a:off x="3374515" y="627222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3" name="IconGrantTermsOfUseLabel"/>
          <p:cNvSpPr txBox="1">
            <a:spLocks noChangeArrowheads="1"/>
          </p:cNvSpPr>
          <p:nvPr/>
        </p:nvSpPr>
        <p:spPr bwMode="white">
          <a:xfrm>
            <a:off x="3575836" y="625460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Terms of use</a:t>
            </a:r>
            <a:endParaRPr lang="en-US" sz="1000" dirty="0"/>
          </a:p>
        </p:txBody>
      </p:sp>
      <p:sp>
        <p:nvSpPr>
          <p:cNvPr id="56" name="IconGrantAppProtectionLabel"/>
          <p:cNvSpPr txBox="1">
            <a:spLocks noChangeArrowheads="1"/>
          </p:cNvSpPr>
          <p:nvPr/>
        </p:nvSpPr>
        <p:spPr bwMode="white">
          <a:xfrm>
            <a:off x="3575836" y="524862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 protection policy</a:t>
            </a:r>
            <a:endParaRPr lang="en-US" sz="1000" dirty="0"/>
          </a:p>
        </p:txBody>
      </p:sp>
      <p:pic>
        <p:nvPicPr>
          <p:cNvPr id="65" name="IconGrantAppProtection"/>
          <p:cNvPicPr>
            <a:picLocks noChangeAspect="1"/>
          </p:cNvPicPr>
          <p:nvPr/>
        </p:nvPicPr>
        <p:blipFill>
          <a:blip r:embed="rId35">
            <a:lum/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rcRect/>
          <a:stretch>
            <a:fillRect/>
          </a:stretch>
        </p:blipFill>
        <p:spPr bwMode="white">
          <a:xfrm>
            <a:off x="3374515" y="525771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7" name="IconGrantChangePasswordLabel"/>
          <p:cNvSpPr txBox="1">
            <a:spLocks noChangeArrowheads="1"/>
          </p:cNvSpPr>
          <p:nvPr/>
        </p:nvSpPr>
        <p:spPr bwMode="white">
          <a:xfrm>
            <a:off x="3575836" y="5583953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Change password</a:t>
            </a:r>
            <a:endParaRPr lang="en-US" sz="1000" dirty="0"/>
          </a:p>
        </p:txBody>
      </p:sp>
      <p:pic>
        <p:nvPicPr>
          <p:cNvPr id="67" name="IconGrantChangePassword"/>
          <p:cNvPicPr>
            <a:picLocks noChangeAspect="1"/>
          </p:cNvPicPr>
          <p:nvPr/>
        </p:nvPicPr>
        <p:blipFill>
          <a:blip r:embed="rId37">
            <a:lum/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rcRect/>
          <a:stretch>
            <a:fillRect/>
          </a:stretch>
        </p:blipFill>
        <p:spPr bwMode="white">
          <a:xfrm>
            <a:off x="3374515" y="5595889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4" name="ShadeRisk"/>
          <p:cNvSpPr>
            <a:spLocks/>
          </p:cNvSpPr>
          <p:nvPr/>
        </p:nvSpPr>
        <p:spPr bwMode="white">
          <a:xfrm>
            <a:off x="507564" y="650246"/>
            <a:ext cx="976864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78" name="ShadeClientApps"/>
          <p:cNvSpPr>
            <a:spLocks/>
          </p:cNvSpPr>
          <p:nvPr/>
        </p:nvSpPr>
        <p:spPr bwMode="white">
          <a:xfrm>
            <a:off x="3802273" y="650246"/>
            <a:ext cx="1481482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79" name="ShadeLocations"/>
          <p:cNvSpPr>
            <a:spLocks/>
          </p:cNvSpPr>
          <p:nvPr/>
        </p:nvSpPr>
        <p:spPr bwMode="white">
          <a:xfrm>
            <a:off x="8217572" y="669110"/>
            <a:ext cx="1873684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2" name="ShadeFilterForDevices"/>
          <p:cNvSpPr>
            <a:spLocks/>
          </p:cNvSpPr>
          <p:nvPr/>
        </p:nvSpPr>
        <p:spPr bwMode="white">
          <a:xfrm>
            <a:off x="5438955" y="627922"/>
            <a:ext cx="1873685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3" name="ShadeGrantMultifactorAuth"/>
          <p:cNvSpPr>
            <a:spLocks/>
          </p:cNvSpPr>
          <p:nvPr/>
        </p:nvSpPr>
        <p:spPr bwMode="white">
          <a:xfrm>
            <a:off x="3369399" y="3534220"/>
            <a:ext cx="2069555" cy="28330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4" name="ShadeGrantAuthStrength"/>
          <p:cNvSpPr>
            <a:spLocks/>
          </p:cNvSpPr>
          <p:nvPr/>
        </p:nvSpPr>
        <p:spPr bwMode="white">
          <a:xfrm>
            <a:off x="3350256" y="3869846"/>
            <a:ext cx="2069555" cy="27801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7" name="ShadeGrantApprovedClientApp"/>
          <p:cNvSpPr>
            <a:spLocks/>
          </p:cNvSpPr>
          <p:nvPr/>
        </p:nvSpPr>
        <p:spPr bwMode="white">
          <a:xfrm>
            <a:off x="3331918" y="4876027"/>
            <a:ext cx="2182625" cy="29839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8" name="ShadeGrantAppProtectionPolicy"/>
          <p:cNvSpPr>
            <a:spLocks/>
          </p:cNvSpPr>
          <p:nvPr/>
        </p:nvSpPr>
        <p:spPr bwMode="white">
          <a:xfrm>
            <a:off x="3350256" y="5207226"/>
            <a:ext cx="2122561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9" name="ShadeGrantChangePassword"/>
          <p:cNvSpPr>
            <a:spLocks/>
          </p:cNvSpPr>
          <p:nvPr/>
        </p:nvSpPr>
        <p:spPr bwMode="white">
          <a:xfrm>
            <a:off x="3350257" y="5557021"/>
            <a:ext cx="2042006" cy="287239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0" name="ShadeGrantCustomAuthFactor"/>
          <p:cNvSpPr>
            <a:spLocks/>
          </p:cNvSpPr>
          <p:nvPr/>
        </p:nvSpPr>
        <p:spPr bwMode="white">
          <a:xfrm>
            <a:off x="3331918" y="5899058"/>
            <a:ext cx="2182625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1" name="ShadeGrantTermsOfUse"/>
          <p:cNvSpPr>
            <a:spLocks/>
          </p:cNvSpPr>
          <p:nvPr/>
        </p:nvSpPr>
        <p:spPr bwMode="white">
          <a:xfrm>
            <a:off x="3313823" y="6192350"/>
            <a:ext cx="101602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99" name="Rectangle 98"/>
          <p:cNvSpPr>
            <a:spLocks/>
          </p:cNvSpPr>
          <p:nvPr/>
        </p:nvSpPr>
        <p:spPr bwMode="white">
          <a:xfrm>
            <a:off x="3268757" y="3253404"/>
            <a:ext cx="2357725" cy="3498546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0" name="Rectangle 109"/>
          <p:cNvSpPr>
            <a:spLocks/>
          </p:cNvSpPr>
          <p:nvPr/>
        </p:nvSpPr>
        <p:spPr bwMode="white">
          <a:xfrm>
            <a:off x="9881750" y="3248255"/>
            <a:ext cx="2220808" cy="3510149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7" name="Rectangle 116"/>
          <p:cNvSpPr>
            <a:spLocks/>
          </p:cNvSpPr>
          <p:nvPr/>
        </p:nvSpPr>
        <p:spPr bwMode="white">
          <a:xfrm>
            <a:off x="26741" y="606825"/>
            <a:ext cx="11985015" cy="2063636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2" name="Conditions Label"/>
          <p:cNvSpPr txBox="1">
            <a:spLocks noChangeArrowheads="1"/>
          </p:cNvSpPr>
          <p:nvPr/>
        </p:nvSpPr>
        <p:spPr bwMode="white">
          <a:xfrm rot="16200000">
            <a:off x="-883507" y="1514324"/>
            <a:ext cx="2081441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Conditions</a:t>
            </a:r>
          </a:p>
        </p:txBody>
      </p:sp>
      <p:sp>
        <p:nvSpPr>
          <p:cNvPr id="109" name="Grant Controls"/>
          <p:cNvSpPr txBox="1">
            <a:spLocks noChangeArrowheads="1"/>
          </p:cNvSpPr>
          <p:nvPr/>
        </p:nvSpPr>
        <p:spPr bwMode="white">
          <a:xfrm>
            <a:off x="3252146" y="3244395"/>
            <a:ext cx="2391873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Grant Controls</a:t>
            </a:r>
          </a:p>
        </p:txBody>
      </p:sp>
      <p:sp>
        <p:nvSpPr>
          <p:cNvPr id="111" name="Session Controls"/>
          <p:cNvSpPr txBox="1">
            <a:spLocks noChangeArrowheads="1"/>
          </p:cNvSpPr>
          <p:nvPr/>
        </p:nvSpPr>
        <p:spPr bwMode="white">
          <a:xfrm>
            <a:off x="9864212" y="3243751"/>
            <a:ext cx="2238346" cy="23786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Session Controls</a:t>
            </a:r>
          </a:p>
        </p:txBody>
      </p:sp>
      <p:sp>
        <p:nvSpPr>
          <p:cNvPr id="68" name="GrantRequireLabel"/>
          <p:cNvSpPr txBox="1">
            <a:spLocks noChangeArrowheads="1"/>
          </p:cNvSpPr>
          <p:nvPr/>
        </p:nvSpPr>
        <p:spPr bwMode="white">
          <a:xfrm>
            <a:off x="4775511" y="3240533"/>
            <a:ext cx="885943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algn="r" defTabSz="457200"/>
            <a:r>
              <a:rPr lang="en-US" sz="800" cap="small" dirty="0">
                <a:solidFill>
                  <a:schemeClr val="bg2"/>
                </a:solidFill>
              </a:rPr>
              <a:t>Require ONE</a:t>
            </a:r>
          </a:p>
        </p:txBody>
      </p:sp>
      <p:pic>
        <p:nvPicPr>
          <p:cNvPr id="72" name="Graphic 71"/>
          <p:cNvPicPr>
            <a:picLocks noChangeAspect="1"/>
          </p:cNvPicPr>
          <p:nvPr/>
        </p:nvPicPr>
        <p:blipFill>
          <a:blip r:embed="rId39">
            <a:lum/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rcRect/>
          <a:stretch>
            <a:fillRect/>
          </a:stretch>
        </p:blipFill>
        <p:spPr bwMode="white">
          <a:xfrm>
            <a:off x="9996846" y="356982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4" name="Graphic 93"/>
          <p:cNvPicPr>
            <a:picLocks noChangeAspect="1"/>
          </p:cNvPicPr>
          <p:nvPr/>
        </p:nvPicPr>
        <p:blipFill>
          <a:blip r:embed="rId41">
            <a:lum/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rcRect/>
          <a:stretch>
            <a:fillRect/>
          </a:stretch>
        </p:blipFill>
        <p:spPr bwMode="white">
          <a:xfrm>
            <a:off x="10009443" y="525644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5" name="TextBox 94"/>
          <p:cNvSpPr txBox="1">
            <a:spLocks noChangeArrowheads="1"/>
          </p:cNvSpPr>
          <p:nvPr/>
        </p:nvSpPr>
        <p:spPr bwMode="white">
          <a:xfrm>
            <a:off x="10207481" y="3578463"/>
            <a:ext cx="150554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App enforced restrictions</a:t>
            </a:r>
          </a:p>
        </p:txBody>
      </p:sp>
      <p:sp>
        <p:nvSpPr>
          <p:cNvPr id="96" name="TextBox 95"/>
          <p:cNvSpPr txBox="1">
            <a:spLocks noChangeArrowheads="1"/>
          </p:cNvSpPr>
          <p:nvPr/>
        </p:nvSpPr>
        <p:spPr bwMode="white">
          <a:xfrm>
            <a:off x="10201167" y="3899846"/>
            <a:ext cx="181011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Conditional Access App Control</a:t>
            </a:r>
          </a:p>
        </p:txBody>
      </p:sp>
      <p:sp>
        <p:nvSpPr>
          <p:cNvPr id="97" name="TextBox 96"/>
          <p:cNvSpPr txBox="1">
            <a:spLocks noChangeArrowheads="1"/>
          </p:cNvSpPr>
          <p:nvPr/>
        </p:nvSpPr>
        <p:spPr bwMode="white">
          <a:xfrm>
            <a:off x="10215627" y="4357505"/>
            <a:ext cx="1090363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Sign-in frequency</a:t>
            </a:r>
          </a:p>
        </p:txBody>
      </p:sp>
      <p:sp>
        <p:nvSpPr>
          <p:cNvPr id="98" name="TextBox 97"/>
          <p:cNvSpPr txBox="1">
            <a:spLocks noChangeArrowheads="1"/>
          </p:cNvSpPr>
          <p:nvPr/>
        </p:nvSpPr>
        <p:spPr bwMode="white">
          <a:xfrm>
            <a:off x="10225446" y="4793305"/>
            <a:ext cx="156966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Persistent browser session</a:t>
            </a:r>
          </a:p>
        </p:txBody>
      </p:sp>
      <p:sp>
        <p:nvSpPr>
          <p:cNvPr id="100" name="TextBox 99"/>
          <p:cNvSpPr txBox="1">
            <a:spLocks noChangeArrowheads="1"/>
          </p:cNvSpPr>
          <p:nvPr/>
        </p:nvSpPr>
        <p:spPr bwMode="white">
          <a:xfrm>
            <a:off x="10229552" y="5232376"/>
            <a:ext cx="1717137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Continuous access evaluation</a:t>
            </a:r>
          </a:p>
        </p:txBody>
      </p:sp>
      <p:sp>
        <p:nvSpPr>
          <p:cNvPr id="101" name="TextBox 100"/>
          <p:cNvSpPr txBox="1">
            <a:spLocks noChangeArrowheads="1"/>
          </p:cNvSpPr>
          <p:nvPr/>
        </p:nvSpPr>
        <p:spPr bwMode="white">
          <a:xfrm>
            <a:off x="10259108" y="5658625"/>
            <a:ext cx="153599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Disable resilience defaults</a:t>
            </a:r>
          </a:p>
        </p:txBody>
      </p:sp>
      <p:pic>
        <p:nvPicPr>
          <p:cNvPr id="103" name="Graphic 102"/>
          <p:cNvPicPr>
            <a:picLocks noChangeAspect="1"/>
          </p:cNvPicPr>
          <p:nvPr/>
        </p:nvPicPr>
        <p:blipFill>
          <a:blip r:embed="rId43">
            <a:lum/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rcRect/>
          <a:stretch>
            <a:fillRect/>
          </a:stretch>
        </p:blipFill>
        <p:spPr bwMode="white">
          <a:xfrm>
            <a:off x="9996846" y="479900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5" name="Graphic 104"/>
          <p:cNvPicPr>
            <a:picLocks noChangeAspect="1"/>
          </p:cNvPicPr>
          <p:nvPr/>
        </p:nvPicPr>
        <p:blipFill>
          <a:blip r:embed="rId45">
            <a:lum/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rcRect/>
          <a:stretch>
            <a:fillRect/>
          </a:stretch>
        </p:blipFill>
        <p:spPr bwMode="white">
          <a:xfrm>
            <a:off x="9996846" y="437457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7" name="Graphic 106"/>
          <p:cNvPicPr>
            <a:picLocks noChangeAspect="1"/>
          </p:cNvPicPr>
          <p:nvPr/>
        </p:nvPicPr>
        <p:blipFill>
          <a:blip r:embed="rId7">
            <a:lum/>
            <a:extLst>
              <a:ext uri="{96DAC541-7B7A-43D3-8B79-37D633B846F1}">
                <asvg:svgBlip xmlns:asvg="http://schemas.microsoft.com/office/drawing/2016/SVG/main" r:embed="rId47"/>
              </a:ext>
            </a:extLst>
          </a:blip>
          <a:srcRect/>
          <a:stretch>
            <a:fillRect/>
          </a:stretch>
        </p:blipFill>
        <p:spPr bwMode="white">
          <a:xfrm>
            <a:off x="9996846" y="391529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15" name="SessionSifInterval"/>
          <p:cNvSpPr txBox="1">
            <a:spLocks noChangeArrowheads="1"/>
          </p:cNvSpPr>
          <p:nvPr/>
        </p:nvSpPr>
        <p:spPr bwMode="white">
          <a:xfrm>
            <a:off x="10296745" y="4516775"/>
            <a:ext cx="1249060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Periodic reauthentication</a:t>
            </a:r>
          </a:p>
        </p:txBody>
      </p:sp>
      <p:sp>
        <p:nvSpPr>
          <p:cNvPr id="114" name="SessionCasType"/>
          <p:cNvSpPr txBox="1">
            <a:spLocks noChangeArrowheads="1"/>
          </p:cNvSpPr>
          <p:nvPr/>
        </p:nvSpPr>
        <p:spPr bwMode="white">
          <a:xfrm>
            <a:off x="10296745" y="4075500"/>
            <a:ext cx="95410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App Control Policy</a:t>
            </a:r>
          </a:p>
        </p:txBody>
      </p:sp>
      <p:sp>
        <p:nvSpPr>
          <p:cNvPr id="116" name="SessionPersistenBrowserMode"/>
          <p:cNvSpPr txBox="1">
            <a:spLocks noChangeArrowheads="1"/>
          </p:cNvSpPr>
          <p:nvPr/>
        </p:nvSpPr>
        <p:spPr bwMode="white">
          <a:xfrm>
            <a:off x="10309761" y="4945281"/>
            <a:ext cx="918841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Always persistent</a:t>
            </a:r>
          </a:p>
        </p:txBody>
      </p:sp>
      <p:sp>
        <p:nvSpPr>
          <p:cNvPr id="118" name="SessionCaeMode"/>
          <p:cNvSpPr txBox="1">
            <a:spLocks noChangeArrowheads="1"/>
          </p:cNvSpPr>
          <p:nvPr/>
        </p:nvSpPr>
        <p:spPr bwMode="white">
          <a:xfrm>
            <a:off x="10301386" y="5393378"/>
            <a:ext cx="15359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US" sz="800" dirty="0"/>
              <a:t>Strictly enforce location policies</a:t>
            </a:r>
          </a:p>
        </p:txBody>
      </p:sp>
      <p:sp>
        <p:nvSpPr>
          <p:cNvPr id="119" name="ShadeSessionAppEnforced"/>
          <p:cNvSpPr>
            <a:spLocks/>
          </p:cNvSpPr>
          <p:nvPr/>
        </p:nvSpPr>
        <p:spPr bwMode="white">
          <a:xfrm>
            <a:off x="9959680" y="3548808"/>
            <a:ext cx="2051597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0" name="ShadeSessionCas"/>
          <p:cNvSpPr>
            <a:spLocks/>
          </p:cNvSpPr>
          <p:nvPr/>
        </p:nvSpPr>
        <p:spPr bwMode="white">
          <a:xfrm>
            <a:off x="9978939" y="3884212"/>
            <a:ext cx="2087576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1" name="ShadeSessionSif"/>
          <p:cNvSpPr>
            <a:spLocks/>
          </p:cNvSpPr>
          <p:nvPr/>
        </p:nvSpPr>
        <p:spPr bwMode="white">
          <a:xfrm>
            <a:off x="9940787" y="4320077"/>
            <a:ext cx="2125728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2" name="ShadeSessionPersistentBrowser"/>
          <p:cNvSpPr>
            <a:spLocks/>
          </p:cNvSpPr>
          <p:nvPr/>
        </p:nvSpPr>
        <p:spPr bwMode="white">
          <a:xfrm>
            <a:off x="9938833" y="4746195"/>
            <a:ext cx="207244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" name="Label Secure Sign In Session"/>
          <p:cNvSpPr txBox="1">
            <a:spLocks noChangeArrowheads="1"/>
          </p:cNvSpPr>
          <p:nvPr/>
        </p:nvSpPr>
        <p:spPr bwMode="white">
          <a:xfrm>
            <a:off x="10260000" y="6084874"/>
            <a:ext cx="166584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Token protection for session</a:t>
            </a:r>
          </a:p>
        </p:txBody>
      </p:sp>
      <p:pic>
        <p:nvPicPr>
          <p:cNvPr id="77" name="IconSessionCaeDisable" descr="Close with solid fill"/>
          <p:cNvPicPr>
            <a:picLocks noChangeAspect="1"/>
          </p:cNvPicPr>
          <p:nvPr/>
        </p:nvPicPr>
        <p:blipFill>
          <a:blip r:embed="rId48">
            <a:lum/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rcRect/>
          <a:stretch>
            <a:fillRect/>
          </a:stretch>
        </p:blipFill>
        <p:spPr bwMode="white">
          <a:xfrm>
            <a:off x="9979885" y="5218651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2" name="IconSessionSecureSignInSession 1"/>
          <p:cNvPicPr>
            <a:picLocks noChangeAspect="1"/>
          </p:cNvPicPr>
          <p:nvPr/>
        </p:nvPicPr>
        <p:blipFill>
          <a:blip r:embed="rId50">
            <a:lum/>
            <a:extLst>
              <a:ext uri="{96DAC541-7B7A-43D3-8B79-37D633B846F1}">
                <asvg:svgBlip xmlns:asvg="http://schemas.microsoft.com/office/drawing/2016/SVG/main" r:embed="rId51"/>
              </a:ext>
            </a:extLst>
          </a:blip>
          <a:srcRect/>
          <a:stretch>
            <a:fillRect/>
          </a:stretch>
        </p:blipFill>
        <p:spPr bwMode="white">
          <a:xfrm>
            <a:off x="9997200" y="6085768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3" name="ShadeSessionCae"/>
          <p:cNvSpPr>
            <a:spLocks/>
          </p:cNvSpPr>
          <p:nvPr/>
        </p:nvSpPr>
        <p:spPr bwMode="white">
          <a:xfrm>
            <a:off x="9987595" y="5219780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76" name="ShadeSessionSecureSignIn"/>
          <p:cNvSpPr>
            <a:spLocks/>
          </p:cNvSpPr>
          <p:nvPr/>
        </p:nvSpPr>
        <p:spPr bwMode="white">
          <a:xfrm>
            <a:off x="9996846" y="5986498"/>
            <a:ext cx="2014431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pic>
        <p:nvPicPr>
          <p:cNvPr id="102" name="Graphic 101"/>
          <p:cNvPicPr>
            <a:picLocks noChangeAspect="1"/>
          </p:cNvPicPr>
          <p:nvPr/>
        </p:nvPicPr>
        <p:blipFill>
          <a:blip r:embed="rId52">
            <a:lum/>
            <a:extLst>
              <a:ext uri="{96DAC541-7B7A-43D3-8B79-37D633B846F1}">
                <asvg:svgBlip xmlns:asvg="http://schemas.microsoft.com/office/drawing/2016/SVG/main" r:embed="rId53"/>
              </a:ext>
            </a:extLst>
          </a:blip>
          <a:srcRect/>
          <a:stretch>
            <a:fillRect/>
          </a:stretch>
        </p:blipFill>
        <p:spPr bwMode="white">
          <a:xfrm>
            <a:off x="9997200" y="5663777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80" name="Graphic 79" descr="Close with solid fill"/>
          <p:cNvPicPr>
            <a:picLocks noChangeAspect="1"/>
          </p:cNvPicPr>
          <p:nvPr/>
        </p:nvPicPr>
        <p:blipFill>
          <a:blip r:embed="rId48">
            <a:lum/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rcRect/>
          <a:stretch>
            <a:fillRect/>
          </a:stretch>
        </p:blipFill>
        <p:spPr bwMode="white">
          <a:xfrm>
            <a:off x="9963899" y="5637424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4" name="ShadeSessionDisableResilience"/>
          <p:cNvSpPr>
            <a:spLocks/>
          </p:cNvSpPr>
          <p:nvPr/>
        </p:nvSpPr>
        <p:spPr bwMode="white">
          <a:xfrm>
            <a:off x="9959681" y="5602709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2" name="PolicyName">
            <a:hlinkClick r:id="" action="ppaction://hlinkfile"/>
          </p:cNvPr>
          <p:cNvSpPr>
            <a:spLocks noGrp="1"/>
          </p:cNvSpPr>
          <p:nvPr>
            <p:ph type="title"/>
          </p:nvPr>
        </p:nvSpPr>
        <p:spPr bwMode="white">
          <a:xfrm>
            <a:off x="838200" y="115511"/>
            <a:ext cx="10003967" cy="609565"/>
          </a:xfrm>
          <a:ln>
            <a:headEnd type="none"/>
            <a:tailEnd type="none"/>
          </a:ln>
        </p:spPr>
        <p:txBody>
          <a:bodyPr wrap="square">
            <a:noAutofit/>
          </a:bodyPr>
          <a:lstStyle/>
          <a:p>
            <a:pPr defTabSz="914400"/>
            <a:r>
              <a:rPr lang="en-US" sz="2000" b="1" dirty="0"/>
              <a:t>[TEST][SCuBA] Managed Devices For Authentication</a:t>
            </a:r>
          </a:p>
        </p:txBody>
      </p:sp>
      <p:sp>
        <p:nvSpPr>
          <p:cNvPr id="16" name="LastModified"/>
          <p:cNvSpPr txBox="1">
            <a:spLocks noChangeArrowheads="1"/>
          </p:cNvSpPr>
          <p:nvPr/>
        </p:nvSpPr>
        <p:spPr bwMode="white">
          <a:xfrm>
            <a:off x="10556111" y="388376"/>
            <a:ext cx="15483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algn="r" defTabSz="457200"/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Last modified: 2025-05-06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UserWorkload"/>
          <p:cNvSpPr>
            <a:spLocks/>
          </p:cNvSpPr>
          <p:nvPr/>
        </p:nvSpPr>
        <p:spPr bwMode="auto">
          <a:xfrm>
            <a:off x="175820" y="2709769"/>
            <a:ext cx="2202823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Users</a:t>
            </a:r>
          </a:p>
        </p:txBody>
      </p:sp>
      <p:sp>
        <p:nvSpPr>
          <p:cNvPr id="7" name="UserWorkloadIncExc"/>
          <p:cNvSpPr txBox="1">
            <a:spLocks noChangeArrowheads="1"/>
          </p:cNvSpPr>
          <p:nvPr/>
        </p:nvSpPr>
        <p:spPr bwMode="white">
          <a:xfrm>
            <a:off x="125485" y="3698952"/>
            <a:ext cx="3062115" cy="313265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 numCol="1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b="1" dirty="0"/>
            </a:pPr>
            <a:r>
              <a:t> Users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r>
              <a:t>🚫 Exclude:</a:t>
            </a:r>
          </a:p>
          <a:p>
            <a:pPr defTabSz="457200">
              <a:defRPr sz="1100" b="1" dirty="0"/>
            </a:pPr>
            <a:r>
              <a:t> Users</a:t>
            </a:r>
          </a:p>
          <a:p>
            <a:pPr defTabSz="457200">
              <a:defRPr sz="1100" dirty="0"/>
            </a:pPr>
            <a:r>
              <a:t> - BGA OCC01</a:t>
            </a:r>
          </a:p>
          <a:p>
            <a:pPr defTabSz="457200">
              <a:defRPr sz="1100" dirty="0"/>
            </a:pPr>
            <a:r>
              <a:t> - BGA OCC02</a:t>
            </a:r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19" name="Risks"/>
          <p:cNvSpPr txBox="1">
            <a:spLocks noChangeArrowheads="1"/>
          </p:cNvSpPr>
          <p:nvPr/>
        </p:nvSpPr>
        <p:spPr bwMode="white">
          <a:xfrm>
            <a:off x="524485" y="1021946"/>
            <a:ext cx="1348869" cy="166886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0" name="Platforms"/>
          <p:cNvSpPr txBox="1">
            <a:spLocks noChangeArrowheads="1"/>
          </p:cNvSpPr>
          <p:nvPr/>
        </p:nvSpPr>
        <p:spPr bwMode="white">
          <a:xfrm>
            <a:off x="1826931" y="1021947"/>
            <a:ext cx="2061056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b="1" dirty="0"/>
            </a:pPr>
            <a:r>
              <a:t>✅ Include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23" name="Locations"/>
          <p:cNvSpPr txBox="1">
            <a:spLocks noChangeArrowheads="1"/>
          </p:cNvSpPr>
          <p:nvPr/>
        </p:nvSpPr>
        <p:spPr bwMode="white">
          <a:xfrm>
            <a:off x="8324941" y="1021947"/>
            <a:ext cx="3513702" cy="159258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4" name="ClientAppTypes"/>
          <p:cNvSpPr txBox="1">
            <a:spLocks noChangeArrowheads="1"/>
          </p:cNvSpPr>
          <p:nvPr/>
        </p:nvSpPr>
        <p:spPr bwMode="white">
          <a:xfrm>
            <a:off x="3810664" y="1021947"/>
            <a:ext cx="1581599" cy="165343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5" name="DeviceFilters"/>
          <p:cNvSpPr txBox="1">
            <a:spLocks noChangeArrowheads="1"/>
          </p:cNvSpPr>
          <p:nvPr/>
        </p:nvSpPr>
        <p:spPr bwMode="white">
          <a:xfrm>
            <a:off x="5818151" y="1022762"/>
            <a:ext cx="2248808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cxnSp>
        <p:nvCxnSpPr>
          <p:cNvPr id="27" name="Straight Arrow Connector 26" descr="Arrow drawn from user/workload  to the action being performed by the user such as accessing cloud apps."/>
          <p:cNvCxnSpPr/>
          <p:nvPr/>
        </p:nvCxnSpPr>
        <p:spPr bwMode="white">
          <a:xfrm>
            <a:off x="2195232" y="3159047"/>
            <a:ext cx="3959471" cy="1"/>
          </a:xfrm>
          <a:prstGeom prst="straightConnector1">
            <a:avLst/>
          </a:prstGeom>
          <a:ln w="76200"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2" name="GrantLabelGrantAccess"/>
          <p:cNvSpPr txBox="1">
            <a:spLocks noChangeArrowheads="1"/>
          </p:cNvSpPr>
          <p:nvPr/>
        </p:nvSpPr>
        <p:spPr bwMode="white">
          <a:xfrm>
            <a:off x="3928464" y="2723089"/>
            <a:ext cx="1381340" cy="369332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algn="ctr" defTabSz="457200"/>
            <a:r>
              <a:rPr lang="en-US" b="1" dirty="0">
                <a:solidFill>
                  <a:srgbClr val="00B050"/>
                </a:solidFill>
              </a:rPr>
              <a:t>Grant access</a:t>
            </a:r>
          </a:p>
        </p:txBody>
      </p:sp>
      <p:pic>
        <p:nvPicPr>
          <p:cNvPr id="35" name="IconGrantAccess" descr="Picture with gren tick sign to indicate access was granted"/>
          <p:cNvPicPr>
            <a:picLocks noChangeAspect="1"/>
          </p:cNvPicPr>
          <p:nvPr/>
        </p:nvPicPr>
        <p:blipFill>
          <a:blip r:embed="rId3">
            <a:lum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 bwMode="white">
          <a:xfrm>
            <a:off x="5309361" y="2730170"/>
            <a:ext cx="356616" cy="356616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26" name="IconGroupIdentity"/>
          <p:cNvPicPr>
            <a:picLocks noChangeAspect="1"/>
          </p:cNvPicPr>
          <p:nvPr/>
        </p:nvPicPr>
        <p:blipFill>
          <a:blip r:embed="rId5">
            <a:lum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 bwMode="white">
          <a:xfrm>
            <a:off x="327701" y="2839007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36" name="Graphic 35"/>
          <p:cNvPicPr>
            <a:picLocks noChangeAspect="1"/>
          </p:cNvPicPr>
          <p:nvPr/>
        </p:nvPicPr>
        <p:blipFill>
          <a:blip r:embed="rId7">
            <a:lum/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p:blipFill>
        <p:spPr bwMode="white">
          <a:xfrm>
            <a:off x="495610" y="197468"/>
            <a:ext cx="381196" cy="38119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" name="CloudAppAction"/>
          <p:cNvSpPr>
            <a:spLocks/>
          </p:cNvSpPr>
          <p:nvPr/>
        </p:nvSpPr>
        <p:spPr bwMode="auto">
          <a:xfrm>
            <a:off x="6206089" y="2718506"/>
            <a:ext cx="3227026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Register security information</a:t>
            </a:r>
          </a:p>
        </p:txBody>
      </p:sp>
      <p:sp>
        <p:nvSpPr>
          <p:cNvPr id="8" name="StateReportOnly"/>
          <p:cNvSpPr>
            <a:spLocks/>
          </p:cNvSpPr>
          <p:nvPr/>
        </p:nvSpPr>
        <p:spPr bwMode="white">
          <a:xfrm>
            <a:off x="10842169" y="103586"/>
            <a:ext cx="1260389" cy="264812"/>
          </a:xfrm>
          <a:prstGeom prst="roundRect">
            <a:avLst/>
          </a:prstGeom>
          <a:ln>
            <a:headEnd type="none"/>
            <a:tailEnd type="none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r>
              <a:rPr lang="en-US" sz="800" dirty="0"/>
              <a:t>Policy Report-only</a:t>
            </a:r>
          </a:p>
        </p:txBody>
      </p:sp>
      <p:grpSp>
        <p:nvGrpSpPr>
          <p:cNvPr id="10" name="IconRiskyUsers"/>
          <p:cNvGrpSpPr>
            <a:grpSpLocks/>
          </p:cNvGrpSpPr>
          <p:nvPr/>
        </p:nvGrpSpPr>
        <p:grpSpPr bwMode="white">
          <a:xfrm>
            <a:off x="635426" y="738677"/>
            <a:ext cx="1202553" cy="274320"/>
            <a:chOff x="2013768" y="1033956"/>
            <a:chExt cx="1342320" cy="274320"/>
          </a:xfrm>
        </p:grpSpPr>
        <p:pic>
          <p:nvPicPr>
            <p:cNvPr id="46" name="Graphic 1"/>
            <p:cNvPicPr>
              <a:picLocks noChangeAspect="1"/>
            </p:cNvPicPr>
            <p:nvPr/>
          </p:nvPicPr>
          <p:blipFill>
            <a:blip r:embed="rId9">
              <a:lum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013768" y="1033956"/>
              <a:ext cx="274320" cy="27432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5" name="Label 1"/>
            <p:cNvSpPr txBox="1">
              <a:spLocks noChangeArrowheads="1"/>
            </p:cNvSpPr>
            <p:nvPr/>
          </p:nvSpPr>
          <p:spPr bwMode="white">
            <a:xfrm>
              <a:off x="2240077" y="1040706"/>
              <a:ext cx="1116011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Risk</a:t>
              </a:r>
            </a:p>
          </p:txBody>
        </p:sp>
      </p:grpSp>
      <p:grpSp>
        <p:nvGrpSpPr>
          <p:cNvPr id="14" name="IconPlatforms"/>
          <p:cNvGrpSpPr>
            <a:grpSpLocks/>
          </p:cNvGrpSpPr>
          <p:nvPr/>
        </p:nvGrpSpPr>
        <p:grpSpPr bwMode="white">
          <a:xfrm>
            <a:off x="1927788" y="715249"/>
            <a:ext cx="1719285" cy="365760"/>
            <a:chOff x="3262737" y="994835"/>
            <a:chExt cx="1719285" cy="365760"/>
          </a:xfrm>
        </p:grpSpPr>
        <p:pic>
          <p:nvPicPr>
            <p:cNvPr id="29" name="Graphic 1"/>
            <p:cNvPicPr>
              <a:picLocks noChangeAspect="1"/>
            </p:cNvPicPr>
            <p:nvPr/>
          </p:nvPicPr>
          <p:blipFill>
            <a:blip r:embed="rId11">
              <a:lum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3262737" y="994835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1" name="Label 1"/>
            <p:cNvSpPr txBox="1">
              <a:spLocks noChangeArrowheads="1"/>
            </p:cNvSpPr>
            <p:nvPr/>
          </p:nvSpPr>
          <p:spPr bwMode="white">
            <a:xfrm>
              <a:off x="3582397" y="1027255"/>
              <a:ext cx="1399625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Device platforms</a:t>
              </a:r>
            </a:p>
          </p:txBody>
        </p:sp>
      </p:grpSp>
      <p:grpSp>
        <p:nvGrpSpPr>
          <p:cNvPr id="17" name="IconClientAppTypes"/>
          <p:cNvGrpSpPr>
            <a:grpSpLocks/>
          </p:cNvGrpSpPr>
          <p:nvPr/>
        </p:nvGrpSpPr>
        <p:grpSpPr bwMode="white">
          <a:xfrm>
            <a:off x="3908159" y="670015"/>
            <a:ext cx="1852971" cy="365760"/>
            <a:chOff x="4858970" y="975927"/>
            <a:chExt cx="1852971" cy="365760"/>
          </a:xfrm>
        </p:grpSpPr>
        <p:pic>
          <p:nvPicPr>
            <p:cNvPr id="58" name="Graphic 1"/>
            <p:cNvPicPr>
              <a:picLocks noChangeAspect="1"/>
            </p:cNvPicPr>
            <p:nvPr/>
          </p:nvPicPr>
          <p:blipFill>
            <a:blip r:embed="rId13">
              <a:lum/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858970" y="975927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5" name="Label 1"/>
            <p:cNvSpPr txBox="1">
              <a:spLocks noChangeArrowheads="1"/>
            </p:cNvSpPr>
            <p:nvPr/>
          </p:nvSpPr>
          <p:spPr bwMode="white">
            <a:xfrm>
              <a:off x="5193983" y="1009899"/>
              <a:ext cx="1517958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Client apps</a:t>
              </a:r>
            </a:p>
          </p:txBody>
        </p:sp>
      </p:grpSp>
      <p:grpSp>
        <p:nvGrpSpPr>
          <p:cNvPr id="37" name="IconLocations"/>
          <p:cNvGrpSpPr>
            <a:grpSpLocks/>
          </p:cNvGrpSpPr>
          <p:nvPr/>
        </p:nvGrpSpPr>
        <p:grpSpPr bwMode="white">
          <a:xfrm>
            <a:off x="8411896" y="646848"/>
            <a:ext cx="1850168" cy="388465"/>
            <a:chOff x="2321433" y="3262888"/>
            <a:chExt cx="1850168" cy="388465"/>
          </a:xfrm>
        </p:grpSpPr>
        <p:pic>
          <p:nvPicPr>
            <p:cNvPr id="33" name="Graphic 1"/>
            <p:cNvPicPr>
              <a:picLocks noChangeAspect="1"/>
            </p:cNvPicPr>
            <p:nvPr/>
          </p:nvPicPr>
          <p:blipFill>
            <a:blip r:embed="rId15">
              <a:lum/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321433" y="3262888"/>
              <a:ext cx="388465" cy="388465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28" name="Label 1"/>
            <p:cNvSpPr txBox="1">
              <a:spLocks noChangeArrowheads="1"/>
            </p:cNvSpPr>
            <p:nvPr/>
          </p:nvSpPr>
          <p:spPr bwMode="white">
            <a:xfrm>
              <a:off x="2713321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Locations</a:t>
              </a:r>
              <a:endParaRPr lang="en-US" sz="1100" b="1" dirty="0"/>
            </a:p>
          </p:txBody>
        </p:sp>
      </p:grpSp>
      <p:grpSp>
        <p:nvGrpSpPr>
          <p:cNvPr id="39" name="IconDeviceFilters"/>
          <p:cNvGrpSpPr>
            <a:grpSpLocks/>
          </p:cNvGrpSpPr>
          <p:nvPr/>
        </p:nvGrpSpPr>
        <p:grpSpPr bwMode="white">
          <a:xfrm>
            <a:off x="5472818" y="661958"/>
            <a:ext cx="1839823" cy="364111"/>
            <a:chOff x="4195414" y="3273669"/>
            <a:chExt cx="1839823" cy="364111"/>
          </a:xfrm>
        </p:grpSpPr>
        <p:pic>
          <p:nvPicPr>
            <p:cNvPr id="60" name="Graphic 1"/>
            <p:cNvPicPr>
              <a:picLocks noChangeAspect="1"/>
            </p:cNvPicPr>
            <p:nvPr/>
          </p:nvPicPr>
          <p:blipFill>
            <a:blip r:embed="rId17">
              <a:lum/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195414" y="3273669"/>
              <a:ext cx="364111" cy="364111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31" name="Label 1"/>
            <p:cNvSpPr txBox="1">
              <a:spLocks noChangeArrowheads="1"/>
            </p:cNvSpPr>
            <p:nvPr/>
          </p:nvSpPr>
          <p:spPr bwMode="white">
            <a:xfrm>
              <a:off x="4576957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Filter for devices</a:t>
              </a:r>
              <a:endParaRPr lang="en-US" sz="1100" b="1" dirty="0"/>
            </a:p>
          </p:txBody>
        </p:sp>
      </p:grpSp>
      <p:pic>
        <p:nvPicPr>
          <p:cNvPr id="62" name="IconGrantMultifactorAuthentication"/>
          <p:cNvPicPr>
            <a:picLocks noChangeAspect="1"/>
          </p:cNvPicPr>
          <p:nvPr/>
        </p:nvPicPr>
        <p:blipFill>
          <a:blip r:embed="rId19">
            <a:lum/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rcRect/>
          <a:stretch>
            <a:fillRect/>
          </a:stretch>
        </p:blipFill>
        <p:spPr bwMode="white">
          <a:xfrm>
            <a:off x="3410647" y="3566863"/>
            <a:ext cx="17145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5" name="IconGrantMultifactorAuthenticationLabel"/>
          <p:cNvSpPr txBox="1">
            <a:spLocks noChangeArrowheads="1"/>
          </p:cNvSpPr>
          <p:nvPr/>
        </p:nvSpPr>
        <p:spPr bwMode="white">
          <a:xfrm>
            <a:off x="3575836" y="3571997"/>
            <a:ext cx="19007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Multifactor authentication</a:t>
            </a:r>
            <a:endParaRPr lang="en-US" sz="1000" dirty="0"/>
          </a:p>
        </p:txBody>
      </p:sp>
      <p:pic>
        <p:nvPicPr>
          <p:cNvPr id="38" name="IconGrantAuthenticationStrength"/>
          <p:cNvPicPr>
            <a:picLocks noChangeAspect="1"/>
          </p:cNvPicPr>
          <p:nvPr/>
        </p:nvPicPr>
        <p:blipFill>
          <a:blip r:embed="rId21">
            <a:lum/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>
            <a:fillRect/>
          </a:stretch>
        </p:blipFill>
        <p:spPr bwMode="white">
          <a:xfrm>
            <a:off x="3374515" y="3905034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7" name="IconGrantAuthenticationStrengthLabel"/>
          <p:cNvSpPr txBox="1">
            <a:spLocks noChangeArrowheads="1"/>
          </p:cNvSpPr>
          <p:nvPr/>
        </p:nvSpPr>
        <p:spPr bwMode="white">
          <a:xfrm>
            <a:off x="3575836" y="3907323"/>
            <a:ext cx="2185294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Authentication strength</a:t>
            </a:r>
            <a:endParaRPr lang="en-US" sz="1000" dirty="0"/>
          </a:p>
        </p:txBody>
      </p:sp>
      <p:pic>
        <p:nvPicPr>
          <p:cNvPr id="52" name="IconGrantDeviceCompliance"/>
          <p:cNvPicPr>
            <a:picLocks noChangeAspect="1"/>
          </p:cNvPicPr>
          <p:nvPr/>
        </p:nvPicPr>
        <p:blipFill>
          <a:blip r:embed="rId23">
            <a:lum/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/>
          <a:stretch>
            <a:fillRect/>
          </a:stretch>
        </p:blipFill>
        <p:spPr bwMode="white">
          <a:xfrm>
            <a:off x="3374515" y="4243205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9" name="IconGrantDeviceComplianceLabel"/>
          <p:cNvSpPr txBox="1">
            <a:spLocks noChangeArrowheads="1"/>
          </p:cNvSpPr>
          <p:nvPr/>
        </p:nvSpPr>
        <p:spPr bwMode="white">
          <a:xfrm>
            <a:off x="3575836" y="4242649"/>
            <a:ext cx="17378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Compliant device</a:t>
            </a:r>
            <a:endParaRPr lang="en-US" sz="1000" dirty="0"/>
          </a:p>
        </p:txBody>
      </p:sp>
      <p:pic>
        <p:nvPicPr>
          <p:cNvPr id="43" name="IconGrantHybridJoined"/>
          <p:cNvPicPr>
            <a:picLocks noChangeAspect="1"/>
          </p:cNvPicPr>
          <p:nvPr/>
        </p:nvPicPr>
        <p:blipFill>
          <a:blip r:embed="rId25">
            <a:lum/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/>
          <a:stretch>
            <a:fillRect/>
          </a:stretch>
        </p:blipFill>
        <p:spPr bwMode="white">
          <a:xfrm>
            <a:off x="3374515" y="4581376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3" name="IconGrantHybridJoinedLabel"/>
          <p:cNvSpPr txBox="1">
            <a:spLocks noChangeArrowheads="1"/>
          </p:cNvSpPr>
          <p:nvPr/>
        </p:nvSpPr>
        <p:spPr bwMode="white">
          <a:xfrm>
            <a:off x="3575836" y="4577975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Hybrid Azure AD joined device</a:t>
            </a:r>
            <a:endParaRPr lang="en-US" sz="1000" dirty="0"/>
          </a:p>
        </p:txBody>
      </p:sp>
      <p:pic>
        <p:nvPicPr>
          <p:cNvPr id="48" name="IconGrantApprovedClientApp"/>
          <p:cNvPicPr>
            <a:picLocks noChangeAspect="1"/>
          </p:cNvPicPr>
          <p:nvPr/>
        </p:nvPicPr>
        <p:blipFill>
          <a:blip r:embed="rId27">
            <a:lum/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/>
          <a:stretch>
            <a:fillRect/>
          </a:stretch>
        </p:blipFill>
        <p:spPr bwMode="white">
          <a:xfrm>
            <a:off x="3374515" y="491954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5" name="IconGrantApprovedClientAppLabel"/>
          <p:cNvSpPr txBox="1">
            <a:spLocks noChangeArrowheads="1"/>
          </p:cNvSpPr>
          <p:nvPr/>
        </p:nvSpPr>
        <p:spPr bwMode="white">
          <a:xfrm>
            <a:off x="3575836" y="4913301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Approved client app</a:t>
            </a:r>
            <a:endParaRPr lang="en-US" sz="1000" dirty="0"/>
          </a:p>
        </p:txBody>
      </p:sp>
      <p:pic>
        <p:nvPicPr>
          <p:cNvPr id="42" name="IconGrantCustomAuth"/>
          <p:cNvPicPr>
            <a:picLocks noChangeAspect="1"/>
          </p:cNvPicPr>
          <p:nvPr/>
        </p:nvPicPr>
        <p:blipFill>
          <a:blip r:embed="rId29">
            <a:lum/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rcRect/>
          <a:stretch>
            <a:fillRect/>
          </a:stretch>
        </p:blipFill>
        <p:spPr bwMode="white">
          <a:xfrm>
            <a:off x="3374515" y="593406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9" name="IconGrantCustomAuthLabel"/>
          <p:cNvSpPr txBox="1">
            <a:spLocks noChangeArrowheads="1"/>
          </p:cNvSpPr>
          <p:nvPr/>
        </p:nvSpPr>
        <p:spPr bwMode="white">
          <a:xfrm>
            <a:off x="3575836" y="5919279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Custom authentication factor</a:t>
            </a:r>
            <a:endParaRPr lang="en-US" sz="1000" dirty="0"/>
          </a:p>
        </p:txBody>
      </p:sp>
      <p:pic>
        <p:nvPicPr>
          <p:cNvPr id="40" name="IconGrantTermsOfUse"/>
          <p:cNvPicPr>
            <a:picLocks noChangeAspect="1"/>
          </p:cNvPicPr>
          <p:nvPr/>
        </p:nvPicPr>
        <p:blipFill>
          <a:blip r:embed="rId31">
            <a:lum/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rcRect/>
          <a:stretch>
            <a:fillRect/>
          </a:stretch>
        </p:blipFill>
        <p:spPr bwMode="white">
          <a:xfrm>
            <a:off x="3374515" y="627222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3" name="IconGrantTermsOfUseLabel"/>
          <p:cNvSpPr txBox="1">
            <a:spLocks noChangeArrowheads="1"/>
          </p:cNvSpPr>
          <p:nvPr/>
        </p:nvSpPr>
        <p:spPr bwMode="white">
          <a:xfrm>
            <a:off x="3575836" y="625460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Terms of use</a:t>
            </a:r>
            <a:endParaRPr lang="en-US" sz="1000" dirty="0"/>
          </a:p>
        </p:txBody>
      </p:sp>
      <p:sp>
        <p:nvSpPr>
          <p:cNvPr id="56" name="IconGrantAppProtectionLabel"/>
          <p:cNvSpPr txBox="1">
            <a:spLocks noChangeArrowheads="1"/>
          </p:cNvSpPr>
          <p:nvPr/>
        </p:nvSpPr>
        <p:spPr bwMode="white">
          <a:xfrm>
            <a:off x="3575836" y="524862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 protection policy</a:t>
            </a:r>
            <a:endParaRPr lang="en-US" sz="1000" dirty="0"/>
          </a:p>
        </p:txBody>
      </p:sp>
      <p:pic>
        <p:nvPicPr>
          <p:cNvPr id="65" name="IconGrantAppProtection"/>
          <p:cNvPicPr>
            <a:picLocks noChangeAspect="1"/>
          </p:cNvPicPr>
          <p:nvPr/>
        </p:nvPicPr>
        <p:blipFill>
          <a:blip r:embed="rId33">
            <a:lum/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rcRect/>
          <a:stretch>
            <a:fillRect/>
          </a:stretch>
        </p:blipFill>
        <p:spPr bwMode="white">
          <a:xfrm>
            <a:off x="3374515" y="525771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69" name="IconAccessMySecurityInfo"/>
          <p:cNvPicPr>
            <a:picLocks noChangeAspect="1"/>
          </p:cNvPicPr>
          <p:nvPr/>
        </p:nvPicPr>
        <p:blipFill>
          <a:blip r:embed="rId35">
            <a:lum/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rcRect/>
          <a:stretch>
            <a:fillRect/>
          </a:stretch>
        </p:blipFill>
        <p:spPr bwMode="white">
          <a:xfrm>
            <a:off x="6451371" y="2882544"/>
            <a:ext cx="548640" cy="54864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7" name="IconGrantChangePasswordLabel"/>
          <p:cNvSpPr txBox="1">
            <a:spLocks noChangeArrowheads="1"/>
          </p:cNvSpPr>
          <p:nvPr/>
        </p:nvSpPr>
        <p:spPr bwMode="white">
          <a:xfrm>
            <a:off x="3575836" y="5583953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Change password</a:t>
            </a:r>
            <a:endParaRPr lang="en-US" sz="1000" dirty="0"/>
          </a:p>
        </p:txBody>
      </p:sp>
      <p:pic>
        <p:nvPicPr>
          <p:cNvPr id="67" name="IconGrantChangePassword"/>
          <p:cNvPicPr>
            <a:picLocks noChangeAspect="1"/>
          </p:cNvPicPr>
          <p:nvPr/>
        </p:nvPicPr>
        <p:blipFill>
          <a:blip r:embed="rId37">
            <a:lum/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rcRect/>
          <a:stretch>
            <a:fillRect/>
          </a:stretch>
        </p:blipFill>
        <p:spPr bwMode="white">
          <a:xfrm>
            <a:off x="3374515" y="5595889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4" name="ShadeRisk"/>
          <p:cNvSpPr>
            <a:spLocks/>
          </p:cNvSpPr>
          <p:nvPr/>
        </p:nvSpPr>
        <p:spPr bwMode="white">
          <a:xfrm>
            <a:off x="507564" y="650246"/>
            <a:ext cx="976864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78" name="ShadeClientApps"/>
          <p:cNvSpPr>
            <a:spLocks/>
          </p:cNvSpPr>
          <p:nvPr/>
        </p:nvSpPr>
        <p:spPr bwMode="white">
          <a:xfrm>
            <a:off x="3802273" y="650246"/>
            <a:ext cx="1481482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79" name="ShadeLocations"/>
          <p:cNvSpPr>
            <a:spLocks/>
          </p:cNvSpPr>
          <p:nvPr/>
        </p:nvSpPr>
        <p:spPr bwMode="white">
          <a:xfrm>
            <a:off x="8217572" y="669110"/>
            <a:ext cx="1873684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2" name="ShadeFilterForDevices"/>
          <p:cNvSpPr>
            <a:spLocks/>
          </p:cNvSpPr>
          <p:nvPr/>
        </p:nvSpPr>
        <p:spPr bwMode="white">
          <a:xfrm>
            <a:off x="5438955" y="627922"/>
            <a:ext cx="1873685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3" name="ShadeGrantMultifactorAuth"/>
          <p:cNvSpPr>
            <a:spLocks/>
          </p:cNvSpPr>
          <p:nvPr/>
        </p:nvSpPr>
        <p:spPr bwMode="white">
          <a:xfrm>
            <a:off x="3369399" y="3534220"/>
            <a:ext cx="2069555" cy="28330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4" name="ShadeGrantAuthStrength"/>
          <p:cNvSpPr>
            <a:spLocks/>
          </p:cNvSpPr>
          <p:nvPr/>
        </p:nvSpPr>
        <p:spPr bwMode="white">
          <a:xfrm>
            <a:off x="3350256" y="3869846"/>
            <a:ext cx="2069555" cy="27801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7" name="ShadeGrantApprovedClientApp"/>
          <p:cNvSpPr>
            <a:spLocks/>
          </p:cNvSpPr>
          <p:nvPr/>
        </p:nvSpPr>
        <p:spPr bwMode="white">
          <a:xfrm>
            <a:off x="3331918" y="4876027"/>
            <a:ext cx="2182625" cy="29839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8" name="ShadeGrantAppProtectionPolicy"/>
          <p:cNvSpPr>
            <a:spLocks/>
          </p:cNvSpPr>
          <p:nvPr/>
        </p:nvSpPr>
        <p:spPr bwMode="white">
          <a:xfrm>
            <a:off x="3350256" y="5207226"/>
            <a:ext cx="2122561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9" name="ShadeGrantChangePassword"/>
          <p:cNvSpPr>
            <a:spLocks/>
          </p:cNvSpPr>
          <p:nvPr/>
        </p:nvSpPr>
        <p:spPr bwMode="white">
          <a:xfrm>
            <a:off x="3350257" y="5557021"/>
            <a:ext cx="2042006" cy="287239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0" name="ShadeGrantCustomAuthFactor"/>
          <p:cNvSpPr>
            <a:spLocks/>
          </p:cNvSpPr>
          <p:nvPr/>
        </p:nvSpPr>
        <p:spPr bwMode="white">
          <a:xfrm>
            <a:off x="3331918" y="5899058"/>
            <a:ext cx="2182625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1" name="ShadeGrantTermsOfUse"/>
          <p:cNvSpPr>
            <a:spLocks/>
          </p:cNvSpPr>
          <p:nvPr/>
        </p:nvSpPr>
        <p:spPr bwMode="white">
          <a:xfrm>
            <a:off x="3313823" y="6192350"/>
            <a:ext cx="101602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99" name="Rectangle 98"/>
          <p:cNvSpPr>
            <a:spLocks/>
          </p:cNvSpPr>
          <p:nvPr/>
        </p:nvSpPr>
        <p:spPr bwMode="white">
          <a:xfrm>
            <a:off x="3268757" y="3253404"/>
            <a:ext cx="2357725" cy="3498546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0" name="Rectangle 109"/>
          <p:cNvSpPr>
            <a:spLocks/>
          </p:cNvSpPr>
          <p:nvPr/>
        </p:nvSpPr>
        <p:spPr bwMode="white">
          <a:xfrm>
            <a:off x="9881750" y="3248255"/>
            <a:ext cx="2220808" cy="3510149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7" name="Rectangle 116"/>
          <p:cNvSpPr>
            <a:spLocks/>
          </p:cNvSpPr>
          <p:nvPr/>
        </p:nvSpPr>
        <p:spPr bwMode="white">
          <a:xfrm>
            <a:off x="26741" y="606825"/>
            <a:ext cx="11985015" cy="2063636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2" name="Conditions Label"/>
          <p:cNvSpPr txBox="1">
            <a:spLocks noChangeArrowheads="1"/>
          </p:cNvSpPr>
          <p:nvPr/>
        </p:nvSpPr>
        <p:spPr bwMode="white">
          <a:xfrm rot="16200000">
            <a:off x="-883507" y="1514324"/>
            <a:ext cx="2081441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Conditions</a:t>
            </a:r>
          </a:p>
        </p:txBody>
      </p:sp>
      <p:sp>
        <p:nvSpPr>
          <p:cNvPr id="109" name="Grant Controls"/>
          <p:cNvSpPr txBox="1">
            <a:spLocks noChangeArrowheads="1"/>
          </p:cNvSpPr>
          <p:nvPr/>
        </p:nvSpPr>
        <p:spPr bwMode="white">
          <a:xfrm>
            <a:off x="3252146" y="3244395"/>
            <a:ext cx="2391873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Grant Controls</a:t>
            </a:r>
          </a:p>
        </p:txBody>
      </p:sp>
      <p:sp>
        <p:nvSpPr>
          <p:cNvPr id="111" name="Session Controls"/>
          <p:cNvSpPr txBox="1">
            <a:spLocks noChangeArrowheads="1"/>
          </p:cNvSpPr>
          <p:nvPr/>
        </p:nvSpPr>
        <p:spPr bwMode="white">
          <a:xfrm>
            <a:off x="9864212" y="3243751"/>
            <a:ext cx="2238346" cy="23786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Session Controls</a:t>
            </a:r>
          </a:p>
        </p:txBody>
      </p:sp>
      <p:sp>
        <p:nvSpPr>
          <p:cNvPr id="68" name="GrantRequireLabel"/>
          <p:cNvSpPr txBox="1">
            <a:spLocks noChangeArrowheads="1"/>
          </p:cNvSpPr>
          <p:nvPr/>
        </p:nvSpPr>
        <p:spPr bwMode="white">
          <a:xfrm>
            <a:off x="4775511" y="3240533"/>
            <a:ext cx="885943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algn="r" defTabSz="457200"/>
            <a:r>
              <a:rPr lang="en-US" sz="800" cap="small" dirty="0">
                <a:solidFill>
                  <a:schemeClr val="bg2"/>
                </a:solidFill>
              </a:rPr>
              <a:t>Require ONE</a:t>
            </a:r>
          </a:p>
        </p:txBody>
      </p:sp>
      <p:pic>
        <p:nvPicPr>
          <p:cNvPr id="72" name="Graphic 71"/>
          <p:cNvPicPr>
            <a:picLocks noChangeAspect="1"/>
          </p:cNvPicPr>
          <p:nvPr/>
        </p:nvPicPr>
        <p:blipFill>
          <a:blip r:embed="rId39">
            <a:lum/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rcRect/>
          <a:stretch>
            <a:fillRect/>
          </a:stretch>
        </p:blipFill>
        <p:spPr bwMode="white">
          <a:xfrm>
            <a:off x="9996846" y="356982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4" name="Graphic 93"/>
          <p:cNvPicPr>
            <a:picLocks noChangeAspect="1"/>
          </p:cNvPicPr>
          <p:nvPr/>
        </p:nvPicPr>
        <p:blipFill>
          <a:blip r:embed="rId41">
            <a:lum/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rcRect/>
          <a:stretch>
            <a:fillRect/>
          </a:stretch>
        </p:blipFill>
        <p:spPr bwMode="white">
          <a:xfrm>
            <a:off x="10009443" y="525644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5" name="TextBox 94"/>
          <p:cNvSpPr txBox="1">
            <a:spLocks noChangeArrowheads="1"/>
          </p:cNvSpPr>
          <p:nvPr/>
        </p:nvSpPr>
        <p:spPr bwMode="white">
          <a:xfrm>
            <a:off x="10207481" y="3578463"/>
            <a:ext cx="150554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App enforced restrictions</a:t>
            </a:r>
          </a:p>
        </p:txBody>
      </p:sp>
      <p:sp>
        <p:nvSpPr>
          <p:cNvPr id="96" name="TextBox 95"/>
          <p:cNvSpPr txBox="1">
            <a:spLocks noChangeArrowheads="1"/>
          </p:cNvSpPr>
          <p:nvPr/>
        </p:nvSpPr>
        <p:spPr bwMode="white">
          <a:xfrm>
            <a:off x="10201167" y="3899846"/>
            <a:ext cx="181011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Conditional Access App Control</a:t>
            </a:r>
          </a:p>
        </p:txBody>
      </p:sp>
      <p:sp>
        <p:nvSpPr>
          <p:cNvPr id="97" name="TextBox 96"/>
          <p:cNvSpPr txBox="1">
            <a:spLocks noChangeArrowheads="1"/>
          </p:cNvSpPr>
          <p:nvPr/>
        </p:nvSpPr>
        <p:spPr bwMode="white">
          <a:xfrm>
            <a:off x="10215627" y="4357505"/>
            <a:ext cx="1090363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Sign-in frequency</a:t>
            </a:r>
          </a:p>
        </p:txBody>
      </p:sp>
      <p:sp>
        <p:nvSpPr>
          <p:cNvPr id="98" name="TextBox 97"/>
          <p:cNvSpPr txBox="1">
            <a:spLocks noChangeArrowheads="1"/>
          </p:cNvSpPr>
          <p:nvPr/>
        </p:nvSpPr>
        <p:spPr bwMode="white">
          <a:xfrm>
            <a:off x="10225446" y="4793305"/>
            <a:ext cx="156966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Persistent browser session</a:t>
            </a:r>
          </a:p>
        </p:txBody>
      </p:sp>
      <p:sp>
        <p:nvSpPr>
          <p:cNvPr id="100" name="TextBox 99"/>
          <p:cNvSpPr txBox="1">
            <a:spLocks noChangeArrowheads="1"/>
          </p:cNvSpPr>
          <p:nvPr/>
        </p:nvSpPr>
        <p:spPr bwMode="white">
          <a:xfrm>
            <a:off x="10229552" y="5232376"/>
            <a:ext cx="1717137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Continuous access evaluation</a:t>
            </a:r>
          </a:p>
        </p:txBody>
      </p:sp>
      <p:sp>
        <p:nvSpPr>
          <p:cNvPr id="101" name="TextBox 100"/>
          <p:cNvSpPr txBox="1">
            <a:spLocks noChangeArrowheads="1"/>
          </p:cNvSpPr>
          <p:nvPr/>
        </p:nvSpPr>
        <p:spPr bwMode="white">
          <a:xfrm>
            <a:off x="10259108" y="5658625"/>
            <a:ext cx="153599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Disable resilience defaults</a:t>
            </a:r>
          </a:p>
        </p:txBody>
      </p:sp>
      <p:pic>
        <p:nvPicPr>
          <p:cNvPr id="103" name="Graphic 102"/>
          <p:cNvPicPr>
            <a:picLocks noChangeAspect="1"/>
          </p:cNvPicPr>
          <p:nvPr/>
        </p:nvPicPr>
        <p:blipFill>
          <a:blip r:embed="rId43">
            <a:lum/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rcRect/>
          <a:stretch>
            <a:fillRect/>
          </a:stretch>
        </p:blipFill>
        <p:spPr bwMode="white">
          <a:xfrm>
            <a:off x="9996846" y="479900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5" name="Graphic 104"/>
          <p:cNvPicPr>
            <a:picLocks noChangeAspect="1"/>
          </p:cNvPicPr>
          <p:nvPr/>
        </p:nvPicPr>
        <p:blipFill>
          <a:blip r:embed="rId45">
            <a:lum/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rcRect/>
          <a:stretch>
            <a:fillRect/>
          </a:stretch>
        </p:blipFill>
        <p:spPr bwMode="white">
          <a:xfrm>
            <a:off x="9996846" y="437457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7" name="Graphic 106"/>
          <p:cNvPicPr>
            <a:picLocks noChangeAspect="1"/>
          </p:cNvPicPr>
          <p:nvPr/>
        </p:nvPicPr>
        <p:blipFill>
          <a:blip r:embed="rId7">
            <a:lum/>
            <a:extLst>
              <a:ext uri="{96DAC541-7B7A-43D3-8B79-37D633B846F1}">
                <asvg:svgBlip xmlns:asvg="http://schemas.microsoft.com/office/drawing/2016/SVG/main" r:embed="rId47"/>
              </a:ext>
            </a:extLst>
          </a:blip>
          <a:srcRect/>
          <a:stretch>
            <a:fillRect/>
          </a:stretch>
        </p:blipFill>
        <p:spPr bwMode="white">
          <a:xfrm>
            <a:off x="9996846" y="391529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15" name="SessionSifInterval"/>
          <p:cNvSpPr txBox="1">
            <a:spLocks noChangeArrowheads="1"/>
          </p:cNvSpPr>
          <p:nvPr/>
        </p:nvSpPr>
        <p:spPr bwMode="white">
          <a:xfrm>
            <a:off x="10296745" y="4516775"/>
            <a:ext cx="1249060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Periodic reauthentication</a:t>
            </a:r>
          </a:p>
        </p:txBody>
      </p:sp>
      <p:sp>
        <p:nvSpPr>
          <p:cNvPr id="114" name="SessionCasType"/>
          <p:cNvSpPr txBox="1">
            <a:spLocks noChangeArrowheads="1"/>
          </p:cNvSpPr>
          <p:nvPr/>
        </p:nvSpPr>
        <p:spPr bwMode="white">
          <a:xfrm>
            <a:off x="10296745" y="4075500"/>
            <a:ext cx="95410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App Control Policy</a:t>
            </a:r>
          </a:p>
        </p:txBody>
      </p:sp>
      <p:sp>
        <p:nvSpPr>
          <p:cNvPr id="116" name="SessionPersistenBrowserMode"/>
          <p:cNvSpPr txBox="1">
            <a:spLocks noChangeArrowheads="1"/>
          </p:cNvSpPr>
          <p:nvPr/>
        </p:nvSpPr>
        <p:spPr bwMode="white">
          <a:xfrm>
            <a:off x="10309761" y="4945281"/>
            <a:ext cx="918841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Always persistent</a:t>
            </a:r>
          </a:p>
        </p:txBody>
      </p:sp>
      <p:sp>
        <p:nvSpPr>
          <p:cNvPr id="118" name="SessionCaeMode"/>
          <p:cNvSpPr txBox="1">
            <a:spLocks noChangeArrowheads="1"/>
          </p:cNvSpPr>
          <p:nvPr/>
        </p:nvSpPr>
        <p:spPr bwMode="white">
          <a:xfrm>
            <a:off x="10301386" y="5393378"/>
            <a:ext cx="15359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US" sz="800" dirty="0"/>
              <a:t>Strictly enforce location policies</a:t>
            </a:r>
          </a:p>
        </p:txBody>
      </p:sp>
      <p:sp>
        <p:nvSpPr>
          <p:cNvPr id="119" name="ShadeSessionAppEnforced"/>
          <p:cNvSpPr>
            <a:spLocks/>
          </p:cNvSpPr>
          <p:nvPr/>
        </p:nvSpPr>
        <p:spPr bwMode="white">
          <a:xfrm>
            <a:off x="9959680" y="3548808"/>
            <a:ext cx="2051597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0" name="ShadeSessionCas"/>
          <p:cNvSpPr>
            <a:spLocks/>
          </p:cNvSpPr>
          <p:nvPr/>
        </p:nvSpPr>
        <p:spPr bwMode="white">
          <a:xfrm>
            <a:off x="9978939" y="3884212"/>
            <a:ext cx="2087576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1" name="ShadeSessionSif"/>
          <p:cNvSpPr>
            <a:spLocks/>
          </p:cNvSpPr>
          <p:nvPr/>
        </p:nvSpPr>
        <p:spPr bwMode="white">
          <a:xfrm>
            <a:off x="9940787" y="4320077"/>
            <a:ext cx="2125728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2" name="ShadeSessionPersistentBrowser"/>
          <p:cNvSpPr>
            <a:spLocks/>
          </p:cNvSpPr>
          <p:nvPr/>
        </p:nvSpPr>
        <p:spPr bwMode="white">
          <a:xfrm>
            <a:off x="9938833" y="4746195"/>
            <a:ext cx="207244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pic>
        <p:nvPicPr>
          <p:cNvPr id="61" name="PicAccessSecurityInfo" descr="Graphical user interface, text, application, email&#10;&#10;Description automatically generated"/>
          <p:cNvPicPr>
            <a:picLocks noChangeAspect="1"/>
          </p:cNvPicPr>
          <p:nvPr/>
        </p:nvPicPr>
        <p:blipFill>
          <a:blip r:embed="rId48">
            <a:lum/>
          </a:blip>
          <a:srcRect/>
          <a:stretch>
            <a:fillRect/>
          </a:stretch>
        </p:blipFill>
        <p:spPr bwMode="white">
          <a:xfrm>
            <a:off x="6019248" y="3736425"/>
            <a:ext cx="3673090" cy="2094172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" name="Label Secure Sign In Session"/>
          <p:cNvSpPr txBox="1">
            <a:spLocks noChangeArrowheads="1"/>
          </p:cNvSpPr>
          <p:nvPr/>
        </p:nvSpPr>
        <p:spPr bwMode="white">
          <a:xfrm>
            <a:off x="10260000" y="6084874"/>
            <a:ext cx="166584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Token protection for session</a:t>
            </a:r>
          </a:p>
        </p:txBody>
      </p:sp>
      <p:pic>
        <p:nvPicPr>
          <p:cNvPr id="77" name="IconSessionCaeDisable" descr="Close with solid fill"/>
          <p:cNvPicPr>
            <a:picLocks noChangeAspect="1"/>
          </p:cNvPicPr>
          <p:nvPr/>
        </p:nvPicPr>
        <p:blipFill>
          <a:blip r:embed="rId49">
            <a:lum/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rcRect/>
          <a:stretch>
            <a:fillRect/>
          </a:stretch>
        </p:blipFill>
        <p:spPr bwMode="white">
          <a:xfrm>
            <a:off x="9979885" y="5218651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2" name="IconSessionSecureSignInSession 1"/>
          <p:cNvPicPr>
            <a:picLocks noChangeAspect="1"/>
          </p:cNvPicPr>
          <p:nvPr/>
        </p:nvPicPr>
        <p:blipFill>
          <a:blip r:embed="rId51">
            <a:lum/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rcRect/>
          <a:stretch>
            <a:fillRect/>
          </a:stretch>
        </p:blipFill>
        <p:spPr bwMode="white">
          <a:xfrm>
            <a:off x="9997200" y="6085768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3" name="ShadeSessionCae"/>
          <p:cNvSpPr>
            <a:spLocks/>
          </p:cNvSpPr>
          <p:nvPr/>
        </p:nvSpPr>
        <p:spPr bwMode="white">
          <a:xfrm>
            <a:off x="9987595" y="5219780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76" name="ShadeSessionSecureSignIn"/>
          <p:cNvSpPr>
            <a:spLocks/>
          </p:cNvSpPr>
          <p:nvPr/>
        </p:nvSpPr>
        <p:spPr bwMode="white">
          <a:xfrm>
            <a:off x="9996846" y="5986498"/>
            <a:ext cx="2014431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pic>
        <p:nvPicPr>
          <p:cNvPr id="102" name="Graphic 101"/>
          <p:cNvPicPr>
            <a:picLocks noChangeAspect="1"/>
          </p:cNvPicPr>
          <p:nvPr/>
        </p:nvPicPr>
        <p:blipFill>
          <a:blip r:embed="rId53">
            <a:lum/>
            <a:extLst>
              <a:ext uri="{96DAC541-7B7A-43D3-8B79-37D633B846F1}">
                <asvg:svgBlip xmlns:asvg="http://schemas.microsoft.com/office/drawing/2016/SVG/main" r:embed="rId54"/>
              </a:ext>
            </a:extLst>
          </a:blip>
          <a:srcRect/>
          <a:stretch>
            <a:fillRect/>
          </a:stretch>
        </p:blipFill>
        <p:spPr bwMode="white">
          <a:xfrm>
            <a:off x="9997200" y="5663777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80" name="Graphic 79" descr="Close with solid fill"/>
          <p:cNvPicPr>
            <a:picLocks noChangeAspect="1"/>
          </p:cNvPicPr>
          <p:nvPr/>
        </p:nvPicPr>
        <p:blipFill>
          <a:blip r:embed="rId49">
            <a:lum/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rcRect/>
          <a:stretch>
            <a:fillRect/>
          </a:stretch>
        </p:blipFill>
        <p:spPr bwMode="white">
          <a:xfrm>
            <a:off x="9963899" y="5637424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4" name="ShadeSessionDisableResilience"/>
          <p:cNvSpPr>
            <a:spLocks/>
          </p:cNvSpPr>
          <p:nvPr/>
        </p:nvSpPr>
        <p:spPr bwMode="white">
          <a:xfrm>
            <a:off x="9959681" y="5602709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2" name="PolicyName">
            <a:hlinkClick r:id="" action="ppaction://hlinkfile"/>
          </p:cNvPr>
          <p:cNvSpPr>
            <a:spLocks noGrp="1"/>
          </p:cNvSpPr>
          <p:nvPr>
            <p:ph type="title"/>
          </p:nvPr>
        </p:nvSpPr>
        <p:spPr bwMode="white">
          <a:xfrm>
            <a:off x="838200" y="115511"/>
            <a:ext cx="10003967" cy="609565"/>
          </a:xfrm>
          <a:ln>
            <a:headEnd type="none"/>
            <a:tailEnd type="none"/>
          </a:ln>
        </p:spPr>
        <p:txBody>
          <a:bodyPr wrap="square">
            <a:noAutofit/>
          </a:bodyPr>
          <a:lstStyle/>
          <a:p>
            <a:pPr defTabSz="914400"/>
            <a:r>
              <a:rPr lang="en-US" sz="2000" b="1" dirty="0"/>
              <a:t>[TEST][SCuBA] Managed Devices For Registering MFA</a:t>
            </a:r>
          </a:p>
        </p:txBody>
      </p:sp>
      <p:sp>
        <p:nvSpPr>
          <p:cNvPr id="16" name="LastModified"/>
          <p:cNvSpPr txBox="1">
            <a:spLocks noChangeArrowheads="1"/>
          </p:cNvSpPr>
          <p:nvPr/>
        </p:nvSpPr>
        <p:spPr bwMode="white">
          <a:xfrm>
            <a:off x="10556111" y="388376"/>
            <a:ext cx="15483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algn="r" defTabSz="457200"/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Last modified: 2025-04-29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UserWorkload"/>
          <p:cNvSpPr>
            <a:spLocks/>
          </p:cNvSpPr>
          <p:nvPr/>
        </p:nvSpPr>
        <p:spPr bwMode="auto">
          <a:xfrm>
            <a:off x="175820" y="2709769"/>
            <a:ext cx="2202823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Users</a:t>
            </a:r>
          </a:p>
        </p:txBody>
      </p:sp>
      <p:sp>
        <p:nvSpPr>
          <p:cNvPr id="7" name="UserWorkloadIncExc"/>
          <p:cNvSpPr txBox="1">
            <a:spLocks noChangeArrowheads="1"/>
          </p:cNvSpPr>
          <p:nvPr/>
        </p:nvSpPr>
        <p:spPr bwMode="white">
          <a:xfrm>
            <a:off x="125485" y="3698952"/>
            <a:ext cx="3062115" cy="313265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 numCol="1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b="1" dirty="0"/>
            </a:pPr>
            <a:r>
              <a:t> Directory roles</a:t>
            </a:r>
          </a:p>
          <a:p>
            <a:pPr defTabSz="457200">
              <a:defRPr sz="1100" dirty="0"/>
            </a:pPr>
            <a:r>
              <a:t> - Global Administrator</a:t>
            </a:r>
          </a:p>
          <a:p>
            <a:pPr defTabSz="457200">
              <a:defRPr sz="1100" dirty="0"/>
            </a:pPr>
            <a:r>
              <a:t> - Security Administrator</a:t>
            </a:r>
          </a:p>
          <a:p>
            <a:pPr defTabSz="457200">
              <a:defRPr sz="1100" dirty="0"/>
            </a:pPr>
            <a:r>
              <a:t> - SharePoint Administrator</a:t>
            </a:r>
          </a:p>
          <a:p>
            <a:pPr defTabSz="457200">
              <a:defRPr sz="1100" dirty="0"/>
            </a:pPr>
            <a:r>
              <a:t> - Exchange Administrator</a:t>
            </a:r>
          </a:p>
          <a:p>
            <a:pPr defTabSz="457200">
              <a:defRPr sz="1100" dirty="0"/>
            </a:pPr>
            <a:r>
              <a:t> - Conditional Access Administrator</a:t>
            </a:r>
          </a:p>
          <a:p>
            <a:pPr defTabSz="457200">
              <a:defRPr sz="1100" dirty="0"/>
            </a:pPr>
            <a:r>
              <a:t> - Helpdesk Administrator</a:t>
            </a:r>
          </a:p>
          <a:p>
            <a:pPr defTabSz="457200">
              <a:defRPr sz="1100" dirty="0"/>
            </a:pPr>
            <a:r>
              <a:t> - Billing Administrator</a:t>
            </a:r>
          </a:p>
          <a:p>
            <a:pPr defTabSz="457200">
              <a:defRPr sz="1100" dirty="0"/>
            </a:pPr>
            <a:r>
              <a:t> - User Administrator</a:t>
            </a:r>
          </a:p>
          <a:p>
            <a:pPr defTabSz="457200">
              <a:defRPr sz="1100" dirty="0"/>
            </a:pPr>
            <a:r>
              <a:t> - Authentication Administrator</a:t>
            </a:r>
          </a:p>
          <a:p>
            <a:pPr defTabSz="457200">
              <a:defRPr sz="1100" dirty="0"/>
            </a:pPr>
            <a:r>
              <a:t> - Application Administrator</a:t>
            </a:r>
          </a:p>
          <a:p>
            <a:pPr defTabSz="457200">
              <a:defRPr sz="1100" dirty="0"/>
            </a:pPr>
            <a:r>
              <a:t> - Cloud Application Administrator</a:t>
            </a:r>
          </a:p>
          <a:p>
            <a:pPr defTabSz="457200">
              <a:defRPr sz="1100" dirty="0"/>
            </a:pPr>
            <a:r>
              <a:t> - Password Administrator</a:t>
            </a:r>
          </a:p>
          <a:p>
            <a:pPr defTabSz="457200">
              <a:defRPr sz="1100" dirty="0"/>
            </a:pPr>
            <a:r>
              <a:t> - Privileged Authentication Administrator</a:t>
            </a:r>
          </a:p>
          <a:p>
            <a:pPr defTabSz="457200">
              <a:defRPr sz="1100" dirty="0"/>
            </a:pPr>
            <a:r>
              <a:t> - Privileged Role Administrator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19" name="Risks"/>
          <p:cNvSpPr txBox="1">
            <a:spLocks noChangeArrowheads="1"/>
          </p:cNvSpPr>
          <p:nvPr/>
        </p:nvSpPr>
        <p:spPr bwMode="white">
          <a:xfrm>
            <a:off x="524485" y="1021946"/>
            <a:ext cx="1348869" cy="166886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0" name="Platforms"/>
          <p:cNvSpPr txBox="1">
            <a:spLocks noChangeArrowheads="1"/>
          </p:cNvSpPr>
          <p:nvPr/>
        </p:nvSpPr>
        <p:spPr bwMode="white">
          <a:xfrm>
            <a:off x="1826931" y="1021947"/>
            <a:ext cx="2061056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3" name="Locations"/>
          <p:cNvSpPr txBox="1">
            <a:spLocks noChangeArrowheads="1"/>
          </p:cNvSpPr>
          <p:nvPr/>
        </p:nvSpPr>
        <p:spPr bwMode="white">
          <a:xfrm>
            <a:off x="8324941" y="1021947"/>
            <a:ext cx="3513702" cy="159258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4" name="ClientAppTypes"/>
          <p:cNvSpPr txBox="1">
            <a:spLocks noChangeArrowheads="1"/>
          </p:cNvSpPr>
          <p:nvPr/>
        </p:nvSpPr>
        <p:spPr bwMode="white">
          <a:xfrm>
            <a:off x="3810664" y="1021947"/>
            <a:ext cx="1581599" cy="165343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5" name="DeviceFilters"/>
          <p:cNvSpPr txBox="1">
            <a:spLocks noChangeArrowheads="1"/>
          </p:cNvSpPr>
          <p:nvPr/>
        </p:nvSpPr>
        <p:spPr bwMode="white">
          <a:xfrm>
            <a:off x="5818151" y="1022762"/>
            <a:ext cx="2248808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cxnSp>
        <p:nvCxnSpPr>
          <p:cNvPr id="27" name="Straight Arrow Connector 26" descr="Arrow drawn from user/workload  to the action being performed by the user such as accessing cloud apps."/>
          <p:cNvCxnSpPr/>
          <p:nvPr/>
        </p:nvCxnSpPr>
        <p:spPr bwMode="white">
          <a:xfrm>
            <a:off x="2195232" y="3159047"/>
            <a:ext cx="3959471" cy="1"/>
          </a:xfrm>
          <a:prstGeom prst="straightConnector1">
            <a:avLst/>
          </a:prstGeom>
          <a:ln w="76200"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2" name="GrantLabelGrantAccess"/>
          <p:cNvSpPr txBox="1">
            <a:spLocks noChangeArrowheads="1"/>
          </p:cNvSpPr>
          <p:nvPr/>
        </p:nvSpPr>
        <p:spPr bwMode="white">
          <a:xfrm>
            <a:off x="3928464" y="2723089"/>
            <a:ext cx="1381340" cy="369332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algn="ctr" defTabSz="457200"/>
            <a:r>
              <a:rPr lang="en-US" b="1" dirty="0">
                <a:solidFill>
                  <a:srgbClr val="00B050"/>
                </a:solidFill>
              </a:rPr>
              <a:t>Grant access</a:t>
            </a:r>
          </a:p>
        </p:txBody>
      </p:sp>
      <p:pic>
        <p:nvPicPr>
          <p:cNvPr id="35" name="IconGrantAccess" descr="Picture with gren tick sign to indicate access was granted"/>
          <p:cNvPicPr>
            <a:picLocks noChangeAspect="1"/>
          </p:cNvPicPr>
          <p:nvPr/>
        </p:nvPicPr>
        <p:blipFill>
          <a:blip r:embed="rId3">
            <a:lum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 bwMode="white">
          <a:xfrm>
            <a:off x="5309361" y="2730170"/>
            <a:ext cx="356616" cy="356616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26" name="IconGroupIdentity"/>
          <p:cNvPicPr>
            <a:picLocks noChangeAspect="1"/>
          </p:cNvPicPr>
          <p:nvPr/>
        </p:nvPicPr>
        <p:blipFill>
          <a:blip r:embed="rId5">
            <a:lum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 bwMode="white">
          <a:xfrm>
            <a:off x="327701" y="2839007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36" name="Graphic 35"/>
          <p:cNvPicPr>
            <a:picLocks noChangeAspect="1"/>
          </p:cNvPicPr>
          <p:nvPr/>
        </p:nvPicPr>
        <p:blipFill>
          <a:blip r:embed="rId7">
            <a:lum/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p:blipFill>
        <p:spPr bwMode="white">
          <a:xfrm>
            <a:off x="495610" y="197468"/>
            <a:ext cx="381196" cy="38119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" name="CloudAppAction"/>
          <p:cNvSpPr>
            <a:spLocks/>
          </p:cNvSpPr>
          <p:nvPr/>
        </p:nvSpPr>
        <p:spPr bwMode="auto">
          <a:xfrm>
            <a:off x="6206089" y="2718506"/>
            <a:ext cx="3227026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Microsoft Admin Portals</a:t>
            </a:r>
          </a:p>
        </p:txBody>
      </p:sp>
      <p:sp>
        <p:nvSpPr>
          <p:cNvPr id="8" name="StateReportOnly"/>
          <p:cNvSpPr>
            <a:spLocks/>
          </p:cNvSpPr>
          <p:nvPr/>
        </p:nvSpPr>
        <p:spPr bwMode="white">
          <a:xfrm>
            <a:off x="10842169" y="103586"/>
            <a:ext cx="1260389" cy="264812"/>
          </a:xfrm>
          <a:prstGeom prst="roundRect">
            <a:avLst/>
          </a:prstGeom>
          <a:ln>
            <a:headEnd type="none"/>
            <a:tailEnd type="none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r>
              <a:rPr lang="en-US" sz="800" dirty="0"/>
              <a:t>Policy Report-only</a:t>
            </a:r>
          </a:p>
        </p:txBody>
      </p:sp>
      <p:grpSp>
        <p:nvGrpSpPr>
          <p:cNvPr id="10" name="IconRiskyUsers"/>
          <p:cNvGrpSpPr>
            <a:grpSpLocks/>
          </p:cNvGrpSpPr>
          <p:nvPr/>
        </p:nvGrpSpPr>
        <p:grpSpPr bwMode="white">
          <a:xfrm>
            <a:off x="635426" y="738677"/>
            <a:ext cx="1202553" cy="274320"/>
            <a:chOff x="2013768" y="1033956"/>
            <a:chExt cx="1342320" cy="274320"/>
          </a:xfrm>
        </p:grpSpPr>
        <p:pic>
          <p:nvPicPr>
            <p:cNvPr id="46" name="Graphic 1"/>
            <p:cNvPicPr>
              <a:picLocks noChangeAspect="1"/>
            </p:cNvPicPr>
            <p:nvPr/>
          </p:nvPicPr>
          <p:blipFill>
            <a:blip r:embed="rId9">
              <a:lum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013768" y="1033956"/>
              <a:ext cx="274320" cy="27432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5" name="Label 1"/>
            <p:cNvSpPr txBox="1">
              <a:spLocks noChangeArrowheads="1"/>
            </p:cNvSpPr>
            <p:nvPr/>
          </p:nvSpPr>
          <p:spPr bwMode="white">
            <a:xfrm>
              <a:off x="2240077" y="1040706"/>
              <a:ext cx="1116011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Risk</a:t>
              </a:r>
            </a:p>
          </p:txBody>
        </p:sp>
      </p:grpSp>
      <p:grpSp>
        <p:nvGrpSpPr>
          <p:cNvPr id="14" name="IconPlatforms"/>
          <p:cNvGrpSpPr>
            <a:grpSpLocks/>
          </p:cNvGrpSpPr>
          <p:nvPr/>
        </p:nvGrpSpPr>
        <p:grpSpPr bwMode="white">
          <a:xfrm>
            <a:off x="1927788" y="715249"/>
            <a:ext cx="1719285" cy="365760"/>
            <a:chOff x="3262737" y="994835"/>
            <a:chExt cx="1719285" cy="365760"/>
          </a:xfrm>
        </p:grpSpPr>
        <p:pic>
          <p:nvPicPr>
            <p:cNvPr id="29" name="Graphic 1"/>
            <p:cNvPicPr>
              <a:picLocks noChangeAspect="1"/>
            </p:cNvPicPr>
            <p:nvPr/>
          </p:nvPicPr>
          <p:blipFill>
            <a:blip r:embed="rId11">
              <a:lum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3262737" y="994835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1" name="Label 1"/>
            <p:cNvSpPr txBox="1">
              <a:spLocks noChangeArrowheads="1"/>
            </p:cNvSpPr>
            <p:nvPr/>
          </p:nvSpPr>
          <p:spPr bwMode="white">
            <a:xfrm>
              <a:off x="3582397" y="1027255"/>
              <a:ext cx="1399625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Device platforms</a:t>
              </a:r>
            </a:p>
          </p:txBody>
        </p:sp>
      </p:grpSp>
      <p:grpSp>
        <p:nvGrpSpPr>
          <p:cNvPr id="17" name="IconClientAppTypes"/>
          <p:cNvGrpSpPr>
            <a:grpSpLocks/>
          </p:cNvGrpSpPr>
          <p:nvPr/>
        </p:nvGrpSpPr>
        <p:grpSpPr bwMode="white">
          <a:xfrm>
            <a:off x="3908159" y="670015"/>
            <a:ext cx="1852971" cy="365760"/>
            <a:chOff x="4858970" y="975927"/>
            <a:chExt cx="1852971" cy="365760"/>
          </a:xfrm>
        </p:grpSpPr>
        <p:pic>
          <p:nvPicPr>
            <p:cNvPr id="58" name="Graphic 1"/>
            <p:cNvPicPr>
              <a:picLocks noChangeAspect="1"/>
            </p:cNvPicPr>
            <p:nvPr/>
          </p:nvPicPr>
          <p:blipFill>
            <a:blip r:embed="rId13">
              <a:lum/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858970" y="975927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5" name="Label 1"/>
            <p:cNvSpPr txBox="1">
              <a:spLocks noChangeArrowheads="1"/>
            </p:cNvSpPr>
            <p:nvPr/>
          </p:nvSpPr>
          <p:spPr bwMode="white">
            <a:xfrm>
              <a:off x="5193983" y="1009899"/>
              <a:ext cx="1517958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Client apps</a:t>
              </a:r>
            </a:p>
          </p:txBody>
        </p:sp>
      </p:grpSp>
      <p:grpSp>
        <p:nvGrpSpPr>
          <p:cNvPr id="37" name="IconLocations"/>
          <p:cNvGrpSpPr>
            <a:grpSpLocks/>
          </p:cNvGrpSpPr>
          <p:nvPr/>
        </p:nvGrpSpPr>
        <p:grpSpPr bwMode="white">
          <a:xfrm>
            <a:off x="8411896" y="646848"/>
            <a:ext cx="1850168" cy="388465"/>
            <a:chOff x="2321433" y="3262888"/>
            <a:chExt cx="1850168" cy="388465"/>
          </a:xfrm>
        </p:grpSpPr>
        <p:pic>
          <p:nvPicPr>
            <p:cNvPr id="33" name="Graphic 1"/>
            <p:cNvPicPr>
              <a:picLocks noChangeAspect="1"/>
            </p:cNvPicPr>
            <p:nvPr/>
          </p:nvPicPr>
          <p:blipFill>
            <a:blip r:embed="rId15">
              <a:lum/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321433" y="3262888"/>
              <a:ext cx="388465" cy="388465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28" name="Label 1"/>
            <p:cNvSpPr txBox="1">
              <a:spLocks noChangeArrowheads="1"/>
            </p:cNvSpPr>
            <p:nvPr/>
          </p:nvSpPr>
          <p:spPr bwMode="white">
            <a:xfrm>
              <a:off x="2713321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Locations</a:t>
              </a:r>
              <a:endParaRPr lang="en-US" sz="1100" b="1" dirty="0"/>
            </a:p>
          </p:txBody>
        </p:sp>
      </p:grpSp>
      <p:grpSp>
        <p:nvGrpSpPr>
          <p:cNvPr id="39" name="IconDeviceFilters"/>
          <p:cNvGrpSpPr>
            <a:grpSpLocks/>
          </p:cNvGrpSpPr>
          <p:nvPr/>
        </p:nvGrpSpPr>
        <p:grpSpPr bwMode="white">
          <a:xfrm>
            <a:off x="5472818" y="661958"/>
            <a:ext cx="1839823" cy="364111"/>
            <a:chOff x="4195414" y="3273669"/>
            <a:chExt cx="1839823" cy="364111"/>
          </a:xfrm>
        </p:grpSpPr>
        <p:pic>
          <p:nvPicPr>
            <p:cNvPr id="60" name="Graphic 1"/>
            <p:cNvPicPr>
              <a:picLocks noChangeAspect="1"/>
            </p:cNvPicPr>
            <p:nvPr/>
          </p:nvPicPr>
          <p:blipFill>
            <a:blip r:embed="rId17">
              <a:lum/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195414" y="3273669"/>
              <a:ext cx="364111" cy="364111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31" name="Label 1"/>
            <p:cNvSpPr txBox="1">
              <a:spLocks noChangeArrowheads="1"/>
            </p:cNvSpPr>
            <p:nvPr/>
          </p:nvSpPr>
          <p:spPr bwMode="white">
            <a:xfrm>
              <a:off x="4576957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Filter for devices</a:t>
              </a:r>
              <a:endParaRPr lang="en-US" sz="1100" b="1" dirty="0"/>
            </a:p>
          </p:txBody>
        </p:sp>
      </p:grpSp>
      <p:pic>
        <p:nvPicPr>
          <p:cNvPr id="62" name="IconGrantMultifactorAuthentication"/>
          <p:cNvPicPr>
            <a:picLocks noChangeAspect="1"/>
          </p:cNvPicPr>
          <p:nvPr/>
        </p:nvPicPr>
        <p:blipFill>
          <a:blip r:embed="rId19">
            <a:lum/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rcRect/>
          <a:stretch>
            <a:fillRect/>
          </a:stretch>
        </p:blipFill>
        <p:spPr bwMode="white">
          <a:xfrm>
            <a:off x="3410647" y="3566863"/>
            <a:ext cx="17145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5" name="IconGrantMultifactorAuthenticationLabel"/>
          <p:cNvSpPr txBox="1">
            <a:spLocks noChangeArrowheads="1"/>
          </p:cNvSpPr>
          <p:nvPr/>
        </p:nvSpPr>
        <p:spPr bwMode="white">
          <a:xfrm>
            <a:off x="3575836" y="3571997"/>
            <a:ext cx="19007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Multifactor authentication</a:t>
            </a:r>
            <a:endParaRPr lang="en-US" sz="1000" dirty="0"/>
          </a:p>
        </p:txBody>
      </p:sp>
      <p:pic>
        <p:nvPicPr>
          <p:cNvPr id="38" name="IconGrantAuthenticationStrength"/>
          <p:cNvPicPr>
            <a:picLocks noChangeAspect="1"/>
          </p:cNvPicPr>
          <p:nvPr/>
        </p:nvPicPr>
        <p:blipFill>
          <a:blip r:embed="rId21">
            <a:lum/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>
            <a:fillRect/>
          </a:stretch>
        </p:blipFill>
        <p:spPr bwMode="white">
          <a:xfrm>
            <a:off x="3374515" y="3905034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7" name="IconGrantAuthenticationStrengthLabel"/>
          <p:cNvSpPr txBox="1">
            <a:spLocks noChangeArrowheads="1"/>
          </p:cNvSpPr>
          <p:nvPr/>
        </p:nvSpPr>
        <p:spPr bwMode="white">
          <a:xfrm>
            <a:off x="3575836" y="3907323"/>
            <a:ext cx="2185294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Authentication strength</a:t>
            </a:r>
            <a:endParaRPr lang="en-US" sz="1000" dirty="0"/>
          </a:p>
        </p:txBody>
      </p:sp>
      <p:pic>
        <p:nvPicPr>
          <p:cNvPr id="52" name="IconGrantDeviceCompliance"/>
          <p:cNvPicPr>
            <a:picLocks noChangeAspect="1"/>
          </p:cNvPicPr>
          <p:nvPr/>
        </p:nvPicPr>
        <p:blipFill>
          <a:blip r:embed="rId23">
            <a:lum/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/>
          <a:stretch>
            <a:fillRect/>
          </a:stretch>
        </p:blipFill>
        <p:spPr bwMode="white">
          <a:xfrm>
            <a:off x="3374515" y="4243205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9" name="IconGrantDeviceComplianceLabel"/>
          <p:cNvSpPr txBox="1">
            <a:spLocks noChangeArrowheads="1"/>
          </p:cNvSpPr>
          <p:nvPr/>
        </p:nvSpPr>
        <p:spPr bwMode="white">
          <a:xfrm>
            <a:off x="3575836" y="4242649"/>
            <a:ext cx="17378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Compliant device</a:t>
            </a:r>
            <a:endParaRPr lang="en-US" sz="1000" dirty="0"/>
          </a:p>
        </p:txBody>
      </p:sp>
      <p:pic>
        <p:nvPicPr>
          <p:cNvPr id="43" name="IconGrantHybridJoined"/>
          <p:cNvPicPr>
            <a:picLocks noChangeAspect="1"/>
          </p:cNvPicPr>
          <p:nvPr/>
        </p:nvPicPr>
        <p:blipFill>
          <a:blip r:embed="rId25">
            <a:lum/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/>
          <a:stretch>
            <a:fillRect/>
          </a:stretch>
        </p:blipFill>
        <p:spPr bwMode="white">
          <a:xfrm>
            <a:off x="3374515" y="4581376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3" name="IconGrantHybridJoinedLabel"/>
          <p:cNvSpPr txBox="1">
            <a:spLocks noChangeArrowheads="1"/>
          </p:cNvSpPr>
          <p:nvPr/>
        </p:nvSpPr>
        <p:spPr bwMode="white">
          <a:xfrm>
            <a:off x="3575836" y="4577975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Hybrid Azure AD joined device</a:t>
            </a:r>
            <a:endParaRPr lang="en-US" sz="1000" dirty="0"/>
          </a:p>
        </p:txBody>
      </p:sp>
      <p:pic>
        <p:nvPicPr>
          <p:cNvPr id="48" name="IconGrantApprovedClientApp"/>
          <p:cNvPicPr>
            <a:picLocks noChangeAspect="1"/>
          </p:cNvPicPr>
          <p:nvPr/>
        </p:nvPicPr>
        <p:blipFill>
          <a:blip r:embed="rId27">
            <a:lum/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/>
          <a:stretch>
            <a:fillRect/>
          </a:stretch>
        </p:blipFill>
        <p:spPr bwMode="white">
          <a:xfrm>
            <a:off x="3374515" y="491954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5" name="IconGrantApprovedClientAppLabel"/>
          <p:cNvSpPr txBox="1">
            <a:spLocks noChangeArrowheads="1"/>
          </p:cNvSpPr>
          <p:nvPr/>
        </p:nvSpPr>
        <p:spPr bwMode="white">
          <a:xfrm>
            <a:off x="3575836" y="4913301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Approved client app</a:t>
            </a:r>
            <a:endParaRPr lang="en-US" sz="1000" dirty="0"/>
          </a:p>
        </p:txBody>
      </p:sp>
      <p:pic>
        <p:nvPicPr>
          <p:cNvPr id="42" name="IconGrantCustomAuth"/>
          <p:cNvPicPr>
            <a:picLocks noChangeAspect="1"/>
          </p:cNvPicPr>
          <p:nvPr/>
        </p:nvPicPr>
        <p:blipFill>
          <a:blip r:embed="rId29">
            <a:lum/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rcRect/>
          <a:stretch>
            <a:fillRect/>
          </a:stretch>
        </p:blipFill>
        <p:spPr bwMode="white">
          <a:xfrm>
            <a:off x="3374515" y="593406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9" name="IconGrantCustomAuthLabel"/>
          <p:cNvSpPr txBox="1">
            <a:spLocks noChangeArrowheads="1"/>
          </p:cNvSpPr>
          <p:nvPr/>
        </p:nvSpPr>
        <p:spPr bwMode="white">
          <a:xfrm>
            <a:off x="3575836" y="5919279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Custom authentication factor</a:t>
            </a:r>
            <a:endParaRPr lang="en-US" sz="1000" dirty="0"/>
          </a:p>
        </p:txBody>
      </p:sp>
      <p:pic>
        <p:nvPicPr>
          <p:cNvPr id="40" name="IconGrantTermsOfUse"/>
          <p:cNvPicPr>
            <a:picLocks noChangeAspect="1"/>
          </p:cNvPicPr>
          <p:nvPr/>
        </p:nvPicPr>
        <p:blipFill>
          <a:blip r:embed="rId31">
            <a:lum/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rcRect/>
          <a:stretch>
            <a:fillRect/>
          </a:stretch>
        </p:blipFill>
        <p:spPr bwMode="white">
          <a:xfrm>
            <a:off x="3374515" y="627222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3" name="IconGrantTermsOfUseLabel"/>
          <p:cNvSpPr txBox="1">
            <a:spLocks noChangeArrowheads="1"/>
          </p:cNvSpPr>
          <p:nvPr/>
        </p:nvSpPr>
        <p:spPr bwMode="white">
          <a:xfrm>
            <a:off x="3575836" y="625460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Terms of use</a:t>
            </a:r>
            <a:endParaRPr lang="en-US" sz="1000" dirty="0"/>
          </a:p>
        </p:txBody>
      </p:sp>
      <p:sp>
        <p:nvSpPr>
          <p:cNvPr id="56" name="IconGrantAppProtectionLabel"/>
          <p:cNvSpPr txBox="1">
            <a:spLocks noChangeArrowheads="1"/>
          </p:cNvSpPr>
          <p:nvPr/>
        </p:nvSpPr>
        <p:spPr bwMode="white">
          <a:xfrm>
            <a:off x="3575836" y="524862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 protection policy</a:t>
            </a:r>
            <a:endParaRPr lang="en-US" sz="1000" dirty="0"/>
          </a:p>
        </p:txBody>
      </p:sp>
      <p:pic>
        <p:nvPicPr>
          <p:cNvPr id="65" name="IconGrantAppProtection"/>
          <p:cNvPicPr>
            <a:picLocks noChangeAspect="1"/>
          </p:cNvPicPr>
          <p:nvPr/>
        </p:nvPicPr>
        <p:blipFill>
          <a:blip r:embed="rId33">
            <a:lum/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rcRect/>
          <a:stretch>
            <a:fillRect/>
          </a:stretch>
        </p:blipFill>
        <p:spPr bwMode="white">
          <a:xfrm>
            <a:off x="3374515" y="525771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7" name="IconGrantChangePasswordLabel"/>
          <p:cNvSpPr txBox="1">
            <a:spLocks noChangeArrowheads="1"/>
          </p:cNvSpPr>
          <p:nvPr/>
        </p:nvSpPr>
        <p:spPr bwMode="white">
          <a:xfrm>
            <a:off x="3575836" y="5583953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Change password</a:t>
            </a:r>
            <a:endParaRPr lang="en-US" sz="1000" dirty="0"/>
          </a:p>
        </p:txBody>
      </p:sp>
      <p:pic>
        <p:nvPicPr>
          <p:cNvPr id="67" name="IconGrantChangePassword"/>
          <p:cNvPicPr>
            <a:picLocks noChangeAspect="1"/>
          </p:cNvPicPr>
          <p:nvPr/>
        </p:nvPicPr>
        <p:blipFill>
          <a:blip r:embed="rId35">
            <a:lum/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rcRect/>
          <a:stretch>
            <a:fillRect/>
          </a:stretch>
        </p:blipFill>
        <p:spPr bwMode="white">
          <a:xfrm>
            <a:off x="3374515" y="5595889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4" name="ShadeRisk"/>
          <p:cNvSpPr>
            <a:spLocks/>
          </p:cNvSpPr>
          <p:nvPr/>
        </p:nvSpPr>
        <p:spPr bwMode="white">
          <a:xfrm>
            <a:off x="507564" y="650246"/>
            <a:ext cx="976864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66" name="ShadeDevicePlatforms"/>
          <p:cNvSpPr>
            <a:spLocks/>
          </p:cNvSpPr>
          <p:nvPr/>
        </p:nvSpPr>
        <p:spPr bwMode="white">
          <a:xfrm>
            <a:off x="1863623" y="663409"/>
            <a:ext cx="1773927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78" name="ShadeClientApps"/>
          <p:cNvSpPr>
            <a:spLocks/>
          </p:cNvSpPr>
          <p:nvPr/>
        </p:nvSpPr>
        <p:spPr bwMode="white">
          <a:xfrm>
            <a:off x="3802273" y="650246"/>
            <a:ext cx="1481482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79" name="ShadeLocations"/>
          <p:cNvSpPr>
            <a:spLocks/>
          </p:cNvSpPr>
          <p:nvPr/>
        </p:nvSpPr>
        <p:spPr bwMode="white">
          <a:xfrm>
            <a:off x="8217572" y="669110"/>
            <a:ext cx="1873684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2" name="ShadeFilterForDevices"/>
          <p:cNvSpPr>
            <a:spLocks/>
          </p:cNvSpPr>
          <p:nvPr/>
        </p:nvSpPr>
        <p:spPr bwMode="white">
          <a:xfrm>
            <a:off x="5438955" y="627922"/>
            <a:ext cx="1873685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4" name="ShadeGrantAuthStrength"/>
          <p:cNvSpPr>
            <a:spLocks/>
          </p:cNvSpPr>
          <p:nvPr/>
        </p:nvSpPr>
        <p:spPr bwMode="white">
          <a:xfrm>
            <a:off x="3350256" y="3869846"/>
            <a:ext cx="2069555" cy="27801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5" name="ShadeGrantCompliantDevice"/>
          <p:cNvSpPr>
            <a:spLocks/>
          </p:cNvSpPr>
          <p:nvPr/>
        </p:nvSpPr>
        <p:spPr bwMode="white">
          <a:xfrm>
            <a:off x="3361852" y="4243205"/>
            <a:ext cx="2077102" cy="26110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6" name="ShadeGrantHybridAzureADJoined"/>
          <p:cNvSpPr>
            <a:spLocks/>
          </p:cNvSpPr>
          <p:nvPr/>
        </p:nvSpPr>
        <p:spPr bwMode="white">
          <a:xfrm>
            <a:off x="3353637" y="4552268"/>
            <a:ext cx="2160906" cy="298395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7" name="ShadeGrantApprovedClientApp"/>
          <p:cNvSpPr>
            <a:spLocks/>
          </p:cNvSpPr>
          <p:nvPr/>
        </p:nvSpPr>
        <p:spPr bwMode="white">
          <a:xfrm>
            <a:off x="3331918" y="4876027"/>
            <a:ext cx="2182625" cy="29839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8" name="ShadeGrantAppProtectionPolicy"/>
          <p:cNvSpPr>
            <a:spLocks/>
          </p:cNvSpPr>
          <p:nvPr/>
        </p:nvSpPr>
        <p:spPr bwMode="white">
          <a:xfrm>
            <a:off x="3350256" y="5207226"/>
            <a:ext cx="2122561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9" name="ShadeGrantChangePassword"/>
          <p:cNvSpPr>
            <a:spLocks/>
          </p:cNvSpPr>
          <p:nvPr/>
        </p:nvSpPr>
        <p:spPr bwMode="white">
          <a:xfrm>
            <a:off x="3350257" y="5557021"/>
            <a:ext cx="2042006" cy="287239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0" name="ShadeGrantCustomAuthFactor"/>
          <p:cNvSpPr>
            <a:spLocks/>
          </p:cNvSpPr>
          <p:nvPr/>
        </p:nvSpPr>
        <p:spPr bwMode="white">
          <a:xfrm>
            <a:off x="3331918" y="5899058"/>
            <a:ext cx="2182625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1" name="ShadeGrantTermsOfUse"/>
          <p:cNvSpPr>
            <a:spLocks/>
          </p:cNvSpPr>
          <p:nvPr/>
        </p:nvSpPr>
        <p:spPr bwMode="white">
          <a:xfrm>
            <a:off x="3313823" y="6192350"/>
            <a:ext cx="101602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99" name="Rectangle 98"/>
          <p:cNvSpPr>
            <a:spLocks/>
          </p:cNvSpPr>
          <p:nvPr/>
        </p:nvSpPr>
        <p:spPr bwMode="white">
          <a:xfrm>
            <a:off x="3268757" y="3253404"/>
            <a:ext cx="2357725" cy="3498546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0" name="Rectangle 109"/>
          <p:cNvSpPr>
            <a:spLocks/>
          </p:cNvSpPr>
          <p:nvPr/>
        </p:nvSpPr>
        <p:spPr bwMode="white">
          <a:xfrm>
            <a:off x="9881750" y="3248255"/>
            <a:ext cx="2220808" cy="3510149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7" name="Rectangle 116"/>
          <p:cNvSpPr>
            <a:spLocks/>
          </p:cNvSpPr>
          <p:nvPr/>
        </p:nvSpPr>
        <p:spPr bwMode="white">
          <a:xfrm>
            <a:off x="26741" y="606825"/>
            <a:ext cx="11985015" cy="2063636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2" name="Conditions Label"/>
          <p:cNvSpPr txBox="1">
            <a:spLocks noChangeArrowheads="1"/>
          </p:cNvSpPr>
          <p:nvPr/>
        </p:nvSpPr>
        <p:spPr bwMode="white">
          <a:xfrm rot="16200000">
            <a:off x="-883507" y="1514324"/>
            <a:ext cx="2081441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Conditions</a:t>
            </a:r>
          </a:p>
        </p:txBody>
      </p:sp>
      <p:sp>
        <p:nvSpPr>
          <p:cNvPr id="109" name="Grant Controls"/>
          <p:cNvSpPr txBox="1">
            <a:spLocks noChangeArrowheads="1"/>
          </p:cNvSpPr>
          <p:nvPr/>
        </p:nvSpPr>
        <p:spPr bwMode="white">
          <a:xfrm>
            <a:off x="3252146" y="3244395"/>
            <a:ext cx="2391873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Grant Controls</a:t>
            </a:r>
          </a:p>
        </p:txBody>
      </p:sp>
      <p:sp>
        <p:nvSpPr>
          <p:cNvPr id="111" name="Session Controls"/>
          <p:cNvSpPr txBox="1">
            <a:spLocks noChangeArrowheads="1"/>
          </p:cNvSpPr>
          <p:nvPr/>
        </p:nvSpPr>
        <p:spPr bwMode="white">
          <a:xfrm>
            <a:off x="9864212" y="3243751"/>
            <a:ext cx="2238346" cy="23786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Session Controls</a:t>
            </a:r>
          </a:p>
        </p:txBody>
      </p:sp>
      <p:pic>
        <p:nvPicPr>
          <p:cNvPr id="72" name="Graphic 71"/>
          <p:cNvPicPr>
            <a:picLocks noChangeAspect="1"/>
          </p:cNvPicPr>
          <p:nvPr/>
        </p:nvPicPr>
        <p:blipFill>
          <a:blip r:embed="rId37">
            <a:lum/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rcRect/>
          <a:stretch>
            <a:fillRect/>
          </a:stretch>
        </p:blipFill>
        <p:spPr bwMode="white">
          <a:xfrm>
            <a:off x="9996846" y="356982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4" name="Graphic 93"/>
          <p:cNvPicPr>
            <a:picLocks noChangeAspect="1"/>
          </p:cNvPicPr>
          <p:nvPr/>
        </p:nvPicPr>
        <p:blipFill>
          <a:blip r:embed="rId39">
            <a:lum/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rcRect/>
          <a:stretch>
            <a:fillRect/>
          </a:stretch>
        </p:blipFill>
        <p:spPr bwMode="white">
          <a:xfrm>
            <a:off x="10009443" y="525644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5" name="TextBox 94"/>
          <p:cNvSpPr txBox="1">
            <a:spLocks noChangeArrowheads="1"/>
          </p:cNvSpPr>
          <p:nvPr/>
        </p:nvSpPr>
        <p:spPr bwMode="white">
          <a:xfrm>
            <a:off x="10207481" y="3578463"/>
            <a:ext cx="150554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App enforced restrictions</a:t>
            </a:r>
          </a:p>
        </p:txBody>
      </p:sp>
      <p:sp>
        <p:nvSpPr>
          <p:cNvPr id="96" name="TextBox 95"/>
          <p:cNvSpPr txBox="1">
            <a:spLocks noChangeArrowheads="1"/>
          </p:cNvSpPr>
          <p:nvPr/>
        </p:nvSpPr>
        <p:spPr bwMode="white">
          <a:xfrm>
            <a:off x="10201167" y="3899846"/>
            <a:ext cx="181011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Conditional Access App Control</a:t>
            </a:r>
          </a:p>
        </p:txBody>
      </p:sp>
      <p:sp>
        <p:nvSpPr>
          <p:cNvPr id="97" name="TextBox 96"/>
          <p:cNvSpPr txBox="1">
            <a:spLocks noChangeArrowheads="1"/>
          </p:cNvSpPr>
          <p:nvPr/>
        </p:nvSpPr>
        <p:spPr bwMode="white">
          <a:xfrm>
            <a:off x="10215627" y="4357505"/>
            <a:ext cx="1090363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Sign-in frequency</a:t>
            </a:r>
          </a:p>
        </p:txBody>
      </p:sp>
      <p:sp>
        <p:nvSpPr>
          <p:cNvPr id="98" name="TextBox 97"/>
          <p:cNvSpPr txBox="1">
            <a:spLocks noChangeArrowheads="1"/>
          </p:cNvSpPr>
          <p:nvPr/>
        </p:nvSpPr>
        <p:spPr bwMode="white">
          <a:xfrm>
            <a:off x="10225446" y="4793305"/>
            <a:ext cx="156966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Persistent browser session</a:t>
            </a:r>
          </a:p>
        </p:txBody>
      </p:sp>
      <p:sp>
        <p:nvSpPr>
          <p:cNvPr id="100" name="TextBox 99"/>
          <p:cNvSpPr txBox="1">
            <a:spLocks noChangeArrowheads="1"/>
          </p:cNvSpPr>
          <p:nvPr/>
        </p:nvSpPr>
        <p:spPr bwMode="white">
          <a:xfrm>
            <a:off x="10229552" y="5232376"/>
            <a:ext cx="1717137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Continuous access evaluation</a:t>
            </a:r>
          </a:p>
        </p:txBody>
      </p:sp>
      <p:sp>
        <p:nvSpPr>
          <p:cNvPr id="101" name="TextBox 100"/>
          <p:cNvSpPr txBox="1">
            <a:spLocks noChangeArrowheads="1"/>
          </p:cNvSpPr>
          <p:nvPr/>
        </p:nvSpPr>
        <p:spPr bwMode="white">
          <a:xfrm>
            <a:off x="10259108" y="5658625"/>
            <a:ext cx="153599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Disable resilience defaults</a:t>
            </a:r>
          </a:p>
        </p:txBody>
      </p:sp>
      <p:pic>
        <p:nvPicPr>
          <p:cNvPr id="103" name="Graphic 102"/>
          <p:cNvPicPr>
            <a:picLocks noChangeAspect="1"/>
          </p:cNvPicPr>
          <p:nvPr/>
        </p:nvPicPr>
        <p:blipFill>
          <a:blip r:embed="rId41">
            <a:lum/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rcRect/>
          <a:stretch>
            <a:fillRect/>
          </a:stretch>
        </p:blipFill>
        <p:spPr bwMode="white">
          <a:xfrm>
            <a:off x="9996846" y="479900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5" name="Graphic 104"/>
          <p:cNvPicPr>
            <a:picLocks noChangeAspect="1"/>
          </p:cNvPicPr>
          <p:nvPr/>
        </p:nvPicPr>
        <p:blipFill>
          <a:blip r:embed="rId43">
            <a:lum/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rcRect/>
          <a:stretch>
            <a:fillRect/>
          </a:stretch>
        </p:blipFill>
        <p:spPr bwMode="white">
          <a:xfrm>
            <a:off x="9996846" y="437457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7" name="Graphic 106"/>
          <p:cNvPicPr>
            <a:picLocks noChangeAspect="1"/>
          </p:cNvPicPr>
          <p:nvPr/>
        </p:nvPicPr>
        <p:blipFill>
          <a:blip r:embed="rId7">
            <a:lum/>
            <a:extLst>
              <a:ext uri="{96DAC541-7B7A-43D3-8B79-37D633B846F1}">
                <asvg:svgBlip xmlns:asvg="http://schemas.microsoft.com/office/drawing/2016/SVG/main" r:embed="rId45"/>
              </a:ext>
            </a:extLst>
          </a:blip>
          <a:srcRect/>
          <a:stretch>
            <a:fillRect/>
          </a:stretch>
        </p:blipFill>
        <p:spPr bwMode="white">
          <a:xfrm>
            <a:off x="9996846" y="391529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15" name="SessionSifInterval"/>
          <p:cNvSpPr txBox="1">
            <a:spLocks noChangeArrowheads="1"/>
          </p:cNvSpPr>
          <p:nvPr/>
        </p:nvSpPr>
        <p:spPr bwMode="white">
          <a:xfrm>
            <a:off x="10296745" y="4516775"/>
            <a:ext cx="1249060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Periodic reauthentication</a:t>
            </a:r>
          </a:p>
        </p:txBody>
      </p:sp>
      <p:sp>
        <p:nvSpPr>
          <p:cNvPr id="114" name="SessionCasType"/>
          <p:cNvSpPr txBox="1">
            <a:spLocks noChangeArrowheads="1"/>
          </p:cNvSpPr>
          <p:nvPr/>
        </p:nvSpPr>
        <p:spPr bwMode="white">
          <a:xfrm>
            <a:off x="10296745" y="4075500"/>
            <a:ext cx="95410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App Control Policy</a:t>
            </a:r>
          </a:p>
        </p:txBody>
      </p:sp>
      <p:sp>
        <p:nvSpPr>
          <p:cNvPr id="116" name="SessionPersistenBrowserMode"/>
          <p:cNvSpPr txBox="1">
            <a:spLocks noChangeArrowheads="1"/>
          </p:cNvSpPr>
          <p:nvPr/>
        </p:nvSpPr>
        <p:spPr bwMode="white">
          <a:xfrm>
            <a:off x="10309761" y="4945281"/>
            <a:ext cx="918841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Always persistent</a:t>
            </a:r>
          </a:p>
        </p:txBody>
      </p:sp>
      <p:sp>
        <p:nvSpPr>
          <p:cNvPr id="118" name="SessionCaeMode"/>
          <p:cNvSpPr txBox="1">
            <a:spLocks noChangeArrowheads="1"/>
          </p:cNvSpPr>
          <p:nvPr/>
        </p:nvSpPr>
        <p:spPr bwMode="white">
          <a:xfrm>
            <a:off x="10301386" y="5393378"/>
            <a:ext cx="15359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US" sz="800" dirty="0"/>
              <a:t>Strictly enforce location policies</a:t>
            </a:r>
          </a:p>
        </p:txBody>
      </p:sp>
      <p:sp>
        <p:nvSpPr>
          <p:cNvPr id="119" name="ShadeSessionAppEnforced"/>
          <p:cNvSpPr>
            <a:spLocks/>
          </p:cNvSpPr>
          <p:nvPr/>
        </p:nvSpPr>
        <p:spPr bwMode="white">
          <a:xfrm>
            <a:off x="9959680" y="3548808"/>
            <a:ext cx="2051597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0" name="ShadeSessionCas"/>
          <p:cNvSpPr>
            <a:spLocks/>
          </p:cNvSpPr>
          <p:nvPr/>
        </p:nvSpPr>
        <p:spPr bwMode="white">
          <a:xfrm>
            <a:off x="9978939" y="3884212"/>
            <a:ext cx="2087576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1" name="ShadeSessionSif"/>
          <p:cNvSpPr>
            <a:spLocks/>
          </p:cNvSpPr>
          <p:nvPr/>
        </p:nvSpPr>
        <p:spPr bwMode="white">
          <a:xfrm>
            <a:off x="9940787" y="4320077"/>
            <a:ext cx="2125728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2" name="ShadeSessionPersistentBrowser"/>
          <p:cNvSpPr>
            <a:spLocks/>
          </p:cNvSpPr>
          <p:nvPr/>
        </p:nvSpPr>
        <p:spPr bwMode="white">
          <a:xfrm>
            <a:off x="9938833" y="4746195"/>
            <a:ext cx="207244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pic>
        <p:nvPicPr>
          <p:cNvPr id="70" name="IconAssignedToRole"/>
          <p:cNvPicPr>
            <a:picLocks noChangeAspect="1"/>
          </p:cNvPicPr>
          <p:nvPr/>
        </p:nvPicPr>
        <p:blipFill>
          <a:blip r:embed="rId46">
            <a:lum/>
            <a:extLst>
              <a:ext uri="{96DAC541-7B7A-43D3-8B79-37D633B846F1}">
                <asvg:svgBlip xmlns:asvg="http://schemas.microsoft.com/office/drawing/2016/SVG/main" r:embed="rId47"/>
              </a:ext>
            </a:extLst>
          </a:blip>
          <a:srcRect/>
          <a:stretch>
            <a:fillRect/>
          </a:stretch>
        </p:blipFill>
        <p:spPr bwMode="white">
          <a:xfrm>
            <a:off x="2391841" y="3225674"/>
            <a:ext cx="365760" cy="36576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" name="Label Secure Sign In Session"/>
          <p:cNvSpPr txBox="1">
            <a:spLocks noChangeArrowheads="1"/>
          </p:cNvSpPr>
          <p:nvPr/>
        </p:nvSpPr>
        <p:spPr bwMode="white">
          <a:xfrm>
            <a:off x="10260000" y="6084874"/>
            <a:ext cx="166584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Token protection for session</a:t>
            </a:r>
          </a:p>
        </p:txBody>
      </p:sp>
      <p:pic>
        <p:nvPicPr>
          <p:cNvPr id="77" name="IconSessionCaeDisable" descr="Close with solid fill"/>
          <p:cNvPicPr>
            <a:picLocks noChangeAspect="1"/>
          </p:cNvPicPr>
          <p:nvPr/>
        </p:nvPicPr>
        <p:blipFill>
          <a:blip r:embed="rId48">
            <a:lum/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rcRect/>
          <a:stretch>
            <a:fillRect/>
          </a:stretch>
        </p:blipFill>
        <p:spPr bwMode="white">
          <a:xfrm>
            <a:off x="9979885" y="5218651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2" name="IconSessionSecureSignInSession 1"/>
          <p:cNvPicPr>
            <a:picLocks noChangeAspect="1"/>
          </p:cNvPicPr>
          <p:nvPr/>
        </p:nvPicPr>
        <p:blipFill>
          <a:blip r:embed="rId50">
            <a:lum/>
            <a:extLst>
              <a:ext uri="{96DAC541-7B7A-43D3-8B79-37D633B846F1}">
                <asvg:svgBlip xmlns:asvg="http://schemas.microsoft.com/office/drawing/2016/SVG/main" r:embed="rId51"/>
              </a:ext>
            </a:extLst>
          </a:blip>
          <a:srcRect/>
          <a:stretch>
            <a:fillRect/>
          </a:stretch>
        </p:blipFill>
        <p:spPr bwMode="white">
          <a:xfrm>
            <a:off x="9997200" y="6085768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3" name="ShadeSessionCae"/>
          <p:cNvSpPr>
            <a:spLocks/>
          </p:cNvSpPr>
          <p:nvPr/>
        </p:nvSpPr>
        <p:spPr bwMode="white">
          <a:xfrm>
            <a:off x="9987595" y="5219780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76" name="ShadeSessionSecureSignIn"/>
          <p:cNvSpPr>
            <a:spLocks/>
          </p:cNvSpPr>
          <p:nvPr/>
        </p:nvSpPr>
        <p:spPr bwMode="white">
          <a:xfrm>
            <a:off x="9996846" y="5986498"/>
            <a:ext cx="2014431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pic>
        <p:nvPicPr>
          <p:cNvPr id="102" name="Graphic 101"/>
          <p:cNvPicPr>
            <a:picLocks noChangeAspect="1"/>
          </p:cNvPicPr>
          <p:nvPr/>
        </p:nvPicPr>
        <p:blipFill>
          <a:blip r:embed="rId52">
            <a:lum/>
            <a:extLst>
              <a:ext uri="{96DAC541-7B7A-43D3-8B79-37D633B846F1}">
                <asvg:svgBlip xmlns:asvg="http://schemas.microsoft.com/office/drawing/2016/SVG/main" r:embed="rId53"/>
              </a:ext>
            </a:extLst>
          </a:blip>
          <a:srcRect/>
          <a:stretch>
            <a:fillRect/>
          </a:stretch>
        </p:blipFill>
        <p:spPr bwMode="white">
          <a:xfrm>
            <a:off x="9997200" y="5663777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80" name="Graphic 79" descr="Close with solid fill"/>
          <p:cNvPicPr>
            <a:picLocks noChangeAspect="1"/>
          </p:cNvPicPr>
          <p:nvPr/>
        </p:nvPicPr>
        <p:blipFill>
          <a:blip r:embed="rId48">
            <a:lum/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rcRect/>
          <a:stretch>
            <a:fillRect/>
          </a:stretch>
        </p:blipFill>
        <p:spPr bwMode="white">
          <a:xfrm>
            <a:off x="9963899" y="5637424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4" name="ShadeSessionDisableResilience"/>
          <p:cNvSpPr>
            <a:spLocks/>
          </p:cNvSpPr>
          <p:nvPr/>
        </p:nvSpPr>
        <p:spPr bwMode="white">
          <a:xfrm>
            <a:off x="9959681" y="5602709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2" name="PolicyName">
            <a:hlinkClick r:id="" action="ppaction://hlinkfile"/>
          </p:cNvPr>
          <p:cNvSpPr>
            <a:spLocks noGrp="1"/>
          </p:cNvSpPr>
          <p:nvPr>
            <p:ph type="title"/>
          </p:nvPr>
        </p:nvSpPr>
        <p:spPr bwMode="white">
          <a:xfrm>
            <a:off x="838200" y="115511"/>
            <a:ext cx="10003967" cy="609565"/>
          </a:xfrm>
          <a:ln>
            <a:headEnd type="none"/>
            <a:tailEnd type="none"/>
          </a:ln>
        </p:spPr>
        <p:txBody>
          <a:bodyPr wrap="square">
            <a:noAutofit/>
          </a:bodyPr>
          <a:lstStyle/>
          <a:p>
            <a:pPr defTabSz="914400"/>
            <a:r>
              <a:rPr lang="en-US" sz="2000" b="1" dirty="0"/>
              <a:t>Microsoft-managed: Multifactor authentication for admins accessing Microsoft Admin Portals</a:t>
            </a:r>
          </a:p>
        </p:txBody>
      </p:sp>
      <p:sp>
        <p:nvSpPr>
          <p:cNvPr id="16" name="LastModified"/>
          <p:cNvSpPr txBox="1">
            <a:spLocks noChangeArrowheads="1"/>
          </p:cNvSpPr>
          <p:nvPr/>
        </p:nvSpPr>
        <p:spPr bwMode="white">
          <a:xfrm>
            <a:off x="10556111" y="388376"/>
            <a:ext cx="15483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algn="r" defTabSz="457200"/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Last modified: 2025-03-28</a:t>
            </a:r>
          </a:p>
        </p:txBody>
      </p:sp>
      <p:pic>
        <p:nvPicPr>
          <p:cNvPr id="104" name="IconMicrosoftAdminPortal" descr="A blue and white logo with a black background&#10;&#10;Description automatically generated"/>
          <p:cNvPicPr>
            <a:picLocks noChangeAspect="1"/>
          </p:cNvPicPr>
          <p:nvPr/>
        </p:nvPicPr>
        <p:blipFill>
          <a:blip r:embed="rId54">
            <a:lum/>
          </a:blip>
          <a:srcRect/>
          <a:stretch>
            <a:fillRect/>
          </a:stretch>
        </p:blipFill>
        <p:spPr bwMode="white">
          <a:xfrm>
            <a:off x="6303899" y="2725312"/>
            <a:ext cx="843584" cy="843584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UserWorkload"/>
          <p:cNvSpPr>
            <a:spLocks/>
          </p:cNvSpPr>
          <p:nvPr/>
        </p:nvSpPr>
        <p:spPr bwMode="auto">
          <a:xfrm>
            <a:off x="175820" y="2709769"/>
            <a:ext cx="2202823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Users</a:t>
            </a:r>
          </a:p>
        </p:txBody>
      </p:sp>
      <p:sp>
        <p:nvSpPr>
          <p:cNvPr id="7" name="UserWorkloadIncExc"/>
          <p:cNvSpPr txBox="1">
            <a:spLocks noChangeArrowheads="1"/>
          </p:cNvSpPr>
          <p:nvPr/>
        </p:nvSpPr>
        <p:spPr bwMode="white">
          <a:xfrm>
            <a:off x="125485" y="3698952"/>
            <a:ext cx="3062115" cy="313265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 numCol="1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b="1" dirty="0"/>
            </a:pPr>
            <a:r>
              <a:t> Users</a:t>
            </a:r>
          </a:p>
          <a:p>
            <a:pPr defTabSz="457200">
              <a:defRPr sz="1100" dirty="0"/>
            </a:pPr>
            <a:r>
              <a:t> - Keskin, Celal (Contractor)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19" name="Risks"/>
          <p:cNvSpPr txBox="1">
            <a:spLocks noChangeArrowheads="1"/>
          </p:cNvSpPr>
          <p:nvPr/>
        </p:nvSpPr>
        <p:spPr bwMode="white">
          <a:xfrm>
            <a:off x="524485" y="1021946"/>
            <a:ext cx="1348869" cy="166886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0" name="Platforms"/>
          <p:cNvSpPr txBox="1">
            <a:spLocks noChangeArrowheads="1"/>
          </p:cNvSpPr>
          <p:nvPr/>
        </p:nvSpPr>
        <p:spPr bwMode="white">
          <a:xfrm>
            <a:off x="1826931" y="1021947"/>
            <a:ext cx="2061056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3" name="Locations"/>
          <p:cNvSpPr txBox="1">
            <a:spLocks noChangeArrowheads="1"/>
          </p:cNvSpPr>
          <p:nvPr/>
        </p:nvSpPr>
        <p:spPr bwMode="white">
          <a:xfrm>
            <a:off x="8324941" y="1021947"/>
            <a:ext cx="3513702" cy="159258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b="1" dirty="0"/>
            </a:pPr>
            <a:r>
              <a:t>✅ Include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r>
              <a:t>🚫 Exclude</a:t>
            </a:r>
          </a:p>
          <a:p>
            <a:pPr defTabSz="457200">
              <a:defRPr sz="1100" dirty="0"/>
            </a:pPr>
            <a:r>
              <a:t> - Mandiant IPs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24" name="ClientAppTypes"/>
          <p:cNvSpPr txBox="1">
            <a:spLocks noChangeArrowheads="1"/>
          </p:cNvSpPr>
          <p:nvPr/>
        </p:nvSpPr>
        <p:spPr bwMode="white">
          <a:xfrm>
            <a:off x="3810664" y="1021947"/>
            <a:ext cx="1581599" cy="165343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5" name="DeviceFilters"/>
          <p:cNvSpPr txBox="1">
            <a:spLocks noChangeArrowheads="1"/>
          </p:cNvSpPr>
          <p:nvPr/>
        </p:nvSpPr>
        <p:spPr bwMode="white">
          <a:xfrm>
            <a:off x="5818151" y="1022762"/>
            <a:ext cx="2248808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cxnSp>
        <p:nvCxnSpPr>
          <p:cNvPr id="27" name="Straight Arrow Connector 26" descr="Arrow drawn from user/workload  to the action being performed by the user such as accessing cloud apps."/>
          <p:cNvCxnSpPr/>
          <p:nvPr/>
        </p:nvCxnSpPr>
        <p:spPr bwMode="white">
          <a:xfrm>
            <a:off x="2195232" y="3159047"/>
            <a:ext cx="3959471" cy="1"/>
          </a:xfrm>
          <a:prstGeom prst="straightConnector1">
            <a:avLst/>
          </a:prstGeom>
          <a:ln w="76200"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30" name="IconBlockAccess" descr="Picture with red color stop sign to indicate blocked access"/>
          <p:cNvPicPr>
            <a:picLocks noChangeAspect="1"/>
          </p:cNvPicPr>
          <p:nvPr/>
        </p:nvPicPr>
        <p:blipFill>
          <a:blip r:embed="rId3">
            <a:lum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 bwMode="white">
          <a:xfrm>
            <a:off x="5306633" y="2735805"/>
            <a:ext cx="356616" cy="35661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34" name="GrantLabelBlockAccess"/>
          <p:cNvSpPr txBox="1">
            <a:spLocks noChangeArrowheads="1"/>
          </p:cNvSpPr>
          <p:nvPr/>
        </p:nvSpPr>
        <p:spPr bwMode="white">
          <a:xfrm>
            <a:off x="3936931" y="2734375"/>
            <a:ext cx="1358065" cy="369332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algn="ctr" defTabSz="457200"/>
            <a:r>
              <a:rPr lang="en-US" b="1" dirty="0">
                <a:solidFill>
                  <a:srgbClr val="FF0000"/>
                </a:solidFill>
              </a:rPr>
              <a:t>Block access</a:t>
            </a:r>
          </a:p>
        </p:txBody>
      </p:sp>
      <p:sp>
        <p:nvSpPr>
          <p:cNvPr id="3" name="CloudAppActionIncExc"/>
          <p:cNvSpPr txBox="1">
            <a:spLocks noChangeArrowheads="1"/>
          </p:cNvSpPr>
          <p:nvPr/>
        </p:nvSpPr>
        <p:spPr bwMode="white">
          <a:xfrm>
            <a:off x="6039518" y="3662782"/>
            <a:ext cx="3649518" cy="315161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</p:txBody>
      </p:sp>
      <p:pic>
        <p:nvPicPr>
          <p:cNvPr id="26" name="IconGroupIdentity"/>
          <p:cNvPicPr>
            <a:picLocks noChangeAspect="1"/>
          </p:cNvPicPr>
          <p:nvPr/>
        </p:nvPicPr>
        <p:blipFill>
          <a:blip r:embed="rId5">
            <a:lum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 bwMode="white">
          <a:xfrm>
            <a:off x="327701" y="2839007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36" name="Graphic 35"/>
          <p:cNvPicPr>
            <a:picLocks noChangeAspect="1"/>
          </p:cNvPicPr>
          <p:nvPr/>
        </p:nvPicPr>
        <p:blipFill>
          <a:blip r:embed="rId7">
            <a:lum/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p:blipFill>
        <p:spPr bwMode="white">
          <a:xfrm>
            <a:off x="495610" y="197468"/>
            <a:ext cx="381196" cy="38119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" name="CloudAppAction"/>
          <p:cNvSpPr>
            <a:spLocks/>
          </p:cNvSpPr>
          <p:nvPr/>
        </p:nvSpPr>
        <p:spPr bwMode="auto">
          <a:xfrm>
            <a:off x="6206089" y="2718506"/>
            <a:ext cx="3227026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All cloud apps</a:t>
            </a:r>
          </a:p>
        </p:txBody>
      </p:sp>
      <p:pic>
        <p:nvPicPr>
          <p:cNvPr id="75" name="IconAccessAllCloudApps"/>
          <p:cNvPicPr>
            <a:picLocks noChangeAspect="1"/>
          </p:cNvPicPr>
          <p:nvPr/>
        </p:nvPicPr>
        <p:blipFill>
          <a:blip r:embed="rId9">
            <a:lum/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p:blipFill>
        <p:spPr bwMode="white">
          <a:xfrm>
            <a:off x="6439264" y="2836824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" name="StateDisabled"/>
          <p:cNvSpPr>
            <a:spLocks/>
          </p:cNvSpPr>
          <p:nvPr/>
        </p:nvSpPr>
        <p:spPr bwMode="white">
          <a:xfrm>
            <a:off x="10842170" y="79259"/>
            <a:ext cx="1260389" cy="264812"/>
          </a:xfrm>
          <a:prstGeom prst="roundRect">
            <a:avLst/>
          </a:prstGeom>
          <a:ln>
            <a:headEnd type="none"/>
            <a:tailEnd type="none"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r>
              <a:rPr lang="en-US" sz="800" dirty="0"/>
              <a:t>Policy Disabled</a:t>
            </a:r>
          </a:p>
        </p:txBody>
      </p:sp>
      <p:grpSp>
        <p:nvGrpSpPr>
          <p:cNvPr id="10" name="IconRiskyUsers"/>
          <p:cNvGrpSpPr>
            <a:grpSpLocks/>
          </p:cNvGrpSpPr>
          <p:nvPr/>
        </p:nvGrpSpPr>
        <p:grpSpPr bwMode="white">
          <a:xfrm>
            <a:off x="635426" y="738677"/>
            <a:ext cx="1202553" cy="274320"/>
            <a:chOff x="2013768" y="1033956"/>
            <a:chExt cx="1342320" cy="274320"/>
          </a:xfrm>
        </p:grpSpPr>
        <p:pic>
          <p:nvPicPr>
            <p:cNvPr id="46" name="Graphic 1"/>
            <p:cNvPicPr>
              <a:picLocks noChangeAspect="1"/>
            </p:cNvPicPr>
            <p:nvPr/>
          </p:nvPicPr>
          <p:blipFill>
            <a:blip r:embed="rId11">
              <a:lum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013768" y="1033956"/>
              <a:ext cx="274320" cy="27432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5" name="Label 1"/>
            <p:cNvSpPr txBox="1">
              <a:spLocks noChangeArrowheads="1"/>
            </p:cNvSpPr>
            <p:nvPr/>
          </p:nvSpPr>
          <p:spPr bwMode="white">
            <a:xfrm>
              <a:off x="2240077" y="1040706"/>
              <a:ext cx="1116011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Risk</a:t>
              </a:r>
            </a:p>
          </p:txBody>
        </p:sp>
      </p:grpSp>
      <p:grpSp>
        <p:nvGrpSpPr>
          <p:cNvPr id="14" name="IconPlatforms"/>
          <p:cNvGrpSpPr>
            <a:grpSpLocks/>
          </p:cNvGrpSpPr>
          <p:nvPr/>
        </p:nvGrpSpPr>
        <p:grpSpPr bwMode="white">
          <a:xfrm>
            <a:off x="1927788" y="715249"/>
            <a:ext cx="1719285" cy="365760"/>
            <a:chOff x="3262737" y="994835"/>
            <a:chExt cx="1719285" cy="365760"/>
          </a:xfrm>
        </p:grpSpPr>
        <p:pic>
          <p:nvPicPr>
            <p:cNvPr id="29" name="Graphic 1"/>
            <p:cNvPicPr>
              <a:picLocks noChangeAspect="1"/>
            </p:cNvPicPr>
            <p:nvPr/>
          </p:nvPicPr>
          <p:blipFill>
            <a:blip r:embed="rId13">
              <a:lum/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3262737" y="994835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1" name="Label 1"/>
            <p:cNvSpPr txBox="1">
              <a:spLocks noChangeArrowheads="1"/>
            </p:cNvSpPr>
            <p:nvPr/>
          </p:nvSpPr>
          <p:spPr bwMode="white">
            <a:xfrm>
              <a:off x="3582397" y="1027255"/>
              <a:ext cx="1399625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Device platforms</a:t>
              </a:r>
            </a:p>
          </p:txBody>
        </p:sp>
      </p:grpSp>
      <p:grpSp>
        <p:nvGrpSpPr>
          <p:cNvPr id="17" name="IconClientAppTypes"/>
          <p:cNvGrpSpPr>
            <a:grpSpLocks/>
          </p:cNvGrpSpPr>
          <p:nvPr/>
        </p:nvGrpSpPr>
        <p:grpSpPr bwMode="white">
          <a:xfrm>
            <a:off x="3908159" y="670015"/>
            <a:ext cx="1852971" cy="365760"/>
            <a:chOff x="4858970" y="975927"/>
            <a:chExt cx="1852971" cy="365760"/>
          </a:xfrm>
        </p:grpSpPr>
        <p:pic>
          <p:nvPicPr>
            <p:cNvPr id="58" name="Graphic 1"/>
            <p:cNvPicPr>
              <a:picLocks noChangeAspect="1"/>
            </p:cNvPicPr>
            <p:nvPr/>
          </p:nvPicPr>
          <p:blipFill>
            <a:blip r:embed="rId15">
              <a:lum/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858970" y="975927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5" name="Label 1"/>
            <p:cNvSpPr txBox="1">
              <a:spLocks noChangeArrowheads="1"/>
            </p:cNvSpPr>
            <p:nvPr/>
          </p:nvSpPr>
          <p:spPr bwMode="white">
            <a:xfrm>
              <a:off x="5193983" y="1009899"/>
              <a:ext cx="1517958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Client apps</a:t>
              </a:r>
            </a:p>
          </p:txBody>
        </p:sp>
      </p:grpSp>
      <p:grpSp>
        <p:nvGrpSpPr>
          <p:cNvPr id="37" name="IconLocations"/>
          <p:cNvGrpSpPr>
            <a:grpSpLocks/>
          </p:cNvGrpSpPr>
          <p:nvPr/>
        </p:nvGrpSpPr>
        <p:grpSpPr bwMode="white">
          <a:xfrm>
            <a:off x="8411896" y="646848"/>
            <a:ext cx="1850168" cy="388465"/>
            <a:chOff x="2321433" y="3262888"/>
            <a:chExt cx="1850168" cy="388465"/>
          </a:xfrm>
        </p:grpSpPr>
        <p:pic>
          <p:nvPicPr>
            <p:cNvPr id="33" name="Graphic 1"/>
            <p:cNvPicPr>
              <a:picLocks noChangeAspect="1"/>
            </p:cNvPicPr>
            <p:nvPr/>
          </p:nvPicPr>
          <p:blipFill>
            <a:blip r:embed="rId17">
              <a:lum/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321433" y="3262888"/>
              <a:ext cx="388465" cy="388465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28" name="Label 1"/>
            <p:cNvSpPr txBox="1">
              <a:spLocks noChangeArrowheads="1"/>
            </p:cNvSpPr>
            <p:nvPr/>
          </p:nvSpPr>
          <p:spPr bwMode="white">
            <a:xfrm>
              <a:off x="2713321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Locations</a:t>
              </a:r>
              <a:endParaRPr lang="en-US" sz="1100" b="1" dirty="0"/>
            </a:p>
          </p:txBody>
        </p:sp>
      </p:grpSp>
      <p:grpSp>
        <p:nvGrpSpPr>
          <p:cNvPr id="39" name="IconDeviceFilters"/>
          <p:cNvGrpSpPr>
            <a:grpSpLocks/>
          </p:cNvGrpSpPr>
          <p:nvPr/>
        </p:nvGrpSpPr>
        <p:grpSpPr bwMode="white">
          <a:xfrm>
            <a:off x="5472818" y="661958"/>
            <a:ext cx="1839823" cy="364111"/>
            <a:chOff x="4195414" y="3273669"/>
            <a:chExt cx="1839823" cy="364111"/>
          </a:xfrm>
        </p:grpSpPr>
        <p:pic>
          <p:nvPicPr>
            <p:cNvPr id="60" name="Graphic 1"/>
            <p:cNvPicPr>
              <a:picLocks noChangeAspect="1"/>
            </p:cNvPicPr>
            <p:nvPr/>
          </p:nvPicPr>
          <p:blipFill>
            <a:blip r:embed="rId19">
              <a:lum/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195414" y="3273669"/>
              <a:ext cx="364111" cy="364111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31" name="Label 1"/>
            <p:cNvSpPr txBox="1">
              <a:spLocks noChangeArrowheads="1"/>
            </p:cNvSpPr>
            <p:nvPr/>
          </p:nvSpPr>
          <p:spPr bwMode="white">
            <a:xfrm>
              <a:off x="4576957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Filter for devices</a:t>
              </a:r>
              <a:endParaRPr lang="en-US" sz="1100" b="1" dirty="0"/>
            </a:p>
          </p:txBody>
        </p:sp>
      </p:grpSp>
      <p:pic>
        <p:nvPicPr>
          <p:cNvPr id="62" name="IconGrantMultifactorAuthentication"/>
          <p:cNvPicPr>
            <a:picLocks noChangeAspect="1"/>
          </p:cNvPicPr>
          <p:nvPr/>
        </p:nvPicPr>
        <p:blipFill>
          <a:blip r:embed="rId21">
            <a:lum/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>
            <a:fillRect/>
          </a:stretch>
        </p:blipFill>
        <p:spPr bwMode="white">
          <a:xfrm>
            <a:off x="3410647" y="3566863"/>
            <a:ext cx="17145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5" name="IconGrantMultifactorAuthenticationLabel"/>
          <p:cNvSpPr txBox="1">
            <a:spLocks noChangeArrowheads="1"/>
          </p:cNvSpPr>
          <p:nvPr/>
        </p:nvSpPr>
        <p:spPr bwMode="white">
          <a:xfrm>
            <a:off x="3575836" y="3571997"/>
            <a:ext cx="19007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Multifactor authentication</a:t>
            </a:r>
            <a:endParaRPr lang="en-US" sz="1000" dirty="0"/>
          </a:p>
        </p:txBody>
      </p:sp>
      <p:pic>
        <p:nvPicPr>
          <p:cNvPr id="38" name="IconGrantAuthenticationStrength"/>
          <p:cNvPicPr>
            <a:picLocks noChangeAspect="1"/>
          </p:cNvPicPr>
          <p:nvPr/>
        </p:nvPicPr>
        <p:blipFill>
          <a:blip r:embed="rId23">
            <a:lum/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/>
          <a:stretch>
            <a:fillRect/>
          </a:stretch>
        </p:blipFill>
        <p:spPr bwMode="white">
          <a:xfrm>
            <a:off x="3374515" y="3905034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7" name="IconGrantAuthenticationStrengthLabel"/>
          <p:cNvSpPr txBox="1">
            <a:spLocks noChangeArrowheads="1"/>
          </p:cNvSpPr>
          <p:nvPr/>
        </p:nvSpPr>
        <p:spPr bwMode="white">
          <a:xfrm>
            <a:off x="3575836" y="3907323"/>
            <a:ext cx="2185294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Authentication strength</a:t>
            </a:r>
            <a:endParaRPr lang="en-US" sz="1000" dirty="0"/>
          </a:p>
        </p:txBody>
      </p:sp>
      <p:pic>
        <p:nvPicPr>
          <p:cNvPr id="52" name="IconGrantDeviceCompliance"/>
          <p:cNvPicPr>
            <a:picLocks noChangeAspect="1"/>
          </p:cNvPicPr>
          <p:nvPr/>
        </p:nvPicPr>
        <p:blipFill>
          <a:blip r:embed="rId25">
            <a:lum/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/>
          <a:stretch>
            <a:fillRect/>
          </a:stretch>
        </p:blipFill>
        <p:spPr bwMode="white">
          <a:xfrm>
            <a:off x="3374515" y="4243205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9" name="IconGrantDeviceComplianceLabel"/>
          <p:cNvSpPr txBox="1">
            <a:spLocks noChangeArrowheads="1"/>
          </p:cNvSpPr>
          <p:nvPr/>
        </p:nvSpPr>
        <p:spPr bwMode="white">
          <a:xfrm>
            <a:off x="3575836" y="4242649"/>
            <a:ext cx="17378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Compliant device</a:t>
            </a:r>
            <a:endParaRPr lang="en-US" sz="1000" dirty="0"/>
          </a:p>
        </p:txBody>
      </p:sp>
      <p:pic>
        <p:nvPicPr>
          <p:cNvPr id="43" name="IconGrantHybridJoined"/>
          <p:cNvPicPr>
            <a:picLocks noChangeAspect="1"/>
          </p:cNvPicPr>
          <p:nvPr/>
        </p:nvPicPr>
        <p:blipFill>
          <a:blip r:embed="rId27">
            <a:lum/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/>
          <a:stretch>
            <a:fillRect/>
          </a:stretch>
        </p:blipFill>
        <p:spPr bwMode="white">
          <a:xfrm>
            <a:off x="3374515" y="4581376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3" name="IconGrantHybridJoinedLabel"/>
          <p:cNvSpPr txBox="1">
            <a:spLocks noChangeArrowheads="1"/>
          </p:cNvSpPr>
          <p:nvPr/>
        </p:nvSpPr>
        <p:spPr bwMode="white">
          <a:xfrm>
            <a:off x="3575836" y="4577975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Hybrid Azure AD joined device</a:t>
            </a:r>
            <a:endParaRPr lang="en-US" sz="1000" dirty="0"/>
          </a:p>
        </p:txBody>
      </p:sp>
      <p:pic>
        <p:nvPicPr>
          <p:cNvPr id="48" name="IconGrantApprovedClientApp"/>
          <p:cNvPicPr>
            <a:picLocks noChangeAspect="1"/>
          </p:cNvPicPr>
          <p:nvPr/>
        </p:nvPicPr>
        <p:blipFill>
          <a:blip r:embed="rId29">
            <a:lum/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rcRect/>
          <a:stretch>
            <a:fillRect/>
          </a:stretch>
        </p:blipFill>
        <p:spPr bwMode="white">
          <a:xfrm>
            <a:off x="3374515" y="491954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5" name="IconGrantApprovedClientAppLabel"/>
          <p:cNvSpPr txBox="1">
            <a:spLocks noChangeArrowheads="1"/>
          </p:cNvSpPr>
          <p:nvPr/>
        </p:nvSpPr>
        <p:spPr bwMode="white">
          <a:xfrm>
            <a:off x="3575836" y="4913301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Approved client app</a:t>
            </a:r>
            <a:endParaRPr lang="en-US" sz="1000" dirty="0"/>
          </a:p>
        </p:txBody>
      </p:sp>
      <p:pic>
        <p:nvPicPr>
          <p:cNvPr id="42" name="IconGrantCustomAuth"/>
          <p:cNvPicPr>
            <a:picLocks noChangeAspect="1"/>
          </p:cNvPicPr>
          <p:nvPr/>
        </p:nvPicPr>
        <p:blipFill>
          <a:blip r:embed="rId31">
            <a:lum/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rcRect/>
          <a:stretch>
            <a:fillRect/>
          </a:stretch>
        </p:blipFill>
        <p:spPr bwMode="white">
          <a:xfrm>
            <a:off x="3374515" y="593406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9" name="IconGrantCustomAuthLabel"/>
          <p:cNvSpPr txBox="1">
            <a:spLocks noChangeArrowheads="1"/>
          </p:cNvSpPr>
          <p:nvPr/>
        </p:nvSpPr>
        <p:spPr bwMode="white">
          <a:xfrm>
            <a:off x="3575836" y="5919279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Custom authentication factor</a:t>
            </a:r>
            <a:endParaRPr lang="en-US" sz="1000" dirty="0"/>
          </a:p>
        </p:txBody>
      </p:sp>
      <p:pic>
        <p:nvPicPr>
          <p:cNvPr id="40" name="IconGrantTermsOfUse"/>
          <p:cNvPicPr>
            <a:picLocks noChangeAspect="1"/>
          </p:cNvPicPr>
          <p:nvPr/>
        </p:nvPicPr>
        <p:blipFill>
          <a:blip r:embed="rId33">
            <a:lum/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rcRect/>
          <a:stretch>
            <a:fillRect/>
          </a:stretch>
        </p:blipFill>
        <p:spPr bwMode="white">
          <a:xfrm>
            <a:off x="3374515" y="627222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3" name="IconGrantTermsOfUseLabel"/>
          <p:cNvSpPr txBox="1">
            <a:spLocks noChangeArrowheads="1"/>
          </p:cNvSpPr>
          <p:nvPr/>
        </p:nvSpPr>
        <p:spPr bwMode="white">
          <a:xfrm>
            <a:off x="3575836" y="625460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Terms of use</a:t>
            </a:r>
            <a:endParaRPr lang="en-US" sz="1000" dirty="0"/>
          </a:p>
        </p:txBody>
      </p:sp>
      <p:sp>
        <p:nvSpPr>
          <p:cNvPr id="56" name="IconGrantAppProtectionLabel"/>
          <p:cNvSpPr txBox="1">
            <a:spLocks noChangeArrowheads="1"/>
          </p:cNvSpPr>
          <p:nvPr/>
        </p:nvSpPr>
        <p:spPr bwMode="white">
          <a:xfrm>
            <a:off x="3575836" y="524862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 protection policy</a:t>
            </a:r>
            <a:endParaRPr lang="en-US" sz="1000" dirty="0"/>
          </a:p>
        </p:txBody>
      </p:sp>
      <p:pic>
        <p:nvPicPr>
          <p:cNvPr id="65" name="IconGrantAppProtection"/>
          <p:cNvPicPr>
            <a:picLocks noChangeAspect="1"/>
          </p:cNvPicPr>
          <p:nvPr/>
        </p:nvPicPr>
        <p:blipFill>
          <a:blip r:embed="rId35">
            <a:lum/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rcRect/>
          <a:stretch>
            <a:fillRect/>
          </a:stretch>
        </p:blipFill>
        <p:spPr bwMode="white">
          <a:xfrm>
            <a:off x="3374515" y="525771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7" name="IconGrantChangePasswordLabel"/>
          <p:cNvSpPr txBox="1">
            <a:spLocks noChangeArrowheads="1"/>
          </p:cNvSpPr>
          <p:nvPr/>
        </p:nvSpPr>
        <p:spPr bwMode="white">
          <a:xfrm>
            <a:off x="3575836" y="5583953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Change password</a:t>
            </a:r>
            <a:endParaRPr lang="en-US" sz="1000" dirty="0"/>
          </a:p>
        </p:txBody>
      </p:sp>
      <p:pic>
        <p:nvPicPr>
          <p:cNvPr id="67" name="IconGrantChangePassword"/>
          <p:cNvPicPr>
            <a:picLocks noChangeAspect="1"/>
          </p:cNvPicPr>
          <p:nvPr/>
        </p:nvPicPr>
        <p:blipFill>
          <a:blip r:embed="rId37">
            <a:lum/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rcRect/>
          <a:stretch>
            <a:fillRect/>
          </a:stretch>
        </p:blipFill>
        <p:spPr bwMode="white">
          <a:xfrm>
            <a:off x="3374515" y="5595889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4" name="ShadeRisk"/>
          <p:cNvSpPr>
            <a:spLocks/>
          </p:cNvSpPr>
          <p:nvPr/>
        </p:nvSpPr>
        <p:spPr bwMode="white">
          <a:xfrm>
            <a:off x="507564" y="650246"/>
            <a:ext cx="976864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66" name="ShadeDevicePlatforms"/>
          <p:cNvSpPr>
            <a:spLocks/>
          </p:cNvSpPr>
          <p:nvPr/>
        </p:nvSpPr>
        <p:spPr bwMode="white">
          <a:xfrm>
            <a:off x="1863623" y="663409"/>
            <a:ext cx="1773927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78" name="ShadeClientApps"/>
          <p:cNvSpPr>
            <a:spLocks/>
          </p:cNvSpPr>
          <p:nvPr/>
        </p:nvSpPr>
        <p:spPr bwMode="white">
          <a:xfrm>
            <a:off x="3802273" y="650246"/>
            <a:ext cx="1481482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2" name="ShadeFilterForDevices"/>
          <p:cNvSpPr>
            <a:spLocks/>
          </p:cNvSpPr>
          <p:nvPr/>
        </p:nvSpPr>
        <p:spPr bwMode="white">
          <a:xfrm>
            <a:off x="5438955" y="627922"/>
            <a:ext cx="1873685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3" name="ShadeGrantMultifactorAuth"/>
          <p:cNvSpPr>
            <a:spLocks/>
          </p:cNvSpPr>
          <p:nvPr/>
        </p:nvSpPr>
        <p:spPr bwMode="white">
          <a:xfrm>
            <a:off x="3369399" y="3534220"/>
            <a:ext cx="2069555" cy="28330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4" name="ShadeGrantAuthStrength"/>
          <p:cNvSpPr>
            <a:spLocks/>
          </p:cNvSpPr>
          <p:nvPr/>
        </p:nvSpPr>
        <p:spPr bwMode="white">
          <a:xfrm>
            <a:off x="3350256" y="3869846"/>
            <a:ext cx="2069555" cy="27801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5" name="ShadeGrantCompliantDevice"/>
          <p:cNvSpPr>
            <a:spLocks/>
          </p:cNvSpPr>
          <p:nvPr/>
        </p:nvSpPr>
        <p:spPr bwMode="white">
          <a:xfrm>
            <a:off x="3361852" y="4243205"/>
            <a:ext cx="2077102" cy="26110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6" name="ShadeGrantHybridAzureADJoined"/>
          <p:cNvSpPr>
            <a:spLocks/>
          </p:cNvSpPr>
          <p:nvPr/>
        </p:nvSpPr>
        <p:spPr bwMode="white">
          <a:xfrm>
            <a:off x="3353637" y="4552268"/>
            <a:ext cx="2160906" cy="298395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7" name="ShadeGrantApprovedClientApp"/>
          <p:cNvSpPr>
            <a:spLocks/>
          </p:cNvSpPr>
          <p:nvPr/>
        </p:nvSpPr>
        <p:spPr bwMode="white">
          <a:xfrm>
            <a:off x="3331918" y="4876027"/>
            <a:ext cx="2182625" cy="29839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8" name="ShadeGrantAppProtectionPolicy"/>
          <p:cNvSpPr>
            <a:spLocks/>
          </p:cNvSpPr>
          <p:nvPr/>
        </p:nvSpPr>
        <p:spPr bwMode="white">
          <a:xfrm>
            <a:off x="3350256" y="5207226"/>
            <a:ext cx="2122561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9" name="ShadeGrantChangePassword"/>
          <p:cNvSpPr>
            <a:spLocks/>
          </p:cNvSpPr>
          <p:nvPr/>
        </p:nvSpPr>
        <p:spPr bwMode="white">
          <a:xfrm>
            <a:off x="3350257" y="5557021"/>
            <a:ext cx="2042006" cy="287239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0" name="ShadeGrantCustomAuthFactor"/>
          <p:cNvSpPr>
            <a:spLocks/>
          </p:cNvSpPr>
          <p:nvPr/>
        </p:nvSpPr>
        <p:spPr bwMode="white">
          <a:xfrm>
            <a:off x="3331918" y="5899058"/>
            <a:ext cx="2182625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1" name="ShadeGrantTermsOfUse"/>
          <p:cNvSpPr>
            <a:spLocks/>
          </p:cNvSpPr>
          <p:nvPr/>
        </p:nvSpPr>
        <p:spPr bwMode="white">
          <a:xfrm>
            <a:off x="3313823" y="6192350"/>
            <a:ext cx="101602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99" name="Rectangle 98"/>
          <p:cNvSpPr>
            <a:spLocks/>
          </p:cNvSpPr>
          <p:nvPr/>
        </p:nvSpPr>
        <p:spPr bwMode="white">
          <a:xfrm>
            <a:off x="3268757" y="3253404"/>
            <a:ext cx="2357725" cy="3498546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0" name="Rectangle 109"/>
          <p:cNvSpPr>
            <a:spLocks/>
          </p:cNvSpPr>
          <p:nvPr/>
        </p:nvSpPr>
        <p:spPr bwMode="white">
          <a:xfrm>
            <a:off x="9881750" y="3248255"/>
            <a:ext cx="2220808" cy="3510149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7" name="Rectangle 116"/>
          <p:cNvSpPr>
            <a:spLocks/>
          </p:cNvSpPr>
          <p:nvPr/>
        </p:nvSpPr>
        <p:spPr bwMode="white">
          <a:xfrm>
            <a:off x="26741" y="606825"/>
            <a:ext cx="11985015" cy="2063636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2" name="Conditions Label"/>
          <p:cNvSpPr txBox="1">
            <a:spLocks noChangeArrowheads="1"/>
          </p:cNvSpPr>
          <p:nvPr/>
        </p:nvSpPr>
        <p:spPr bwMode="white">
          <a:xfrm rot="16200000">
            <a:off x="-883507" y="1514324"/>
            <a:ext cx="2081441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Conditions</a:t>
            </a:r>
          </a:p>
        </p:txBody>
      </p:sp>
      <p:sp>
        <p:nvSpPr>
          <p:cNvPr id="109" name="Grant Controls"/>
          <p:cNvSpPr txBox="1">
            <a:spLocks noChangeArrowheads="1"/>
          </p:cNvSpPr>
          <p:nvPr/>
        </p:nvSpPr>
        <p:spPr bwMode="white">
          <a:xfrm>
            <a:off x="3252146" y="3244395"/>
            <a:ext cx="2391873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Grant Controls</a:t>
            </a:r>
          </a:p>
        </p:txBody>
      </p:sp>
      <p:sp>
        <p:nvSpPr>
          <p:cNvPr id="111" name="Session Controls"/>
          <p:cNvSpPr txBox="1">
            <a:spLocks noChangeArrowheads="1"/>
          </p:cNvSpPr>
          <p:nvPr/>
        </p:nvSpPr>
        <p:spPr bwMode="white">
          <a:xfrm>
            <a:off x="9864212" y="3243751"/>
            <a:ext cx="2238346" cy="23786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Session Controls</a:t>
            </a:r>
          </a:p>
        </p:txBody>
      </p:sp>
      <p:pic>
        <p:nvPicPr>
          <p:cNvPr id="72" name="Graphic 71"/>
          <p:cNvPicPr>
            <a:picLocks noChangeAspect="1"/>
          </p:cNvPicPr>
          <p:nvPr/>
        </p:nvPicPr>
        <p:blipFill>
          <a:blip r:embed="rId39">
            <a:lum/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rcRect/>
          <a:stretch>
            <a:fillRect/>
          </a:stretch>
        </p:blipFill>
        <p:spPr bwMode="white">
          <a:xfrm>
            <a:off x="9996846" y="356982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4" name="Graphic 93"/>
          <p:cNvPicPr>
            <a:picLocks noChangeAspect="1"/>
          </p:cNvPicPr>
          <p:nvPr/>
        </p:nvPicPr>
        <p:blipFill>
          <a:blip r:embed="rId41">
            <a:lum/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rcRect/>
          <a:stretch>
            <a:fillRect/>
          </a:stretch>
        </p:blipFill>
        <p:spPr bwMode="white">
          <a:xfrm>
            <a:off x="10009443" y="525644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5" name="TextBox 94"/>
          <p:cNvSpPr txBox="1">
            <a:spLocks noChangeArrowheads="1"/>
          </p:cNvSpPr>
          <p:nvPr/>
        </p:nvSpPr>
        <p:spPr bwMode="white">
          <a:xfrm>
            <a:off x="10207481" y="3578463"/>
            <a:ext cx="150554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App enforced restrictions</a:t>
            </a:r>
          </a:p>
        </p:txBody>
      </p:sp>
      <p:sp>
        <p:nvSpPr>
          <p:cNvPr id="96" name="TextBox 95"/>
          <p:cNvSpPr txBox="1">
            <a:spLocks noChangeArrowheads="1"/>
          </p:cNvSpPr>
          <p:nvPr/>
        </p:nvSpPr>
        <p:spPr bwMode="white">
          <a:xfrm>
            <a:off x="10201167" y="3899846"/>
            <a:ext cx="181011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Conditional Access App Control</a:t>
            </a:r>
          </a:p>
        </p:txBody>
      </p:sp>
      <p:sp>
        <p:nvSpPr>
          <p:cNvPr id="97" name="TextBox 96"/>
          <p:cNvSpPr txBox="1">
            <a:spLocks noChangeArrowheads="1"/>
          </p:cNvSpPr>
          <p:nvPr/>
        </p:nvSpPr>
        <p:spPr bwMode="white">
          <a:xfrm>
            <a:off x="10215627" y="4357505"/>
            <a:ext cx="1090363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Sign-in frequency</a:t>
            </a:r>
          </a:p>
        </p:txBody>
      </p:sp>
      <p:sp>
        <p:nvSpPr>
          <p:cNvPr id="98" name="TextBox 97"/>
          <p:cNvSpPr txBox="1">
            <a:spLocks noChangeArrowheads="1"/>
          </p:cNvSpPr>
          <p:nvPr/>
        </p:nvSpPr>
        <p:spPr bwMode="white">
          <a:xfrm>
            <a:off x="10225446" y="4793305"/>
            <a:ext cx="156966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Persistent browser session</a:t>
            </a:r>
          </a:p>
        </p:txBody>
      </p:sp>
      <p:sp>
        <p:nvSpPr>
          <p:cNvPr id="100" name="TextBox 99"/>
          <p:cNvSpPr txBox="1">
            <a:spLocks noChangeArrowheads="1"/>
          </p:cNvSpPr>
          <p:nvPr/>
        </p:nvSpPr>
        <p:spPr bwMode="white">
          <a:xfrm>
            <a:off x="10229552" y="5232376"/>
            <a:ext cx="1717137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Continuous access evaluation</a:t>
            </a:r>
          </a:p>
        </p:txBody>
      </p:sp>
      <p:sp>
        <p:nvSpPr>
          <p:cNvPr id="101" name="TextBox 100"/>
          <p:cNvSpPr txBox="1">
            <a:spLocks noChangeArrowheads="1"/>
          </p:cNvSpPr>
          <p:nvPr/>
        </p:nvSpPr>
        <p:spPr bwMode="white">
          <a:xfrm>
            <a:off x="10259108" y="5658625"/>
            <a:ext cx="153599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Disable resilience defaults</a:t>
            </a:r>
          </a:p>
        </p:txBody>
      </p:sp>
      <p:pic>
        <p:nvPicPr>
          <p:cNvPr id="103" name="Graphic 102"/>
          <p:cNvPicPr>
            <a:picLocks noChangeAspect="1"/>
          </p:cNvPicPr>
          <p:nvPr/>
        </p:nvPicPr>
        <p:blipFill>
          <a:blip r:embed="rId43">
            <a:lum/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rcRect/>
          <a:stretch>
            <a:fillRect/>
          </a:stretch>
        </p:blipFill>
        <p:spPr bwMode="white">
          <a:xfrm>
            <a:off x="9996846" y="479900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5" name="Graphic 104"/>
          <p:cNvPicPr>
            <a:picLocks noChangeAspect="1"/>
          </p:cNvPicPr>
          <p:nvPr/>
        </p:nvPicPr>
        <p:blipFill>
          <a:blip r:embed="rId45">
            <a:lum/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rcRect/>
          <a:stretch>
            <a:fillRect/>
          </a:stretch>
        </p:blipFill>
        <p:spPr bwMode="white">
          <a:xfrm>
            <a:off x="9996846" y="437457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7" name="Graphic 106"/>
          <p:cNvPicPr>
            <a:picLocks noChangeAspect="1"/>
          </p:cNvPicPr>
          <p:nvPr/>
        </p:nvPicPr>
        <p:blipFill>
          <a:blip r:embed="rId7">
            <a:lum/>
            <a:extLst>
              <a:ext uri="{96DAC541-7B7A-43D3-8B79-37D633B846F1}">
                <asvg:svgBlip xmlns:asvg="http://schemas.microsoft.com/office/drawing/2016/SVG/main" r:embed="rId47"/>
              </a:ext>
            </a:extLst>
          </a:blip>
          <a:srcRect/>
          <a:stretch>
            <a:fillRect/>
          </a:stretch>
        </p:blipFill>
        <p:spPr bwMode="white">
          <a:xfrm>
            <a:off x="9996846" y="391529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15" name="SessionSifInterval"/>
          <p:cNvSpPr txBox="1">
            <a:spLocks noChangeArrowheads="1"/>
          </p:cNvSpPr>
          <p:nvPr/>
        </p:nvSpPr>
        <p:spPr bwMode="white">
          <a:xfrm>
            <a:off x="10296745" y="4516775"/>
            <a:ext cx="1249060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Periodic reauthentication</a:t>
            </a:r>
          </a:p>
        </p:txBody>
      </p:sp>
      <p:sp>
        <p:nvSpPr>
          <p:cNvPr id="114" name="SessionCasType"/>
          <p:cNvSpPr txBox="1">
            <a:spLocks noChangeArrowheads="1"/>
          </p:cNvSpPr>
          <p:nvPr/>
        </p:nvSpPr>
        <p:spPr bwMode="white">
          <a:xfrm>
            <a:off x="10296745" y="4075500"/>
            <a:ext cx="95410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App Control Policy</a:t>
            </a:r>
          </a:p>
        </p:txBody>
      </p:sp>
      <p:sp>
        <p:nvSpPr>
          <p:cNvPr id="116" name="SessionPersistenBrowserMode"/>
          <p:cNvSpPr txBox="1">
            <a:spLocks noChangeArrowheads="1"/>
          </p:cNvSpPr>
          <p:nvPr/>
        </p:nvSpPr>
        <p:spPr bwMode="white">
          <a:xfrm>
            <a:off x="10309761" y="4945281"/>
            <a:ext cx="918841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Always persistent</a:t>
            </a:r>
          </a:p>
        </p:txBody>
      </p:sp>
      <p:sp>
        <p:nvSpPr>
          <p:cNvPr id="118" name="SessionCaeMode"/>
          <p:cNvSpPr txBox="1">
            <a:spLocks noChangeArrowheads="1"/>
          </p:cNvSpPr>
          <p:nvPr/>
        </p:nvSpPr>
        <p:spPr bwMode="white">
          <a:xfrm>
            <a:off x="10301386" y="5393378"/>
            <a:ext cx="15359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US" sz="800" dirty="0"/>
              <a:t>Strictly enforce location policies</a:t>
            </a:r>
          </a:p>
        </p:txBody>
      </p:sp>
      <p:sp>
        <p:nvSpPr>
          <p:cNvPr id="119" name="ShadeSessionAppEnforced"/>
          <p:cNvSpPr>
            <a:spLocks/>
          </p:cNvSpPr>
          <p:nvPr/>
        </p:nvSpPr>
        <p:spPr bwMode="white">
          <a:xfrm>
            <a:off x="9959680" y="3548808"/>
            <a:ext cx="2051597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0" name="ShadeSessionCas"/>
          <p:cNvSpPr>
            <a:spLocks/>
          </p:cNvSpPr>
          <p:nvPr/>
        </p:nvSpPr>
        <p:spPr bwMode="white">
          <a:xfrm>
            <a:off x="9978939" y="3884212"/>
            <a:ext cx="2087576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1" name="ShadeSessionSif"/>
          <p:cNvSpPr>
            <a:spLocks/>
          </p:cNvSpPr>
          <p:nvPr/>
        </p:nvSpPr>
        <p:spPr bwMode="white">
          <a:xfrm>
            <a:off x="9940787" y="4320077"/>
            <a:ext cx="2125728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2" name="ShadeSessionPersistentBrowser"/>
          <p:cNvSpPr>
            <a:spLocks/>
          </p:cNvSpPr>
          <p:nvPr/>
        </p:nvSpPr>
        <p:spPr bwMode="white">
          <a:xfrm>
            <a:off x="9938833" y="4746195"/>
            <a:ext cx="207244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" name="Label Secure Sign In Session"/>
          <p:cNvSpPr txBox="1">
            <a:spLocks noChangeArrowheads="1"/>
          </p:cNvSpPr>
          <p:nvPr/>
        </p:nvSpPr>
        <p:spPr bwMode="white">
          <a:xfrm>
            <a:off x="10260000" y="6084874"/>
            <a:ext cx="166584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Token protection for session</a:t>
            </a:r>
          </a:p>
        </p:txBody>
      </p:sp>
      <p:pic>
        <p:nvPicPr>
          <p:cNvPr id="77" name="IconSessionCaeDisable" descr="Close with solid fill"/>
          <p:cNvPicPr>
            <a:picLocks noChangeAspect="1"/>
          </p:cNvPicPr>
          <p:nvPr/>
        </p:nvPicPr>
        <p:blipFill>
          <a:blip r:embed="rId48">
            <a:lum/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rcRect/>
          <a:stretch>
            <a:fillRect/>
          </a:stretch>
        </p:blipFill>
        <p:spPr bwMode="white">
          <a:xfrm>
            <a:off x="9979885" y="5218651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2" name="IconSessionSecureSignInSession 1"/>
          <p:cNvPicPr>
            <a:picLocks noChangeAspect="1"/>
          </p:cNvPicPr>
          <p:nvPr/>
        </p:nvPicPr>
        <p:blipFill>
          <a:blip r:embed="rId50">
            <a:lum/>
            <a:extLst>
              <a:ext uri="{96DAC541-7B7A-43D3-8B79-37D633B846F1}">
                <asvg:svgBlip xmlns:asvg="http://schemas.microsoft.com/office/drawing/2016/SVG/main" r:embed="rId51"/>
              </a:ext>
            </a:extLst>
          </a:blip>
          <a:srcRect/>
          <a:stretch>
            <a:fillRect/>
          </a:stretch>
        </p:blipFill>
        <p:spPr bwMode="white">
          <a:xfrm>
            <a:off x="9997200" y="6085768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3" name="ShadeSessionCae"/>
          <p:cNvSpPr>
            <a:spLocks/>
          </p:cNvSpPr>
          <p:nvPr/>
        </p:nvSpPr>
        <p:spPr bwMode="white">
          <a:xfrm>
            <a:off x="9987595" y="5219780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76" name="ShadeSessionSecureSignIn"/>
          <p:cNvSpPr>
            <a:spLocks/>
          </p:cNvSpPr>
          <p:nvPr/>
        </p:nvSpPr>
        <p:spPr bwMode="white">
          <a:xfrm>
            <a:off x="9996846" y="5986498"/>
            <a:ext cx="2014431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pic>
        <p:nvPicPr>
          <p:cNvPr id="102" name="Graphic 101"/>
          <p:cNvPicPr>
            <a:picLocks noChangeAspect="1"/>
          </p:cNvPicPr>
          <p:nvPr/>
        </p:nvPicPr>
        <p:blipFill>
          <a:blip r:embed="rId52">
            <a:lum/>
            <a:extLst>
              <a:ext uri="{96DAC541-7B7A-43D3-8B79-37D633B846F1}">
                <asvg:svgBlip xmlns:asvg="http://schemas.microsoft.com/office/drawing/2016/SVG/main" r:embed="rId53"/>
              </a:ext>
            </a:extLst>
          </a:blip>
          <a:srcRect/>
          <a:stretch>
            <a:fillRect/>
          </a:stretch>
        </p:blipFill>
        <p:spPr bwMode="white">
          <a:xfrm>
            <a:off x="9997200" y="5663777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80" name="Graphic 79" descr="Close with solid fill"/>
          <p:cNvPicPr>
            <a:picLocks noChangeAspect="1"/>
          </p:cNvPicPr>
          <p:nvPr/>
        </p:nvPicPr>
        <p:blipFill>
          <a:blip r:embed="rId48">
            <a:lum/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rcRect/>
          <a:stretch>
            <a:fillRect/>
          </a:stretch>
        </p:blipFill>
        <p:spPr bwMode="white">
          <a:xfrm>
            <a:off x="9963899" y="5637424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4" name="ShadeSessionDisableResilience"/>
          <p:cNvSpPr>
            <a:spLocks/>
          </p:cNvSpPr>
          <p:nvPr/>
        </p:nvSpPr>
        <p:spPr bwMode="white">
          <a:xfrm>
            <a:off x="9959681" y="5602709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2" name="PolicyName">
            <a:hlinkClick r:id="" action="ppaction://hlinkfile"/>
          </p:cNvPr>
          <p:cNvSpPr>
            <a:spLocks noGrp="1"/>
          </p:cNvSpPr>
          <p:nvPr>
            <p:ph type="title"/>
          </p:nvPr>
        </p:nvSpPr>
        <p:spPr bwMode="white">
          <a:xfrm>
            <a:off x="838200" y="115511"/>
            <a:ext cx="10003967" cy="609565"/>
          </a:xfrm>
          <a:ln>
            <a:headEnd type="none"/>
            <a:tailEnd type="none"/>
          </a:ln>
        </p:spPr>
        <p:txBody>
          <a:bodyPr wrap="square">
            <a:noAutofit/>
          </a:bodyPr>
          <a:lstStyle/>
          <a:p>
            <a:pPr defTabSz="914400"/>
            <a:r>
              <a:rPr lang="en-US" sz="2000" b="1" dirty="0"/>
              <a:t>[All Apps] [EXT Vendors] (Block) unless from selected network</a:t>
            </a:r>
          </a:p>
        </p:txBody>
      </p:sp>
      <p:sp>
        <p:nvSpPr>
          <p:cNvPr id="16" name="LastModified"/>
          <p:cNvSpPr txBox="1">
            <a:spLocks noChangeArrowheads="1"/>
          </p:cNvSpPr>
          <p:nvPr/>
        </p:nvSpPr>
        <p:spPr bwMode="white">
          <a:xfrm>
            <a:off x="10556111" y="388376"/>
            <a:ext cx="15483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algn="r" defTabSz="457200"/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Last modified: 2025-05-06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UserWorkload"/>
          <p:cNvSpPr>
            <a:spLocks/>
          </p:cNvSpPr>
          <p:nvPr/>
        </p:nvSpPr>
        <p:spPr bwMode="auto">
          <a:xfrm>
            <a:off x="175820" y="2709769"/>
            <a:ext cx="2202823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Users</a:t>
            </a:r>
          </a:p>
        </p:txBody>
      </p:sp>
      <p:sp>
        <p:nvSpPr>
          <p:cNvPr id="7" name="UserWorkloadIncExc"/>
          <p:cNvSpPr txBox="1">
            <a:spLocks noChangeArrowheads="1"/>
          </p:cNvSpPr>
          <p:nvPr/>
        </p:nvSpPr>
        <p:spPr bwMode="white">
          <a:xfrm>
            <a:off x="125485" y="3698952"/>
            <a:ext cx="3062115" cy="313265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 numCol="1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b="1" dirty="0"/>
            </a:pPr>
            <a:r>
              <a:t> Users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r>
              <a:t>🚫 Exclude:</a:t>
            </a:r>
          </a:p>
          <a:p>
            <a:pPr defTabSz="457200">
              <a:defRPr sz="1100" b="1" dirty="0"/>
            </a:pPr>
            <a:r>
              <a:t> Users</a:t>
            </a:r>
          </a:p>
          <a:p>
            <a:pPr defTabSz="457200">
              <a:defRPr sz="1100" dirty="0"/>
            </a:pPr>
            <a:r>
              <a:t> - BGA OCC01</a:t>
            </a:r>
          </a:p>
          <a:p>
            <a:pPr defTabSz="457200">
              <a:defRPr sz="1100" dirty="0"/>
            </a:pPr>
            <a:r>
              <a:t> - BGA OCC02</a:t>
            </a:r>
          </a:p>
          <a:p>
            <a:pPr defTabSz="457200">
              <a:defRPr sz="1100" dirty="0"/>
            </a:pPr>
            <a:r>
              <a:t> - Admin Masoud.Sultan</a:t>
            </a:r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19" name="Risks"/>
          <p:cNvSpPr txBox="1">
            <a:spLocks noChangeArrowheads="1"/>
          </p:cNvSpPr>
          <p:nvPr/>
        </p:nvSpPr>
        <p:spPr bwMode="white">
          <a:xfrm>
            <a:off x="524485" y="1021946"/>
            <a:ext cx="1348869" cy="166886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0" name="Platforms"/>
          <p:cNvSpPr txBox="1">
            <a:spLocks noChangeArrowheads="1"/>
          </p:cNvSpPr>
          <p:nvPr/>
        </p:nvSpPr>
        <p:spPr bwMode="white">
          <a:xfrm>
            <a:off x="1826931" y="1021947"/>
            <a:ext cx="2061056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b="1" dirty="0"/>
            </a:pPr>
            <a:r>
              <a:t>✅ Include</a:t>
            </a:r>
          </a:p>
          <a:p>
            <a:pPr defTabSz="457200">
              <a:defRPr sz="1100" dirty="0"/>
            </a:pPr>
            <a:r>
              <a:t> - 📱Android</a:t>
            </a:r>
          </a:p>
          <a:p>
            <a:pPr defTabSz="457200">
              <a:defRPr sz="1100" dirty="0"/>
            </a:pPr>
            <a:r>
              <a:t> - 📱 iOS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r>
              <a:t>🚫 Exclude</a:t>
            </a:r>
          </a:p>
          <a:p>
            <a:pPr defTabSz="457200">
              <a:defRPr sz="1100" dirty="0"/>
            </a:pPr>
            <a:r>
              <a:t> - 📱Android</a:t>
            </a:r>
          </a:p>
          <a:p>
            <a:pPr defTabSz="457200">
              <a:defRPr sz="1100" dirty="0"/>
            </a:pPr>
            <a:r>
              <a:t> - 📱 iOS</a:t>
            </a:r>
          </a:p>
          <a:p>
            <a:pPr defTabSz="457200">
              <a:defRPr sz="1100" dirty="0"/>
            </a:pPr>
            <a:r>
              <a:t> - 💻 macOS</a:t>
            </a:r>
          </a:p>
          <a:p>
            <a:pPr defTabSz="457200">
              <a:defRPr sz="1100" dirty="0"/>
            </a:pPr>
            <a:r>
              <a:t> - 💻 Linux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23" name="Locations"/>
          <p:cNvSpPr txBox="1">
            <a:spLocks noChangeArrowheads="1"/>
          </p:cNvSpPr>
          <p:nvPr/>
        </p:nvSpPr>
        <p:spPr bwMode="white">
          <a:xfrm>
            <a:off x="8324941" y="1021947"/>
            <a:ext cx="3513702" cy="159258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4" name="ClientAppTypes"/>
          <p:cNvSpPr txBox="1">
            <a:spLocks noChangeArrowheads="1"/>
          </p:cNvSpPr>
          <p:nvPr/>
        </p:nvSpPr>
        <p:spPr bwMode="white">
          <a:xfrm>
            <a:off x="3810664" y="1021947"/>
            <a:ext cx="1581599" cy="165343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dirty="0"/>
            </a:pPr>
            <a:r>
              <a:t> - Exchange ActiveSync clients</a:t>
            </a:r>
          </a:p>
          <a:p>
            <a:pPr defTabSz="457200">
              <a:defRPr sz="1100" dirty="0"/>
            </a:pPr>
            <a:r>
              <a:t> - Browser</a:t>
            </a:r>
          </a:p>
          <a:p>
            <a:pPr defTabSz="457200">
              <a:defRPr sz="1100" dirty="0"/>
            </a:pPr>
            <a:r>
              <a:t> - Mobile app and desktop clients</a:t>
            </a:r>
          </a:p>
          <a:p>
            <a:pPr defTabSz="457200">
              <a:defRPr sz="1100" dirty="0"/>
            </a:pPr>
            <a:r>
              <a:t> - Other legacy clients</a:t>
            </a:r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25" name="DeviceFilters"/>
          <p:cNvSpPr txBox="1">
            <a:spLocks noChangeArrowheads="1"/>
          </p:cNvSpPr>
          <p:nvPr/>
        </p:nvSpPr>
        <p:spPr bwMode="white">
          <a:xfrm>
            <a:off x="5818151" y="1022762"/>
            <a:ext cx="2248808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cxnSp>
        <p:nvCxnSpPr>
          <p:cNvPr id="27" name="Straight Arrow Connector 26" descr="Arrow drawn from user/workload  to the action being performed by the user such as accessing cloud apps."/>
          <p:cNvCxnSpPr/>
          <p:nvPr/>
        </p:nvCxnSpPr>
        <p:spPr bwMode="white">
          <a:xfrm>
            <a:off x="2195232" y="3159047"/>
            <a:ext cx="3959471" cy="1"/>
          </a:xfrm>
          <a:prstGeom prst="straightConnector1">
            <a:avLst/>
          </a:prstGeom>
          <a:ln w="76200"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2" name="GrantLabelGrantAccess"/>
          <p:cNvSpPr txBox="1">
            <a:spLocks noChangeArrowheads="1"/>
          </p:cNvSpPr>
          <p:nvPr/>
        </p:nvSpPr>
        <p:spPr bwMode="white">
          <a:xfrm>
            <a:off x="3928464" y="2723089"/>
            <a:ext cx="1381340" cy="369332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algn="ctr" defTabSz="457200"/>
            <a:r>
              <a:rPr lang="en-US" b="1" dirty="0">
                <a:solidFill>
                  <a:srgbClr val="00B050"/>
                </a:solidFill>
              </a:rPr>
              <a:t>Grant access</a:t>
            </a:r>
          </a:p>
        </p:txBody>
      </p:sp>
      <p:pic>
        <p:nvPicPr>
          <p:cNvPr id="35" name="IconGrantAccess" descr="Picture with gren tick sign to indicate access was granted"/>
          <p:cNvPicPr>
            <a:picLocks noChangeAspect="1"/>
          </p:cNvPicPr>
          <p:nvPr/>
        </p:nvPicPr>
        <p:blipFill>
          <a:blip r:embed="rId3">
            <a:lum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 bwMode="white">
          <a:xfrm>
            <a:off x="5309361" y="2730170"/>
            <a:ext cx="356616" cy="35661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3" name="CloudAppActionIncExc"/>
          <p:cNvSpPr txBox="1">
            <a:spLocks noChangeArrowheads="1"/>
          </p:cNvSpPr>
          <p:nvPr/>
        </p:nvSpPr>
        <p:spPr bwMode="white">
          <a:xfrm>
            <a:off x="6039518" y="3662782"/>
            <a:ext cx="3649518" cy="315161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r>
              <a:t>🚫 Exclude:</a:t>
            </a:r>
          </a:p>
          <a:p>
            <a:pPr defTabSz="457200">
              <a:defRPr sz="1100" dirty="0"/>
            </a:pPr>
            <a:r>
              <a:t> - Microsoft Intune</a:t>
            </a:r>
          </a:p>
          <a:p>
            <a:pPr defTabSz="457200">
              <a:defRPr sz="1100" dirty="0"/>
            </a:pPr>
            <a:r>
              <a:t> - Microsoft Intune Enrollment</a:t>
            </a:r>
          </a:p>
          <a:p>
            <a:pPr defTabSz="457200">
              <a:defRPr sz="1100" b="1" dirty="0"/>
            </a:pPr>
            <a:endParaRPr/>
          </a:p>
        </p:txBody>
      </p:sp>
      <p:pic>
        <p:nvPicPr>
          <p:cNvPr id="26" name="IconGroupIdentity"/>
          <p:cNvPicPr>
            <a:picLocks noChangeAspect="1"/>
          </p:cNvPicPr>
          <p:nvPr/>
        </p:nvPicPr>
        <p:blipFill>
          <a:blip r:embed="rId5">
            <a:lum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 bwMode="white">
          <a:xfrm>
            <a:off x="327701" y="2839007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36" name="Graphic 35"/>
          <p:cNvPicPr>
            <a:picLocks noChangeAspect="1"/>
          </p:cNvPicPr>
          <p:nvPr/>
        </p:nvPicPr>
        <p:blipFill>
          <a:blip r:embed="rId7">
            <a:lum/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p:blipFill>
        <p:spPr bwMode="white">
          <a:xfrm>
            <a:off x="495610" y="197468"/>
            <a:ext cx="381196" cy="38119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" name="CloudAppAction"/>
          <p:cNvSpPr>
            <a:spLocks/>
          </p:cNvSpPr>
          <p:nvPr/>
        </p:nvSpPr>
        <p:spPr bwMode="auto">
          <a:xfrm>
            <a:off x="6206089" y="2718506"/>
            <a:ext cx="3227026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All cloud apps</a:t>
            </a:r>
          </a:p>
        </p:txBody>
      </p:sp>
      <p:pic>
        <p:nvPicPr>
          <p:cNvPr id="75" name="IconAccessAllCloudApps"/>
          <p:cNvPicPr>
            <a:picLocks noChangeAspect="1"/>
          </p:cNvPicPr>
          <p:nvPr/>
        </p:nvPicPr>
        <p:blipFill>
          <a:blip r:embed="rId9">
            <a:lum/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p:blipFill>
        <p:spPr bwMode="white">
          <a:xfrm>
            <a:off x="6439264" y="2836824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" name="StateDisabled"/>
          <p:cNvSpPr>
            <a:spLocks/>
          </p:cNvSpPr>
          <p:nvPr/>
        </p:nvSpPr>
        <p:spPr bwMode="white">
          <a:xfrm>
            <a:off x="10842170" y="79259"/>
            <a:ext cx="1260389" cy="264812"/>
          </a:xfrm>
          <a:prstGeom prst="roundRect">
            <a:avLst/>
          </a:prstGeom>
          <a:ln>
            <a:headEnd type="none"/>
            <a:tailEnd type="none"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r>
              <a:rPr lang="en-US" sz="800" dirty="0"/>
              <a:t>Policy Disabled</a:t>
            </a:r>
          </a:p>
        </p:txBody>
      </p:sp>
      <p:grpSp>
        <p:nvGrpSpPr>
          <p:cNvPr id="10" name="IconRiskyUsers"/>
          <p:cNvGrpSpPr>
            <a:grpSpLocks/>
          </p:cNvGrpSpPr>
          <p:nvPr/>
        </p:nvGrpSpPr>
        <p:grpSpPr bwMode="white">
          <a:xfrm>
            <a:off x="635426" y="738677"/>
            <a:ext cx="1202553" cy="274320"/>
            <a:chOff x="2013768" y="1033956"/>
            <a:chExt cx="1342320" cy="274320"/>
          </a:xfrm>
        </p:grpSpPr>
        <p:pic>
          <p:nvPicPr>
            <p:cNvPr id="46" name="Graphic 1"/>
            <p:cNvPicPr>
              <a:picLocks noChangeAspect="1"/>
            </p:cNvPicPr>
            <p:nvPr/>
          </p:nvPicPr>
          <p:blipFill>
            <a:blip r:embed="rId11">
              <a:lum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013768" y="1033956"/>
              <a:ext cx="274320" cy="27432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5" name="Label 1"/>
            <p:cNvSpPr txBox="1">
              <a:spLocks noChangeArrowheads="1"/>
            </p:cNvSpPr>
            <p:nvPr/>
          </p:nvSpPr>
          <p:spPr bwMode="white">
            <a:xfrm>
              <a:off x="2240077" y="1040706"/>
              <a:ext cx="1116011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Risk</a:t>
              </a:r>
            </a:p>
          </p:txBody>
        </p:sp>
      </p:grpSp>
      <p:grpSp>
        <p:nvGrpSpPr>
          <p:cNvPr id="14" name="IconPlatforms"/>
          <p:cNvGrpSpPr>
            <a:grpSpLocks/>
          </p:cNvGrpSpPr>
          <p:nvPr/>
        </p:nvGrpSpPr>
        <p:grpSpPr bwMode="white">
          <a:xfrm>
            <a:off x="1927788" y="715249"/>
            <a:ext cx="1719285" cy="365760"/>
            <a:chOff x="3262737" y="994835"/>
            <a:chExt cx="1719285" cy="365760"/>
          </a:xfrm>
        </p:grpSpPr>
        <p:pic>
          <p:nvPicPr>
            <p:cNvPr id="29" name="Graphic 1"/>
            <p:cNvPicPr>
              <a:picLocks noChangeAspect="1"/>
            </p:cNvPicPr>
            <p:nvPr/>
          </p:nvPicPr>
          <p:blipFill>
            <a:blip r:embed="rId13">
              <a:lum/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3262737" y="994835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1" name="Label 1"/>
            <p:cNvSpPr txBox="1">
              <a:spLocks noChangeArrowheads="1"/>
            </p:cNvSpPr>
            <p:nvPr/>
          </p:nvSpPr>
          <p:spPr bwMode="white">
            <a:xfrm>
              <a:off x="3582397" y="1027255"/>
              <a:ext cx="1399625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Device platforms</a:t>
              </a:r>
            </a:p>
          </p:txBody>
        </p:sp>
      </p:grpSp>
      <p:grpSp>
        <p:nvGrpSpPr>
          <p:cNvPr id="17" name="IconClientAppTypes"/>
          <p:cNvGrpSpPr>
            <a:grpSpLocks/>
          </p:cNvGrpSpPr>
          <p:nvPr/>
        </p:nvGrpSpPr>
        <p:grpSpPr bwMode="white">
          <a:xfrm>
            <a:off x="3908159" y="670015"/>
            <a:ext cx="1852971" cy="365760"/>
            <a:chOff x="4858970" y="975927"/>
            <a:chExt cx="1852971" cy="365760"/>
          </a:xfrm>
        </p:grpSpPr>
        <p:pic>
          <p:nvPicPr>
            <p:cNvPr id="58" name="Graphic 1"/>
            <p:cNvPicPr>
              <a:picLocks noChangeAspect="1"/>
            </p:cNvPicPr>
            <p:nvPr/>
          </p:nvPicPr>
          <p:blipFill>
            <a:blip r:embed="rId15">
              <a:lum/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858970" y="975927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5" name="Label 1"/>
            <p:cNvSpPr txBox="1">
              <a:spLocks noChangeArrowheads="1"/>
            </p:cNvSpPr>
            <p:nvPr/>
          </p:nvSpPr>
          <p:spPr bwMode="white">
            <a:xfrm>
              <a:off x="5193983" y="1009899"/>
              <a:ext cx="1517958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Client apps</a:t>
              </a:r>
            </a:p>
          </p:txBody>
        </p:sp>
      </p:grpSp>
      <p:grpSp>
        <p:nvGrpSpPr>
          <p:cNvPr id="37" name="IconLocations"/>
          <p:cNvGrpSpPr>
            <a:grpSpLocks/>
          </p:cNvGrpSpPr>
          <p:nvPr/>
        </p:nvGrpSpPr>
        <p:grpSpPr bwMode="white">
          <a:xfrm>
            <a:off x="8411896" y="646848"/>
            <a:ext cx="1850168" cy="388465"/>
            <a:chOff x="2321433" y="3262888"/>
            <a:chExt cx="1850168" cy="388465"/>
          </a:xfrm>
        </p:grpSpPr>
        <p:pic>
          <p:nvPicPr>
            <p:cNvPr id="33" name="Graphic 1"/>
            <p:cNvPicPr>
              <a:picLocks noChangeAspect="1"/>
            </p:cNvPicPr>
            <p:nvPr/>
          </p:nvPicPr>
          <p:blipFill>
            <a:blip r:embed="rId17">
              <a:lum/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321433" y="3262888"/>
              <a:ext cx="388465" cy="388465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28" name="Label 1"/>
            <p:cNvSpPr txBox="1">
              <a:spLocks noChangeArrowheads="1"/>
            </p:cNvSpPr>
            <p:nvPr/>
          </p:nvSpPr>
          <p:spPr bwMode="white">
            <a:xfrm>
              <a:off x="2713321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Locations</a:t>
              </a:r>
              <a:endParaRPr lang="en-US" sz="1100" b="1" dirty="0"/>
            </a:p>
          </p:txBody>
        </p:sp>
      </p:grpSp>
      <p:grpSp>
        <p:nvGrpSpPr>
          <p:cNvPr id="39" name="IconDeviceFilters"/>
          <p:cNvGrpSpPr>
            <a:grpSpLocks/>
          </p:cNvGrpSpPr>
          <p:nvPr/>
        </p:nvGrpSpPr>
        <p:grpSpPr bwMode="white">
          <a:xfrm>
            <a:off x="5472818" y="661958"/>
            <a:ext cx="1839823" cy="364111"/>
            <a:chOff x="4195414" y="3273669"/>
            <a:chExt cx="1839823" cy="364111"/>
          </a:xfrm>
        </p:grpSpPr>
        <p:pic>
          <p:nvPicPr>
            <p:cNvPr id="60" name="Graphic 1"/>
            <p:cNvPicPr>
              <a:picLocks noChangeAspect="1"/>
            </p:cNvPicPr>
            <p:nvPr/>
          </p:nvPicPr>
          <p:blipFill>
            <a:blip r:embed="rId19">
              <a:lum/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195414" y="3273669"/>
              <a:ext cx="364111" cy="364111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31" name="Label 1"/>
            <p:cNvSpPr txBox="1">
              <a:spLocks noChangeArrowheads="1"/>
            </p:cNvSpPr>
            <p:nvPr/>
          </p:nvSpPr>
          <p:spPr bwMode="white">
            <a:xfrm>
              <a:off x="4576957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Filter for devices</a:t>
              </a:r>
              <a:endParaRPr lang="en-US" sz="1100" b="1" dirty="0"/>
            </a:p>
          </p:txBody>
        </p:sp>
      </p:grpSp>
      <p:pic>
        <p:nvPicPr>
          <p:cNvPr id="62" name="IconGrantMultifactorAuthentication"/>
          <p:cNvPicPr>
            <a:picLocks noChangeAspect="1"/>
          </p:cNvPicPr>
          <p:nvPr/>
        </p:nvPicPr>
        <p:blipFill>
          <a:blip r:embed="rId21">
            <a:lum/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>
            <a:fillRect/>
          </a:stretch>
        </p:blipFill>
        <p:spPr bwMode="white">
          <a:xfrm>
            <a:off x="3410647" y="3566863"/>
            <a:ext cx="17145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5" name="IconGrantMultifactorAuthenticationLabel"/>
          <p:cNvSpPr txBox="1">
            <a:spLocks noChangeArrowheads="1"/>
          </p:cNvSpPr>
          <p:nvPr/>
        </p:nvSpPr>
        <p:spPr bwMode="white">
          <a:xfrm>
            <a:off x="3575836" y="3571997"/>
            <a:ext cx="19007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Multifactor authentication</a:t>
            </a:r>
            <a:endParaRPr lang="en-US" sz="1000" dirty="0"/>
          </a:p>
        </p:txBody>
      </p:sp>
      <p:pic>
        <p:nvPicPr>
          <p:cNvPr id="38" name="IconGrantAuthenticationStrength"/>
          <p:cNvPicPr>
            <a:picLocks noChangeAspect="1"/>
          </p:cNvPicPr>
          <p:nvPr/>
        </p:nvPicPr>
        <p:blipFill>
          <a:blip r:embed="rId23">
            <a:lum/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/>
          <a:stretch>
            <a:fillRect/>
          </a:stretch>
        </p:blipFill>
        <p:spPr bwMode="white">
          <a:xfrm>
            <a:off x="3374515" y="3905034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7" name="IconGrantAuthenticationStrengthLabel"/>
          <p:cNvSpPr txBox="1">
            <a:spLocks noChangeArrowheads="1"/>
          </p:cNvSpPr>
          <p:nvPr/>
        </p:nvSpPr>
        <p:spPr bwMode="white">
          <a:xfrm>
            <a:off x="3575836" y="3907323"/>
            <a:ext cx="2185294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Authentication strength</a:t>
            </a:r>
            <a:endParaRPr lang="en-US" sz="1000" dirty="0"/>
          </a:p>
        </p:txBody>
      </p:sp>
      <p:pic>
        <p:nvPicPr>
          <p:cNvPr id="52" name="IconGrantDeviceCompliance"/>
          <p:cNvPicPr>
            <a:picLocks noChangeAspect="1"/>
          </p:cNvPicPr>
          <p:nvPr/>
        </p:nvPicPr>
        <p:blipFill>
          <a:blip r:embed="rId25">
            <a:lum/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/>
          <a:stretch>
            <a:fillRect/>
          </a:stretch>
        </p:blipFill>
        <p:spPr bwMode="white">
          <a:xfrm>
            <a:off x="3374515" y="4243205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9" name="IconGrantDeviceComplianceLabel"/>
          <p:cNvSpPr txBox="1">
            <a:spLocks noChangeArrowheads="1"/>
          </p:cNvSpPr>
          <p:nvPr/>
        </p:nvSpPr>
        <p:spPr bwMode="white">
          <a:xfrm>
            <a:off x="3575836" y="4242649"/>
            <a:ext cx="17378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Compliant device</a:t>
            </a:r>
            <a:endParaRPr lang="en-US" sz="1000" dirty="0"/>
          </a:p>
        </p:txBody>
      </p:sp>
      <p:pic>
        <p:nvPicPr>
          <p:cNvPr id="43" name="IconGrantHybridJoined"/>
          <p:cNvPicPr>
            <a:picLocks noChangeAspect="1"/>
          </p:cNvPicPr>
          <p:nvPr/>
        </p:nvPicPr>
        <p:blipFill>
          <a:blip r:embed="rId27">
            <a:lum/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/>
          <a:stretch>
            <a:fillRect/>
          </a:stretch>
        </p:blipFill>
        <p:spPr bwMode="white">
          <a:xfrm>
            <a:off x="3374515" y="4581376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3" name="IconGrantHybridJoinedLabel"/>
          <p:cNvSpPr txBox="1">
            <a:spLocks noChangeArrowheads="1"/>
          </p:cNvSpPr>
          <p:nvPr/>
        </p:nvSpPr>
        <p:spPr bwMode="white">
          <a:xfrm>
            <a:off x="3575836" y="4577975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Hybrid Azure AD joined device</a:t>
            </a:r>
            <a:endParaRPr lang="en-US" sz="1000" dirty="0"/>
          </a:p>
        </p:txBody>
      </p:sp>
      <p:pic>
        <p:nvPicPr>
          <p:cNvPr id="48" name="IconGrantApprovedClientApp"/>
          <p:cNvPicPr>
            <a:picLocks noChangeAspect="1"/>
          </p:cNvPicPr>
          <p:nvPr/>
        </p:nvPicPr>
        <p:blipFill>
          <a:blip r:embed="rId29">
            <a:lum/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rcRect/>
          <a:stretch>
            <a:fillRect/>
          </a:stretch>
        </p:blipFill>
        <p:spPr bwMode="white">
          <a:xfrm>
            <a:off x="3374515" y="491954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5" name="IconGrantApprovedClientAppLabel"/>
          <p:cNvSpPr txBox="1">
            <a:spLocks noChangeArrowheads="1"/>
          </p:cNvSpPr>
          <p:nvPr/>
        </p:nvSpPr>
        <p:spPr bwMode="white">
          <a:xfrm>
            <a:off x="3575836" y="4913301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Approved client app</a:t>
            </a:r>
            <a:endParaRPr lang="en-US" sz="1000" dirty="0"/>
          </a:p>
        </p:txBody>
      </p:sp>
      <p:pic>
        <p:nvPicPr>
          <p:cNvPr id="42" name="IconGrantCustomAuth"/>
          <p:cNvPicPr>
            <a:picLocks noChangeAspect="1"/>
          </p:cNvPicPr>
          <p:nvPr/>
        </p:nvPicPr>
        <p:blipFill>
          <a:blip r:embed="rId31">
            <a:lum/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rcRect/>
          <a:stretch>
            <a:fillRect/>
          </a:stretch>
        </p:blipFill>
        <p:spPr bwMode="white">
          <a:xfrm>
            <a:off x="3374515" y="593406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9" name="IconGrantCustomAuthLabel"/>
          <p:cNvSpPr txBox="1">
            <a:spLocks noChangeArrowheads="1"/>
          </p:cNvSpPr>
          <p:nvPr/>
        </p:nvSpPr>
        <p:spPr bwMode="white">
          <a:xfrm>
            <a:off x="3575836" y="5919279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Custom authentication factor</a:t>
            </a:r>
            <a:endParaRPr lang="en-US" sz="1000" dirty="0"/>
          </a:p>
        </p:txBody>
      </p:sp>
      <p:pic>
        <p:nvPicPr>
          <p:cNvPr id="40" name="IconGrantTermsOfUse"/>
          <p:cNvPicPr>
            <a:picLocks noChangeAspect="1"/>
          </p:cNvPicPr>
          <p:nvPr/>
        </p:nvPicPr>
        <p:blipFill>
          <a:blip r:embed="rId33">
            <a:lum/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rcRect/>
          <a:stretch>
            <a:fillRect/>
          </a:stretch>
        </p:blipFill>
        <p:spPr bwMode="white">
          <a:xfrm>
            <a:off x="3374515" y="627222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3" name="IconGrantTermsOfUseLabel"/>
          <p:cNvSpPr txBox="1">
            <a:spLocks noChangeArrowheads="1"/>
          </p:cNvSpPr>
          <p:nvPr/>
        </p:nvSpPr>
        <p:spPr bwMode="white">
          <a:xfrm>
            <a:off x="3575836" y="625460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Terms of use</a:t>
            </a:r>
            <a:endParaRPr lang="en-US" sz="1000" dirty="0"/>
          </a:p>
        </p:txBody>
      </p:sp>
      <p:sp>
        <p:nvSpPr>
          <p:cNvPr id="56" name="IconGrantAppProtectionLabel"/>
          <p:cNvSpPr txBox="1">
            <a:spLocks noChangeArrowheads="1"/>
          </p:cNvSpPr>
          <p:nvPr/>
        </p:nvSpPr>
        <p:spPr bwMode="white">
          <a:xfrm>
            <a:off x="3575836" y="524862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 protection policy</a:t>
            </a:r>
            <a:endParaRPr lang="en-US" sz="1000" dirty="0"/>
          </a:p>
        </p:txBody>
      </p:sp>
      <p:pic>
        <p:nvPicPr>
          <p:cNvPr id="65" name="IconGrantAppProtection"/>
          <p:cNvPicPr>
            <a:picLocks noChangeAspect="1"/>
          </p:cNvPicPr>
          <p:nvPr/>
        </p:nvPicPr>
        <p:blipFill>
          <a:blip r:embed="rId35">
            <a:lum/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rcRect/>
          <a:stretch>
            <a:fillRect/>
          </a:stretch>
        </p:blipFill>
        <p:spPr bwMode="white">
          <a:xfrm>
            <a:off x="3374515" y="525771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7" name="IconGrantChangePasswordLabel"/>
          <p:cNvSpPr txBox="1">
            <a:spLocks noChangeArrowheads="1"/>
          </p:cNvSpPr>
          <p:nvPr/>
        </p:nvSpPr>
        <p:spPr bwMode="white">
          <a:xfrm>
            <a:off x="3575836" y="5583953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Change password</a:t>
            </a:r>
            <a:endParaRPr lang="en-US" sz="1000" dirty="0"/>
          </a:p>
        </p:txBody>
      </p:sp>
      <p:pic>
        <p:nvPicPr>
          <p:cNvPr id="67" name="IconGrantChangePassword"/>
          <p:cNvPicPr>
            <a:picLocks noChangeAspect="1"/>
          </p:cNvPicPr>
          <p:nvPr/>
        </p:nvPicPr>
        <p:blipFill>
          <a:blip r:embed="rId37">
            <a:lum/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rcRect/>
          <a:stretch>
            <a:fillRect/>
          </a:stretch>
        </p:blipFill>
        <p:spPr bwMode="white">
          <a:xfrm>
            <a:off x="3374515" y="5595889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4" name="ShadeRisk"/>
          <p:cNvSpPr>
            <a:spLocks/>
          </p:cNvSpPr>
          <p:nvPr/>
        </p:nvSpPr>
        <p:spPr bwMode="white">
          <a:xfrm>
            <a:off x="507564" y="650246"/>
            <a:ext cx="976864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79" name="ShadeLocations"/>
          <p:cNvSpPr>
            <a:spLocks/>
          </p:cNvSpPr>
          <p:nvPr/>
        </p:nvSpPr>
        <p:spPr bwMode="white">
          <a:xfrm>
            <a:off x="8217572" y="669110"/>
            <a:ext cx="1873684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2" name="ShadeFilterForDevices"/>
          <p:cNvSpPr>
            <a:spLocks/>
          </p:cNvSpPr>
          <p:nvPr/>
        </p:nvSpPr>
        <p:spPr bwMode="white">
          <a:xfrm>
            <a:off x="5438955" y="627922"/>
            <a:ext cx="1873685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3" name="ShadeGrantMultifactorAuth"/>
          <p:cNvSpPr>
            <a:spLocks/>
          </p:cNvSpPr>
          <p:nvPr/>
        </p:nvSpPr>
        <p:spPr bwMode="white">
          <a:xfrm>
            <a:off x="3369399" y="3534220"/>
            <a:ext cx="2069555" cy="28330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4" name="ShadeGrantAuthStrength"/>
          <p:cNvSpPr>
            <a:spLocks/>
          </p:cNvSpPr>
          <p:nvPr/>
        </p:nvSpPr>
        <p:spPr bwMode="white">
          <a:xfrm>
            <a:off x="3350256" y="3869846"/>
            <a:ext cx="2069555" cy="27801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6" name="ShadeGrantHybridAzureADJoined"/>
          <p:cNvSpPr>
            <a:spLocks/>
          </p:cNvSpPr>
          <p:nvPr/>
        </p:nvSpPr>
        <p:spPr bwMode="white">
          <a:xfrm>
            <a:off x="3353637" y="4552268"/>
            <a:ext cx="2160906" cy="298395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7" name="ShadeGrantApprovedClientApp"/>
          <p:cNvSpPr>
            <a:spLocks/>
          </p:cNvSpPr>
          <p:nvPr/>
        </p:nvSpPr>
        <p:spPr bwMode="white">
          <a:xfrm>
            <a:off x="3331918" y="4876027"/>
            <a:ext cx="2182625" cy="29839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9" name="ShadeGrantChangePassword"/>
          <p:cNvSpPr>
            <a:spLocks/>
          </p:cNvSpPr>
          <p:nvPr/>
        </p:nvSpPr>
        <p:spPr bwMode="white">
          <a:xfrm>
            <a:off x="3350257" y="5557021"/>
            <a:ext cx="2042006" cy="287239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0" name="ShadeGrantCustomAuthFactor"/>
          <p:cNvSpPr>
            <a:spLocks/>
          </p:cNvSpPr>
          <p:nvPr/>
        </p:nvSpPr>
        <p:spPr bwMode="white">
          <a:xfrm>
            <a:off x="3331918" y="5899058"/>
            <a:ext cx="2182625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1" name="ShadeGrantTermsOfUse"/>
          <p:cNvSpPr>
            <a:spLocks/>
          </p:cNvSpPr>
          <p:nvPr/>
        </p:nvSpPr>
        <p:spPr bwMode="white">
          <a:xfrm>
            <a:off x="3313823" y="6192350"/>
            <a:ext cx="101602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99" name="Rectangle 98"/>
          <p:cNvSpPr>
            <a:spLocks/>
          </p:cNvSpPr>
          <p:nvPr/>
        </p:nvSpPr>
        <p:spPr bwMode="white">
          <a:xfrm>
            <a:off x="3268757" y="3253404"/>
            <a:ext cx="2357725" cy="3498546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0" name="Rectangle 109"/>
          <p:cNvSpPr>
            <a:spLocks/>
          </p:cNvSpPr>
          <p:nvPr/>
        </p:nvSpPr>
        <p:spPr bwMode="white">
          <a:xfrm>
            <a:off x="9881750" y="3248255"/>
            <a:ext cx="2220808" cy="3510149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7" name="Rectangle 116"/>
          <p:cNvSpPr>
            <a:spLocks/>
          </p:cNvSpPr>
          <p:nvPr/>
        </p:nvSpPr>
        <p:spPr bwMode="white">
          <a:xfrm>
            <a:off x="26741" y="606825"/>
            <a:ext cx="11985015" cy="2063636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2" name="Conditions Label"/>
          <p:cNvSpPr txBox="1">
            <a:spLocks noChangeArrowheads="1"/>
          </p:cNvSpPr>
          <p:nvPr/>
        </p:nvSpPr>
        <p:spPr bwMode="white">
          <a:xfrm rot="16200000">
            <a:off x="-883507" y="1514324"/>
            <a:ext cx="2081441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Conditions</a:t>
            </a:r>
          </a:p>
        </p:txBody>
      </p:sp>
      <p:sp>
        <p:nvSpPr>
          <p:cNvPr id="109" name="Grant Controls"/>
          <p:cNvSpPr txBox="1">
            <a:spLocks noChangeArrowheads="1"/>
          </p:cNvSpPr>
          <p:nvPr/>
        </p:nvSpPr>
        <p:spPr bwMode="white">
          <a:xfrm>
            <a:off x="3252146" y="3244395"/>
            <a:ext cx="2391873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Grant Controls</a:t>
            </a:r>
          </a:p>
        </p:txBody>
      </p:sp>
      <p:sp>
        <p:nvSpPr>
          <p:cNvPr id="111" name="Session Controls"/>
          <p:cNvSpPr txBox="1">
            <a:spLocks noChangeArrowheads="1"/>
          </p:cNvSpPr>
          <p:nvPr/>
        </p:nvSpPr>
        <p:spPr bwMode="white">
          <a:xfrm>
            <a:off x="9864212" y="3243751"/>
            <a:ext cx="2238346" cy="23786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Session Controls</a:t>
            </a:r>
          </a:p>
        </p:txBody>
      </p:sp>
      <p:sp>
        <p:nvSpPr>
          <p:cNvPr id="68" name="GrantRequireLabel"/>
          <p:cNvSpPr txBox="1">
            <a:spLocks noChangeArrowheads="1"/>
          </p:cNvSpPr>
          <p:nvPr/>
        </p:nvSpPr>
        <p:spPr bwMode="white">
          <a:xfrm>
            <a:off x="4775511" y="3240533"/>
            <a:ext cx="885943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algn="r" defTabSz="457200"/>
            <a:r>
              <a:rPr lang="en-US" sz="800" cap="small" dirty="0">
                <a:solidFill>
                  <a:schemeClr val="bg2"/>
                </a:solidFill>
              </a:rPr>
              <a:t>Require ALL</a:t>
            </a:r>
          </a:p>
        </p:txBody>
      </p:sp>
      <p:pic>
        <p:nvPicPr>
          <p:cNvPr id="72" name="Graphic 71"/>
          <p:cNvPicPr>
            <a:picLocks noChangeAspect="1"/>
          </p:cNvPicPr>
          <p:nvPr/>
        </p:nvPicPr>
        <p:blipFill>
          <a:blip r:embed="rId39">
            <a:lum/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rcRect/>
          <a:stretch>
            <a:fillRect/>
          </a:stretch>
        </p:blipFill>
        <p:spPr bwMode="white">
          <a:xfrm>
            <a:off x="9996846" y="356982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4" name="Graphic 93"/>
          <p:cNvPicPr>
            <a:picLocks noChangeAspect="1"/>
          </p:cNvPicPr>
          <p:nvPr/>
        </p:nvPicPr>
        <p:blipFill>
          <a:blip r:embed="rId41">
            <a:lum/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rcRect/>
          <a:stretch>
            <a:fillRect/>
          </a:stretch>
        </p:blipFill>
        <p:spPr bwMode="white">
          <a:xfrm>
            <a:off x="10009443" y="525644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5" name="TextBox 94"/>
          <p:cNvSpPr txBox="1">
            <a:spLocks noChangeArrowheads="1"/>
          </p:cNvSpPr>
          <p:nvPr/>
        </p:nvSpPr>
        <p:spPr bwMode="white">
          <a:xfrm>
            <a:off x="10207481" y="3578463"/>
            <a:ext cx="150554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App enforced restrictions</a:t>
            </a:r>
          </a:p>
        </p:txBody>
      </p:sp>
      <p:sp>
        <p:nvSpPr>
          <p:cNvPr id="96" name="TextBox 95"/>
          <p:cNvSpPr txBox="1">
            <a:spLocks noChangeArrowheads="1"/>
          </p:cNvSpPr>
          <p:nvPr/>
        </p:nvSpPr>
        <p:spPr bwMode="white">
          <a:xfrm>
            <a:off x="10201167" y="3899846"/>
            <a:ext cx="181011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Conditional Access App Control</a:t>
            </a:r>
          </a:p>
        </p:txBody>
      </p:sp>
      <p:sp>
        <p:nvSpPr>
          <p:cNvPr id="97" name="TextBox 96"/>
          <p:cNvSpPr txBox="1">
            <a:spLocks noChangeArrowheads="1"/>
          </p:cNvSpPr>
          <p:nvPr/>
        </p:nvSpPr>
        <p:spPr bwMode="white">
          <a:xfrm>
            <a:off x="10215627" y="4357505"/>
            <a:ext cx="1090363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Sign-in frequency</a:t>
            </a:r>
          </a:p>
        </p:txBody>
      </p:sp>
      <p:sp>
        <p:nvSpPr>
          <p:cNvPr id="98" name="TextBox 97"/>
          <p:cNvSpPr txBox="1">
            <a:spLocks noChangeArrowheads="1"/>
          </p:cNvSpPr>
          <p:nvPr/>
        </p:nvSpPr>
        <p:spPr bwMode="white">
          <a:xfrm>
            <a:off x="10225446" y="4793305"/>
            <a:ext cx="156966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Persistent browser session</a:t>
            </a:r>
          </a:p>
        </p:txBody>
      </p:sp>
      <p:sp>
        <p:nvSpPr>
          <p:cNvPr id="100" name="TextBox 99"/>
          <p:cNvSpPr txBox="1">
            <a:spLocks noChangeArrowheads="1"/>
          </p:cNvSpPr>
          <p:nvPr/>
        </p:nvSpPr>
        <p:spPr bwMode="white">
          <a:xfrm>
            <a:off x="10229552" y="5232376"/>
            <a:ext cx="1717137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Continuous access evaluation</a:t>
            </a:r>
          </a:p>
        </p:txBody>
      </p:sp>
      <p:sp>
        <p:nvSpPr>
          <p:cNvPr id="101" name="TextBox 100"/>
          <p:cNvSpPr txBox="1">
            <a:spLocks noChangeArrowheads="1"/>
          </p:cNvSpPr>
          <p:nvPr/>
        </p:nvSpPr>
        <p:spPr bwMode="white">
          <a:xfrm>
            <a:off x="10259108" y="5658625"/>
            <a:ext cx="153599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Disable resilience defaults</a:t>
            </a:r>
          </a:p>
        </p:txBody>
      </p:sp>
      <p:pic>
        <p:nvPicPr>
          <p:cNvPr id="103" name="Graphic 102"/>
          <p:cNvPicPr>
            <a:picLocks noChangeAspect="1"/>
          </p:cNvPicPr>
          <p:nvPr/>
        </p:nvPicPr>
        <p:blipFill>
          <a:blip r:embed="rId43">
            <a:lum/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rcRect/>
          <a:stretch>
            <a:fillRect/>
          </a:stretch>
        </p:blipFill>
        <p:spPr bwMode="white">
          <a:xfrm>
            <a:off x="9996846" y="479900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5" name="Graphic 104"/>
          <p:cNvPicPr>
            <a:picLocks noChangeAspect="1"/>
          </p:cNvPicPr>
          <p:nvPr/>
        </p:nvPicPr>
        <p:blipFill>
          <a:blip r:embed="rId45">
            <a:lum/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rcRect/>
          <a:stretch>
            <a:fillRect/>
          </a:stretch>
        </p:blipFill>
        <p:spPr bwMode="white">
          <a:xfrm>
            <a:off x="9996846" y="437457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7" name="Graphic 106"/>
          <p:cNvPicPr>
            <a:picLocks noChangeAspect="1"/>
          </p:cNvPicPr>
          <p:nvPr/>
        </p:nvPicPr>
        <p:blipFill>
          <a:blip r:embed="rId7">
            <a:lum/>
            <a:extLst>
              <a:ext uri="{96DAC541-7B7A-43D3-8B79-37D633B846F1}">
                <asvg:svgBlip xmlns:asvg="http://schemas.microsoft.com/office/drawing/2016/SVG/main" r:embed="rId47"/>
              </a:ext>
            </a:extLst>
          </a:blip>
          <a:srcRect/>
          <a:stretch>
            <a:fillRect/>
          </a:stretch>
        </p:blipFill>
        <p:spPr bwMode="white">
          <a:xfrm>
            <a:off x="9996846" y="391529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15" name="SessionSifInterval"/>
          <p:cNvSpPr txBox="1">
            <a:spLocks noChangeArrowheads="1"/>
          </p:cNvSpPr>
          <p:nvPr/>
        </p:nvSpPr>
        <p:spPr bwMode="white">
          <a:xfrm>
            <a:off x="10296745" y="4516775"/>
            <a:ext cx="1249060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Periodic reauthentication</a:t>
            </a:r>
          </a:p>
        </p:txBody>
      </p:sp>
      <p:sp>
        <p:nvSpPr>
          <p:cNvPr id="114" name="SessionCasType"/>
          <p:cNvSpPr txBox="1">
            <a:spLocks noChangeArrowheads="1"/>
          </p:cNvSpPr>
          <p:nvPr/>
        </p:nvSpPr>
        <p:spPr bwMode="white">
          <a:xfrm>
            <a:off x="10296745" y="4075500"/>
            <a:ext cx="95410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App Control Policy</a:t>
            </a:r>
          </a:p>
        </p:txBody>
      </p:sp>
      <p:sp>
        <p:nvSpPr>
          <p:cNvPr id="116" name="SessionPersistenBrowserMode"/>
          <p:cNvSpPr txBox="1">
            <a:spLocks noChangeArrowheads="1"/>
          </p:cNvSpPr>
          <p:nvPr/>
        </p:nvSpPr>
        <p:spPr bwMode="white">
          <a:xfrm>
            <a:off x="10309761" y="4945281"/>
            <a:ext cx="918841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Always persistent</a:t>
            </a:r>
          </a:p>
        </p:txBody>
      </p:sp>
      <p:sp>
        <p:nvSpPr>
          <p:cNvPr id="118" name="SessionCaeMode"/>
          <p:cNvSpPr txBox="1">
            <a:spLocks noChangeArrowheads="1"/>
          </p:cNvSpPr>
          <p:nvPr/>
        </p:nvSpPr>
        <p:spPr bwMode="white">
          <a:xfrm>
            <a:off x="10301386" y="5393378"/>
            <a:ext cx="15359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US" sz="800" dirty="0"/>
              <a:t>Strictly enforce location policies</a:t>
            </a:r>
          </a:p>
        </p:txBody>
      </p:sp>
      <p:sp>
        <p:nvSpPr>
          <p:cNvPr id="119" name="ShadeSessionAppEnforced"/>
          <p:cNvSpPr>
            <a:spLocks/>
          </p:cNvSpPr>
          <p:nvPr/>
        </p:nvSpPr>
        <p:spPr bwMode="white">
          <a:xfrm>
            <a:off x="9959680" y="3548808"/>
            <a:ext cx="2051597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0" name="ShadeSessionCas"/>
          <p:cNvSpPr>
            <a:spLocks/>
          </p:cNvSpPr>
          <p:nvPr/>
        </p:nvSpPr>
        <p:spPr bwMode="white">
          <a:xfrm>
            <a:off x="9978939" y="3884212"/>
            <a:ext cx="2087576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1" name="ShadeSessionSif"/>
          <p:cNvSpPr>
            <a:spLocks/>
          </p:cNvSpPr>
          <p:nvPr/>
        </p:nvSpPr>
        <p:spPr bwMode="white">
          <a:xfrm>
            <a:off x="9940787" y="4320077"/>
            <a:ext cx="2125728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2" name="ShadeSessionPersistentBrowser"/>
          <p:cNvSpPr>
            <a:spLocks/>
          </p:cNvSpPr>
          <p:nvPr/>
        </p:nvSpPr>
        <p:spPr bwMode="white">
          <a:xfrm>
            <a:off x="9938833" y="4746195"/>
            <a:ext cx="207244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" name="Label Secure Sign In Session"/>
          <p:cNvSpPr txBox="1">
            <a:spLocks noChangeArrowheads="1"/>
          </p:cNvSpPr>
          <p:nvPr/>
        </p:nvSpPr>
        <p:spPr bwMode="white">
          <a:xfrm>
            <a:off x="10260000" y="6084874"/>
            <a:ext cx="166584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Token protection for session</a:t>
            </a:r>
          </a:p>
        </p:txBody>
      </p:sp>
      <p:pic>
        <p:nvPicPr>
          <p:cNvPr id="77" name="IconSessionCaeDisable" descr="Close with solid fill"/>
          <p:cNvPicPr>
            <a:picLocks noChangeAspect="1"/>
          </p:cNvPicPr>
          <p:nvPr/>
        </p:nvPicPr>
        <p:blipFill>
          <a:blip r:embed="rId48">
            <a:lum/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rcRect/>
          <a:stretch>
            <a:fillRect/>
          </a:stretch>
        </p:blipFill>
        <p:spPr bwMode="white">
          <a:xfrm>
            <a:off x="9979885" y="5218651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2" name="IconSessionSecureSignInSession 1"/>
          <p:cNvPicPr>
            <a:picLocks noChangeAspect="1"/>
          </p:cNvPicPr>
          <p:nvPr/>
        </p:nvPicPr>
        <p:blipFill>
          <a:blip r:embed="rId50">
            <a:lum/>
            <a:extLst>
              <a:ext uri="{96DAC541-7B7A-43D3-8B79-37D633B846F1}">
                <asvg:svgBlip xmlns:asvg="http://schemas.microsoft.com/office/drawing/2016/SVG/main" r:embed="rId51"/>
              </a:ext>
            </a:extLst>
          </a:blip>
          <a:srcRect/>
          <a:stretch>
            <a:fillRect/>
          </a:stretch>
        </p:blipFill>
        <p:spPr bwMode="white">
          <a:xfrm>
            <a:off x="9997200" y="6085768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3" name="ShadeSessionCae"/>
          <p:cNvSpPr>
            <a:spLocks/>
          </p:cNvSpPr>
          <p:nvPr/>
        </p:nvSpPr>
        <p:spPr bwMode="white">
          <a:xfrm>
            <a:off x="9987595" y="5219780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76" name="ShadeSessionSecureSignIn"/>
          <p:cNvSpPr>
            <a:spLocks/>
          </p:cNvSpPr>
          <p:nvPr/>
        </p:nvSpPr>
        <p:spPr bwMode="white">
          <a:xfrm>
            <a:off x="9996846" y="5986498"/>
            <a:ext cx="2014431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pic>
        <p:nvPicPr>
          <p:cNvPr id="102" name="Graphic 101"/>
          <p:cNvPicPr>
            <a:picLocks noChangeAspect="1"/>
          </p:cNvPicPr>
          <p:nvPr/>
        </p:nvPicPr>
        <p:blipFill>
          <a:blip r:embed="rId52">
            <a:lum/>
            <a:extLst>
              <a:ext uri="{96DAC541-7B7A-43D3-8B79-37D633B846F1}">
                <asvg:svgBlip xmlns:asvg="http://schemas.microsoft.com/office/drawing/2016/SVG/main" r:embed="rId53"/>
              </a:ext>
            </a:extLst>
          </a:blip>
          <a:srcRect/>
          <a:stretch>
            <a:fillRect/>
          </a:stretch>
        </p:blipFill>
        <p:spPr bwMode="white">
          <a:xfrm>
            <a:off x="9997200" y="5663777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80" name="Graphic 79" descr="Close with solid fill"/>
          <p:cNvPicPr>
            <a:picLocks noChangeAspect="1"/>
          </p:cNvPicPr>
          <p:nvPr/>
        </p:nvPicPr>
        <p:blipFill>
          <a:blip r:embed="rId48">
            <a:lum/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rcRect/>
          <a:stretch>
            <a:fillRect/>
          </a:stretch>
        </p:blipFill>
        <p:spPr bwMode="white">
          <a:xfrm>
            <a:off x="9963899" y="5637424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4" name="ShadeSessionDisableResilience"/>
          <p:cNvSpPr>
            <a:spLocks/>
          </p:cNvSpPr>
          <p:nvPr/>
        </p:nvSpPr>
        <p:spPr bwMode="white">
          <a:xfrm>
            <a:off x="9959681" y="5602709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2" name="PolicyName">
            <a:hlinkClick r:id="" action="ppaction://hlinkfile"/>
          </p:cNvPr>
          <p:cNvSpPr>
            <a:spLocks noGrp="1"/>
          </p:cNvSpPr>
          <p:nvPr>
            <p:ph type="title"/>
          </p:nvPr>
        </p:nvSpPr>
        <p:spPr bwMode="white">
          <a:xfrm>
            <a:off x="838200" y="115511"/>
            <a:ext cx="10003967" cy="609565"/>
          </a:xfrm>
          <a:ln>
            <a:headEnd type="none"/>
            <a:tailEnd type="none"/>
          </a:ln>
        </p:spPr>
        <p:txBody>
          <a:bodyPr wrap="square">
            <a:noAutofit/>
          </a:bodyPr>
          <a:lstStyle/>
          <a:p>
            <a:pPr defTabSz="914400"/>
            <a:r>
              <a:rPr lang="en-US" sz="2000" b="1" dirty="0"/>
              <a:t>[TEST] [All Apps] [All Users] {Mobile Devices} App Protection and Compliance</a:t>
            </a:r>
          </a:p>
        </p:txBody>
      </p:sp>
      <p:sp>
        <p:nvSpPr>
          <p:cNvPr id="16" name="LastModified"/>
          <p:cNvSpPr txBox="1">
            <a:spLocks noChangeArrowheads="1"/>
          </p:cNvSpPr>
          <p:nvPr/>
        </p:nvSpPr>
        <p:spPr bwMode="white">
          <a:xfrm>
            <a:off x="10556111" y="388376"/>
            <a:ext cx="15483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algn="r" defTabSz="457200"/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Last modified: 2025-05-14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UserWorkload"/>
          <p:cNvSpPr>
            <a:spLocks/>
          </p:cNvSpPr>
          <p:nvPr/>
        </p:nvSpPr>
        <p:spPr bwMode="auto">
          <a:xfrm>
            <a:off x="175820" y="2709769"/>
            <a:ext cx="2202823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Users</a:t>
            </a:r>
          </a:p>
        </p:txBody>
      </p:sp>
      <p:sp>
        <p:nvSpPr>
          <p:cNvPr id="7" name="UserWorkloadIncExc"/>
          <p:cNvSpPr txBox="1">
            <a:spLocks noChangeArrowheads="1"/>
          </p:cNvSpPr>
          <p:nvPr/>
        </p:nvSpPr>
        <p:spPr bwMode="white">
          <a:xfrm>
            <a:off x="125485" y="3698952"/>
            <a:ext cx="3062115" cy="313265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 numCol="1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b="1" dirty="0"/>
            </a:pPr>
            <a:r>
              <a:t> Users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r>
              <a:t>🚫 Exclude:</a:t>
            </a:r>
          </a:p>
          <a:p>
            <a:pPr defTabSz="457200">
              <a:defRPr sz="1100" b="1" dirty="0"/>
            </a:pPr>
            <a:r>
              <a:t> Users</a:t>
            </a:r>
          </a:p>
          <a:p>
            <a:pPr defTabSz="457200">
              <a:defRPr sz="1100" dirty="0"/>
            </a:pPr>
            <a:r>
              <a:t> - Admin Mark Kavinsky</a:t>
            </a:r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19" name="Risks"/>
          <p:cNvSpPr txBox="1">
            <a:spLocks noChangeArrowheads="1"/>
          </p:cNvSpPr>
          <p:nvPr/>
        </p:nvSpPr>
        <p:spPr bwMode="white">
          <a:xfrm>
            <a:off x="524485" y="1021946"/>
            <a:ext cx="1348869" cy="166886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0" name="Platforms"/>
          <p:cNvSpPr txBox="1">
            <a:spLocks noChangeArrowheads="1"/>
          </p:cNvSpPr>
          <p:nvPr/>
        </p:nvSpPr>
        <p:spPr bwMode="white">
          <a:xfrm>
            <a:off x="1826931" y="1021947"/>
            <a:ext cx="2061056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3" name="Locations"/>
          <p:cNvSpPr txBox="1">
            <a:spLocks noChangeArrowheads="1"/>
          </p:cNvSpPr>
          <p:nvPr/>
        </p:nvSpPr>
        <p:spPr bwMode="white">
          <a:xfrm>
            <a:off x="8324941" y="1021947"/>
            <a:ext cx="3513702" cy="159258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4" name="ClientAppTypes"/>
          <p:cNvSpPr txBox="1">
            <a:spLocks noChangeArrowheads="1"/>
          </p:cNvSpPr>
          <p:nvPr/>
        </p:nvSpPr>
        <p:spPr bwMode="white">
          <a:xfrm>
            <a:off x="3810664" y="1021947"/>
            <a:ext cx="1581599" cy="165343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5" name="DeviceFilters"/>
          <p:cNvSpPr txBox="1">
            <a:spLocks noChangeArrowheads="1"/>
          </p:cNvSpPr>
          <p:nvPr/>
        </p:nvSpPr>
        <p:spPr bwMode="white">
          <a:xfrm>
            <a:off x="5818151" y="1022762"/>
            <a:ext cx="2248808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cxnSp>
        <p:nvCxnSpPr>
          <p:cNvPr id="27" name="Straight Arrow Connector 26" descr="Arrow drawn from user/workload  to the action being performed by the user such as accessing cloud apps."/>
          <p:cNvCxnSpPr/>
          <p:nvPr/>
        </p:nvCxnSpPr>
        <p:spPr bwMode="white">
          <a:xfrm>
            <a:off x="2195232" y="3159047"/>
            <a:ext cx="3959471" cy="1"/>
          </a:xfrm>
          <a:prstGeom prst="straightConnector1">
            <a:avLst/>
          </a:prstGeom>
          <a:ln w="76200"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30" name="IconBlockAccess" descr="Picture with red color stop sign to indicate blocked access"/>
          <p:cNvPicPr>
            <a:picLocks noChangeAspect="1"/>
          </p:cNvPicPr>
          <p:nvPr/>
        </p:nvPicPr>
        <p:blipFill>
          <a:blip r:embed="rId3">
            <a:lum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 bwMode="white">
          <a:xfrm>
            <a:off x="5306633" y="2735805"/>
            <a:ext cx="356616" cy="35661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34" name="GrantLabelBlockAccess"/>
          <p:cNvSpPr txBox="1">
            <a:spLocks noChangeArrowheads="1"/>
          </p:cNvSpPr>
          <p:nvPr/>
        </p:nvSpPr>
        <p:spPr bwMode="white">
          <a:xfrm>
            <a:off x="3936931" y="2734375"/>
            <a:ext cx="1358065" cy="369332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algn="ctr" defTabSz="457200"/>
            <a:r>
              <a:rPr lang="en-US" b="1" dirty="0">
                <a:solidFill>
                  <a:srgbClr val="FF0000"/>
                </a:solidFill>
              </a:rPr>
              <a:t>Block access</a:t>
            </a:r>
          </a:p>
        </p:txBody>
      </p:sp>
      <p:sp>
        <p:nvSpPr>
          <p:cNvPr id="3" name="CloudAppActionIncExc"/>
          <p:cNvSpPr txBox="1">
            <a:spLocks noChangeArrowheads="1"/>
          </p:cNvSpPr>
          <p:nvPr/>
        </p:nvSpPr>
        <p:spPr bwMode="white">
          <a:xfrm>
            <a:off x="6039518" y="3662782"/>
            <a:ext cx="3649518" cy="315161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</p:txBody>
      </p:sp>
      <p:pic>
        <p:nvPicPr>
          <p:cNvPr id="26" name="IconGroupIdentity"/>
          <p:cNvPicPr>
            <a:picLocks noChangeAspect="1"/>
          </p:cNvPicPr>
          <p:nvPr/>
        </p:nvPicPr>
        <p:blipFill>
          <a:blip r:embed="rId5">
            <a:lum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 bwMode="white">
          <a:xfrm>
            <a:off x="327701" y="2839007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36" name="Graphic 35"/>
          <p:cNvPicPr>
            <a:picLocks noChangeAspect="1"/>
          </p:cNvPicPr>
          <p:nvPr/>
        </p:nvPicPr>
        <p:blipFill>
          <a:blip r:embed="rId7">
            <a:lum/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p:blipFill>
        <p:spPr bwMode="white">
          <a:xfrm>
            <a:off x="495610" y="197468"/>
            <a:ext cx="381196" cy="38119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" name="CloudAppAction"/>
          <p:cNvSpPr>
            <a:spLocks/>
          </p:cNvSpPr>
          <p:nvPr/>
        </p:nvSpPr>
        <p:spPr bwMode="auto">
          <a:xfrm>
            <a:off x="6206089" y="2718506"/>
            <a:ext cx="3227026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All cloud apps</a:t>
            </a:r>
          </a:p>
        </p:txBody>
      </p:sp>
      <p:pic>
        <p:nvPicPr>
          <p:cNvPr id="75" name="IconAccessAllCloudApps"/>
          <p:cNvPicPr>
            <a:picLocks noChangeAspect="1"/>
          </p:cNvPicPr>
          <p:nvPr/>
        </p:nvPicPr>
        <p:blipFill>
          <a:blip r:embed="rId9">
            <a:lum/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p:blipFill>
        <p:spPr bwMode="white">
          <a:xfrm>
            <a:off x="6439264" y="2836824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" name="StateDisabled"/>
          <p:cNvSpPr>
            <a:spLocks/>
          </p:cNvSpPr>
          <p:nvPr/>
        </p:nvSpPr>
        <p:spPr bwMode="white">
          <a:xfrm>
            <a:off x="10842170" y="79259"/>
            <a:ext cx="1260389" cy="264812"/>
          </a:xfrm>
          <a:prstGeom prst="roundRect">
            <a:avLst/>
          </a:prstGeom>
          <a:ln>
            <a:headEnd type="none"/>
            <a:tailEnd type="none"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r>
              <a:rPr lang="en-US" sz="800" dirty="0"/>
              <a:t>Policy Disabled</a:t>
            </a:r>
          </a:p>
        </p:txBody>
      </p:sp>
      <p:grpSp>
        <p:nvGrpSpPr>
          <p:cNvPr id="10" name="IconRiskyUsers"/>
          <p:cNvGrpSpPr>
            <a:grpSpLocks/>
          </p:cNvGrpSpPr>
          <p:nvPr/>
        </p:nvGrpSpPr>
        <p:grpSpPr bwMode="white">
          <a:xfrm>
            <a:off x="635426" y="738677"/>
            <a:ext cx="1202553" cy="274320"/>
            <a:chOff x="2013768" y="1033956"/>
            <a:chExt cx="1342320" cy="274320"/>
          </a:xfrm>
        </p:grpSpPr>
        <p:pic>
          <p:nvPicPr>
            <p:cNvPr id="46" name="Graphic 1"/>
            <p:cNvPicPr>
              <a:picLocks noChangeAspect="1"/>
            </p:cNvPicPr>
            <p:nvPr/>
          </p:nvPicPr>
          <p:blipFill>
            <a:blip r:embed="rId11">
              <a:lum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013768" y="1033956"/>
              <a:ext cx="274320" cy="27432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5" name="Label 1"/>
            <p:cNvSpPr txBox="1">
              <a:spLocks noChangeArrowheads="1"/>
            </p:cNvSpPr>
            <p:nvPr/>
          </p:nvSpPr>
          <p:spPr bwMode="white">
            <a:xfrm>
              <a:off x="2240077" y="1040706"/>
              <a:ext cx="1116011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Risk</a:t>
              </a:r>
            </a:p>
          </p:txBody>
        </p:sp>
      </p:grpSp>
      <p:grpSp>
        <p:nvGrpSpPr>
          <p:cNvPr id="14" name="IconPlatforms"/>
          <p:cNvGrpSpPr>
            <a:grpSpLocks/>
          </p:cNvGrpSpPr>
          <p:nvPr/>
        </p:nvGrpSpPr>
        <p:grpSpPr bwMode="white">
          <a:xfrm>
            <a:off x="1927788" y="715249"/>
            <a:ext cx="1719285" cy="365760"/>
            <a:chOff x="3262737" y="994835"/>
            <a:chExt cx="1719285" cy="365760"/>
          </a:xfrm>
        </p:grpSpPr>
        <p:pic>
          <p:nvPicPr>
            <p:cNvPr id="29" name="Graphic 1"/>
            <p:cNvPicPr>
              <a:picLocks noChangeAspect="1"/>
            </p:cNvPicPr>
            <p:nvPr/>
          </p:nvPicPr>
          <p:blipFill>
            <a:blip r:embed="rId13">
              <a:lum/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3262737" y="994835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1" name="Label 1"/>
            <p:cNvSpPr txBox="1">
              <a:spLocks noChangeArrowheads="1"/>
            </p:cNvSpPr>
            <p:nvPr/>
          </p:nvSpPr>
          <p:spPr bwMode="white">
            <a:xfrm>
              <a:off x="3582397" y="1027255"/>
              <a:ext cx="1399625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Device platforms</a:t>
              </a:r>
            </a:p>
          </p:txBody>
        </p:sp>
      </p:grpSp>
      <p:grpSp>
        <p:nvGrpSpPr>
          <p:cNvPr id="17" name="IconClientAppTypes"/>
          <p:cNvGrpSpPr>
            <a:grpSpLocks/>
          </p:cNvGrpSpPr>
          <p:nvPr/>
        </p:nvGrpSpPr>
        <p:grpSpPr bwMode="white">
          <a:xfrm>
            <a:off x="3908159" y="670015"/>
            <a:ext cx="1852971" cy="365760"/>
            <a:chOff x="4858970" y="975927"/>
            <a:chExt cx="1852971" cy="365760"/>
          </a:xfrm>
        </p:grpSpPr>
        <p:pic>
          <p:nvPicPr>
            <p:cNvPr id="58" name="Graphic 1"/>
            <p:cNvPicPr>
              <a:picLocks noChangeAspect="1"/>
            </p:cNvPicPr>
            <p:nvPr/>
          </p:nvPicPr>
          <p:blipFill>
            <a:blip r:embed="rId15">
              <a:lum/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858970" y="975927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5" name="Label 1"/>
            <p:cNvSpPr txBox="1">
              <a:spLocks noChangeArrowheads="1"/>
            </p:cNvSpPr>
            <p:nvPr/>
          </p:nvSpPr>
          <p:spPr bwMode="white">
            <a:xfrm>
              <a:off x="5193983" y="1009899"/>
              <a:ext cx="1517958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Client apps</a:t>
              </a:r>
            </a:p>
          </p:txBody>
        </p:sp>
      </p:grpSp>
      <p:grpSp>
        <p:nvGrpSpPr>
          <p:cNvPr id="37" name="IconLocations"/>
          <p:cNvGrpSpPr>
            <a:grpSpLocks/>
          </p:cNvGrpSpPr>
          <p:nvPr/>
        </p:nvGrpSpPr>
        <p:grpSpPr bwMode="white">
          <a:xfrm>
            <a:off x="8411896" y="646848"/>
            <a:ext cx="1850168" cy="388465"/>
            <a:chOff x="2321433" y="3262888"/>
            <a:chExt cx="1850168" cy="388465"/>
          </a:xfrm>
        </p:grpSpPr>
        <p:pic>
          <p:nvPicPr>
            <p:cNvPr id="33" name="Graphic 1"/>
            <p:cNvPicPr>
              <a:picLocks noChangeAspect="1"/>
            </p:cNvPicPr>
            <p:nvPr/>
          </p:nvPicPr>
          <p:blipFill>
            <a:blip r:embed="rId17">
              <a:lum/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321433" y="3262888"/>
              <a:ext cx="388465" cy="388465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28" name="Label 1"/>
            <p:cNvSpPr txBox="1">
              <a:spLocks noChangeArrowheads="1"/>
            </p:cNvSpPr>
            <p:nvPr/>
          </p:nvSpPr>
          <p:spPr bwMode="white">
            <a:xfrm>
              <a:off x="2713321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Locations</a:t>
              </a:r>
              <a:endParaRPr lang="en-US" sz="1100" b="1" dirty="0"/>
            </a:p>
          </p:txBody>
        </p:sp>
      </p:grpSp>
      <p:grpSp>
        <p:nvGrpSpPr>
          <p:cNvPr id="39" name="IconDeviceFilters"/>
          <p:cNvGrpSpPr>
            <a:grpSpLocks/>
          </p:cNvGrpSpPr>
          <p:nvPr/>
        </p:nvGrpSpPr>
        <p:grpSpPr bwMode="white">
          <a:xfrm>
            <a:off x="5472818" y="661958"/>
            <a:ext cx="1839823" cy="364111"/>
            <a:chOff x="4195414" y="3273669"/>
            <a:chExt cx="1839823" cy="364111"/>
          </a:xfrm>
        </p:grpSpPr>
        <p:pic>
          <p:nvPicPr>
            <p:cNvPr id="60" name="Graphic 1"/>
            <p:cNvPicPr>
              <a:picLocks noChangeAspect="1"/>
            </p:cNvPicPr>
            <p:nvPr/>
          </p:nvPicPr>
          <p:blipFill>
            <a:blip r:embed="rId19">
              <a:lum/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195414" y="3273669"/>
              <a:ext cx="364111" cy="364111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31" name="Label 1"/>
            <p:cNvSpPr txBox="1">
              <a:spLocks noChangeArrowheads="1"/>
            </p:cNvSpPr>
            <p:nvPr/>
          </p:nvSpPr>
          <p:spPr bwMode="white">
            <a:xfrm>
              <a:off x="4576957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Filter for devices</a:t>
              </a:r>
              <a:endParaRPr lang="en-US" sz="1100" b="1" dirty="0"/>
            </a:p>
          </p:txBody>
        </p:sp>
      </p:grpSp>
      <p:pic>
        <p:nvPicPr>
          <p:cNvPr id="62" name="IconGrantMultifactorAuthentication"/>
          <p:cNvPicPr>
            <a:picLocks noChangeAspect="1"/>
          </p:cNvPicPr>
          <p:nvPr/>
        </p:nvPicPr>
        <p:blipFill>
          <a:blip r:embed="rId21">
            <a:lum/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>
            <a:fillRect/>
          </a:stretch>
        </p:blipFill>
        <p:spPr bwMode="white">
          <a:xfrm>
            <a:off x="3410647" y="3566863"/>
            <a:ext cx="17145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5" name="IconGrantMultifactorAuthenticationLabel"/>
          <p:cNvSpPr txBox="1">
            <a:spLocks noChangeArrowheads="1"/>
          </p:cNvSpPr>
          <p:nvPr/>
        </p:nvSpPr>
        <p:spPr bwMode="white">
          <a:xfrm>
            <a:off x="3575836" y="3571997"/>
            <a:ext cx="19007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Multifactor authentication</a:t>
            </a:r>
            <a:endParaRPr lang="en-US" sz="1000" dirty="0"/>
          </a:p>
        </p:txBody>
      </p:sp>
      <p:pic>
        <p:nvPicPr>
          <p:cNvPr id="38" name="IconGrantAuthenticationStrength"/>
          <p:cNvPicPr>
            <a:picLocks noChangeAspect="1"/>
          </p:cNvPicPr>
          <p:nvPr/>
        </p:nvPicPr>
        <p:blipFill>
          <a:blip r:embed="rId23">
            <a:lum/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/>
          <a:stretch>
            <a:fillRect/>
          </a:stretch>
        </p:blipFill>
        <p:spPr bwMode="white">
          <a:xfrm>
            <a:off x="3374515" y="3905034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7" name="IconGrantAuthenticationStrengthLabel"/>
          <p:cNvSpPr txBox="1">
            <a:spLocks noChangeArrowheads="1"/>
          </p:cNvSpPr>
          <p:nvPr/>
        </p:nvSpPr>
        <p:spPr bwMode="white">
          <a:xfrm>
            <a:off x="3575836" y="3907323"/>
            <a:ext cx="2185294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Authentication strength</a:t>
            </a:r>
            <a:endParaRPr lang="en-US" sz="1000" dirty="0"/>
          </a:p>
        </p:txBody>
      </p:sp>
      <p:pic>
        <p:nvPicPr>
          <p:cNvPr id="52" name="IconGrantDeviceCompliance"/>
          <p:cNvPicPr>
            <a:picLocks noChangeAspect="1"/>
          </p:cNvPicPr>
          <p:nvPr/>
        </p:nvPicPr>
        <p:blipFill>
          <a:blip r:embed="rId25">
            <a:lum/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/>
          <a:stretch>
            <a:fillRect/>
          </a:stretch>
        </p:blipFill>
        <p:spPr bwMode="white">
          <a:xfrm>
            <a:off x="3374515" y="4243205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9" name="IconGrantDeviceComplianceLabel"/>
          <p:cNvSpPr txBox="1">
            <a:spLocks noChangeArrowheads="1"/>
          </p:cNvSpPr>
          <p:nvPr/>
        </p:nvSpPr>
        <p:spPr bwMode="white">
          <a:xfrm>
            <a:off x="3575836" y="4242649"/>
            <a:ext cx="17378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Compliant device</a:t>
            </a:r>
            <a:endParaRPr lang="en-US" sz="1000" dirty="0"/>
          </a:p>
        </p:txBody>
      </p:sp>
      <p:pic>
        <p:nvPicPr>
          <p:cNvPr id="43" name="IconGrantHybridJoined"/>
          <p:cNvPicPr>
            <a:picLocks noChangeAspect="1"/>
          </p:cNvPicPr>
          <p:nvPr/>
        </p:nvPicPr>
        <p:blipFill>
          <a:blip r:embed="rId27">
            <a:lum/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/>
          <a:stretch>
            <a:fillRect/>
          </a:stretch>
        </p:blipFill>
        <p:spPr bwMode="white">
          <a:xfrm>
            <a:off x="3374515" y="4581376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3" name="IconGrantHybridJoinedLabel"/>
          <p:cNvSpPr txBox="1">
            <a:spLocks noChangeArrowheads="1"/>
          </p:cNvSpPr>
          <p:nvPr/>
        </p:nvSpPr>
        <p:spPr bwMode="white">
          <a:xfrm>
            <a:off x="3575836" y="4577975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Hybrid Azure AD joined device</a:t>
            </a:r>
            <a:endParaRPr lang="en-US" sz="1000" dirty="0"/>
          </a:p>
        </p:txBody>
      </p:sp>
      <p:pic>
        <p:nvPicPr>
          <p:cNvPr id="48" name="IconGrantApprovedClientApp"/>
          <p:cNvPicPr>
            <a:picLocks noChangeAspect="1"/>
          </p:cNvPicPr>
          <p:nvPr/>
        </p:nvPicPr>
        <p:blipFill>
          <a:blip r:embed="rId29">
            <a:lum/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rcRect/>
          <a:stretch>
            <a:fillRect/>
          </a:stretch>
        </p:blipFill>
        <p:spPr bwMode="white">
          <a:xfrm>
            <a:off x="3374515" y="491954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5" name="IconGrantApprovedClientAppLabel"/>
          <p:cNvSpPr txBox="1">
            <a:spLocks noChangeArrowheads="1"/>
          </p:cNvSpPr>
          <p:nvPr/>
        </p:nvSpPr>
        <p:spPr bwMode="white">
          <a:xfrm>
            <a:off x="3575836" y="4913301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Approved client app</a:t>
            </a:r>
            <a:endParaRPr lang="en-US" sz="1000" dirty="0"/>
          </a:p>
        </p:txBody>
      </p:sp>
      <p:pic>
        <p:nvPicPr>
          <p:cNvPr id="42" name="IconGrantCustomAuth"/>
          <p:cNvPicPr>
            <a:picLocks noChangeAspect="1"/>
          </p:cNvPicPr>
          <p:nvPr/>
        </p:nvPicPr>
        <p:blipFill>
          <a:blip r:embed="rId31">
            <a:lum/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rcRect/>
          <a:stretch>
            <a:fillRect/>
          </a:stretch>
        </p:blipFill>
        <p:spPr bwMode="white">
          <a:xfrm>
            <a:off x="3374515" y="593406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9" name="IconGrantCustomAuthLabel"/>
          <p:cNvSpPr txBox="1">
            <a:spLocks noChangeArrowheads="1"/>
          </p:cNvSpPr>
          <p:nvPr/>
        </p:nvSpPr>
        <p:spPr bwMode="white">
          <a:xfrm>
            <a:off x="3575836" y="5919279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Custom authentication factor</a:t>
            </a:r>
            <a:endParaRPr lang="en-US" sz="1000" dirty="0"/>
          </a:p>
        </p:txBody>
      </p:sp>
      <p:pic>
        <p:nvPicPr>
          <p:cNvPr id="40" name="IconGrantTermsOfUse"/>
          <p:cNvPicPr>
            <a:picLocks noChangeAspect="1"/>
          </p:cNvPicPr>
          <p:nvPr/>
        </p:nvPicPr>
        <p:blipFill>
          <a:blip r:embed="rId33">
            <a:lum/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rcRect/>
          <a:stretch>
            <a:fillRect/>
          </a:stretch>
        </p:blipFill>
        <p:spPr bwMode="white">
          <a:xfrm>
            <a:off x="3374515" y="627222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3" name="IconGrantTermsOfUseLabel"/>
          <p:cNvSpPr txBox="1">
            <a:spLocks noChangeArrowheads="1"/>
          </p:cNvSpPr>
          <p:nvPr/>
        </p:nvSpPr>
        <p:spPr bwMode="white">
          <a:xfrm>
            <a:off x="3575836" y="625460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Terms of use</a:t>
            </a:r>
            <a:endParaRPr lang="en-US" sz="1000" dirty="0"/>
          </a:p>
        </p:txBody>
      </p:sp>
      <p:sp>
        <p:nvSpPr>
          <p:cNvPr id="56" name="IconGrantAppProtectionLabel"/>
          <p:cNvSpPr txBox="1">
            <a:spLocks noChangeArrowheads="1"/>
          </p:cNvSpPr>
          <p:nvPr/>
        </p:nvSpPr>
        <p:spPr bwMode="white">
          <a:xfrm>
            <a:off x="3575836" y="524862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 protection policy</a:t>
            </a:r>
            <a:endParaRPr lang="en-US" sz="1000" dirty="0"/>
          </a:p>
        </p:txBody>
      </p:sp>
      <p:pic>
        <p:nvPicPr>
          <p:cNvPr id="65" name="IconGrantAppProtection"/>
          <p:cNvPicPr>
            <a:picLocks noChangeAspect="1"/>
          </p:cNvPicPr>
          <p:nvPr/>
        </p:nvPicPr>
        <p:blipFill>
          <a:blip r:embed="rId35">
            <a:lum/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rcRect/>
          <a:stretch>
            <a:fillRect/>
          </a:stretch>
        </p:blipFill>
        <p:spPr bwMode="white">
          <a:xfrm>
            <a:off x="3374515" y="525771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7" name="IconGrantChangePasswordLabel"/>
          <p:cNvSpPr txBox="1">
            <a:spLocks noChangeArrowheads="1"/>
          </p:cNvSpPr>
          <p:nvPr/>
        </p:nvSpPr>
        <p:spPr bwMode="white">
          <a:xfrm>
            <a:off x="3575836" y="5583953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Change password</a:t>
            </a:r>
            <a:endParaRPr lang="en-US" sz="1000" dirty="0"/>
          </a:p>
        </p:txBody>
      </p:sp>
      <p:pic>
        <p:nvPicPr>
          <p:cNvPr id="67" name="IconGrantChangePassword"/>
          <p:cNvPicPr>
            <a:picLocks noChangeAspect="1"/>
          </p:cNvPicPr>
          <p:nvPr/>
        </p:nvPicPr>
        <p:blipFill>
          <a:blip r:embed="rId37">
            <a:lum/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rcRect/>
          <a:stretch>
            <a:fillRect/>
          </a:stretch>
        </p:blipFill>
        <p:spPr bwMode="white">
          <a:xfrm>
            <a:off x="3374515" y="5595889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4" name="ShadeRisk"/>
          <p:cNvSpPr>
            <a:spLocks/>
          </p:cNvSpPr>
          <p:nvPr/>
        </p:nvSpPr>
        <p:spPr bwMode="white">
          <a:xfrm>
            <a:off x="507564" y="650246"/>
            <a:ext cx="976864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66" name="ShadeDevicePlatforms"/>
          <p:cNvSpPr>
            <a:spLocks/>
          </p:cNvSpPr>
          <p:nvPr/>
        </p:nvSpPr>
        <p:spPr bwMode="white">
          <a:xfrm>
            <a:off x="1863623" y="663409"/>
            <a:ext cx="1773927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78" name="ShadeClientApps"/>
          <p:cNvSpPr>
            <a:spLocks/>
          </p:cNvSpPr>
          <p:nvPr/>
        </p:nvSpPr>
        <p:spPr bwMode="white">
          <a:xfrm>
            <a:off x="3802273" y="650246"/>
            <a:ext cx="1481482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79" name="ShadeLocations"/>
          <p:cNvSpPr>
            <a:spLocks/>
          </p:cNvSpPr>
          <p:nvPr/>
        </p:nvSpPr>
        <p:spPr bwMode="white">
          <a:xfrm>
            <a:off x="8217572" y="669110"/>
            <a:ext cx="1873684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2" name="ShadeFilterForDevices"/>
          <p:cNvSpPr>
            <a:spLocks/>
          </p:cNvSpPr>
          <p:nvPr/>
        </p:nvSpPr>
        <p:spPr bwMode="white">
          <a:xfrm>
            <a:off x="5438955" y="627922"/>
            <a:ext cx="1873685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3" name="ShadeGrantMultifactorAuth"/>
          <p:cNvSpPr>
            <a:spLocks/>
          </p:cNvSpPr>
          <p:nvPr/>
        </p:nvSpPr>
        <p:spPr bwMode="white">
          <a:xfrm>
            <a:off x="3369399" y="3534220"/>
            <a:ext cx="2069555" cy="28330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4" name="ShadeGrantAuthStrength"/>
          <p:cNvSpPr>
            <a:spLocks/>
          </p:cNvSpPr>
          <p:nvPr/>
        </p:nvSpPr>
        <p:spPr bwMode="white">
          <a:xfrm>
            <a:off x="3350256" y="3869846"/>
            <a:ext cx="2069555" cy="27801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5" name="ShadeGrantCompliantDevice"/>
          <p:cNvSpPr>
            <a:spLocks/>
          </p:cNvSpPr>
          <p:nvPr/>
        </p:nvSpPr>
        <p:spPr bwMode="white">
          <a:xfrm>
            <a:off x="3361852" y="4243205"/>
            <a:ext cx="2077102" cy="26110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6" name="ShadeGrantHybridAzureADJoined"/>
          <p:cNvSpPr>
            <a:spLocks/>
          </p:cNvSpPr>
          <p:nvPr/>
        </p:nvSpPr>
        <p:spPr bwMode="white">
          <a:xfrm>
            <a:off x="3353637" y="4552268"/>
            <a:ext cx="2160906" cy="298395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7" name="ShadeGrantApprovedClientApp"/>
          <p:cNvSpPr>
            <a:spLocks/>
          </p:cNvSpPr>
          <p:nvPr/>
        </p:nvSpPr>
        <p:spPr bwMode="white">
          <a:xfrm>
            <a:off x="3331918" y="4876027"/>
            <a:ext cx="2182625" cy="29839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8" name="ShadeGrantAppProtectionPolicy"/>
          <p:cNvSpPr>
            <a:spLocks/>
          </p:cNvSpPr>
          <p:nvPr/>
        </p:nvSpPr>
        <p:spPr bwMode="white">
          <a:xfrm>
            <a:off x="3350256" y="5207226"/>
            <a:ext cx="2122561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9" name="ShadeGrantChangePassword"/>
          <p:cNvSpPr>
            <a:spLocks/>
          </p:cNvSpPr>
          <p:nvPr/>
        </p:nvSpPr>
        <p:spPr bwMode="white">
          <a:xfrm>
            <a:off x="3350257" y="5557021"/>
            <a:ext cx="2042006" cy="287239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0" name="ShadeGrantCustomAuthFactor"/>
          <p:cNvSpPr>
            <a:spLocks/>
          </p:cNvSpPr>
          <p:nvPr/>
        </p:nvSpPr>
        <p:spPr bwMode="white">
          <a:xfrm>
            <a:off x="3331918" y="5899058"/>
            <a:ext cx="2182625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1" name="ShadeGrantTermsOfUse"/>
          <p:cNvSpPr>
            <a:spLocks/>
          </p:cNvSpPr>
          <p:nvPr/>
        </p:nvSpPr>
        <p:spPr bwMode="white">
          <a:xfrm>
            <a:off x="3313823" y="6192350"/>
            <a:ext cx="101602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99" name="Rectangle 98"/>
          <p:cNvSpPr>
            <a:spLocks/>
          </p:cNvSpPr>
          <p:nvPr/>
        </p:nvSpPr>
        <p:spPr bwMode="white">
          <a:xfrm>
            <a:off x="3268757" y="3253404"/>
            <a:ext cx="2357725" cy="3498546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0" name="Rectangle 109"/>
          <p:cNvSpPr>
            <a:spLocks/>
          </p:cNvSpPr>
          <p:nvPr/>
        </p:nvSpPr>
        <p:spPr bwMode="white">
          <a:xfrm>
            <a:off x="9881750" y="3248255"/>
            <a:ext cx="2220808" cy="3510149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7" name="Rectangle 116"/>
          <p:cNvSpPr>
            <a:spLocks/>
          </p:cNvSpPr>
          <p:nvPr/>
        </p:nvSpPr>
        <p:spPr bwMode="white">
          <a:xfrm>
            <a:off x="26741" y="606825"/>
            <a:ext cx="11985015" cy="2063636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2" name="Conditions Label"/>
          <p:cNvSpPr txBox="1">
            <a:spLocks noChangeArrowheads="1"/>
          </p:cNvSpPr>
          <p:nvPr/>
        </p:nvSpPr>
        <p:spPr bwMode="white">
          <a:xfrm rot="16200000">
            <a:off x="-883507" y="1514324"/>
            <a:ext cx="2081441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Conditions</a:t>
            </a:r>
          </a:p>
        </p:txBody>
      </p:sp>
      <p:sp>
        <p:nvSpPr>
          <p:cNvPr id="109" name="Grant Controls"/>
          <p:cNvSpPr txBox="1">
            <a:spLocks noChangeArrowheads="1"/>
          </p:cNvSpPr>
          <p:nvPr/>
        </p:nvSpPr>
        <p:spPr bwMode="white">
          <a:xfrm>
            <a:off x="3252146" y="3244395"/>
            <a:ext cx="2391873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Grant Controls</a:t>
            </a:r>
          </a:p>
        </p:txBody>
      </p:sp>
      <p:sp>
        <p:nvSpPr>
          <p:cNvPr id="111" name="Session Controls"/>
          <p:cNvSpPr txBox="1">
            <a:spLocks noChangeArrowheads="1"/>
          </p:cNvSpPr>
          <p:nvPr/>
        </p:nvSpPr>
        <p:spPr bwMode="white">
          <a:xfrm>
            <a:off x="9864212" y="3243751"/>
            <a:ext cx="2238346" cy="23786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Session Controls</a:t>
            </a:r>
          </a:p>
        </p:txBody>
      </p:sp>
      <p:pic>
        <p:nvPicPr>
          <p:cNvPr id="72" name="Graphic 71"/>
          <p:cNvPicPr>
            <a:picLocks noChangeAspect="1"/>
          </p:cNvPicPr>
          <p:nvPr/>
        </p:nvPicPr>
        <p:blipFill>
          <a:blip r:embed="rId39">
            <a:lum/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rcRect/>
          <a:stretch>
            <a:fillRect/>
          </a:stretch>
        </p:blipFill>
        <p:spPr bwMode="white">
          <a:xfrm>
            <a:off x="9996846" y="356982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4" name="Graphic 93"/>
          <p:cNvPicPr>
            <a:picLocks noChangeAspect="1"/>
          </p:cNvPicPr>
          <p:nvPr/>
        </p:nvPicPr>
        <p:blipFill>
          <a:blip r:embed="rId41">
            <a:lum/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rcRect/>
          <a:stretch>
            <a:fillRect/>
          </a:stretch>
        </p:blipFill>
        <p:spPr bwMode="white">
          <a:xfrm>
            <a:off x="10009443" y="525644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5" name="TextBox 94"/>
          <p:cNvSpPr txBox="1">
            <a:spLocks noChangeArrowheads="1"/>
          </p:cNvSpPr>
          <p:nvPr/>
        </p:nvSpPr>
        <p:spPr bwMode="white">
          <a:xfrm>
            <a:off x="10207481" y="3578463"/>
            <a:ext cx="150554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App enforced restrictions</a:t>
            </a:r>
          </a:p>
        </p:txBody>
      </p:sp>
      <p:sp>
        <p:nvSpPr>
          <p:cNvPr id="96" name="TextBox 95"/>
          <p:cNvSpPr txBox="1">
            <a:spLocks noChangeArrowheads="1"/>
          </p:cNvSpPr>
          <p:nvPr/>
        </p:nvSpPr>
        <p:spPr bwMode="white">
          <a:xfrm>
            <a:off x="10201167" y="3899846"/>
            <a:ext cx="181011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Conditional Access App Control</a:t>
            </a:r>
          </a:p>
        </p:txBody>
      </p:sp>
      <p:sp>
        <p:nvSpPr>
          <p:cNvPr id="97" name="TextBox 96"/>
          <p:cNvSpPr txBox="1">
            <a:spLocks noChangeArrowheads="1"/>
          </p:cNvSpPr>
          <p:nvPr/>
        </p:nvSpPr>
        <p:spPr bwMode="white">
          <a:xfrm>
            <a:off x="10215627" y="4357505"/>
            <a:ext cx="1090363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Sign-in frequency</a:t>
            </a:r>
          </a:p>
        </p:txBody>
      </p:sp>
      <p:sp>
        <p:nvSpPr>
          <p:cNvPr id="98" name="TextBox 97"/>
          <p:cNvSpPr txBox="1">
            <a:spLocks noChangeArrowheads="1"/>
          </p:cNvSpPr>
          <p:nvPr/>
        </p:nvSpPr>
        <p:spPr bwMode="white">
          <a:xfrm>
            <a:off x="10225446" y="4793305"/>
            <a:ext cx="156966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Persistent browser session</a:t>
            </a:r>
          </a:p>
        </p:txBody>
      </p:sp>
      <p:sp>
        <p:nvSpPr>
          <p:cNvPr id="100" name="TextBox 99"/>
          <p:cNvSpPr txBox="1">
            <a:spLocks noChangeArrowheads="1"/>
          </p:cNvSpPr>
          <p:nvPr/>
        </p:nvSpPr>
        <p:spPr bwMode="white">
          <a:xfrm>
            <a:off x="10229552" y="5232376"/>
            <a:ext cx="1717137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Continuous access evaluation</a:t>
            </a:r>
          </a:p>
        </p:txBody>
      </p:sp>
      <p:sp>
        <p:nvSpPr>
          <p:cNvPr id="101" name="TextBox 100"/>
          <p:cNvSpPr txBox="1">
            <a:spLocks noChangeArrowheads="1"/>
          </p:cNvSpPr>
          <p:nvPr/>
        </p:nvSpPr>
        <p:spPr bwMode="white">
          <a:xfrm>
            <a:off x="10259108" y="5658625"/>
            <a:ext cx="153599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Disable resilience defaults</a:t>
            </a:r>
          </a:p>
        </p:txBody>
      </p:sp>
      <p:pic>
        <p:nvPicPr>
          <p:cNvPr id="103" name="Graphic 102"/>
          <p:cNvPicPr>
            <a:picLocks noChangeAspect="1"/>
          </p:cNvPicPr>
          <p:nvPr/>
        </p:nvPicPr>
        <p:blipFill>
          <a:blip r:embed="rId43">
            <a:lum/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rcRect/>
          <a:stretch>
            <a:fillRect/>
          </a:stretch>
        </p:blipFill>
        <p:spPr bwMode="white">
          <a:xfrm>
            <a:off x="9996846" y="479900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5" name="Graphic 104"/>
          <p:cNvPicPr>
            <a:picLocks noChangeAspect="1"/>
          </p:cNvPicPr>
          <p:nvPr/>
        </p:nvPicPr>
        <p:blipFill>
          <a:blip r:embed="rId45">
            <a:lum/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rcRect/>
          <a:stretch>
            <a:fillRect/>
          </a:stretch>
        </p:blipFill>
        <p:spPr bwMode="white">
          <a:xfrm>
            <a:off x="9996846" y="437457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7" name="Graphic 106"/>
          <p:cNvPicPr>
            <a:picLocks noChangeAspect="1"/>
          </p:cNvPicPr>
          <p:nvPr/>
        </p:nvPicPr>
        <p:blipFill>
          <a:blip r:embed="rId7">
            <a:lum/>
            <a:extLst>
              <a:ext uri="{96DAC541-7B7A-43D3-8B79-37D633B846F1}">
                <asvg:svgBlip xmlns:asvg="http://schemas.microsoft.com/office/drawing/2016/SVG/main" r:embed="rId47"/>
              </a:ext>
            </a:extLst>
          </a:blip>
          <a:srcRect/>
          <a:stretch>
            <a:fillRect/>
          </a:stretch>
        </p:blipFill>
        <p:spPr bwMode="white">
          <a:xfrm>
            <a:off x="9996846" y="391529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15" name="SessionSifInterval"/>
          <p:cNvSpPr txBox="1">
            <a:spLocks noChangeArrowheads="1"/>
          </p:cNvSpPr>
          <p:nvPr/>
        </p:nvSpPr>
        <p:spPr bwMode="white">
          <a:xfrm>
            <a:off x="10296745" y="4516775"/>
            <a:ext cx="1249060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Periodic reauthentication</a:t>
            </a:r>
          </a:p>
        </p:txBody>
      </p:sp>
      <p:sp>
        <p:nvSpPr>
          <p:cNvPr id="114" name="SessionCasType"/>
          <p:cNvSpPr txBox="1">
            <a:spLocks noChangeArrowheads="1"/>
          </p:cNvSpPr>
          <p:nvPr/>
        </p:nvSpPr>
        <p:spPr bwMode="white">
          <a:xfrm>
            <a:off x="10296745" y="4075500"/>
            <a:ext cx="95410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App Control Policy</a:t>
            </a:r>
          </a:p>
        </p:txBody>
      </p:sp>
      <p:sp>
        <p:nvSpPr>
          <p:cNvPr id="116" name="SessionPersistenBrowserMode"/>
          <p:cNvSpPr txBox="1">
            <a:spLocks noChangeArrowheads="1"/>
          </p:cNvSpPr>
          <p:nvPr/>
        </p:nvSpPr>
        <p:spPr bwMode="white">
          <a:xfrm>
            <a:off x="10309761" y="4945281"/>
            <a:ext cx="918841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Always persistent</a:t>
            </a:r>
          </a:p>
        </p:txBody>
      </p:sp>
      <p:sp>
        <p:nvSpPr>
          <p:cNvPr id="118" name="SessionCaeMode"/>
          <p:cNvSpPr txBox="1">
            <a:spLocks noChangeArrowheads="1"/>
          </p:cNvSpPr>
          <p:nvPr/>
        </p:nvSpPr>
        <p:spPr bwMode="white">
          <a:xfrm>
            <a:off x="10301386" y="5393378"/>
            <a:ext cx="15359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US" sz="800" dirty="0"/>
              <a:t>Strictly enforce location policies</a:t>
            </a:r>
          </a:p>
        </p:txBody>
      </p:sp>
      <p:sp>
        <p:nvSpPr>
          <p:cNvPr id="119" name="ShadeSessionAppEnforced"/>
          <p:cNvSpPr>
            <a:spLocks/>
          </p:cNvSpPr>
          <p:nvPr/>
        </p:nvSpPr>
        <p:spPr bwMode="white">
          <a:xfrm>
            <a:off x="9959680" y="3548808"/>
            <a:ext cx="2051597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0" name="ShadeSessionCas"/>
          <p:cNvSpPr>
            <a:spLocks/>
          </p:cNvSpPr>
          <p:nvPr/>
        </p:nvSpPr>
        <p:spPr bwMode="white">
          <a:xfrm>
            <a:off x="9978939" y="3884212"/>
            <a:ext cx="2087576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1" name="ShadeSessionSif"/>
          <p:cNvSpPr>
            <a:spLocks/>
          </p:cNvSpPr>
          <p:nvPr/>
        </p:nvSpPr>
        <p:spPr bwMode="white">
          <a:xfrm>
            <a:off x="9940787" y="4320077"/>
            <a:ext cx="2125728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2" name="ShadeSessionPersistentBrowser"/>
          <p:cNvSpPr>
            <a:spLocks/>
          </p:cNvSpPr>
          <p:nvPr/>
        </p:nvSpPr>
        <p:spPr bwMode="white">
          <a:xfrm>
            <a:off x="9938833" y="4746195"/>
            <a:ext cx="207244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" name="Label Secure Sign In Session"/>
          <p:cNvSpPr txBox="1">
            <a:spLocks noChangeArrowheads="1"/>
          </p:cNvSpPr>
          <p:nvPr/>
        </p:nvSpPr>
        <p:spPr bwMode="white">
          <a:xfrm>
            <a:off x="10260000" y="6084874"/>
            <a:ext cx="166584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Token protection for session</a:t>
            </a:r>
          </a:p>
        </p:txBody>
      </p:sp>
      <p:pic>
        <p:nvPicPr>
          <p:cNvPr id="77" name="IconSessionCaeDisable" descr="Close with solid fill"/>
          <p:cNvPicPr>
            <a:picLocks noChangeAspect="1"/>
          </p:cNvPicPr>
          <p:nvPr/>
        </p:nvPicPr>
        <p:blipFill>
          <a:blip r:embed="rId48">
            <a:lum/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rcRect/>
          <a:stretch>
            <a:fillRect/>
          </a:stretch>
        </p:blipFill>
        <p:spPr bwMode="white">
          <a:xfrm>
            <a:off x="9979885" y="5218651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2" name="IconSessionSecureSignInSession 1"/>
          <p:cNvPicPr>
            <a:picLocks noChangeAspect="1"/>
          </p:cNvPicPr>
          <p:nvPr/>
        </p:nvPicPr>
        <p:blipFill>
          <a:blip r:embed="rId50">
            <a:lum/>
            <a:extLst>
              <a:ext uri="{96DAC541-7B7A-43D3-8B79-37D633B846F1}">
                <asvg:svgBlip xmlns:asvg="http://schemas.microsoft.com/office/drawing/2016/SVG/main" r:embed="rId51"/>
              </a:ext>
            </a:extLst>
          </a:blip>
          <a:srcRect/>
          <a:stretch>
            <a:fillRect/>
          </a:stretch>
        </p:blipFill>
        <p:spPr bwMode="white">
          <a:xfrm>
            <a:off x="9997200" y="6085768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3" name="ShadeSessionCae"/>
          <p:cNvSpPr>
            <a:spLocks/>
          </p:cNvSpPr>
          <p:nvPr/>
        </p:nvSpPr>
        <p:spPr bwMode="white">
          <a:xfrm>
            <a:off x="9987595" y="5219780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76" name="ShadeSessionSecureSignIn"/>
          <p:cNvSpPr>
            <a:spLocks/>
          </p:cNvSpPr>
          <p:nvPr/>
        </p:nvSpPr>
        <p:spPr bwMode="white">
          <a:xfrm>
            <a:off x="9996846" y="5986498"/>
            <a:ext cx="2014431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pic>
        <p:nvPicPr>
          <p:cNvPr id="102" name="Graphic 101"/>
          <p:cNvPicPr>
            <a:picLocks noChangeAspect="1"/>
          </p:cNvPicPr>
          <p:nvPr/>
        </p:nvPicPr>
        <p:blipFill>
          <a:blip r:embed="rId52">
            <a:lum/>
            <a:extLst>
              <a:ext uri="{96DAC541-7B7A-43D3-8B79-37D633B846F1}">
                <asvg:svgBlip xmlns:asvg="http://schemas.microsoft.com/office/drawing/2016/SVG/main" r:embed="rId53"/>
              </a:ext>
            </a:extLst>
          </a:blip>
          <a:srcRect/>
          <a:stretch>
            <a:fillRect/>
          </a:stretch>
        </p:blipFill>
        <p:spPr bwMode="white">
          <a:xfrm>
            <a:off x="9997200" y="5663777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80" name="Graphic 79" descr="Close with solid fill"/>
          <p:cNvPicPr>
            <a:picLocks noChangeAspect="1"/>
          </p:cNvPicPr>
          <p:nvPr/>
        </p:nvPicPr>
        <p:blipFill>
          <a:blip r:embed="rId48">
            <a:lum/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rcRect/>
          <a:stretch>
            <a:fillRect/>
          </a:stretch>
        </p:blipFill>
        <p:spPr bwMode="white">
          <a:xfrm>
            <a:off x="9963899" y="5637424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4" name="ShadeSessionDisableResilience"/>
          <p:cNvSpPr>
            <a:spLocks/>
          </p:cNvSpPr>
          <p:nvPr/>
        </p:nvSpPr>
        <p:spPr bwMode="white">
          <a:xfrm>
            <a:off x="9959681" y="5602709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2" name="PolicyName">
            <a:hlinkClick r:id="" action="ppaction://hlinkfile"/>
          </p:cNvPr>
          <p:cNvSpPr>
            <a:spLocks noGrp="1"/>
          </p:cNvSpPr>
          <p:nvPr>
            <p:ph type="title"/>
          </p:nvPr>
        </p:nvSpPr>
        <p:spPr bwMode="white">
          <a:xfrm>
            <a:off x="838200" y="115511"/>
            <a:ext cx="10003967" cy="609565"/>
          </a:xfrm>
          <a:ln>
            <a:headEnd type="none"/>
            <a:tailEnd type="none"/>
          </a:ln>
        </p:spPr>
        <p:txBody>
          <a:bodyPr wrap="square">
            <a:noAutofit/>
          </a:bodyPr>
          <a:lstStyle/>
          <a:p>
            <a:pPr defTabSz="914400"/>
            <a:r>
              <a:rPr lang="en-US" sz="2000" b="1" dirty="0"/>
              <a:t>Microsoft-managed: Block device code flow</a:t>
            </a:r>
          </a:p>
        </p:txBody>
      </p:sp>
      <p:sp>
        <p:nvSpPr>
          <p:cNvPr id="16" name="LastModified"/>
          <p:cNvSpPr txBox="1">
            <a:spLocks noChangeArrowheads="1"/>
          </p:cNvSpPr>
          <p:nvPr/>
        </p:nvSpPr>
        <p:spPr bwMode="white">
          <a:xfrm>
            <a:off x="10556111" y="388376"/>
            <a:ext cx="15483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algn="r" defTabSz="457200"/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Last modified: 2025-06-23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UserWorkload"/>
          <p:cNvSpPr>
            <a:spLocks/>
          </p:cNvSpPr>
          <p:nvPr/>
        </p:nvSpPr>
        <p:spPr bwMode="auto">
          <a:xfrm>
            <a:off x="175820" y="2709769"/>
            <a:ext cx="2202823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Users</a:t>
            </a:r>
          </a:p>
        </p:txBody>
      </p:sp>
      <p:sp>
        <p:nvSpPr>
          <p:cNvPr id="7" name="UserWorkloadIncExc"/>
          <p:cNvSpPr txBox="1">
            <a:spLocks noChangeArrowheads="1"/>
          </p:cNvSpPr>
          <p:nvPr/>
        </p:nvSpPr>
        <p:spPr bwMode="white">
          <a:xfrm>
            <a:off x="125485" y="3698952"/>
            <a:ext cx="3062115" cy="313265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 numCol="1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b="1" dirty="0"/>
            </a:pPr>
            <a:r>
              <a:t> Users</a:t>
            </a:r>
          </a:p>
          <a:p>
            <a:pPr defTabSz="457200">
              <a:defRPr sz="1100" dirty="0"/>
            </a:pPr>
            <a:r>
              <a:t> - Smith, Kevin (Contractor)</a:t>
            </a:r>
          </a:p>
          <a:p>
            <a:pPr defTabSz="457200">
              <a:defRPr sz="1100" dirty="0"/>
            </a:pPr>
            <a:r>
              <a:t> - Admin Michael.Mallernee</a:t>
            </a:r>
          </a:p>
          <a:p>
            <a:pPr defTabSz="457200">
              <a:defRPr sz="1100" dirty="0"/>
            </a:pPr>
            <a:r>
              <a:t> - Admin Shafqat.Haroon</a:t>
            </a:r>
          </a:p>
          <a:p>
            <a:pPr defTabSz="457200">
              <a:defRPr sz="1100" dirty="0"/>
            </a:pPr>
            <a:r>
              <a:t> - Admin Krishna.Gudipati</a:t>
            </a:r>
          </a:p>
          <a:p>
            <a:pPr defTabSz="457200">
              <a:defRPr sz="1100" dirty="0"/>
            </a:pPr>
            <a:r>
              <a:t> - Admin Masoud.Sultan</a:t>
            </a:r>
          </a:p>
          <a:p>
            <a:pPr defTabSz="457200">
              <a:defRPr sz="1100" dirty="0"/>
            </a:pPr>
            <a:r>
              <a:t> - Admin Eric.Eggleston</a:t>
            </a:r>
          </a:p>
          <a:p>
            <a:pPr defTabSz="457200">
              <a:defRPr sz="1100" dirty="0"/>
            </a:pPr>
            <a:r>
              <a:t> - Admin Jose.OrtizAlicea</a:t>
            </a:r>
          </a:p>
          <a:p>
            <a:pPr defTabSz="457200">
              <a:defRPr sz="1100" dirty="0"/>
            </a:pPr>
            <a:r>
              <a:t> - Admin Wenkuang.Chen</a:t>
            </a:r>
          </a:p>
          <a:p>
            <a:pPr defTabSz="457200">
              <a:defRPr sz="1100" dirty="0"/>
            </a:pPr>
            <a:r>
              <a:t> - Admin Richman Addi</a:t>
            </a:r>
          </a:p>
          <a:p>
            <a:pPr defTabSz="457200">
              <a:defRPr sz="1100" dirty="0"/>
            </a:pPr>
            <a:r>
              <a:t> - Admin Getaneh.Geze</a:t>
            </a:r>
          </a:p>
          <a:p>
            <a:pPr defTabSz="457200">
              <a:defRPr sz="1100" dirty="0"/>
            </a:pPr>
            <a:r>
              <a:t> - Deleted user 7241...321d</a:t>
            </a:r>
          </a:p>
          <a:p>
            <a:pPr defTabSz="457200">
              <a:defRPr sz="1100" dirty="0"/>
            </a:pPr>
            <a:r>
              <a:t> - Admin Bob Robinson</a:t>
            </a:r>
          </a:p>
          <a:p>
            <a:pPr defTabSz="457200">
              <a:defRPr sz="1100" dirty="0"/>
            </a:pPr>
            <a:r>
              <a:t> - Admin Shahidul.Islam</a:t>
            </a:r>
          </a:p>
          <a:p>
            <a:pPr defTabSz="457200">
              <a:defRPr sz="1100" dirty="0"/>
            </a:pPr>
            <a:r>
              <a:t> - Deleted user e2e0...0dd3</a:t>
            </a:r>
          </a:p>
          <a:p>
            <a:pPr defTabSz="457200">
              <a:defRPr sz="1100" dirty="0"/>
            </a:pPr>
            <a:r>
              <a:t> - Admin Ilfira.Reynolds</a:t>
            </a:r>
          </a:p>
          <a:p>
            <a:pPr defTabSz="457200">
              <a:defRPr sz="1100" dirty="0"/>
            </a:pPr>
            <a:r>
              <a:t> - Admin Shun Lin</a:t>
            </a:r>
          </a:p>
          <a:p>
            <a:pPr defTabSz="457200">
              <a:defRPr sz="1100" dirty="0"/>
            </a:pPr>
            <a:r>
              <a:t> - Admin.Matias.Siri</a:t>
            </a:r>
          </a:p>
          <a:p>
            <a:pPr defTabSz="457200">
              <a:defRPr sz="1100" dirty="0"/>
            </a:pPr>
            <a:r>
              <a:t> - Admin Noel Rivera</a:t>
            </a:r>
          </a:p>
          <a:p>
            <a:pPr defTabSz="457200">
              <a:defRPr sz="1100" dirty="0"/>
            </a:pPr>
            <a:r>
              <a:t> - Admin Kevin.Smith</a:t>
            </a:r>
          </a:p>
          <a:p>
            <a:pPr defTabSz="457200">
              <a:defRPr sz="1100" dirty="0"/>
            </a:pPr>
            <a:r>
              <a:t> - Admin Francisco.Oliveira</a:t>
            </a:r>
          </a:p>
          <a:p>
            <a:pPr defTabSz="457200">
              <a:defRPr sz="1100" dirty="0"/>
            </a:pPr>
            <a:r>
              <a:t> - Haroon, Shafqat (Contractor)</a:t>
            </a:r>
          </a:p>
          <a:p>
            <a:pPr defTabSz="457200">
              <a:defRPr sz="1100" dirty="0"/>
            </a:pPr>
            <a:r>
              <a:t> - Deleted user 3408...4347</a:t>
            </a:r>
          </a:p>
          <a:p>
            <a:pPr defTabSz="457200">
              <a:defRPr sz="1100" dirty="0"/>
            </a:pPr>
            <a:r>
              <a:t> - Admin Melanie Tutu</a:t>
            </a:r>
          </a:p>
          <a:p>
            <a:pPr defTabSz="457200">
              <a:defRPr sz="1100" dirty="0"/>
            </a:pPr>
            <a:r>
              <a:t> - Admin Ismay.Vidal</a:t>
            </a:r>
          </a:p>
          <a:p>
            <a:pPr defTabSz="457200">
              <a:defRPr sz="1100" dirty="0"/>
            </a:pPr>
            <a:r>
              <a:t> - Admin Henock.Liben</a:t>
            </a:r>
          </a:p>
          <a:p>
            <a:pPr defTabSz="457200">
              <a:defRPr sz="1100" dirty="0"/>
            </a:pPr>
            <a:r>
              <a:t> - Admin Redwan.Hussien</a:t>
            </a:r>
          </a:p>
          <a:p>
            <a:pPr defTabSz="457200">
              <a:defRPr sz="1100" dirty="0"/>
            </a:pPr>
            <a:r>
              <a:t> - Admin Zachary.Arguelles</a:t>
            </a:r>
          </a:p>
          <a:p>
            <a:pPr defTabSz="457200">
              <a:defRPr sz="1100" dirty="0"/>
            </a:pPr>
            <a:r>
              <a:t> - Masood, Omar (Contractor)</a:t>
            </a:r>
          </a:p>
          <a:p>
            <a:pPr defTabSz="457200">
              <a:defRPr sz="1100" dirty="0"/>
            </a:pPr>
            <a:r>
              <a:t> - Admin Pamela.Brooks</a:t>
            </a:r>
          </a:p>
          <a:p>
            <a:pPr defTabSz="457200">
              <a:defRPr sz="1100" dirty="0"/>
            </a:pPr>
            <a:r>
              <a:t> - Admin Comlan.Anani</a:t>
            </a:r>
          </a:p>
          <a:p>
            <a:pPr defTabSz="457200">
              <a:defRPr sz="1100" dirty="0"/>
            </a:pPr>
            <a:r>
              <a:t> - Admin Nouman.Ahmad</a:t>
            </a:r>
          </a:p>
          <a:p>
            <a:pPr defTabSz="457200">
              <a:defRPr sz="1100" dirty="0"/>
            </a:pPr>
            <a:r>
              <a:t> - Admin Roderick Millar</a:t>
            </a:r>
          </a:p>
          <a:p>
            <a:pPr defTabSz="457200">
              <a:defRPr sz="1100" dirty="0"/>
            </a:pPr>
            <a:r>
              <a:t> - SVO365 AEMADMIN</a:t>
            </a:r>
          </a:p>
          <a:p>
            <a:pPr defTabSz="457200">
              <a:defRPr sz="1100" dirty="0"/>
            </a:pPr>
            <a:r>
              <a:t> - Deleted user 17b2...7d3c</a:t>
            </a:r>
          </a:p>
          <a:p>
            <a:pPr defTabSz="457200">
              <a:defRPr sz="1100" dirty="0"/>
            </a:pPr>
            <a:r>
              <a:t> - Deleted user 065b...938f</a:t>
            </a:r>
          </a:p>
          <a:p>
            <a:pPr defTabSz="457200">
              <a:defRPr sz="1100" dirty="0"/>
            </a:pPr>
            <a:r>
              <a:t> - Admin Awais.Mohammad</a:t>
            </a:r>
          </a:p>
          <a:p>
            <a:pPr defTabSz="457200">
              <a:defRPr sz="1100" dirty="0"/>
            </a:pPr>
            <a:r>
              <a:t> - Lin, Shun</a:t>
            </a:r>
          </a:p>
          <a:p>
            <a:pPr defTabSz="457200">
              <a:defRPr sz="1100" dirty="0"/>
            </a:pPr>
            <a:r>
              <a:t> - Admin Helen.Abraham</a:t>
            </a:r>
          </a:p>
          <a:p>
            <a:pPr defTabSz="457200">
              <a:defRPr sz="1100" dirty="0"/>
            </a:pPr>
            <a:r>
              <a:t> - Deleted user 7b12...fc70</a:t>
            </a:r>
          </a:p>
          <a:p>
            <a:pPr defTabSz="457200">
              <a:defRPr sz="1100" dirty="0"/>
            </a:pPr>
            <a:r>
              <a:t> - Admin Adil Sheikh</a:t>
            </a:r>
          </a:p>
          <a:p>
            <a:pPr defTabSz="457200">
              <a:defRPr sz="1100" dirty="0"/>
            </a:pPr>
            <a:r>
              <a:t> - SVO365 SPFlowCreate</a:t>
            </a:r>
          </a:p>
          <a:p>
            <a:pPr defTabSz="457200">
              <a:defRPr sz="1100" dirty="0"/>
            </a:pPr>
            <a:r>
              <a:t> - admin.stephen.dorner</a:t>
            </a:r>
          </a:p>
          <a:p>
            <a:pPr defTabSz="457200">
              <a:defRPr sz="1100" dirty="0"/>
            </a:pPr>
            <a:r>
              <a:t> - Admin Mark Kavinsky</a:t>
            </a:r>
          </a:p>
          <a:p>
            <a:pPr defTabSz="457200">
              <a:defRPr sz="1100" dirty="0"/>
            </a:pPr>
            <a:r>
              <a:t> - SVO365 SPFlowDeploy</a:t>
            </a:r>
          </a:p>
          <a:p>
            <a:pPr defTabSz="457200">
              <a:defRPr sz="1100" dirty="0"/>
            </a:pPr>
            <a:r>
              <a:t> - SVO365 coc_collibra</a:t>
            </a:r>
          </a:p>
          <a:p>
            <a:pPr defTabSz="457200">
              <a:defRPr sz="1100" dirty="0"/>
            </a:pPr>
            <a:r>
              <a:t> - Admin Craig.Buck</a:t>
            </a:r>
          </a:p>
          <a:p>
            <a:pPr defTabSz="457200">
              <a:defRPr sz="1100" dirty="0"/>
            </a:pPr>
            <a:r>
              <a:t> - Admin Omar.Masood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19" name="Risks"/>
          <p:cNvSpPr txBox="1">
            <a:spLocks noChangeArrowheads="1"/>
          </p:cNvSpPr>
          <p:nvPr/>
        </p:nvSpPr>
        <p:spPr bwMode="white">
          <a:xfrm>
            <a:off x="524485" y="1021946"/>
            <a:ext cx="1348869" cy="166886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0" name="Platforms"/>
          <p:cNvSpPr txBox="1">
            <a:spLocks noChangeArrowheads="1"/>
          </p:cNvSpPr>
          <p:nvPr/>
        </p:nvSpPr>
        <p:spPr bwMode="white">
          <a:xfrm>
            <a:off x="1826931" y="1021947"/>
            <a:ext cx="2061056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3" name="Locations"/>
          <p:cNvSpPr txBox="1">
            <a:spLocks noChangeArrowheads="1"/>
          </p:cNvSpPr>
          <p:nvPr/>
        </p:nvSpPr>
        <p:spPr bwMode="white">
          <a:xfrm>
            <a:off x="8324941" y="1021947"/>
            <a:ext cx="3513702" cy="159258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b="1" dirty="0"/>
            </a:pPr>
            <a:r>
              <a:t>✅ Include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r>
              <a:t>🚫 Exclude</a:t>
            </a:r>
          </a:p>
          <a:p>
            <a:pPr defTabSz="457200">
              <a:defRPr sz="1100" dirty="0"/>
            </a:pPr>
            <a:r>
              <a:t> - AllTrusted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24" name="ClientAppTypes"/>
          <p:cNvSpPr txBox="1">
            <a:spLocks noChangeArrowheads="1"/>
          </p:cNvSpPr>
          <p:nvPr/>
        </p:nvSpPr>
        <p:spPr bwMode="white">
          <a:xfrm>
            <a:off x="3810664" y="1021947"/>
            <a:ext cx="1581599" cy="165343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5" name="DeviceFilters"/>
          <p:cNvSpPr txBox="1">
            <a:spLocks noChangeArrowheads="1"/>
          </p:cNvSpPr>
          <p:nvPr/>
        </p:nvSpPr>
        <p:spPr bwMode="white">
          <a:xfrm>
            <a:off x="5818151" y="1022762"/>
            <a:ext cx="2248808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cxnSp>
        <p:nvCxnSpPr>
          <p:cNvPr id="27" name="Straight Arrow Connector 26" descr="Arrow drawn from user/workload  to the action being performed by the user such as accessing cloud apps."/>
          <p:cNvCxnSpPr/>
          <p:nvPr/>
        </p:nvCxnSpPr>
        <p:spPr bwMode="white">
          <a:xfrm>
            <a:off x="2195232" y="3159047"/>
            <a:ext cx="3959471" cy="1"/>
          </a:xfrm>
          <a:prstGeom prst="straightConnector1">
            <a:avLst/>
          </a:prstGeom>
          <a:ln w="76200"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2" name="GrantLabelGrantAccess"/>
          <p:cNvSpPr txBox="1">
            <a:spLocks noChangeArrowheads="1"/>
          </p:cNvSpPr>
          <p:nvPr/>
        </p:nvSpPr>
        <p:spPr bwMode="white">
          <a:xfrm>
            <a:off x="3928464" y="2723089"/>
            <a:ext cx="1381340" cy="369332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algn="ctr" defTabSz="457200"/>
            <a:r>
              <a:rPr lang="en-US" b="1" dirty="0">
                <a:solidFill>
                  <a:srgbClr val="00B050"/>
                </a:solidFill>
              </a:rPr>
              <a:t>Grant access</a:t>
            </a:r>
          </a:p>
        </p:txBody>
      </p:sp>
      <p:pic>
        <p:nvPicPr>
          <p:cNvPr id="35" name="IconGrantAccess" descr="Picture with gren tick sign to indicate access was granted"/>
          <p:cNvPicPr>
            <a:picLocks noChangeAspect="1"/>
          </p:cNvPicPr>
          <p:nvPr/>
        </p:nvPicPr>
        <p:blipFill>
          <a:blip r:embed="rId3">
            <a:lum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 bwMode="white">
          <a:xfrm>
            <a:off x="5309361" y="2730170"/>
            <a:ext cx="356616" cy="35661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3" name="CloudAppActionIncExc"/>
          <p:cNvSpPr txBox="1">
            <a:spLocks noChangeArrowheads="1"/>
          </p:cNvSpPr>
          <p:nvPr/>
        </p:nvSpPr>
        <p:spPr bwMode="white">
          <a:xfrm>
            <a:off x="6039518" y="3662782"/>
            <a:ext cx="3649518" cy="315161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</p:txBody>
      </p:sp>
      <p:pic>
        <p:nvPicPr>
          <p:cNvPr id="26" name="IconGroupIdentity"/>
          <p:cNvPicPr>
            <a:picLocks noChangeAspect="1"/>
          </p:cNvPicPr>
          <p:nvPr/>
        </p:nvPicPr>
        <p:blipFill>
          <a:blip r:embed="rId5">
            <a:lum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 bwMode="white">
          <a:xfrm>
            <a:off x="327701" y="2839007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36" name="Graphic 35"/>
          <p:cNvPicPr>
            <a:picLocks noChangeAspect="1"/>
          </p:cNvPicPr>
          <p:nvPr/>
        </p:nvPicPr>
        <p:blipFill>
          <a:blip r:embed="rId7">
            <a:lum/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p:blipFill>
        <p:spPr bwMode="white">
          <a:xfrm>
            <a:off x="495610" y="197468"/>
            <a:ext cx="381196" cy="38119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" name="CloudAppAction"/>
          <p:cNvSpPr>
            <a:spLocks/>
          </p:cNvSpPr>
          <p:nvPr/>
        </p:nvSpPr>
        <p:spPr bwMode="auto">
          <a:xfrm>
            <a:off x="6206089" y="2718506"/>
            <a:ext cx="3227026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All cloud apps</a:t>
            </a:r>
          </a:p>
        </p:txBody>
      </p:sp>
      <p:pic>
        <p:nvPicPr>
          <p:cNvPr id="75" name="IconAccessAllCloudApps"/>
          <p:cNvPicPr>
            <a:picLocks noChangeAspect="1"/>
          </p:cNvPicPr>
          <p:nvPr/>
        </p:nvPicPr>
        <p:blipFill>
          <a:blip r:embed="rId9">
            <a:lum/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p:blipFill>
        <p:spPr bwMode="white">
          <a:xfrm>
            <a:off x="6439264" y="2836824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" name="StateDisabled"/>
          <p:cNvSpPr>
            <a:spLocks/>
          </p:cNvSpPr>
          <p:nvPr/>
        </p:nvSpPr>
        <p:spPr bwMode="white">
          <a:xfrm>
            <a:off x="10842170" y="79259"/>
            <a:ext cx="1260389" cy="264812"/>
          </a:xfrm>
          <a:prstGeom prst="roundRect">
            <a:avLst/>
          </a:prstGeom>
          <a:ln>
            <a:headEnd type="none"/>
            <a:tailEnd type="none"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r>
              <a:rPr lang="en-US" sz="800" dirty="0"/>
              <a:t>Policy Disabled</a:t>
            </a:r>
          </a:p>
        </p:txBody>
      </p:sp>
      <p:grpSp>
        <p:nvGrpSpPr>
          <p:cNvPr id="10" name="IconRiskyUsers"/>
          <p:cNvGrpSpPr>
            <a:grpSpLocks/>
          </p:cNvGrpSpPr>
          <p:nvPr/>
        </p:nvGrpSpPr>
        <p:grpSpPr bwMode="white">
          <a:xfrm>
            <a:off x="635426" y="738677"/>
            <a:ext cx="1202553" cy="274320"/>
            <a:chOff x="2013768" y="1033956"/>
            <a:chExt cx="1342320" cy="274320"/>
          </a:xfrm>
        </p:grpSpPr>
        <p:pic>
          <p:nvPicPr>
            <p:cNvPr id="46" name="Graphic 1"/>
            <p:cNvPicPr>
              <a:picLocks noChangeAspect="1"/>
            </p:cNvPicPr>
            <p:nvPr/>
          </p:nvPicPr>
          <p:blipFill>
            <a:blip r:embed="rId11">
              <a:lum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013768" y="1033956"/>
              <a:ext cx="274320" cy="27432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5" name="Label 1"/>
            <p:cNvSpPr txBox="1">
              <a:spLocks noChangeArrowheads="1"/>
            </p:cNvSpPr>
            <p:nvPr/>
          </p:nvSpPr>
          <p:spPr bwMode="white">
            <a:xfrm>
              <a:off x="2240077" y="1040706"/>
              <a:ext cx="1116011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Risk</a:t>
              </a:r>
            </a:p>
          </p:txBody>
        </p:sp>
      </p:grpSp>
      <p:grpSp>
        <p:nvGrpSpPr>
          <p:cNvPr id="14" name="IconPlatforms"/>
          <p:cNvGrpSpPr>
            <a:grpSpLocks/>
          </p:cNvGrpSpPr>
          <p:nvPr/>
        </p:nvGrpSpPr>
        <p:grpSpPr bwMode="white">
          <a:xfrm>
            <a:off x="1927788" y="715249"/>
            <a:ext cx="1719285" cy="365760"/>
            <a:chOff x="3262737" y="994835"/>
            <a:chExt cx="1719285" cy="365760"/>
          </a:xfrm>
        </p:grpSpPr>
        <p:pic>
          <p:nvPicPr>
            <p:cNvPr id="29" name="Graphic 1"/>
            <p:cNvPicPr>
              <a:picLocks noChangeAspect="1"/>
            </p:cNvPicPr>
            <p:nvPr/>
          </p:nvPicPr>
          <p:blipFill>
            <a:blip r:embed="rId13">
              <a:lum/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3262737" y="994835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1" name="Label 1"/>
            <p:cNvSpPr txBox="1">
              <a:spLocks noChangeArrowheads="1"/>
            </p:cNvSpPr>
            <p:nvPr/>
          </p:nvSpPr>
          <p:spPr bwMode="white">
            <a:xfrm>
              <a:off x="3582397" y="1027255"/>
              <a:ext cx="1399625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Device platforms</a:t>
              </a:r>
            </a:p>
          </p:txBody>
        </p:sp>
      </p:grpSp>
      <p:grpSp>
        <p:nvGrpSpPr>
          <p:cNvPr id="17" name="IconClientAppTypes"/>
          <p:cNvGrpSpPr>
            <a:grpSpLocks/>
          </p:cNvGrpSpPr>
          <p:nvPr/>
        </p:nvGrpSpPr>
        <p:grpSpPr bwMode="white">
          <a:xfrm>
            <a:off x="3908159" y="670015"/>
            <a:ext cx="1852971" cy="365760"/>
            <a:chOff x="4858970" y="975927"/>
            <a:chExt cx="1852971" cy="365760"/>
          </a:xfrm>
        </p:grpSpPr>
        <p:pic>
          <p:nvPicPr>
            <p:cNvPr id="58" name="Graphic 1"/>
            <p:cNvPicPr>
              <a:picLocks noChangeAspect="1"/>
            </p:cNvPicPr>
            <p:nvPr/>
          </p:nvPicPr>
          <p:blipFill>
            <a:blip r:embed="rId15">
              <a:lum/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858970" y="975927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5" name="Label 1"/>
            <p:cNvSpPr txBox="1">
              <a:spLocks noChangeArrowheads="1"/>
            </p:cNvSpPr>
            <p:nvPr/>
          </p:nvSpPr>
          <p:spPr bwMode="white">
            <a:xfrm>
              <a:off x="5193983" y="1009899"/>
              <a:ext cx="1517958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Client apps</a:t>
              </a:r>
            </a:p>
          </p:txBody>
        </p:sp>
      </p:grpSp>
      <p:grpSp>
        <p:nvGrpSpPr>
          <p:cNvPr id="37" name="IconLocations"/>
          <p:cNvGrpSpPr>
            <a:grpSpLocks/>
          </p:cNvGrpSpPr>
          <p:nvPr/>
        </p:nvGrpSpPr>
        <p:grpSpPr bwMode="white">
          <a:xfrm>
            <a:off x="8411896" y="646848"/>
            <a:ext cx="1850168" cy="388465"/>
            <a:chOff x="2321433" y="3262888"/>
            <a:chExt cx="1850168" cy="388465"/>
          </a:xfrm>
        </p:grpSpPr>
        <p:pic>
          <p:nvPicPr>
            <p:cNvPr id="33" name="Graphic 1"/>
            <p:cNvPicPr>
              <a:picLocks noChangeAspect="1"/>
            </p:cNvPicPr>
            <p:nvPr/>
          </p:nvPicPr>
          <p:blipFill>
            <a:blip r:embed="rId17">
              <a:lum/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321433" y="3262888"/>
              <a:ext cx="388465" cy="388465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28" name="Label 1"/>
            <p:cNvSpPr txBox="1">
              <a:spLocks noChangeArrowheads="1"/>
            </p:cNvSpPr>
            <p:nvPr/>
          </p:nvSpPr>
          <p:spPr bwMode="white">
            <a:xfrm>
              <a:off x="2713321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Locations</a:t>
              </a:r>
              <a:endParaRPr lang="en-US" sz="1100" b="1" dirty="0"/>
            </a:p>
          </p:txBody>
        </p:sp>
      </p:grpSp>
      <p:grpSp>
        <p:nvGrpSpPr>
          <p:cNvPr id="39" name="IconDeviceFilters"/>
          <p:cNvGrpSpPr>
            <a:grpSpLocks/>
          </p:cNvGrpSpPr>
          <p:nvPr/>
        </p:nvGrpSpPr>
        <p:grpSpPr bwMode="white">
          <a:xfrm>
            <a:off x="5472818" y="661958"/>
            <a:ext cx="1839823" cy="364111"/>
            <a:chOff x="4195414" y="3273669"/>
            <a:chExt cx="1839823" cy="364111"/>
          </a:xfrm>
        </p:grpSpPr>
        <p:pic>
          <p:nvPicPr>
            <p:cNvPr id="60" name="Graphic 1"/>
            <p:cNvPicPr>
              <a:picLocks noChangeAspect="1"/>
            </p:cNvPicPr>
            <p:nvPr/>
          </p:nvPicPr>
          <p:blipFill>
            <a:blip r:embed="rId19">
              <a:lum/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195414" y="3273669"/>
              <a:ext cx="364111" cy="364111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31" name="Label 1"/>
            <p:cNvSpPr txBox="1">
              <a:spLocks noChangeArrowheads="1"/>
            </p:cNvSpPr>
            <p:nvPr/>
          </p:nvSpPr>
          <p:spPr bwMode="white">
            <a:xfrm>
              <a:off x="4576957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Filter for devices</a:t>
              </a:r>
              <a:endParaRPr lang="en-US" sz="1100" b="1" dirty="0"/>
            </a:p>
          </p:txBody>
        </p:sp>
      </p:grpSp>
      <p:pic>
        <p:nvPicPr>
          <p:cNvPr id="62" name="IconGrantMultifactorAuthentication"/>
          <p:cNvPicPr>
            <a:picLocks noChangeAspect="1"/>
          </p:cNvPicPr>
          <p:nvPr/>
        </p:nvPicPr>
        <p:blipFill>
          <a:blip r:embed="rId21">
            <a:lum/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>
            <a:fillRect/>
          </a:stretch>
        </p:blipFill>
        <p:spPr bwMode="white">
          <a:xfrm>
            <a:off x="3410647" y="3566863"/>
            <a:ext cx="17145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5" name="IconGrantMultifactorAuthenticationLabel"/>
          <p:cNvSpPr txBox="1">
            <a:spLocks noChangeArrowheads="1"/>
          </p:cNvSpPr>
          <p:nvPr/>
        </p:nvSpPr>
        <p:spPr bwMode="white">
          <a:xfrm>
            <a:off x="3575836" y="3571997"/>
            <a:ext cx="19007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Multifactor authentication</a:t>
            </a:r>
            <a:endParaRPr lang="en-US" sz="1000" dirty="0"/>
          </a:p>
        </p:txBody>
      </p:sp>
      <p:pic>
        <p:nvPicPr>
          <p:cNvPr id="38" name="IconGrantAuthenticationStrength"/>
          <p:cNvPicPr>
            <a:picLocks noChangeAspect="1"/>
          </p:cNvPicPr>
          <p:nvPr/>
        </p:nvPicPr>
        <p:blipFill>
          <a:blip r:embed="rId23">
            <a:lum/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/>
          <a:stretch>
            <a:fillRect/>
          </a:stretch>
        </p:blipFill>
        <p:spPr bwMode="white">
          <a:xfrm>
            <a:off x="3374515" y="3905034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7" name="IconGrantAuthenticationStrengthLabel"/>
          <p:cNvSpPr txBox="1">
            <a:spLocks noChangeArrowheads="1"/>
          </p:cNvSpPr>
          <p:nvPr/>
        </p:nvSpPr>
        <p:spPr bwMode="white">
          <a:xfrm>
            <a:off x="3575836" y="3907323"/>
            <a:ext cx="2185294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Auth strength:Multifactor authentication</a:t>
            </a:r>
            <a:endParaRPr lang="en-US" sz="1000" dirty="0"/>
          </a:p>
        </p:txBody>
      </p:sp>
      <p:pic>
        <p:nvPicPr>
          <p:cNvPr id="52" name="IconGrantDeviceCompliance"/>
          <p:cNvPicPr>
            <a:picLocks noChangeAspect="1"/>
          </p:cNvPicPr>
          <p:nvPr/>
        </p:nvPicPr>
        <p:blipFill>
          <a:blip r:embed="rId25">
            <a:lum/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/>
          <a:stretch>
            <a:fillRect/>
          </a:stretch>
        </p:blipFill>
        <p:spPr bwMode="white">
          <a:xfrm>
            <a:off x="3374515" y="4243205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9" name="IconGrantDeviceComplianceLabel"/>
          <p:cNvSpPr txBox="1">
            <a:spLocks noChangeArrowheads="1"/>
          </p:cNvSpPr>
          <p:nvPr/>
        </p:nvSpPr>
        <p:spPr bwMode="white">
          <a:xfrm>
            <a:off x="3575836" y="4242649"/>
            <a:ext cx="17378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Compliant device</a:t>
            </a:r>
            <a:endParaRPr lang="en-US" sz="1000" dirty="0"/>
          </a:p>
        </p:txBody>
      </p:sp>
      <p:pic>
        <p:nvPicPr>
          <p:cNvPr id="43" name="IconGrantHybridJoined"/>
          <p:cNvPicPr>
            <a:picLocks noChangeAspect="1"/>
          </p:cNvPicPr>
          <p:nvPr/>
        </p:nvPicPr>
        <p:blipFill>
          <a:blip r:embed="rId27">
            <a:lum/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/>
          <a:stretch>
            <a:fillRect/>
          </a:stretch>
        </p:blipFill>
        <p:spPr bwMode="white">
          <a:xfrm>
            <a:off x="3374515" y="4581376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3" name="IconGrantHybridJoinedLabel"/>
          <p:cNvSpPr txBox="1">
            <a:spLocks noChangeArrowheads="1"/>
          </p:cNvSpPr>
          <p:nvPr/>
        </p:nvSpPr>
        <p:spPr bwMode="white">
          <a:xfrm>
            <a:off x="3575836" y="4577975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Hybrid Azure AD joined device</a:t>
            </a:r>
            <a:endParaRPr lang="en-US" sz="1000" dirty="0"/>
          </a:p>
        </p:txBody>
      </p:sp>
      <p:pic>
        <p:nvPicPr>
          <p:cNvPr id="48" name="IconGrantApprovedClientApp"/>
          <p:cNvPicPr>
            <a:picLocks noChangeAspect="1"/>
          </p:cNvPicPr>
          <p:nvPr/>
        </p:nvPicPr>
        <p:blipFill>
          <a:blip r:embed="rId29">
            <a:lum/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rcRect/>
          <a:stretch>
            <a:fillRect/>
          </a:stretch>
        </p:blipFill>
        <p:spPr bwMode="white">
          <a:xfrm>
            <a:off x="3374515" y="491954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5" name="IconGrantApprovedClientAppLabel"/>
          <p:cNvSpPr txBox="1">
            <a:spLocks noChangeArrowheads="1"/>
          </p:cNvSpPr>
          <p:nvPr/>
        </p:nvSpPr>
        <p:spPr bwMode="white">
          <a:xfrm>
            <a:off x="3575836" y="4913301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Approved client app</a:t>
            </a:r>
            <a:endParaRPr lang="en-US" sz="1000" dirty="0"/>
          </a:p>
        </p:txBody>
      </p:sp>
      <p:pic>
        <p:nvPicPr>
          <p:cNvPr id="42" name="IconGrantCustomAuth"/>
          <p:cNvPicPr>
            <a:picLocks noChangeAspect="1"/>
          </p:cNvPicPr>
          <p:nvPr/>
        </p:nvPicPr>
        <p:blipFill>
          <a:blip r:embed="rId31">
            <a:lum/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rcRect/>
          <a:stretch>
            <a:fillRect/>
          </a:stretch>
        </p:blipFill>
        <p:spPr bwMode="white">
          <a:xfrm>
            <a:off x="3374515" y="593406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9" name="IconGrantCustomAuthLabel"/>
          <p:cNvSpPr txBox="1">
            <a:spLocks noChangeArrowheads="1"/>
          </p:cNvSpPr>
          <p:nvPr/>
        </p:nvSpPr>
        <p:spPr bwMode="white">
          <a:xfrm>
            <a:off x="3575836" y="5919279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Custom authentication factor</a:t>
            </a:r>
            <a:endParaRPr lang="en-US" sz="1000" dirty="0"/>
          </a:p>
        </p:txBody>
      </p:sp>
      <p:pic>
        <p:nvPicPr>
          <p:cNvPr id="40" name="IconGrantTermsOfUse"/>
          <p:cNvPicPr>
            <a:picLocks noChangeAspect="1"/>
          </p:cNvPicPr>
          <p:nvPr/>
        </p:nvPicPr>
        <p:blipFill>
          <a:blip r:embed="rId33">
            <a:lum/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rcRect/>
          <a:stretch>
            <a:fillRect/>
          </a:stretch>
        </p:blipFill>
        <p:spPr bwMode="white">
          <a:xfrm>
            <a:off x="3374515" y="627222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3" name="IconGrantTermsOfUseLabel"/>
          <p:cNvSpPr txBox="1">
            <a:spLocks noChangeArrowheads="1"/>
          </p:cNvSpPr>
          <p:nvPr/>
        </p:nvSpPr>
        <p:spPr bwMode="white">
          <a:xfrm>
            <a:off x="3575836" y="625460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Terms of use</a:t>
            </a:r>
            <a:endParaRPr lang="en-US" sz="1000" dirty="0"/>
          </a:p>
        </p:txBody>
      </p:sp>
      <p:sp>
        <p:nvSpPr>
          <p:cNvPr id="56" name="IconGrantAppProtectionLabel"/>
          <p:cNvSpPr txBox="1">
            <a:spLocks noChangeArrowheads="1"/>
          </p:cNvSpPr>
          <p:nvPr/>
        </p:nvSpPr>
        <p:spPr bwMode="white">
          <a:xfrm>
            <a:off x="3575836" y="524862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 protection policy</a:t>
            </a:r>
            <a:endParaRPr lang="en-US" sz="1000" dirty="0"/>
          </a:p>
        </p:txBody>
      </p:sp>
      <p:pic>
        <p:nvPicPr>
          <p:cNvPr id="65" name="IconGrantAppProtection"/>
          <p:cNvPicPr>
            <a:picLocks noChangeAspect="1"/>
          </p:cNvPicPr>
          <p:nvPr/>
        </p:nvPicPr>
        <p:blipFill>
          <a:blip r:embed="rId35">
            <a:lum/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rcRect/>
          <a:stretch>
            <a:fillRect/>
          </a:stretch>
        </p:blipFill>
        <p:spPr bwMode="white">
          <a:xfrm>
            <a:off x="3374515" y="525771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7" name="IconGrantChangePasswordLabel"/>
          <p:cNvSpPr txBox="1">
            <a:spLocks noChangeArrowheads="1"/>
          </p:cNvSpPr>
          <p:nvPr/>
        </p:nvSpPr>
        <p:spPr bwMode="white">
          <a:xfrm>
            <a:off x="3575836" y="5583953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Change password</a:t>
            </a:r>
            <a:endParaRPr lang="en-US" sz="1000" dirty="0"/>
          </a:p>
        </p:txBody>
      </p:sp>
      <p:pic>
        <p:nvPicPr>
          <p:cNvPr id="67" name="IconGrantChangePassword"/>
          <p:cNvPicPr>
            <a:picLocks noChangeAspect="1"/>
          </p:cNvPicPr>
          <p:nvPr/>
        </p:nvPicPr>
        <p:blipFill>
          <a:blip r:embed="rId37">
            <a:lum/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rcRect/>
          <a:stretch>
            <a:fillRect/>
          </a:stretch>
        </p:blipFill>
        <p:spPr bwMode="white">
          <a:xfrm>
            <a:off x="3374515" y="5595889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4" name="ShadeRisk"/>
          <p:cNvSpPr>
            <a:spLocks/>
          </p:cNvSpPr>
          <p:nvPr/>
        </p:nvSpPr>
        <p:spPr bwMode="white">
          <a:xfrm>
            <a:off x="507564" y="650246"/>
            <a:ext cx="976864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66" name="ShadeDevicePlatforms"/>
          <p:cNvSpPr>
            <a:spLocks/>
          </p:cNvSpPr>
          <p:nvPr/>
        </p:nvSpPr>
        <p:spPr bwMode="white">
          <a:xfrm>
            <a:off x="1863623" y="663409"/>
            <a:ext cx="1773927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78" name="ShadeClientApps"/>
          <p:cNvSpPr>
            <a:spLocks/>
          </p:cNvSpPr>
          <p:nvPr/>
        </p:nvSpPr>
        <p:spPr bwMode="white">
          <a:xfrm>
            <a:off x="3802273" y="650246"/>
            <a:ext cx="1481482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2" name="ShadeFilterForDevices"/>
          <p:cNvSpPr>
            <a:spLocks/>
          </p:cNvSpPr>
          <p:nvPr/>
        </p:nvSpPr>
        <p:spPr bwMode="white">
          <a:xfrm>
            <a:off x="5438955" y="627922"/>
            <a:ext cx="1873685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3" name="ShadeGrantMultifactorAuth"/>
          <p:cNvSpPr>
            <a:spLocks/>
          </p:cNvSpPr>
          <p:nvPr/>
        </p:nvSpPr>
        <p:spPr bwMode="white">
          <a:xfrm>
            <a:off x="3369399" y="3534220"/>
            <a:ext cx="2069555" cy="28330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5" name="ShadeGrantCompliantDevice"/>
          <p:cNvSpPr>
            <a:spLocks/>
          </p:cNvSpPr>
          <p:nvPr/>
        </p:nvSpPr>
        <p:spPr bwMode="white">
          <a:xfrm>
            <a:off x="3361852" y="4243205"/>
            <a:ext cx="2077102" cy="26110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6" name="ShadeGrantHybridAzureADJoined"/>
          <p:cNvSpPr>
            <a:spLocks/>
          </p:cNvSpPr>
          <p:nvPr/>
        </p:nvSpPr>
        <p:spPr bwMode="white">
          <a:xfrm>
            <a:off x="3353637" y="4552268"/>
            <a:ext cx="2160906" cy="298395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7" name="ShadeGrantApprovedClientApp"/>
          <p:cNvSpPr>
            <a:spLocks/>
          </p:cNvSpPr>
          <p:nvPr/>
        </p:nvSpPr>
        <p:spPr bwMode="white">
          <a:xfrm>
            <a:off x="3331918" y="4876027"/>
            <a:ext cx="2182625" cy="29839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8" name="ShadeGrantAppProtectionPolicy"/>
          <p:cNvSpPr>
            <a:spLocks/>
          </p:cNvSpPr>
          <p:nvPr/>
        </p:nvSpPr>
        <p:spPr bwMode="white">
          <a:xfrm>
            <a:off x="3350256" y="5207226"/>
            <a:ext cx="2122561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9" name="ShadeGrantChangePassword"/>
          <p:cNvSpPr>
            <a:spLocks/>
          </p:cNvSpPr>
          <p:nvPr/>
        </p:nvSpPr>
        <p:spPr bwMode="white">
          <a:xfrm>
            <a:off x="3350257" y="5557021"/>
            <a:ext cx="2042006" cy="287239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0" name="ShadeGrantCustomAuthFactor"/>
          <p:cNvSpPr>
            <a:spLocks/>
          </p:cNvSpPr>
          <p:nvPr/>
        </p:nvSpPr>
        <p:spPr bwMode="white">
          <a:xfrm>
            <a:off x="3331918" y="5899058"/>
            <a:ext cx="2182625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1" name="ShadeGrantTermsOfUse"/>
          <p:cNvSpPr>
            <a:spLocks/>
          </p:cNvSpPr>
          <p:nvPr/>
        </p:nvSpPr>
        <p:spPr bwMode="white">
          <a:xfrm>
            <a:off x="3313823" y="6192350"/>
            <a:ext cx="101602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99" name="Rectangle 98"/>
          <p:cNvSpPr>
            <a:spLocks/>
          </p:cNvSpPr>
          <p:nvPr/>
        </p:nvSpPr>
        <p:spPr bwMode="white">
          <a:xfrm>
            <a:off x="3268757" y="3253404"/>
            <a:ext cx="2357725" cy="3498546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0" name="Rectangle 109"/>
          <p:cNvSpPr>
            <a:spLocks/>
          </p:cNvSpPr>
          <p:nvPr/>
        </p:nvSpPr>
        <p:spPr bwMode="white">
          <a:xfrm>
            <a:off x="9881750" y="3248255"/>
            <a:ext cx="2220808" cy="3510149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7" name="Rectangle 116"/>
          <p:cNvSpPr>
            <a:spLocks/>
          </p:cNvSpPr>
          <p:nvPr/>
        </p:nvSpPr>
        <p:spPr bwMode="white">
          <a:xfrm>
            <a:off x="26741" y="606825"/>
            <a:ext cx="11985015" cy="2063636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2" name="Conditions Label"/>
          <p:cNvSpPr txBox="1">
            <a:spLocks noChangeArrowheads="1"/>
          </p:cNvSpPr>
          <p:nvPr/>
        </p:nvSpPr>
        <p:spPr bwMode="white">
          <a:xfrm rot="16200000">
            <a:off x="-883507" y="1514324"/>
            <a:ext cx="2081441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Conditions</a:t>
            </a:r>
          </a:p>
        </p:txBody>
      </p:sp>
      <p:sp>
        <p:nvSpPr>
          <p:cNvPr id="109" name="Grant Controls"/>
          <p:cNvSpPr txBox="1">
            <a:spLocks noChangeArrowheads="1"/>
          </p:cNvSpPr>
          <p:nvPr/>
        </p:nvSpPr>
        <p:spPr bwMode="white">
          <a:xfrm>
            <a:off x="3252146" y="3244395"/>
            <a:ext cx="2391873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Grant Controls</a:t>
            </a:r>
          </a:p>
        </p:txBody>
      </p:sp>
      <p:sp>
        <p:nvSpPr>
          <p:cNvPr id="111" name="Session Controls"/>
          <p:cNvSpPr txBox="1">
            <a:spLocks noChangeArrowheads="1"/>
          </p:cNvSpPr>
          <p:nvPr/>
        </p:nvSpPr>
        <p:spPr bwMode="white">
          <a:xfrm>
            <a:off x="9864212" y="3243751"/>
            <a:ext cx="2238346" cy="23786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Session Controls</a:t>
            </a:r>
          </a:p>
        </p:txBody>
      </p:sp>
      <p:pic>
        <p:nvPicPr>
          <p:cNvPr id="72" name="Graphic 71"/>
          <p:cNvPicPr>
            <a:picLocks noChangeAspect="1"/>
          </p:cNvPicPr>
          <p:nvPr/>
        </p:nvPicPr>
        <p:blipFill>
          <a:blip r:embed="rId39">
            <a:lum/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rcRect/>
          <a:stretch>
            <a:fillRect/>
          </a:stretch>
        </p:blipFill>
        <p:spPr bwMode="white">
          <a:xfrm>
            <a:off x="9996846" y="356982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4" name="Graphic 93"/>
          <p:cNvPicPr>
            <a:picLocks noChangeAspect="1"/>
          </p:cNvPicPr>
          <p:nvPr/>
        </p:nvPicPr>
        <p:blipFill>
          <a:blip r:embed="rId41">
            <a:lum/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rcRect/>
          <a:stretch>
            <a:fillRect/>
          </a:stretch>
        </p:blipFill>
        <p:spPr bwMode="white">
          <a:xfrm>
            <a:off x="10009443" y="525644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5" name="TextBox 94"/>
          <p:cNvSpPr txBox="1">
            <a:spLocks noChangeArrowheads="1"/>
          </p:cNvSpPr>
          <p:nvPr/>
        </p:nvSpPr>
        <p:spPr bwMode="white">
          <a:xfrm>
            <a:off x="10207481" y="3578463"/>
            <a:ext cx="150554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App enforced restrictions</a:t>
            </a:r>
          </a:p>
        </p:txBody>
      </p:sp>
      <p:sp>
        <p:nvSpPr>
          <p:cNvPr id="96" name="TextBox 95"/>
          <p:cNvSpPr txBox="1">
            <a:spLocks noChangeArrowheads="1"/>
          </p:cNvSpPr>
          <p:nvPr/>
        </p:nvSpPr>
        <p:spPr bwMode="white">
          <a:xfrm>
            <a:off x="10201167" y="3899846"/>
            <a:ext cx="181011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Conditional Access App Control</a:t>
            </a:r>
          </a:p>
        </p:txBody>
      </p:sp>
      <p:sp>
        <p:nvSpPr>
          <p:cNvPr id="97" name="TextBox 96"/>
          <p:cNvSpPr txBox="1">
            <a:spLocks noChangeArrowheads="1"/>
          </p:cNvSpPr>
          <p:nvPr/>
        </p:nvSpPr>
        <p:spPr bwMode="white">
          <a:xfrm>
            <a:off x="10215627" y="4357505"/>
            <a:ext cx="1090363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Sign-in frequency</a:t>
            </a:r>
          </a:p>
        </p:txBody>
      </p:sp>
      <p:sp>
        <p:nvSpPr>
          <p:cNvPr id="98" name="TextBox 97"/>
          <p:cNvSpPr txBox="1">
            <a:spLocks noChangeArrowheads="1"/>
          </p:cNvSpPr>
          <p:nvPr/>
        </p:nvSpPr>
        <p:spPr bwMode="white">
          <a:xfrm>
            <a:off x="10225446" y="4793305"/>
            <a:ext cx="156966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Persistent browser session</a:t>
            </a:r>
          </a:p>
        </p:txBody>
      </p:sp>
      <p:sp>
        <p:nvSpPr>
          <p:cNvPr id="100" name="TextBox 99"/>
          <p:cNvSpPr txBox="1">
            <a:spLocks noChangeArrowheads="1"/>
          </p:cNvSpPr>
          <p:nvPr/>
        </p:nvSpPr>
        <p:spPr bwMode="white">
          <a:xfrm>
            <a:off x="10229552" y="5232376"/>
            <a:ext cx="1717137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Continuous access evaluation</a:t>
            </a:r>
          </a:p>
        </p:txBody>
      </p:sp>
      <p:sp>
        <p:nvSpPr>
          <p:cNvPr id="101" name="TextBox 100"/>
          <p:cNvSpPr txBox="1">
            <a:spLocks noChangeArrowheads="1"/>
          </p:cNvSpPr>
          <p:nvPr/>
        </p:nvSpPr>
        <p:spPr bwMode="white">
          <a:xfrm>
            <a:off x="10259108" y="5658625"/>
            <a:ext cx="153599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Disable resilience defaults</a:t>
            </a:r>
          </a:p>
        </p:txBody>
      </p:sp>
      <p:pic>
        <p:nvPicPr>
          <p:cNvPr id="103" name="Graphic 102"/>
          <p:cNvPicPr>
            <a:picLocks noChangeAspect="1"/>
          </p:cNvPicPr>
          <p:nvPr/>
        </p:nvPicPr>
        <p:blipFill>
          <a:blip r:embed="rId43">
            <a:lum/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rcRect/>
          <a:stretch>
            <a:fillRect/>
          </a:stretch>
        </p:blipFill>
        <p:spPr bwMode="white">
          <a:xfrm>
            <a:off x="9996846" y="479900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5" name="Graphic 104"/>
          <p:cNvPicPr>
            <a:picLocks noChangeAspect="1"/>
          </p:cNvPicPr>
          <p:nvPr/>
        </p:nvPicPr>
        <p:blipFill>
          <a:blip r:embed="rId45">
            <a:lum/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rcRect/>
          <a:stretch>
            <a:fillRect/>
          </a:stretch>
        </p:blipFill>
        <p:spPr bwMode="white">
          <a:xfrm>
            <a:off x="9996846" y="437457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7" name="Graphic 106"/>
          <p:cNvPicPr>
            <a:picLocks noChangeAspect="1"/>
          </p:cNvPicPr>
          <p:nvPr/>
        </p:nvPicPr>
        <p:blipFill>
          <a:blip r:embed="rId7">
            <a:lum/>
            <a:extLst>
              <a:ext uri="{96DAC541-7B7A-43D3-8B79-37D633B846F1}">
                <asvg:svgBlip xmlns:asvg="http://schemas.microsoft.com/office/drawing/2016/SVG/main" r:embed="rId47"/>
              </a:ext>
            </a:extLst>
          </a:blip>
          <a:srcRect/>
          <a:stretch>
            <a:fillRect/>
          </a:stretch>
        </p:blipFill>
        <p:spPr bwMode="white">
          <a:xfrm>
            <a:off x="9996846" y="391529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15" name="SessionSifInterval"/>
          <p:cNvSpPr txBox="1">
            <a:spLocks noChangeArrowheads="1"/>
          </p:cNvSpPr>
          <p:nvPr/>
        </p:nvSpPr>
        <p:spPr bwMode="white">
          <a:xfrm>
            <a:off x="10296745" y="4516775"/>
            <a:ext cx="1249060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Periodic reauthentication</a:t>
            </a:r>
          </a:p>
        </p:txBody>
      </p:sp>
      <p:sp>
        <p:nvSpPr>
          <p:cNvPr id="114" name="SessionCasType"/>
          <p:cNvSpPr txBox="1">
            <a:spLocks noChangeArrowheads="1"/>
          </p:cNvSpPr>
          <p:nvPr/>
        </p:nvSpPr>
        <p:spPr bwMode="white">
          <a:xfrm>
            <a:off x="10296745" y="4075500"/>
            <a:ext cx="95410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App Control Policy</a:t>
            </a:r>
          </a:p>
        </p:txBody>
      </p:sp>
      <p:sp>
        <p:nvSpPr>
          <p:cNvPr id="116" name="SessionPersistenBrowserMode"/>
          <p:cNvSpPr txBox="1">
            <a:spLocks noChangeArrowheads="1"/>
          </p:cNvSpPr>
          <p:nvPr/>
        </p:nvSpPr>
        <p:spPr bwMode="white">
          <a:xfrm>
            <a:off x="10309761" y="4945281"/>
            <a:ext cx="918841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Always persistent</a:t>
            </a:r>
          </a:p>
        </p:txBody>
      </p:sp>
      <p:sp>
        <p:nvSpPr>
          <p:cNvPr id="118" name="SessionCaeMode"/>
          <p:cNvSpPr txBox="1">
            <a:spLocks noChangeArrowheads="1"/>
          </p:cNvSpPr>
          <p:nvPr/>
        </p:nvSpPr>
        <p:spPr bwMode="white">
          <a:xfrm>
            <a:off x="10301386" y="5393378"/>
            <a:ext cx="15359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US" sz="800" dirty="0"/>
              <a:t>Strictly enforce location policies</a:t>
            </a:r>
          </a:p>
        </p:txBody>
      </p:sp>
      <p:sp>
        <p:nvSpPr>
          <p:cNvPr id="119" name="ShadeSessionAppEnforced"/>
          <p:cNvSpPr>
            <a:spLocks/>
          </p:cNvSpPr>
          <p:nvPr/>
        </p:nvSpPr>
        <p:spPr bwMode="white">
          <a:xfrm>
            <a:off x="9959680" y="3548808"/>
            <a:ext cx="2051597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0" name="ShadeSessionCas"/>
          <p:cNvSpPr>
            <a:spLocks/>
          </p:cNvSpPr>
          <p:nvPr/>
        </p:nvSpPr>
        <p:spPr bwMode="white">
          <a:xfrm>
            <a:off x="9978939" y="3884212"/>
            <a:ext cx="2087576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1" name="ShadeSessionSif"/>
          <p:cNvSpPr>
            <a:spLocks/>
          </p:cNvSpPr>
          <p:nvPr/>
        </p:nvSpPr>
        <p:spPr bwMode="white">
          <a:xfrm>
            <a:off x="9940787" y="4320077"/>
            <a:ext cx="2125728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2" name="ShadeSessionPersistentBrowser"/>
          <p:cNvSpPr>
            <a:spLocks/>
          </p:cNvSpPr>
          <p:nvPr/>
        </p:nvSpPr>
        <p:spPr bwMode="white">
          <a:xfrm>
            <a:off x="9938833" y="4746195"/>
            <a:ext cx="207244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" name="Label Secure Sign In Session"/>
          <p:cNvSpPr txBox="1">
            <a:spLocks noChangeArrowheads="1"/>
          </p:cNvSpPr>
          <p:nvPr/>
        </p:nvSpPr>
        <p:spPr bwMode="white">
          <a:xfrm>
            <a:off x="10260000" y="6084874"/>
            <a:ext cx="166584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Token protection for session</a:t>
            </a:r>
          </a:p>
        </p:txBody>
      </p:sp>
      <p:pic>
        <p:nvPicPr>
          <p:cNvPr id="77" name="IconSessionCaeDisable" descr="Close with solid fill"/>
          <p:cNvPicPr>
            <a:picLocks noChangeAspect="1"/>
          </p:cNvPicPr>
          <p:nvPr/>
        </p:nvPicPr>
        <p:blipFill>
          <a:blip r:embed="rId48">
            <a:lum/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rcRect/>
          <a:stretch>
            <a:fillRect/>
          </a:stretch>
        </p:blipFill>
        <p:spPr bwMode="white">
          <a:xfrm>
            <a:off x="9979885" y="5218651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2" name="IconSessionSecureSignInSession 1"/>
          <p:cNvPicPr>
            <a:picLocks noChangeAspect="1"/>
          </p:cNvPicPr>
          <p:nvPr/>
        </p:nvPicPr>
        <p:blipFill>
          <a:blip r:embed="rId50">
            <a:lum/>
            <a:extLst>
              <a:ext uri="{96DAC541-7B7A-43D3-8B79-37D633B846F1}">
                <asvg:svgBlip xmlns:asvg="http://schemas.microsoft.com/office/drawing/2016/SVG/main" r:embed="rId51"/>
              </a:ext>
            </a:extLst>
          </a:blip>
          <a:srcRect/>
          <a:stretch>
            <a:fillRect/>
          </a:stretch>
        </p:blipFill>
        <p:spPr bwMode="white">
          <a:xfrm>
            <a:off x="9997200" y="6085768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3" name="ShadeSessionCae"/>
          <p:cNvSpPr>
            <a:spLocks/>
          </p:cNvSpPr>
          <p:nvPr/>
        </p:nvSpPr>
        <p:spPr bwMode="white">
          <a:xfrm>
            <a:off x="9987595" y="5219780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76" name="ShadeSessionSecureSignIn"/>
          <p:cNvSpPr>
            <a:spLocks/>
          </p:cNvSpPr>
          <p:nvPr/>
        </p:nvSpPr>
        <p:spPr bwMode="white">
          <a:xfrm>
            <a:off x="9996846" y="5986498"/>
            <a:ext cx="2014431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pic>
        <p:nvPicPr>
          <p:cNvPr id="102" name="Graphic 101"/>
          <p:cNvPicPr>
            <a:picLocks noChangeAspect="1"/>
          </p:cNvPicPr>
          <p:nvPr/>
        </p:nvPicPr>
        <p:blipFill>
          <a:blip r:embed="rId52">
            <a:lum/>
            <a:extLst>
              <a:ext uri="{96DAC541-7B7A-43D3-8B79-37D633B846F1}">
                <asvg:svgBlip xmlns:asvg="http://schemas.microsoft.com/office/drawing/2016/SVG/main" r:embed="rId53"/>
              </a:ext>
            </a:extLst>
          </a:blip>
          <a:srcRect/>
          <a:stretch>
            <a:fillRect/>
          </a:stretch>
        </p:blipFill>
        <p:spPr bwMode="white">
          <a:xfrm>
            <a:off x="9997200" y="5663777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80" name="Graphic 79" descr="Close with solid fill"/>
          <p:cNvPicPr>
            <a:picLocks noChangeAspect="1"/>
          </p:cNvPicPr>
          <p:nvPr/>
        </p:nvPicPr>
        <p:blipFill>
          <a:blip r:embed="rId48">
            <a:lum/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rcRect/>
          <a:stretch>
            <a:fillRect/>
          </a:stretch>
        </p:blipFill>
        <p:spPr bwMode="white">
          <a:xfrm>
            <a:off x="9963899" y="5637424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4" name="ShadeSessionDisableResilience"/>
          <p:cNvSpPr>
            <a:spLocks/>
          </p:cNvSpPr>
          <p:nvPr/>
        </p:nvSpPr>
        <p:spPr bwMode="white">
          <a:xfrm>
            <a:off x="9959681" y="5602709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2" name="PolicyName">
            <a:hlinkClick r:id="" action="ppaction://hlinkfile"/>
          </p:cNvPr>
          <p:cNvSpPr>
            <a:spLocks noGrp="1"/>
          </p:cNvSpPr>
          <p:nvPr>
            <p:ph type="title"/>
          </p:nvPr>
        </p:nvSpPr>
        <p:spPr bwMode="white">
          <a:xfrm>
            <a:off x="838200" y="115511"/>
            <a:ext cx="10003967" cy="609565"/>
          </a:xfrm>
          <a:ln>
            <a:headEnd type="none"/>
            <a:tailEnd type="none"/>
          </a:ln>
        </p:spPr>
        <p:txBody>
          <a:bodyPr wrap="square">
            <a:noAutofit/>
          </a:bodyPr>
          <a:lstStyle/>
          <a:p>
            <a:pPr defTabSz="914400"/>
            <a:r>
              <a:rPr lang="en-US" sz="2000" b="1" dirty="0"/>
              <a:t>Microsoft-managed: Multifactor authentication for per-user multifactor authentication users</a:t>
            </a:r>
          </a:p>
        </p:txBody>
      </p:sp>
      <p:sp>
        <p:nvSpPr>
          <p:cNvPr id="16" name="LastModified"/>
          <p:cNvSpPr txBox="1">
            <a:spLocks noChangeArrowheads="1"/>
          </p:cNvSpPr>
          <p:nvPr/>
        </p:nvSpPr>
        <p:spPr bwMode="white">
          <a:xfrm>
            <a:off x="10556111" y="388376"/>
            <a:ext cx="15483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algn="r" defTabSz="457200"/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Last modified: 2025-04-16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lipstream">
  <a:themeElements>
    <a:clrScheme name="Slipstream">
      <a:dk1>
        <a:srgbClr val="000000"/>
      </a:dk1>
      <a:lt1>
        <a:srgbClr val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/>
        </a:gradFill>
      </a:fillStyleLst>
      <a:lnStyleLst>
        <a:ln w="6350" cap="flat">
          <a:solidFill>
            <a:schemeClr val="phClr"/>
          </a:solidFill>
          <a:prstDash val="solid"/>
          <a:miter/>
          <a:headEnd type="none"/>
          <a:tailEnd type="none"/>
        </a:ln>
        <a:ln w="12700" cap="flat">
          <a:solidFill>
            <a:schemeClr val="phClr"/>
          </a:solidFill>
          <a:prstDash val="solid"/>
          <a:miter/>
          <a:headEnd type="none"/>
          <a:tailEnd type="none"/>
        </a:ln>
        <a:ln w="19050" cap="flat">
          <a:solidFill>
            <a:schemeClr val="phClr"/>
          </a:solidFill>
          <a:prstDash val="solid"/>
          <a:miter/>
          <a:headEnd type="none"/>
          <a:tailEnd type="none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/>
        </a:gradFill>
      </a:fillStyleLst>
      <a:lnStyleLst>
        <a:ln w="6350" cap="flat">
          <a:solidFill>
            <a:schemeClr val="phClr"/>
          </a:solidFill>
          <a:prstDash val="solid"/>
          <a:miter/>
          <a:headEnd type="none"/>
          <a:tailEnd type="none"/>
        </a:ln>
        <a:ln w="12700" cap="flat">
          <a:solidFill>
            <a:schemeClr val="phClr"/>
          </a:solidFill>
          <a:prstDash val="solid"/>
          <a:miter/>
          <a:headEnd type="none"/>
          <a:tailEnd type="none"/>
        </a:ln>
        <a:ln w="19050" cap="flat">
          <a:solidFill>
            <a:schemeClr val="phClr"/>
          </a:solidFill>
          <a:prstDash val="solid"/>
          <a:miter/>
          <a:headEnd type="none"/>
          <a:tailEnd type="none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/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4157</TotalTime>
  <Pages>0</Pages>
  <Words>34766</Words>
  <Characters>0</Characters>
  <Application>Microsoft Office PowerPoint</Application>
  <PresentationFormat>Widescreen</PresentationFormat>
  <Lines>0</Lines>
  <Paragraphs>3378</Paragraphs>
  <Slides>54</Slides>
  <Notes>53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58" baseType="lpstr">
      <vt:lpstr>Arial</vt:lpstr>
      <vt:lpstr>Calibri</vt:lpstr>
      <vt:lpstr>Calibri Light</vt:lpstr>
      <vt:lpstr>Slipstream</vt:lpstr>
      <vt:lpstr>Conditional Access Policy Documentation</vt:lpstr>
      <vt:lpstr> [All Apps] [SVo365 AADConnect] (Block) Service Accounts Login From Non-OCC Proxy IPs</vt:lpstr>
      <vt:lpstr> [All Apps] [SVo365 AEM] (Block) Service Accounts Login From Non-OCC IPs </vt:lpstr>
      <vt:lpstr> [All Apps] [SVo365 BI/Tableau] (Block) Service Accounts Login From Non-OCC IPs</vt:lpstr>
      <vt:lpstr> [All Apps] [SVo365 Collibra] (Block) Service Accounts Login From Non-OCC IPs </vt:lpstr>
      <vt:lpstr> [All Apps] [SVo365 GetHelp] (Block) Service Account Login From Non-Approved IPs </vt:lpstr>
      <vt:lpstr> [All Apps] [SVo365 PowerRPA] (Block) Service Accounts Login From Non-OCC IPs</vt:lpstr>
      <vt:lpstr> [All Apps] [SVo365 SharePoint] (Block) Service Accounts Login From Non-OCC IPs</vt:lpstr>
      <vt:lpstr>[All Apps] [All Admins] (Block) Access from non-OCC Devices or IP addresses</vt:lpstr>
      <vt:lpstr>[All Apps] [All Admins] {MFA} All Admin Accounts (SiF=8)</vt:lpstr>
      <vt:lpstr>[All Apps] [All Users] (Block) Any untrusted OCC Network</vt:lpstr>
      <vt:lpstr>[All Apps] [All Users] (Block) Legacy Authentication</vt:lpstr>
      <vt:lpstr>[All Apps] [All Users] {MFA} Access through Admin Portal on trusted devices</vt:lpstr>
      <vt:lpstr>[All Apps] [All Users] {MFA} All users and devices (Sif=90)</vt:lpstr>
      <vt:lpstr>[All Apps] [All Users] {Mobile Devices} App Protection and Compliance</vt:lpstr>
      <vt:lpstr>[All Apps] [SVo365 AEM] Service Account Login Requires Phishing-Resistant MFA</vt:lpstr>
      <vt:lpstr>[All Apps] [SVo365 BI/Tableau] Service Account Login Requires Phishing-Resistant MFA</vt:lpstr>
      <vt:lpstr>[All Apps] [SVo365 BizTalk] (Block) Service Accounts From Non Approved IPs</vt:lpstr>
      <vt:lpstr>[All Apps] [SVo365 BizTalk] Service Account Login Requires Phishing-Resistant MFA</vt:lpstr>
      <vt:lpstr>[All Apps] [SVo365 Cofense] (Block) Service Accounts From Non Approved IPs</vt:lpstr>
      <vt:lpstr>[All Apps] [SVo365 Cofense] Service Account Login Requires Phishing-Resistant MFA </vt:lpstr>
      <vt:lpstr>[All Apps] [SVo365 Collibra] Service Account Login Requires Phishing-Resistant MFA </vt:lpstr>
      <vt:lpstr>[All Apps] [SVo365 PowerRPA] Service Account Login Requires Phishing-Resistant MFA</vt:lpstr>
      <vt:lpstr>[All Apps] [SVo365 SharePoint] Service Account Login Requires Phishing-Resistant MFA </vt:lpstr>
      <vt:lpstr>[All Apps] BLOCK Mac Users from Non-OCC IPs </vt:lpstr>
      <vt:lpstr>[All Apps] CrowdStrike Users MFA</vt:lpstr>
      <vt:lpstr>[All Apps][All Users](Block) All Untrusted Devices</vt:lpstr>
      <vt:lpstr>[All Apps][Priv Admins] Highly Privileged Roles Require Phishing-Resistant MFA</vt:lpstr>
      <vt:lpstr>[All Devices] [All Users] {MFA} Register or Device Join</vt:lpstr>
      <vt:lpstr>[AVD/Citrix] [All Users] User Sign In Frequency</vt:lpstr>
      <vt:lpstr>[BI/Tableau][SVo365 BI/Tableau] Service Accouns Have Only Access To SharePoint Online</vt:lpstr>
      <vt:lpstr>[Cofense][SVo365 Cofense] Service Account Only Has Limited Access To Specific Resources</vt:lpstr>
      <vt:lpstr>[Collibra][SVo365 Collibra] Service Account Only Has Access To SharePoint Online</vt:lpstr>
      <vt:lpstr>[Geo Fencing] [All Admins] (Block) All Admins</vt:lpstr>
      <vt:lpstr>[Geo Fencing] [All Users] (Block) All Users</vt:lpstr>
      <vt:lpstr>[Risky Sign in] [All Users] {HIGH} (Block)</vt:lpstr>
      <vt:lpstr>[Risky Sign in] [All Users] {Medium} {MFA}</vt:lpstr>
      <vt:lpstr>[Risky User] [All users] {HIGH} (Block)</vt:lpstr>
      <vt:lpstr>[Risky User] [All Users] {Medium} {MFA}</vt:lpstr>
      <vt:lpstr>[ServiceNow][SVo365 GetHelp] Service Account Has Limited Access To Specific OCC Resources</vt:lpstr>
      <vt:lpstr>Microsoft-managed: Multifactor authentication and reauthentication for risky sign-ins</vt:lpstr>
      <vt:lpstr>[All Apps] [All Admins] Admin Accounts Sign In Frequency=8 hours</vt:lpstr>
      <vt:lpstr>[All Apps] [All Users] (Block) Device Code Flow - MICROSOFT TO REPLACE</vt:lpstr>
      <vt:lpstr>[All Apps] [All Users] {Trusted Device} Device Signal - Test</vt:lpstr>
      <vt:lpstr>[BizTalk][SVo365 BizTalk] Service Account Access To Exchange Online Only</vt:lpstr>
      <vt:lpstr>[TEST][BLOCK] PowerRPA Service Accounts Only Have Limited Access To Resources </vt:lpstr>
      <vt:lpstr>[TEST][BLOCK] SharePoint Service Accounts Only Have Limited Access To Resources</vt:lpstr>
      <vt:lpstr>[TEST][SCuBA] Managed Devices For Authentication</vt:lpstr>
      <vt:lpstr>[TEST][SCuBA] Managed Devices For Registering MFA</vt:lpstr>
      <vt:lpstr>Microsoft-managed: Multifactor authentication for admins accessing Microsoft Admin Portals</vt:lpstr>
      <vt:lpstr>[All Apps] [EXT Vendors] (Block) unless from selected network</vt:lpstr>
      <vt:lpstr>[TEST] [All Apps] [All Users] {Mobile Devices} App Protection and Compliance</vt:lpstr>
      <vt:lpstr>Microsoft-managed: Block device code flow</vt:lpstr>
      <vt:lpstr>Microsoft-managed: Multifactor authentication for per-user multifactor authentication users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Conditional Access Policy Documentation</dc:title>
  <dc:subject>Conditional Access</dc:subject>
  <dc:creator>Merill Fernando (HE/HIM)</dc:creator>
  <cp:lastModifiedBy>Lin, Shun</cp:lastModifiedBy>
  <cp:revision>387</cp:revision>
  <dcterms:created xsi:type="dcterms:W3CDTF">2022-02-27T10:26:08Z</dcterms:created>
  <dcterms:modified xsi:type="dcterms:W3CDTF">2025-10-28T20:46:33Z</dcterms:modified>
</cp:coreProperties>
</file>